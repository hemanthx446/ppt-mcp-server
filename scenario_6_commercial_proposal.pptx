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SCOPE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Commercial Scope &amp; Boundary Matrix: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SCOPE MATRIX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3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2384145"/>
                <a:gridCol w="2384145"/>
                <a:gridCol w="2384145"/>
              </a:tblGrid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EVALUATION CRITERIA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In-Scope (Turnkey)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Customer Responsibility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F8FAFC"/>
                          </a:solidFill>
                          <a:latin typeface="Inter"/>
                        </a:rPr>
                        <a:t>Out-of-Scope (Phase 2)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SAP BTP Event Mesh Setup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PARTIAL (Access)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OPC-UA Machine Telemetry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PARTIAL (Network)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Electronic Batch Records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59E0B"/>
                          </a:solidFill>
                          <a:latin typeface="Inter"/>
                        </a:rPr>
                        <a:t>PARTIAL (SOP Sign-off)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Multi-Site Cloud Rollout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RECOMMENDED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MILESTONE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Milestone Gates &amp; Quality Criteria: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MILESTONE GATES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4213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01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Architecture Blueprint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BTP event mesh sized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Clean-core APIs catalogued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Security boundaries approved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66CC"/>
                </a:solidFill>
                <a:latin typeface="Inter"/>
              </a:rPr>
              <a:t>OWNER: Chief Architect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19373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693" y="1481328"/>
            <a:ext cx="244213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997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02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Pilot Line Deployment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Work-center dispatch 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Inline vision cameras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Zero dropped telemetry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66CC"/>
                </a:solidFill>
                <a:latin typeface="Inter"/>
              </a:rPr>
              <a:t>OWNER: Plant Director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1481328"/>
            <a:ext cx="244213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2171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03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Quality Certification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21 CFR Part 11 signed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Genealogy tree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Audit trail verified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66CC"/>
                </a:solidFill>
                <a:latin typeface="Inter"/>
              </a:rPr>
              <a:t>OWNER: VP Quality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3721" y="3762755"/>
            <a:ext cx="22860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8041" y="1481328"/>
            <a:ext cx="244213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4345" y="1627632"/>
            <a:ext cx="2149525" cy="448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GATE 04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Enterprise Go-Live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Multi-plant cutover completed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Real-time 101 posting live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[✓] Hypercare SLA active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0066CC"/>
                </a:solidFill>
                <a:latin typeface="Inter"/>
              </a:rPr>
              <a:t>OWNER: Steering Committee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COMMERCIAL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Commercial Model &amp; Milestone Payment Gates: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COMMERCIAL TERMS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513"/>
                <a:gridCol w="4153027"/>
                <a:gridCol w="1557385"/>
                <a:gridCol w="1211299"/>
                <a:gridCol w="1730428"/>
              </a:tblGrid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PHASE / MILESTONE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KEY DELIVERABLE &amp; ACCEPTANCE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TIMELINE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BILLING 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1: Architecture Blueprint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Architecture blueprint &amp; security sign-off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1-3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$85,000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2: Pilot Implementation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Pilot line integration &amp; telemetry validation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4-8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$119,000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3: Plant Rollout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Full plant cutover &amp; operator enablement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9-14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$102,000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4: Final Acceptance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30-day hypercare completion &amp; ledger audit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15-16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$34,000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TOTAL ENGAGEMENT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$340,000 Turnkey Fixed 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4. ASSUMPTIONS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Operational Assumptions &amp; Commitments: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ASSUMPTIONS REGISTER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04 / 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640"/>
                <a:gridCol w="3395144"/>
                <a:gridCol w="1493863"/>
                <a:gridCol w="1086446"/>
                <a:gridCol w="1358057"/>
                <a:gridCol w="1222251"/>
                <a:gridCol w="1222251"/>
              </a:tblGrid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ACTION ITEM DESCRIPTION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WORKSTREAM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DUE DATE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Recalibrate torque load cells on Station 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Maintenance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Lead Tech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IN PROGRESS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Implement automated ASN barcode validation in ERP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BTP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Conduct operator Poka-Yoke ergonomics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Plant 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Supervisor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ACT-04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Publish updated First Pass Yield dashboard to CXO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Data 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D97706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5. RACI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Program Dependencies &amp; RACI Alignment: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RACI ALIGNMENT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05 / 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888"/>
                <a:gridCol w="1662941"/>
                <a:gridCol w="1662941"/>
                <a:gridCol w="1662941"/>
                <a:gridCol w="1662941"/>
              </a:tblGrid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F172A"/>
                          </a:solidFill>
                          <a:latin typeface="Inter"/>
                        </a:rPr>
                        <a:t>ACTIVITY / DELIVERABLE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Advisory Architect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Client IT Lead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Plant Operations Lead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Steering Committee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System Architecture &amp; BTP Sizing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OT Network &amp; Firewall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Operator Enablement &amp; SOP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66CC"/>
                          </a:solidFill>
                          <a:latin typeface="Inter"/>
                        </a:rP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Milestone Gate Sign-off &amp;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6. PROGRAM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Execution Timeline &amp; Deliverable Milestones: Commercial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PROGRAM SCHEDULE mapped for ABB Robotics Global Division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ABB Robotics Global Division • Commercial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06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854196"/>
            <a:ext cx="999713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8613" y="3762755"/>
            <a:ext cx="219456" cy="21945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MONTH 1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Sprint 0: Architecture Blueprint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BTP subaccounts &amp; OT edge configuration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713617" y="3762755"/>
            <a:ext cx="219456" cy="21945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4101083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MONTH 2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Sprint 1-2: Pilot Line Deployment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CNC machining cell connected &amp; telemetry live</a:t>
            </a:r>
          </a:p>
        </p:txBody>
      </p:sp>
      <p:sp>
        <p:nvSpPr>
          <p:cNvPr id="15" name="Oval 14"/>
          <p:cNvSpPr/>
          <p:nvPr/>
        </p:nvSpPr>
        <p:spPr>
          <a:xfrm>
            <a:off x="7258621" y="3762755"/>
            <a:ext cx="219456" cy="21945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1755648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MONTH 3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Sprint 3-4: Quality &amp; Genealogy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Electronic batch record &amp; camera inspection live</a:t>
            </a:r>
          </a:p>
        </p:txBody>
      </p:sp>
      <p:sp>
        <p:nvSpPr>
          <p:cNvPr id="17" name="Oval 16"/>
          <p:cNvSpPr/>
          <p:nvPr/>
        </p:nvSpPr>
        <p:spPr>
          <a:xfrm>
            <a:off x="9803625" y="3762755"/>
            <a:ext cx="219456" cy="21945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291" y="4101083"/>
            <a:ext cx="2362123" cy="1933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MONTH 4</a:t>
            </a:r>
          </a:p>
          <a:p>
            <a:r>
              <a:rPr sz="1050" b="1" i="0">
                <a:solidFill>
                  <a:srgbClr val="F8FAFC"/>
                </a:solidFill>
                <a:latin typeface="Inter"/>
              </a:rPr>
              <a:t>Sprint 5-6: Enterprise Cutover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Full plant rollout &amp; 24/7 hypercare transition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