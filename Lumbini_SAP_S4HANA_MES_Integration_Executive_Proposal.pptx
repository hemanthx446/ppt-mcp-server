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4114800" cy="292608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27432"/>
          <a:lstStyle/>
          <a:p>
            <a:pPr algn="ctr">
              <a:defRPr sz="850" b="1">
                <a:solidFill>
                  <a:srgbClr val="00B4D8"/>
                </a:solidFill>
                <a:latin typeface="Arial"/>
              </a:defRPr>
            </a:pPr>
            <a:r>
              <a:t>LUMBINI ELITE SOLUTIONS • EXECUTIVE ARCHITECTURE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SAP S/4HANA &amp; MES Real-Time</a:t>
            </a:r>
            <a:br/>
            <a:r>
              <a:t>Shop Floor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6984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0B4D8"/>
                </a:solidFill>
                <a:latin typeface="Arial"/>
              </a:defRPr>
            </a:pPr>
            <a:r>
              <a:t>BRIDGING THE CORE TO THE EDGE: Synchronizing plant-floor telemetry with enterprise ERP in sub-second cycles without compromising the clean core.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54680"/>
            <a:ext cx="3429000" cy="2606040"/>
          </a:xfrm>
          <a:prstGeom prst="rect">
            <a:avLst/>
          </a:prstGeom>
          <a:solidFill>
            <a:srgbClr val="151F3C"/>
          </a:solidFill>
          <a:ln w="1524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310128"/>
            <a:ext cx="2103120" cy="201168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9144"/>
          <a:lstStyle/>
          <a:p>
            <a:pPr algn="ctr">
              <a:defRPr sz="750" b="1">
                <a:solidFill>
                  <a:srgbClr val="00B4D8"/>
                </a:solidFill>
                <a:latin typeface="Arial"/>
              </a:defRPr>
            </a:pPr>
            <a:r>
              <a:t>CLEAN CORE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84448"/>
            <a:ext cx="306324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Zero ERP Modifications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306324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100% standard SAP OData &amp; Event Mesh interfaces.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Zero custom Z-tables or batch locks inside S/4HANA.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Guaranteed future-proof SAP upgrade readiness.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9976" y="3154680"/>
            <a:ext cx="3429000" cy="2606040"/>
          </a:xfrm>
          <a:prstGeom prst="rect">
            <a:avLst/>
          </a:prstGeom>
          <a:solidFill>
            <a:srgbClr val="151F3C"/>
          </a:solidFill>
          <a:ln w="1524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62856" y="3310128"/>
            <a:ext cx="2103120" cy="201168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9144"/>
          <a:lstStyle/>
          <a:p>
            <a:pPr algn="ctr">
              <a:defRPr sz="750" b="1">
                <a:solidFill>
                  <a:srgbClr val="0066CC"/>
                </a:solidFill>
                <a:latin typeface="Arial"/>
              </a:defRPr>
            </a:pPr>
            <a:r>
              <a:t>REAL-TIME TELEMETRY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3584448"/>
            <a:ext cx="306324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Sub-Second Edge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3977639"/>
            <a:ext cx="306324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Live bi-directional MQTT &amp; OPC-UA telemetry sync.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Automated work-order and scrap confirmation.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Immediate WIP variance visibility for plant controllers.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2" y="3154680"/>
            <a:ext cx="3429000" cy="2606040"/>
          </a:xfrm>
          <a:prstGeom prst="rect">
            <a:avLst/>
          </a:prstGeom>
          <a:solidFill>
            <a:srgbClr val="151F3C"/>
          </a:solidFill>
          <a:ln w="1524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11312" y="3310128"/>
            <a:ext cx="2103120" cy="201168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9144"/>
          <a:lstStyle/>
          <a:p>
            <a:pPr algn="ctr">
              <a:defRPr sz="750" b="1">
                <a:solidFill>
                  <a:srgbClr val="10B981"/>
                </a:solidFill>
                <a:latin typeface="Arial"/>
              </a:defRPr>
            </a:pPr>
            <a:r>
              <a:t>PROVEN 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3584448"/>
            <a:ext cx="306324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12-Week Rapid ROI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3977639"/>
            <a:ext cx="306324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Turnkey pre-built connectors for standard MES/SCADA.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Store-and-forward edge buffer ensuring 99.99% uptime.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14-month full capital payback via eliminated scrap.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Lumbini Elite Solutions • Confidential Proposal • Target Delivery: 12 Weeks • Lead Architect: Enterprise SAP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THE STRATEGIC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The Operational &amp; Financial Disconnect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066CC"/>
                </a:solidFill>
                <a:latin typeface="Arial"/>
              </a:defRPr>
            </a:pPr>
            <a:r>
              <a:t>THE BOTTLENECK: Batch-mode updates and siloed shop floors create critical blind spots between factory output and ERP financial books.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• Enterprise SAP &amp; Smart Manufacturing Practice •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212080" cy="4389120"/>
          </a:xfrm>
          <a:prstGeom prst="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66344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B91C1C"/>
                </a:solidFill>
                <a:latin typeface="Arial"/>
              </a:defRPr>
            </a:pPr>
            <a:r>
              <a:t>CURRENT STATE: SILOED BATCH FACTORY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663440" cy="3291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Manual Shift Reconciliations (8-24h Lag)</a:t>
            </a:r>
          </a:p>
          <a:p>
            <a:pPr>
              <a:spcAft>
                <a:spcPts val="14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Floor supervisors key in paper production sheets at end-of-shift, leaving inventory ledgers blind during active runs.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Frequent Order Confirmation Mismatches</a:t>
            </a:r>
          </a:p>
          <a:p>
            <a:pPr>
              <a:spcAft>
                <a:spcPts val="14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Discrepancies between physical output and SAP confirmations trigger unplanned line halts and material shortages.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Ghost Scrap &amp; Delayed Financial Costing</a:t>
            </a:r>
          </a:p>
          <a:p>
            <a:pPr>
              <a:spcAft>
                <a:spcPts val="14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Material scrap is recorded retrospectively, skewing standard costing models and preventing timely corrective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212080" cy="4389120"/>
          </a:xfrm>
          <a:prstGeom prst="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20"/>
            <a:ext cx="466344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15803D"/>
                </a:solidFill>
                <a:latin typeface="Arial"/>
              </a:defRPr>
            </a:pPr>
            <a:r>
              <a:t>TARGET STATE: SYNCHRONIZED INTELLIGENT 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4663440" cy="3291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Sub-Second Edge Telemetry &amp; Event Streaming</a:t>
            </a:r>
          </a:p>
          <a:p>
            <a:pPr>
              <a:spcAft>
                <a:spcPts val="14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PLC and sensor signals stream directly through Lumbini BTP broker, updating production orders instantaneously.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Automated Routing &amp; Work-Center Validation</a:t>
            </a:r>
          </a:p>
          <a:p>
            <a:pPr>
              <a:spcAft>
                <a:spcPts val="14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Operators confirm steps via rugged touch terminals, locking invalid job progression and enforcing zero defect gates.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Real-Time Variance Analytics &amp; Cost Transparency</a:t>
            </a:r>
          </a:p>
          <a:p>
            <a:pPr>
              <a:spcAft>
                <a:spcPts val="14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Raw material consumption and yield post immediately to SAP Universal Journal (ACDOCA) for live margin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TECHNICAL ARCHITECTURE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Decoupled 3-Tier Enterprise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066CC"/>
                </a:solidFill>
                <a:latin typeface="Arial"/>
              </a:defRPr>
            </a:pPr>
            <a:r>
              <a:t>HOW IT WORKS: Real-time telemetry out of the plant, event-brokered through BTP, zero risk to the ERP 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• Enterprise SAP &amp; Smart Manufacturing Practice •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1546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31546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737360"/>
            <a:ext cx="201168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800" b="1">
                <a:solidFill>
                  <a:srgbClr val="0066CC"/>
                </a:solidFill>
                <a:latin typeface="Arial"/>
              </a:defRPr>
            </a:pPr>
            <a:r>
              <a:t>ENTERPRISE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278892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SAP S/4HANA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2788920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Standard OData APIs for Work Orders &amp; BOMs.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Universal Journal (ACDOCA) live cost updates.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Zero custom code, keeping core 100% clean.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95928" y="2926080"/>
            <a:ext cx="411480" cy="27432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7135" y="1554480"/>
            <a:ext cx="31546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7135" y="1554480"/>
            <a:ext cx="315468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00015" y="1737360"/>
            <a:ext cx="201168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800" b="1">
                <a:solidFill>
                  <a:srgbClr val="00B4D8"/>
                </a:solidFill>
                <a:latin typeface="Arial"/>
              </a:defRPr>
            </a:pPr>
            <a:r>
              <a:t>INTEGRATION BROKER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5" y="2057400"/>
            <a:ext cx="278892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Lumbini BTP Middleware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5" y="2514600"/>
            <a:ext cx="2788920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SAP Event Mesh with sub-second message queuing.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Protocol translation: MQTT, OPC-UA to REST.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Offline store-and-forward caching engine.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81543" y="2926080"/>
            <a:ext cx="411480" cy="27432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2750" y="1554480"/>
            <a:ext cx="31546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02750" y="1554480"/>
            <a:ext cx="3154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85630" y="1737360"/>
            <a:ext cx="201168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800" b="1">
                <a:solidFill>
                  <a:srgbClr val="10B981"/>
                </a:solidFill>
                <a:latin typeface="Arial"/>
              </a:defRPr>
            </a:pPr>
            <a:r>
              <a:t>PHYSICAL FACTORY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0" y="2057400"/>
            <a:ext cx="278892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Shop Floor Edge Terminals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0" y="2514600"/>
            <a:ext cx="2788920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PLC &amp; sensor IoT collectors at machine line.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Rugged touch UI for instant operator confirmations.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Automated barcode &amp; RFID scrap tracking.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892040"/>
            <a:ext cx="10728655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029200"/>
            <a:ext cx="1014984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SECURITY, RESILIENCE &amp; ZERO-TRUST GOVERNANCE CALLOUT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330952"/>
            <a:ext cx="1014984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 Store-and-Forward Edge Resilience: Shop floor operates continuously even during wide-area network disconnects, queueing data locally and auto-syncing upon reconnection.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 Zero-Trust Edge Perimeter: Mutual TLS 1.3 encryption across all edge gateways with role-based JWT bearer authentication on SAP BTP endpoints.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 Certified Clean Core Alignment: Zero custom ABAP modifications ensure frictionless bi-annual SAP S/4HANA release upgrades.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BUSINESS VALUE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Quantified Financial &amp; Operational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066CC"/>
                </a:solidFill>
                <a:latin typeface="Arial"/>
              </a:defRPr>
            </a:pPr>
            <a:r>
              <a:t>MEASURABLE IMPACT: Transforming plant floor telemetry into 38% faster order turnaround and 14-month payback.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• Enterprise SAP &amp; Smart Manufacturing Practice •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21208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5212080" cy="9601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09928"/>
            <a:ext cx="4663440" cy="7315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Arial"/>
              </a:defRPr>
            </a:pPr>
            <a:r>
              <a:t>-65% WIP INVENTORY LATENCY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Operational Speed &amp; Production Execution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4663440" cy="2926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38% Faster Order-to-Cash Cycle</a:t>
            </a:r>
          </a:p>
          <a:p>
            <a:pPr>
              <a:spcAft>
                <a:spcPts val="12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Automated confirmation eliminates physical paper routing and manual approval delays across lines.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22% Reduction in Scrap &amp; Defects</a:t>
            </a:r>
          </a:p>
          <a:p>
            <a:pPr>
              <a:spcAft>
                <a:spcPts val="12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In-line tolerance checks at operator terminals halt non-compliant assemblies before downstream processing.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100% Component Serialization Audit Trail</a:t>
            </a:r>
          </a:p>
          <a:p>
            <a:pPr>
              <a:spcAft>
                <a:spcPts val="12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Complete geneaology tracking ensures full compliance with ISO 9001 and IATF aerospace/automotive standards.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521208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21208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09928"/>
            <a:ext cx="4663440" cy="7315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14-MONTH CAPITAL PAYBACK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Direct Bottom-Line Cost Savings &amp; Cash Flow 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4663440" cy="2926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$1.8M Recurring Annual Waste Reduction</a:t>
            </a:r>
          </a:p>
          <a:p>
            <a:pPr>
              <a:spcAft>
                <a:spcPts val="12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Prevented over-production and eliminated unrecorded material slippage across 3 target manufacturing plants.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85% Cut in Shift-End Administrative Overtime</a:t>
            </a:r>
          </a:p>
          <a:p>
            <a:pPr>
              <a:spcAft>
                <a:spcPts val="12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Supervisors save 90 minutes per shift previously spent manually auditing ERP batch discrepancies.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4.2x 3-Year Implementation IRR</a:t>
            </a:r>
          </a:p>
          <a:p>
            <a:pPr>
              <a:spcAft>
                <a:spcPts val="12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Turnkey architecture yields accelerated return on BTP licensing and deployment investment.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EXECUTION BLUEPRINT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12-Week Rapid Production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066CC"/>
                </a:solidFill>
                <a:latin typeface="Arial"/>
              </a:defRPr>
            </a:pPr>
            <a:r>
              <a:t>PHASED DEPLOYMENT: De-risked agile rollout from pilot work cell to plant-wide go-live in 90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• Enterprise SAP &amp; Smart Manufacturing Practice •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3429000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783080"/>
            <a:ext cx="201168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800" b="1">
                <a:solidFill>
                  <a:srgbClr val="0066CC"/>
                </a:solidFill>
                <a:latin typeface="Arial"/>
              </a:defRPr>
            </a:pPr>
            <a:r>
              <a:t>PHASE 1 • WEEKS 1-3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063240" cy="4114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Architecture &amp; Edge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3063240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Establish S/4HANA OData and Event Mesh communication channels.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Deploy edge collector in single pilot work cell for signal testing.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Validate zero-trust network segregation and security policies.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9976" y="1600200"/>
            <a:ext cx="3429000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1783080"/>
            <a:ext cx="201168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800" b="1">
                <a:solidFill>
                  <a:srgbClr val="00B4D8"/>
                </a:solidFill>
                <a:latin typeface="Arial"/>
              </a:defRPr>
            </a:pPr>
            <a:r>
              <a:t>PHASE 2 • WEEKS 4-8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103120"/>
            <a:ext cx="3063240" cy="4114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Bi-Directional Pilot &amp;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606040"/>
            <a:ext cx="3063240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Execute automated work-order dispatch to operator touchscreens.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Simulate network drops to verify offline store-and-forward caching.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Conduct live variance testing against SAP Universal Journal.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8432" y="1600200"/>
            <a:ext cx="3429000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2" y="1783080"/>
            <a:ext cx="201168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800" b="1">
                <a:solidFill>
                  <a:srgbClr val="10B981"/>
                </a:solidFill>
                <a:latin typeface="Arial"/>
              </a:defRPr>
            </a:pPr>
            <a:r>
              <a:t>PHASE 3 • WEEKS 9-12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103120"/>
            <a:ext cx="3063240" cy="4114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Plant Cutover &amp; Scale-Out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606040"/>
            <a:ext cx="3063240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Full plant-wide roll-out across all active work centers and lines.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Complete supervisor SOP training and operator onboarding.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Formal handover with 24/7 hypercare and scale-out playbook.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92040"/>
            <a:ext cx="10728655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29200"/>
            <a:ext cx="1014984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PROPOSED IMMEDIATE ACTION &amp; NEXT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30952"/>
            <a:ext cx="1014984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 Architecture Discovery Workshop: Conduct a 1-day alignment session with SAP and plant engineering teams.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 Pilot Cell Selection: Identify target high-volume production line for initial Week 3 edge sensor hookup.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 Zero-Risk Pilot Approval: Authorize fixed-price Phase 1 proof-of-concept milestone with guaranteed SLA.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