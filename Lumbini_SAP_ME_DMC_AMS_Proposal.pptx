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bg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" y="182880"/>
            <a:ext cx="6217920" cy="6441318"/>
          </a:xfrm>
          <a:prstGeom prst="rect">
            <a:avLst/>
          </a:prstGeom>
        </p:spPr>
      </p:pic>
      <p:pic>
        <p:nvPicPr>
          <p:cNvPr id="4" name="Picture 3" descr="lumbin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594360"/>
            <a:ext cx="2011680" cy="8524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691640"/>
            <a:ext cx="3931920" cy="32004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950" b="1">
                <a:solidFill>
                  <a:srgbClr val="0066B4"/>
                </a:solidFill>
                <a:latin typeface="Inter"/>
              </a:defRPr>
            </a:pPr>
            <a:r>
              <a:t>ENTERPRISE AMS STRATEGIC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6012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Poppins"/>
              </a:defRPr>
            </a:pPr>
            <a:r>
              <a:t>SAP Manufacturing Execution (SAP ME) &amp;</a:t>
            </a:r>
            <a:br/>
            <a:r>
              <a:t>SAP Digital Manufacturing (SAP DMC)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03320"/>
            <a:ext cx="5303520" cy="45720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96012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0066B4"/>
                </a:solidFill>
                <a:latin typeface="Poppins"/>
              </a:defRPr>
            </a:pPr>
            <a:r>
              <a:t>Driving Resilient Shop-Floor Operations through Expert L1/L2 Support and End-to-End Enterprise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7498079" cy="13258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950" b="1">
                <a:solidFill>
                  <a:srgbClr val="1E61BB"/>
                </a:solidFill>
                <a:latin typeface="Inter"/>
              </a:defRPr>
            </a:pPr>
            <a:r>
              <a:t>OFFICIAL SAP TRUSTED PARTNER | SELL &amp; SERVICE PARTNER</a:t>
            </a:r>
          </a:p>
          <a:p>
            <a:pPr>
              <a:defRPr sz="900">
                <a:solidFill>
                  <a:srgbClr val="2D4050"/>
                </a:solidFill>
                <a:latin typeface="Inter"/>
              </a:defRPr>
            </a:pPr>
            <a:r>
              <a:t>Actively delivering end-to-end RISE with SAP and GROW with SAP enterprise transformations across hybrid onsite/offshore delivery models. Tailored to meet Panasonic global manufacturing standards with 24/7 mission-critical operational resilience.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5440680"/>
            <a:ext cx="2926080" cy="685800"/>
          </a:xfrm>
          <a:prstGeom prst="roundRect">
            <a:avLst/>
          </a:prstGeom>
          <a:solidFill>
            <a:srgbClr val="1E6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Enterprise AMS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02920"/>
            <a:ext cx="82296" cy="5943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43891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41E2D"/>
                </a:solidFill>
                <a:latin typeface="Inter"/>
              </a:defRPr>
            </a:pPr>
            <a:r>
              <a:t>Lumbini Elite Solutions – Core Capabilities &amp;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896112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B4"/>
                </a:solidFill>
                <a:latin typeface="Inter"/>
              </a:defRPr>
            </a:pPr>
            <a:r>
              <a:t>Technological Breadth Beyond Standard ERP | Advanced Manufacturing &amp; Cloud Extensions</a:t>
            </a:r>
          </a:p>
        </p:txBody>
      </p:sp>
      <p:pic>
        <p:nvPicPr>
          <p:cNvPr id="7" name="Picture 6" descr="lumbi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5812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82296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Lumbini Elite Solutions &amp; Services | Elitia Enterprise Suite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55664"/>
            <a:ext cx="1858975" cy="237744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Inter"/>
              </a:defRPr>
            </a:pPr>
            <a:r>
              <a:t>Slide 2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950" b="1">
                <a:solidFill>
                  <a:srgbClr val="0066B4"/>
                </a:solidFill>
                <a:latin typeface="Inter"/>
              </a:defRPr>
            </a:pPr>
            <a:r>
              <a:t>ENTERPRISE MANUFACTURING EXCELLENCE &amp; DUAL ECOSYSTEM ADVANTAGE</a:t>
            </a:r>
          </a:p>
          <a:p>
            <a:pPr>
              <a:defRPr sz="900">
                <a:solidFill>
                  <a:srgbClr val="2D4050"/>
                </a:solidFill>
                <a:latin typeface="Inter"/>
              </a:defRPr>
            </a:pPr>
            <a:r>
              <a:t>Lumbini Elite combines official SAP Sell &amp; Service partner status with deep shop-floor MES engineering and proprietary microservices innovation via Elitia Technologies to ensure continuous manufacturing availability.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25420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423160"/>
            <a:ext cx="2267712" cy="594360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0066B4"/>
                </a:solidFill>
                <a:latin typeface="Inter"/>
              </a:defRPr>
            </a:pPr>
            <a:r>
              <a:t>Official SAP Partner</a:t>
            </a:r>
          </a:p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Sell &amp; Service Dual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2267712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Accredited SAP Sell &amp; Service Partner.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Proven delivery across global transformation mandates.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Active RISE with SAP and GROW with SAP rollouts.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Bilingual, follow-the-sun global support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2286000"/>
            <a:ext cx="25420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93592" y="2423160"/>
            <a:ext cx="2267712" cy="594360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0066B4"/>
                </a:solidFill>
                <a:latin typeface="Inter"/>
              </a:defRPr>
            </a:pPr>
            <a:r>
              <a:t>Digital Manufacturing</a:t>
            </a:r>
          </a:p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SAP ME &amp; SAP DMC Mastery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154680"/>
            <a:ext cx="2267712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Deep expertise in SAP ME 15.x and Cloud DMC.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Shop-floor execution, POD configuration &amp; SFC tracking.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Resource tracking, OEE, and scrap recording.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PLC/SCADA, PCo, and machine-level telemetry integration.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286000"/>
            <a:ext cx="25420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423160"/>
            <a:ext cx="2267712" cy="594360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0066B4"/>
                </a:solidFill>
                <a:latin typeface="Inter"/>
              </a:defRPr>
            </a:pPr>
            <a:r>
              <a:t>Enterprise Platforms</a:t>
            </a:r>
          </a:p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SAP BTP, SBPA &amp; MDG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154680"/>
            <a:ext cx="2267712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SAP Business Technology Platform (BTP) integration.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Automated workflows with Build Process Automation.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Master Data Governance (MDG) for clean routing &amp; BOMs.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Cloud Integration (CPI) for real-time plant syncing.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2286000"/>
            <a:ext cx="25420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43416" y="2423160"/>
            <a:ext cx="2267712" cy="5943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E67300"/>
                </a:solidFill>
                <a:latin typeface="Inter"/>
              </a:defRPr>
            </a:pPr>
            <a:r>
              <a:t>Custom Microservices</a:t>
            </a:r>
          </a:p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Elitia Technologies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3154680"/>
            <a:ext cx="2267712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Bespoke manufacturing extensions outside core ERP.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Modern decoupled microservices &amp; reactive APIs.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High-throughput edge computing for high-volume lines.</a:t>
            </a:r>
          </a:p>
          <a:p>
            <a:pPr>
              <a:spcAft>
                <a:spcPts val="600"/>
              </a:spcAft>
              <a:defRPr sz="900">
                <a:solidFill>
                  <a:srgbClr val="2D4050"/>
                </a:solidFill>
                <a:latin typeface="Inter"/>
              </a:defRPr>
            </a:pPr>
            <a:r>
              <a:t>• Zero core modification preserving clean ERP 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02920"/>
            <a:ext cx="82296" cy="5943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43891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41E2D"/>
                </a:solidFill>
                <a:latin typeface="Inter"/>
              </a:defRPr>
            </a:pPr>
            <a:r>
              <a:t>Understanding the Manufacturing Digital Thread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896112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B4"/>
                </a:solidFill>
                <a:latin typeface="Inter"/>
              </a:defRPr>
            </a:pPr>
            <a:r>
              <a:t>Connecting Business Intent to Plant-Floor Execution | End-to-End Operational Integrity</a:t>
            </a:r>
          </a:p>
        </p:txBody>
      </p:sp>
      <p:pic>
        <p:nvPicPr>
          <p:cNvPr id="7" name="Picture 6" descr="lumbi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5812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82296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Lumbini Elite Solutions &amp; Services | Elitia Enterprise Suite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55664"/>
            <a:ext cx="1858975" cy="237744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Inter"/>
              </a:defRPr>
            </a:pPr>
            <a:r>
              <a:t>Slide 3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8016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000" b="1">
                <a:solidFill>
                  <a:srgbClr val="F79646"/>
                </a:solidFill>
                <a:latin typeface="Inter"/>
              </a:defRPr>
            </a:pPr>
            <a:r>
              <a:t>THE STRATEGIC CHALLENGE</a:t>
            </a:r>
          </a:p>
          <a:p>
            <a:pPr>
              <a:spcAft>
                <a:spcPts val="800"/>
              </a:spcAft>
              <a:defRPr sz="1400" b="1">
                <a:solidFill>
                  <a:srgbClr val="141E2D"/>
                </a:solidFill>
                <a:latin typeface="Inter"/>
              </a:defRPr>
            </a:pPr>
            <a:r>
              <a:t>How does the business connect to the shop floor?</a:t>
            </a:r>
          </a:p>
          <a:p>
            <a:pPr>
              <a:spcAft>
                <a:spcPts val="800"/>
              </a:spcAft>
              <a:defRPr sz="950">
                <a:solidFill>
                  <a:srgbClr val="2D4050"/>
                </a:solidFill>
                <a:latin typeface="Inter"/>
              </a:defRPr>
            </a:pPr>
            <a:r>
              <a:t>In high-throughput enterprise manufacturing (such as Panasonic's electronics and battery operations), commercial planning in SAP ERP must translate flawlessly into millisecond-accurate production execution.</a:t>
            </a:r>
          </a:p>
          <a:p>
            <a:pPr>
              <a:spcAft>
                <a:spcPts val="1200"/>
              </a:spcAft>
              <a:defRPr sz="950">
                <a:solidFill>
                  <a:srgbClr val="2D4050"/>
                </a:solidFill>
                <a:latin typeface="Inter"/>
              </a:defRPr>
            </a:pPr>
            <a:r>
              <a:t>Lumbini Elite eliminates the critical friction points where ERP schedules disconnect from plant reality, guaranteeing data fidelity, synchronizing work orders, and stabilizing MES pipelines.</a:t>
            </a:r>
          </a:p>
          <a:p>
            <a:pPr>
              <a:defRPr sz="900" b="1">
                <a:solidFill>
                  <a:srgbClr val="0066B4"/>
                </a:solidFill>
                <a:latin typeface="Inter"/>
              </a:defRPr>
            </a:pPr>
            <a:r>
              <a:t>LUMBINI THREAD VALUE:</a:t>
            </a:r>
            <a:br/>
            <a:r>
              <a:t>✓ Zero Latency Order Release</a:t>
            </a:r>
            <a:br/>
            <a:r>
              <a:t>✓ 100% Component Traceability</a:t>
            </a:r>
            <a:br/>
            <a:r>
              <a:t>✓ Automated Confirmation &amp; Goods Issue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70710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50" b="1">
                <a:solidFill>
                  <a:srgbClr val="1E61BB"/>
                </a:solidFill>
                <a:latin typeface="Inter"/>
              </a:defRPr>
            </a:pPr>
            <a:r>
              <a:t>1. Work Order &amp; Production Version</a:t>
            </a:r>
          </a:p>
          <a:p>
            <a:pPr>
              <a:defRPr sz="850">
                <a:solidFill>
                  <a:srgbClr val="2D4050"/>
                </a:solidFill>
                <a:latin typeface="Inter"/>
              </a:defRPr>
            </a:pPr>
            <a:r>
              <a:t>Synchronization of LOIPRO &amp; Production Versions — Validating BOM explosion, recipe/routing alignment, and release triggers between ERP/S4 and SAP ME/DMC without batch lag.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86000"/>
            <a:ext cx="70710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50" b="1">
                <a:solidFill>
                  <a:srgbClr val="1E61BB"/>
                </a:solidFill>
                <a:latin typeface="Inter"/>
              </a:defRPr>
            </a:pPr>
            <a:r>
              <a:t>2. Materials Movement &amp; Inventory Control</a:t>
            </a:r>
          </a:p>
          <a:p>
            <a:pPr>
              <a:defRPr sz="850">
                <a:solidFill>
                  <a:srgbClr val="2D4050"/>
                </a:solidFill>
                <a:latin typeface="Inter"/>
              </a:defRPr>
            </a:pPr>
            <a:r>
              <a:t>Real-Time Staging &amp; Consumption Tracking — Synchronizing MATMAS master records, line-side replenishment, kanban triggers, and automated Goods Issue (261) movements.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40"/>
            <a:ext cx="70710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50" b="1">
                <a:solidFill>
                  <a:srgbClr val="1E61BB"/>
                </a:solidFill>
                <a:latin typeface="Inter"/>
              </a:defRPr>
            </a:pPr>
            <a:r>
              <a:t>3. Shop-Floor Controlling &amp; Routing Execution</a:t>
            </a:r>
          </a:p>
          <a:p>
            <a:pPr>
              <a:defRPr sz="850">
                <a:solidFill>
                  <a:srgbClr val="2D4050"/>
                </a:solidFill>
                <a:latin typeface="Inter"/>
              </a:defRPr>
            </a:pPr>
            <a:r>
              <a:t>Granular Operation Dispatching &amp; POD Control — Live SFC (Shop Floor Control) progression, work-center routing enforcement, operator validations, and automated cycle-time capture.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297680"/>
            <a:ext cx="70710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50" b="1">
                <a:solidFill>
                  <a:srgbClr val="1E61BB"/>
                </a:solidFill>
                <a:latin typeface="Inter"/>
              </a:defRPr>
            </a:pPr>
            <a:r>
              <a:t>4. Bill of Materials &amp; Production Execution</a:t>
            </a:r>
          </a:p>
          <a:p>
            <a:pPr>
              <a:defRPr sz="850">
                <a:solidFill>
                  <a:srgbClr val="2D4050"/>
                </a:solidFill>
                <a:latin typeface="Inter"/>
              </a:defRPr>
            </a:pPr>
            <a:r>
              <a:t>Component Consumption &amp; Scrap Accounting — Multi-level assembly verification, alternate component management, immediate scrap recording, and yield reconciliation.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303520"/>
            <a:ext cx="70710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50" b="1">
                <a:solidFill>
                  <a:srgbClr val="1E61BB"/>
                </a:solidFill>
                <a:latin typeface="Inter"/>
              </a:defRPr>
            </a:pPr>
            <a:r>
              <a:t>5. Traceability, Quality &amp; Logistics Integration</a:t>
            </a:r>
          </a:p>
          <a:p>
            <a:pPr>
              <a:defRPr sz="850">
                <a:solidFill>
                  <a:srgbClr val="2D4050"/>
                </a:solidFill>
                <a:latin typeface="Inter"/>
              </a:defRPr>
            </a:pPr>
            <a:r>
              <a:t>Serialized Tracking &amp; 3PL Integration — Full genealogy tracking, in-process non-conformance (NC) recording, and seamless handoff to automated warehousing &amp; 3PL logistics.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02920"/>
            <a:ext cx="82296" cy="5943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43891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41E2D"/>
                </a:solidFill>
                <a:latin typeface="Inter"/>
              </a:defRPr>
            </a:pPr>
            <a:r>
              <a:t>Strategic Approach – Beyond Siloed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896112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B4"/>
                </a:solidFill>
                <a:latin typeface="Inter"/>
              </a:defRPr>
            </a:pPr>
            <a:r>
              <a:t>Solving the Business, Architecture &amp; Transformation Problem | Advisory-Led AMS Model</a:t>
            </a:r>
          </a:p>
        </p:txBody>
      </p:sp>
      <p:pic>
        <p:nvPicPr>
          <p:cNvPr id="7" name="Picture 6" descr="lumbi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5812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82296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Lumbini Elite Solutions &amp; Services | Elitia Enterprise Suite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55664"/>
            <a:ext cx="1858975" cy="237744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Inter"/>
              </a:defRPr>
            </a:pPr>
            <a:r>
              <a:t>Slide 4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463040"/>
            <a:ext cx="3154680" cy="594360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 b="1">
                <a:solidFill>
                  <a:srgbClr val="0066B4"/>
                </a:solidFill>
                <a:latin typeface="Inter"/>
              </a:defRPr>
            </a:pPr>
            <a:r>
              <a:t>1. Cross-System Orchestration</a:t>
            </a:r>
          </a:p>
          <a:p>
            <a:pPr>
              <a:defRPr sz="850" i="1">
                <a:solidFill>
                  <a:srgbClr val="141E2D"/>
                </a:solidFill>
                <a:latin typeface="Inter"/>
              </a:defRPr>
            </a:pPr>
            <a:r>
              <a:t>How do these systems work together?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315468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80">
                <a:solidFill>
                  <a:srgbClr val="2D4050"/>
                </a:solidFill>
                <a:latin typeface="Inter"/>
              </a:defRPr>
            </a:pPr>
            <a:r>
              <a:t>Traditional AMS vendors treat ERP, MES, and WMS as isolated silos. Lumbini analyzes the macro ecosystem architecture:</a:t>
            </a:r>
            <a:br/>
            <a:br/>
            <a:r>
              <a:t>• Real-time queue monitoring across LOIPRO, LOIWCS, and MATMAS interfaces.</a:t>
            </a:r>
            <a:br/>
            <a:r>
              <a:t>• Rapid resolution of IDoc bottlenecks, web-service time-outs, and PCo communication drops.</a:t>
            </a:r>
            <a:br/>
            <a:r>
              <a:t>• Alignment of plant-floor events with corporate financial and controlling ledgers.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1463040"/>
            <a:ext cx="3154680" cy="594360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 b="1">
                <a:solidFill>
                  <a:srgbClr val="0066B4"/>
                </a:solidFill>
                <a:latin typeface="Inter"/>
              </a:defRPr>
            </a:pPr>
            <a:r>
              <a:t>2. Operating Model Transformation</a:t>
            </a:r>
          </a:p>
          <a:p>
            <a:pPr>
              <a:defRPr sz="850" i="1">
                <a:solidFill>
                  <a:srgbClr val="141E2D"/>
                </a:solidFill>
                <a:latin typeface="Inter"/>
              </a:defRPr>
            </a:pPr>
            <a:r>
              <a:t>How should the enterprise transform its model?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48840"/>
            <a:ext cx="315468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80">
                <a:solidFill>
                  <a:srgbClr val="2D4050"/>
                </a:solidFill>
                <a:latin typeface="Inter"/>
              </a:defRPr>
            </a:pPr>
            <a:r>
              <a:t>Support is a catalyst for continuous modernization, not just firefighting. Our senior consultants continuously evaluate:</a:t>
            </a:r>
            <a:br/>
            <a:br/>
            <a:r>
              <a:t>• Identifying repetitive incident root causes and automating corrective runbooks.</a:t>
            </a:r>
            <a:br/>
            <a:r>
              <a:t>• Refactoring manual plant supervisor overrides into automated standard system workflows.</a:t>
            </a:r>
            <a:br/>
            <a:r>
              <a:t>• Accelerating the transitional path from on-premise SAP ME to SAP Digital Manufacturing (DMC).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5592" y="1463040"/>
            <a:ext cx="3154680" cy="5943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 b="1">
                <a:solidFill>
                  <a:srgbClr val="E67300"/>
                </a:solidFill>
                <a:latin typeface="Inter"/>
              </a:defRPr>
            </a:pPr>
            <a:r>
              <a:t>3. Flexible Architecture Execution</a:t>
            </a:r>
          </a:p>
          <a:p>
            <a:pPr>
              <a:defRPr sz="850" i="1">
                <a:solidFill>
                  <a:srgbClr val="141E2D"/>
                </a:solidFill>
                <a:latin typeface="Inter"/>
              </a:defRPr>
            </a:pPr>
            <a:r>
              <a:t>Seamlessly within SAP or outside via Elitia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148840"/>
            <a:ext cx="315468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80">
                <a:solidFill>
                  <a:srgbClr val="2D4050"/>
                </a:solidFill>
                <a:latin typeface="Inter"/>
              </a:defRPr>
            </a:pPr>
            <a:r>
              <a:t>Enterprise agility demands practical technical pragmatism without bloating core systems:</a:t>
            </a:r>
            <a:br/>
            <a:br/>
            <a:r>
              <a:t>• In-SAP Solutions: Standard configurations, BAdIs, and SAP BTP extensions adhering to the Clean Core paradigm.</a:t>
            </a:r>
            <a:br/>
            <a:r>
              <a:t>• Outside-SAP Extensions: Leveraging Elitia Technologies' high-performance microservices when custom edge logic or sub-millisecond line speeds are required.</a:t>
            </a:r>
            <a:br/>
            <a:r>
              <a:t>• No vendor lock-in with open, API-driven architectures.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728655" cy="77724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50" b="1">
                <a:solidFill>
                  <a:srgbClr val="0066B4"/>
                </a:solidFill>
                <a:latin typeface="Inter"/>
              </a:defRPr>
            </a:pPr>
            <a:r>
              <a:t>THE LUMBINI DIFFERENCE: ADVISORY-LED STABILIZATION</a:t>
            </a:r>
          </a:p>
          <a:p>
            <a:pPr>
              <a:defRPr sz="880">
                <a:solidFill>
                  <a:srgbClr val="2D4050"/>
                </a:solidFill>
                <a:latin typeface="Inter"/>
              </a:defRPr>
            </a:pPr>
            <a:r>
              <a:t>We transform ticket-handling into proactive technical health checks, eliminating recurring defects and providing architectural roadmaps that safeguard high-volume manufacturing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02920"/>
            <a:ext cx="82296" cy="5943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43891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41E2D"/>
                </a:solidFill>
                <a:latin typeface="Inter"/>
              </a:defRPr>
            </a:pPr>
            <a:r>
              <a:t>Proposed AMS Support Scope &amp; Delivery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896112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B4"/>
                </a:solidFill>
                <a:latin typeface="Inter"/>
              </a:defRPr>
            </a:pPr>
            <a:r>
              <a:t>L1/L2 Technical &amp; Functional Support | SLA-Driven Governance &amp; Integration Monitoring</a:t>
            </a:r>
          </a:p>
        </p:txBody>
      </p:sp>
      <p:pic>
        <p:nvPicPr>
          <p:cNvPr id="7" name="Picture 6" descr="lumbi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5812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82296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Lumbini Elite Solutions &amp; Services | Elitia Enterprise Suite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55664"/>
            <a:ext cx="1858975" cy="237744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Inter"/>
              </a:defRPr>
            </a:pPr>
            <a:r>
              <a:t>Slide 5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463040"/>
            <a:ext cx="3154680" cy="438912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80" b="1">
                <a:solidFill>
                  <a:srgbClr val="1E61BB"/>
                </a:solidFill>
                <a:latin typeface="Inter"/>
              </a:defRPr>
            </a:pPr>
            <a:r>
              <a:t>L1/L2 Incident Triage &amp;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11680"/>
            <a:ext cx="315468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24/5 - 24/7 Coverage Window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Rapid response for shift handovers and critical production interruptions.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SFC &amp; Routing Exceptions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Immediate troubleshooting of blocked SFCs, routing deviations, and POD error messages.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Order Release &amp; Staging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Verifying production order statuses, resolving hold flags, and unlocking line execution.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User Access &amp; POD Privileges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Managing user provisioning, plant role assignments, and operator profile configurations.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1463040"/>
            <a:ext cx="3154680" cy="438912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80" b="1">
                <a:solidFill>
                  <a:srgbClr val="1E61BB"/>
                </a:solidFill>
                <a:latin typeface="Inter"/>
              </a:defRPr>
            </a:pPr>
            <a:r>
              <a:t>Interface &amp; Integration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011680"/>
            <a:ext cx="315468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LOIPRO / LOIWCS Interfaces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Proactive queue monitoring and re-triggering of failed work order transfers.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MATMAS &amp; BOM Synchronization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Auditing material master updates, component changes, and production version alignment.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3PL &amp; Warehouse Integration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Resolving inventory synchronization drops between shop-floor buffers and warehouse systems.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PCo / Edge Device Heartbeats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Diagnostic monitoring of plant connectivity, barcode scanners, and printer integrations.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325880"/>
            <a:ext cx="34290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5592" y="1463040"/>
            <a:ext cx="3154680" cy="438912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80" b="1">
                <a:solidFill>
                  <a:srgbClr val="1E61BB"/>
                </a:solidFill>
                <a:latin typeface="Inter"/>
              </a:defRPr>
            </a:pPr>
            <a:r>
              <a:t>Continuous Stabilization &amp;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011680"/>
            <a:ext cx="315468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Root Cause Analysis (RCA)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Weekly Pareto trend analysis on recurring failure codes to implement permanent systemic fixes.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Recipe &amp; Version Governance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Regular audits of production version validity dates and routing task lists.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SOP &amp; Knowledge Base Updates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Continuous documentation of plant-floor resolutions in client-accessible runbooks.</a:t>
            </a:r>
          </a:p>
          <a:p>
            <a:pPr>
              <a:spcAft>
                <a:spcPts val="200"/>
              </a:spcAft>
              <a:defRPr sz="900" b="1">
                <a:solidFill>
                  <a:srgbClr val="141E2D"/>
                </a:solidFill>
                <a:latin typeface="Inter"/>
              </a:defRPr>
            </a:pPr>
            <a:r>
              <a:t>• Release &amp; Patch Validation</a:t>
            </a:r>
          </a:p>
          <a:p>
            <a:pPr>
              <a:spcAft>
                <a:spcPts val="600"/>
              </a:spcAft>
              <a:defRPr sz="819">
                <a:solidFill>
                  <a:srgbClr val="2D4050"/>
                </a:solidFill>
                <a:latin typeface="Inter"/>
              </a:defRPr>
            </a:pPr>
            <a:r>
              <a:t>  Support testing for SAP ME service packs, DMC updates, and cloud connector patches.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728655" cy="77724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50" b="1">
                <a:solidFill>
                  <a:srgbClr val="0066B4"/>
                </a:solidFill>
                <a:latin typeface="Inter"/>
              </a:defRPr>
            </a:pPr>
            <a:r>
              <a:t>OFFSHORE DELIVERY EXCELLENCE | RIGOROUS ENTERPRISE SLAs</a:t>
            </a:r>
          </a:p>
          <a:p>
            <a:pPr>
              <a:defRPr sz="880">
                <a:solidFill>
                  <a:srgbClr val="2D4050"/>
                </a:solidFill>
                <a:latin typeface="Inter"/>
              </a:defRPr>
            </a:pPr>
            <a:r>
              <a:t>• P1 Critical (Plant Down): &lt; 15 Min Response | 2 Hr Workaround   • P2 High (Degraded Line): &lt; 30 Min Response | 4 Hr Target   • P3/P4 Routine: &lt; 2 Hr Response | SLA-Governed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02920"/>
            <a:ext cx="82296" cy="5943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43891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41E2D"/>
                </a:solidFill>
                <a:latin typeface="Inter"/>
              </a:defRPr>
            </a:pPr>
            <a:r>
              <a:t>Team Profiles &amp; Governance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896112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B4"/>
                </a:solidFill>
                <a:latin typeface="Inter"/>
              </a:defRPr>
            </a:pPr>
            <a:r>
              <a:t>Offshore Delivery Excellence | India-Based MES Leads with Direct Global Stakeholder Alignment</a:t>
            </a:r>
          </a:p>
        </p:txBody>
      </p:sp>
      <p:pic>
        <p:nvPicPr>
          <p:cNvPr id="7" name="Picture 6" descr="lumbi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5812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82296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Lumbini Elite Solutions &amp; Services | Elitia Enterprise Suite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55664"/>
            <a:ext cx="1858975" cy="237744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Inter"/>
              </a:defRPr>
            </a:pPr>
            <a:r>
              <a:t>Slide 6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52120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600"/>
              </a:spcAft>
              <a:defRPr sz="1000" b="1">
                <a:solidFill>
                  <a:srgbClr val="0066B4"/>
                </a:solidFill>
                <a:latin typeface="Inter"/>
              </a:defRPr>
            </a:pPr>
            <a:r>
              <a:t>GOVERNANCE &amp; ENGAGEMENT MODEL</a:t>
            </a:r>
          </a:p>
          <a:p>
            <a:pPr>
              <a:defRPr sz="950" b="1">
                <a:solidFill>
                  <a:srgbClr val="141E2D"/>
                </a:solidFill>
                <a:latin typeface="Inter"/>
              </a:defRPr>
            </a:pPr>
            <a:r>
              <a:t>• India Project Delivery Manager (Lead SPOC)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Acts as the dedicated interface for client IT leadership, managing resource allocation, SLA compliance, escalation resolution, and steering committee cadence.</a:t>
            </a:r>
          </a:p>
          <a:p>
            <a:pPr>
              <a:defRPr sz="950" b="1">
                <a:solidFill>
                  <a:srgbClr val="141E2D"/>
                </a:solidFill>
                <a:latin typeface="Inter"/>
              </a:defRPr>
            </a:pPr>
            <a:r>
              <a:t>• Senior MES Functional &amp; Technical Leads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Experienced practitioners specializing in SAP ME core, DMC cloud extensions, PCo integration, and S/4HANA PP/MM alignment.</a:t>
            </a:r>
          </a:p>
          <a:p>
            <a:pPr>
              <a:defRPr sz="950" b="1">
                <a:solidFill>
                  <a:srgbClr val="141E2D"/>
                </a:solidFill>
                <a:latin typeface="Inter"/>
              </a:defRPr>
            </a:pPr>
            <a:r>
              <a:t>• L1/L2 Incident Analysts &amp; Interface Engineers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Dedicated shift engineers handling real-time ticket triage, queue clearance, user authorizations, and operational execution assistance.</a:t>
            </a:r>
          </a:p>
          <a:p>
            <a:pPr>
              <a:defRPr sz="950" b="1">
                <a:solidFill>
                  <a:srgbClr val="141E2D"/>
                </a:solidFill>
                <a:latin typeface="Inter"/>
              </a:defRPr>
            </a:pPr>
            <a:r>
              <a:t>• Global Coordination &amp; Shift Overlap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Designed with purposeful operating overlap with US and global manufacturing shifts to ensure seamless handovers and live plant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2852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600"/>
              </a:spcAft>
              <a:defRPr sz="1000" b="1">
                <a:solidFill>
                  <a:srgbClr val="0066B4"/>
                </a:solidFill>
                <a:latin typeface="Inter"/>
              </a:defRPr>
            </a:pPr>
            <a:r>
              <a:t>COLLABORATIVE GOVERNANCE CADENCE</a:t>
            </a:r>
          </a:p>
          <a:p>
            <a:pPr>
              <a:defRPr sz="950" b="1">
                <a:solidFill>
                  <a:srgbClr val="1E61BB"/>
                </a:solidFill>
                <a:latin typeface="Inter"/>
              </a:defRPr>
            </a:pPr>
            <a:r>
              <a:t>✓ Daily Standups (15 Mins)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Review open tickets, shift handover items, critical interface queue backlog, and urgent line priorities.</a:t>
            </a:r>
          </a:p>
          <a:p>
            <a:pPr>
              <a:defRPr sz="950" b="1">
                <a:solidFill>
                  <a:srgbClr val="1E61BB"/>
                </a:solidFill>
                <a:latin typeface="Inter"/>
              </a:defRPr>
            </a:pPr>
            <a:r>
              <a:t>✓ Weekly Operations Review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Ticket Pareto analysis, SLA compliance metrics, recurring defect evaluation, and staffing review.</a:t>
            </a:r>
          </a:p>
          <a:p>
            <a:pPr>
              <a:defRPr sz="950" b="1">
                <a:solidFill>
                  <a:srgbClr val="1E61BB"/>
                </a:solidFill>
                <a:latin typeface="Inter"/>
              </a:defRPr>
            </a:pPr>
            <a:r>
              <a:t>✓ Monthly Technical Steering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Root cause review, preventive recommendations, system upgrade impact, and architecture roadmapping.</a:t>
            </a:r>
          </a:p>
          <a:p>
            <a:pPr>
              <a:defRPr sz="950" b="1">
                <a:solidFill>
                  <a:srgbClr val="1E61BB"/>
                </a:solidFill>
                <a:latin typeface="Inter"/>
              </a:defRPr>
            </a:pPr>
            <a:r>
              <a:t>✓ Quarterly Executive Review (QBR)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Strategic roadmap assessment, capacity optimization, ROI reporting, and digital manufacturing evolution.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80"/>
            <a:ext cx="10728655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defRPr sz="900" b="1">
                <a:solidFill>
                  <a:srgbClr val="E67300"/>
                </a:solidFill>
                <a:latin typeface="Inter"/>
              </a:defRPr>
            </a:pPr>
            <a:r>
              <a:t>RESOURCE PROFILES &amp; QUALIFICATION NOTE</a:t>
            </a:r>
          </a:p>
          <a:p>
            <a:pPr>
              <a:defRPr sz="1000" i="1" b="1">
                <a:solidFill>
                  <a:srgbClr val="141E2D"/>
                </a:solidFill>
                <a:latin typeface="Inter"/>
              </a:defRPr>
            </a:pPr>
            <a:r>
              <a:t>* Detailed resource profiles and resumes attached in the subsequent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02920"/>
            <a:ext cx="82296" cy="5943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438912"/>
            <a:ext cx="8961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41E2D"/>
                </a:solidFill>
                <a:latin typeface="Inter"/>
              </a:defRPr>
            </a:pPr>
            <a:r>
              <a:t>Commercial &amp; Costing Structure (Offshore AMS Model)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896112"/>
            <a:ext cx="8961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B4"/>
                </a:solidFill>
                <a:latin typeface="Inter"/>
              </a:defRPr>
            </a:pPr>
            <a:r>
              <a:t>Transparent, Highly Competitive Pricing | Enterprise-Grade MES Support with Predictable Economics</a:t>
            </a:r>
          </a:p>
        </p:txBody>
      </p:sp>
      <p:pic>
        <p:nvPicPr>
          <p:cNvPr id="7" name="Picture 6" descr="lumbi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371600" cy="5812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82296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Inter"/>
              </a:defRPr>
            </a:pPr>
            <a:r>
              <a:t>Lumbini Elite Solutions &amp; Services | Elitia Enterprise Suite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55664"/>
            <a:ext cx="1858975" cy="237744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Inter"/>
              </a:defRPr>
            </a:pPr>
            <a:r>
              <a:t>Slide 7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62179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150876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</a:tblGrid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E2D"/>
                          </a:solidFill>
                          <a:latin typeface="Inter"/>
                        </a:defRPr>
                      </a:pPr>
                      <a:r>
                        <a:t>Engagement Model</a:t>
                      </a:r>
                    </a:p>
                  </a:txBody>
                  <a:tcPr marL="109728" marR="109728" marT="73152" marB="73152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4050"/>
                          </a:solidFill>
                          <a:latin typeface="Inter"/>
                        </a:defRPr>
                      </a:pPr>
                      <a:r>
                        <a:t>100% Offshore Delivery (India Center of Excellence)</a:t>
                      </a:r>
                    </a:p>
                  </a:txBody>
                  <a:tcPr marL="109728" marR="109728" marT="73152" marB="73152">
                    <a:solidFill>
                      <a:srgbClr val="EEF6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E2D"/>
                          </a:solidFill>
                          <a:latin typeface="Inter"/>
                        </a:defRPr>
                      </a:pPr>
                      <a:r>
                        <a:t>Support Tier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4050"/>
                          </a:solidFill>
                          <a:latin typeface="Inter"/>
                        </a:defRPr>
                      </a:pPr>
                      <a:r>
                        <a:t>L1 Support (SAP ME / SAP DMC / Interface Monitoring)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E2D"/>
                          </a:solidFill>
                          <a:latin typeface="Inter"/>
                        </a:defRPr>
                      </a:pPr>
                      <a:r>
                        <a:t>Hourly Billing Rate</a:t>
                      </a:r>
                    </a:p>
                  </a:txBody>
                  <a:tcPr marL="109728" marR="109728" marT="73152" marB="73152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66B4"/>
                          </a:solidFill>
                          <a:latin typeface="Inter"/>
                        </a:defRPr>
                      </a:pPr>
                      <a:r>
                        <a:t>$10.00 to $12.00 USD per hour per resource</a:t>
                      </a:r>
                    </a:p>
                  </a:txBody>
                  <a:tcPr marL="109728" marR="109728" marT="73152" marB="73152">
                    <a:solidFill>
                      <a:srgbClr val="EEF6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E2D"/>
                          </a:solidFill>
                          <a:latin typeface="Inter"/>
                        </a:defRPr>
                      </a:pPr>
                      <a:r>
                        <a:t>Standard Time Commitment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4050"/>
                          </a:solidFill>
                          <a:latin typeface="Inter"/>
                        </a:defRPr>
                      </a:pPr>
                      <a:r>
                        <a:t>8 Hours / Day — 40 Hours / Week per Resource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41E2D"/>
                          </a:solidFill>
                          <a:latin typeface="Inter"/>
                        </a:defRPr>
                      </a:pPr>
                      <a:r>
                        <a:t>Estimated Monthly Cost</a:t>
                      </a:r>
                    </a:p>
                  </a:txBody>
                  <a:tcPr marL="109728" marR="109728" marT="73152" marB="73152"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D4050"/>
                          </a:solidFill>
                          <a:latin typeface="Inter"/>
                        </a:defRPr>
                      </a:pPr>
                      <a:r>
                        <a:t>~$1,600 to $1,920 USD per Resource / Month (160 Hrs)</a:t>
                      </a:r>
                    </a:p>
                  </a:txBody>
                  <a:tcPr marL="109728" marR="109728" marT="73152" marB="73152">
                    <a:solidFill>
                      <a:srgbClr val="EEF6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4114800"/>
            <a:ext cx="585216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1">
                <a:solidFill>
                  <a:srgbClr val="141E2D"/>
                </a:solidFill>
                <a:latin typeface="Inter"/>
              </a:defRPr>
            </a:pPr>
            <a:r>
              <a:t>Commercial Notes &amp; Terms:</a:t>
            </a:r>
          </a:p>
          <a:p>
            <a:pPr>
              <a:defRPr sz="819">
                <a:solidFill>
                  <a:srgbClr val="64748B"/>
                </a:solidFill>
                <a:latin typeface="Inter"/>
              </a:defRPr>
            </a:pPr>
            <a:r>
              <a:t>• Invoicing on actual hours delivered with monthly automated timesheet reconciliation.</a:t>
            </a:r>
            <a:br/>
            <a:r>
              <a:t>• Flexibility to scale resource count up or down with a standard 30-day notice period.</a:t>
            </a:r>
            <a:br/>
            <a:r>
              <a:t>• Optional L2/L3 senior escalation pool accessible on a blended advisory rate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325880"/>
            <a:ext cx="4282135" cy="3977639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000" b="1">
                <a:solidFill>
                  <a:srgbClr val="0066B4"/>
                </a:solidFill>
                <a:latin typeface="Inter"/>
              </a:defRPr>
            </a:pPr>
            <a:r>
              <a:t>THE CLIENT VALUE PROPOSITION</a:t>
            </a:r>
          </a:p>
          <a:p>
            <a:pPr>
              <a:defRPr sz="950" b="1">
                <a:solidFill>
                  <a:srgbClr val="1E61BB"/>
                </a:solidFill>
                <a:latin typeface="Inter"/>
              </a:defRPr>
            </a:pPr>
            <a:r>
              <a:t>✓ Maximum Operational Availability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Continuous shop-floor vigilance prevents costly line stoppages and minimizes unplanned downtime.</a:t>
            </a:r>
          </a:p>
          <a:p>
            <a:pPr>
              <a:defRPr sz="950" b="1">
                <a:solidFill>
                  <a:srgbClr val="1E61BB"/>
                </a:solidFill>
                <a:latin typeface="Inter"/>
              </a:defRPr>
            </a:pPr>
            <a:r>
              <a:t>✓ Enterprise-Grade Governance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Certified SAP Partner governance frameworks aligned with Panasonic's strict quality, compliance, and security standards.</a:t>
            </a:r>
          </a:p>
          <a:p>
            <a:pPr>
              <a:defRPr sz="950" b="1">
                <a:solidFill>
                  <a:srgbClr val="1E61BB"/>
                </a:solidFill>
                <a:latin typeface="Inter"/>
              </a:defRPr>
            </a:pPr>
            <a:r>
              <a:t>✓ Senior Functional Oversight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Every offshore engineer is backed by experienced India Project Delivery Managers and MES solution architects.</a:t>
            </a:r>
          </a:p>
          <a:p>
            <a:pPr>
              <a:defRPr sz="950" b="1">
                <a:solidFill>
                  <a:srgbClr val="1E61BB"/>
                </a:solidFill>
                <a:latin typeface="Inter"/>
              </a:defRPr>
            </a:pPr>
            <a:r>
              <a:t>✓ Unmatched Cost Optimization</a:t>
            </a:r>
          </a:p>
          <a:p>
            <a:pPr>
              <a:spcAft>
                <a:spcPts val="600"/>
              </a:spcAft>
              <a:defRPr sz="850">
                <a:solidFill>
                  <a:srgbClr val="2D4050"/>
                </a:solidFill>
                <a:latin typeface="Inter"/>
              </a:defRPr>
            </a:pPr>
            <a:r>
              <a:t>  Deliver 60-70% operational savings compared to traditional onsite or blended tier-1 vendor support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950" b="1">
                <a:solidFill>
                  <a:srgbClr val="0066B4"/>
                </a:solidFill>
                <a:latin typeface="Inter"/>
              </a:defRPr>
            </a:pPr>
            <a:r>
              <a:t>LUMBINI ELITE SOLUTIONS — YOUR STRATEGIC SAP MANUFACTURING AMS PARTNER</a:t>
            </a:r>
          </a:p>
          <a:p>
            <a:pPr>
              <a:defRPr sz="850">
                <a:solidFill>
                  <a:srgbClr val="2D4050"/>
                </a:solidFill>
                <a:latin typeface="Inter"/>
              </a:defRPr>
            </a:pPr>
            <a:r>
              <a:t>Corporate Office: #7, SJR Eternity, Phase 1, Kodigehalli Road, Hoodi, Bangalore - 560048 | Web: www.lumbinielite.com | Email: info@lumbinielite.com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