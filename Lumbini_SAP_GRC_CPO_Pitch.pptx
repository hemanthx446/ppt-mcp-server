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601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0066B4"/>
                </a:solidFill>
                <a:latin typeface="Segoe UI"/>
              </a:defRPr>
            </a:pPr>
            <a:r>
              <a:t>LUMBINI ELITE SOLUTIONS   |   STRATEGIC CO-INNOVATION PARTNERSHIP</a:t>
            </a:r>
          </a:p>
          <a:p>
            <a:pPr>
              <a:spcAft>
                <a:spcPts val="1200"/>
              </a:spcAft>
              <a:defRPr sz="4400" b="1">
                <a:solidFill>
                  <a:srgbClr val="F0F4F8"/>
                </a:solidFill>
                <a:latin typeface="Segoe UI"/>
              </a:defRPr>
            </a:pPr>
            <a:r>
              <a:t>The Next-Gen SAP GRC Paradigm</a:t>
            </a:r>
          </a:p>
          <a:p>
            <a:pPr>
              <a:defRPr sz="1600">
                <a:solidFill>
                  <a:srgbClr val="F0F4F8"/>
                </a:solidFill>
                <a:latin typeface="Segoe UI"/>
              </a:defRPr>
            </a:pPr>
            <a:r>
              <a:t>CPO Strategic Roadmap: Accelerating Clean Core Compliance and Joule AI Integration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066B4"/>
                </a:solidFill>
                <a:latin typeface="Segoe UI"/>
              </a:defRPr>
            </a:pPr>
            <a:r>
              <a:t>ECOSYSTEM ALIGNMENT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141E2D"/>
                </a:solidFill>
                <a:latin typeface="Segoe UI"/>
              </a:defRPr>
            </a:pPr>
            <a:r>
              <a:t>Co-Innovating the Future of GRC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66B4"/>
                </a:solidFill>
                <a:latin typeface="Segoe UI"/>
              </a:defRPr>
            </a:pPr>
            <a:r>
              <a:t>Ecosystem Strategic Vision</a:t>
            </a:r>
          </a:p>
          <a:p>
            <a:pPr>
              <a:spcAft>
                <a:spcPts val="1000"/>
              </a:spcAft>
              <a:defRPr sz="1400" b="0">
                <a:solidFill>
                  <a:srgbClr val="141E2D"/>
                </a:solidFill>
                <a:latin typeface="Segoe UI"/>
              </a:defRPr>
            </a:pPr>
            <a:r>
              <a:t>As an SAP ecosystem partner, we align our delivery model with SAP's next-generation cloud and AI-driven GRC roadmap.</a:t>
            </a:r>
          </a:p>
          <a:p>
            <a:pPr>
              <a:spcAft>
                <a:spcPts val="800"/>
              </a:spcAft>
              <a:defRPr sz="1300" b="1">
                <a:solidFill>
                  <a:srgbClr val="141E2D"/>
                </a:solidFill>
                <a:latin typeface="Segoe UI"/>
              </a:defRPr>
            </a:pPr>
            <a:r>
              <a:t>Our methodology directly targets SAP's core tenets:</a:t>
            </a:r>
          </a:p>
          <a:p>
            <a:pPr>
              <a:spcAft>
                <a:spcPts val="600"/>
              </a:spcAft>
              <a:defRPr sz="1300" b="0">
                <a:solidFill>
                  <a:srgbClr val="141E2D"/>
                </a:solidFill>
                <a:latin typeface="Segoe UI"/>
              </a:defRPr>
            </a:pPr>
            <a:r>
              <a:t>• SAP Clean Core Alignment: Standardizing PFCG role designs, removing legacy custom code and over-privileges, and ensuring your S/4HANA core remains upgrade-ready.</a:t>
            </a:r>
          </a:p>
          <a:p>
            <a:pPr>
              <a:spcAft>
                <a:spcPts val="600"/>
              </a:spcAft>
              <a:defRPr sz="1300" b="0">
                <a:solidFill>
                  <a:srgbClr val="141E2D"/>
                </a:solidFill>
                <a:latin typeface="Segoe UI"/>
              </a:defRPr>
            </a:pPr>
            <a:r>
              <a:t>• Joule / AI Readiness: Structuring and labeling authorization tables and compliance rules to prepare the system for SAP Joule AI assistant integration.</a:t>
            </a:r>
          </a:p>
          <a:p>
            <a:pPr>
              <a:spcAft>
                <a:spcPts val="600"/>
              </a:spcAft>
              <a:defRPr sz="1300" b="0">
                <a:solidFill>
                  <a:srgbClr val="141E2D"/>
                </a:solidFill>
                <a:latin typeface="Segoe UI"/>
              </a:defRPr>
            </a:pPr>
            <a:r>
              <a:t>• BTP-Driven Security: Modernizing access provisioning through Business Technology Platform (BTP) services.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92024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66B4"/>
                </a:solidFill>
                <a:latin typeface="Segoe UI"/>
              </a:defRPr>
            </a:pPr>
            <a:r>
              <a:t>Collaborative Architecture</a:t>
            </a:r>
          </a:p>
          <a:p>
            <a:pPr>
              <a:spcAft>
                <a:spcPts val="1200"/>
              </a:spcAft>
              <a:defRPr sz="1400" b="0">
                <a:solidFill>
                  <a:srgbClr val="141E2D"/>
                </a:solidFill>
                <a:latin typeface="Segoe UI"/>
              </a:defRPr>
            </a:pPr>
            <a:r>
              <a:t>We operate as an extension of your IT leadership, co-architecting the operational integrity of your enterprise.</a:t>
            </a:r>
          </a:p>
          <a:p>
            <a:pPr>
              <a:spcAft>
                <a:spcPts val="1000"/>
              </a:spcAft>
              <a:defRPr sz="1300" b="0">
                <a:solidFill>
                  <a:srgbClr val="141E2D"/>
                </a:solidFill>
                <a:latin typeface="Segoe UI"/>
              </a:defRPr>
            </a:pPr>
            <a:r>
              <a:t>1. Strategy-to-Control Design: Translating C-level risk appetites into real-time transactional controls.</a:t>
            </a:r>
          </a:p>
          <a:p>
            <a:pPr>
              <a:spcAft>
                <a:spcPts val="1000"/>
              </a:spcAft>
              <a:defRPr sz="1300" b="0">
                <a:solidFill>
                  <a:srgbClr val="141E2D"/>
                </a:solidFill>
                <a:latin typeface="Segoe UI"/>
              </a:defRPr>
            </a:pPr>
            <a:r>
              <a:t>2. Institutional Security Templates: Establishing global master-data standards to enable seamless compliance across business units.</a:t>
            </a:r>
          </a:p>
          <a:p>
            <a:pPr>
              <a:spcAft>
                <a:spcPts val="1000"/>
              </a:spcAft>
              <a:defRPr sz="1300" b="0">
                <a:solidFill>
                  <a:srgbClr val="141E2D"/>
                </a:solidFill>
                <a:latin typeface="Segoe UI"/>
              </a:defRPr>
            </a:pPr>
            <a:r>
              <a:t>3. Out-of-the-Box Auditing: Embedding automated process controls directly in system processes to eliminate manual monitoring.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066B4"/>
                </a:solidFill>
                <a:latin typeface="Segoe UI"/>
              </a:defRPr>
            </a:pPr>
            <a:r>
              <a:t>ECOSYSTEM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141E2D"/>
                </a:solidFill>
                <a:latin typeface="Segoe UI"/>
              </a:defRPr>
            </a:pPr>
            <a:r>
              <a:t>Modernized Capabilities: Clean Core &amp; AI-Ready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375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2971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066B4"/>
                </a:solidFill>
                <a:latin typeface="Segoe UI"/>
              </a:defRPr>
            </a:pPr>
            <a:r>
              <a:t>Clean Core Access Controls</a:t>
            </a:r>
          </a:p>
          <a:p>
            <a:pPr>
              <a:spcAft>
                <a:spcPts val="800"/>
              </a:spcAft>
              <a:defRPr sz="1300" b="1">
                <a:solidFill>
                  <a:srgbClr val="141E2D"/>
                </a:solidFill>
                <a:latin typeface="Segoe UI"/>
              </a:defRPr>
            </a:pPr>
            <a:r>
              <a:t>System Boundaries Protection</a:t>
            </a:r>
          </a:p>
          <a:p>
            <a:pPr>
              <a:spcAft>
                <a:spcPts val="600"/>
              </a:spcAft>
              <a:defRPr sz="1200" b="0">
                <a:solidFill>
                  <a:srgbClr val="141E2D"/>
                </a:solidFill>
                <a:latin typeface="Segoe UI"/>
              </a:defRPr>
            </a:pPr>
            <a:r>
              <a:t>• Standardized Role-Templates: Minimizing custom PFCG role definitions to ease S/4HANA core migrations.</a:t>
            </a:r>
          </a:p>
          <a:p>
            <a:pPr>
              <a:spcAft>
                <a:spcPts val="600"/>
              </a:spcAft>
              <a:defRPr sz="1200" b="0">
                <a:solidFill>
                  <a:srgbClr val="141E2D"/>
                </a:solidFill>
                <a:latin typeface="Segoe UI"/>
              </a:defRPr>
            </a:pPr>
            <a:r>
              <a:t>• SAP IAG Cloud Provisioning: Transitioning user administration to Cloud Identity Access Governance.</a:t>
            </a:r>
          </a:p>
          <a:p>
            <a:pPr>
              <a:spcAft>
                <a:spcPts val="600"/>
              </a:spcAft>
              <a:defRPr sz="1200" b="0">
                <a:solidFill>
                  <a:srgbClr val="141E2D"/>
                </a:solidFill>
                <a:latin typeface="Segoe UI"/>
              </a:defRPr>
            </a:pPr>
            <a:r>
              <a:t>• Automated SoD Controls: Restricting access boundaries dynamically across cloud and on-premise components.</a:t>
            </a:r>
          </a:p>
          <a:p>
            <a:pPr>
              <a:spcAft>
                <a:spcPts val="600"/>
              </a:spcAft>
              <a:defRPr sz="1200" b="0">
                <a:solidFill>
                  <a:srgbClr val="141E2D"/>
                </a:solidFill>
                <a:latin typeface="Segoe UI"/>
              </a:defRPr>
            </a:pPr>
            <a:r>
              <a:t>• Real-Time Firefighter Access: Providing temporary emergency access with automated logging.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645920"/>
            <a:ext cx="33375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920240"/>
            <a:ext cx="2971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066B4"/>
                </a:solidFill>
                <a:latin typeface="Segoe UI"/>
              </a:defRPr>
            </a:pPr>
            <a:r>
              <a:t>Intelligent Risk &amp; Joule AI</a:t>
            </a:r>
          </a:p>
          <a:p>
            <a:pPr>
              <a:spcAft>
                <a:spcPts val="800"/>
              </a:spcAft>
              <a:defRPr sz="1300" b="1">
                <a:solidFill>
                  <a:srgbClr val="141E2D"/>
                </a:solidFill>
                <a:latin typeface="Segoe UI"/>
              </a:defRPr>
            </a:pPr>
            <a:r>
              <a:t>AI-Driven Risk Architecture</a:t>
            </a:r>
          </a:p>
          <a:p>
            <a:pPr>
              <a:spcAft>
                <a:spcPts val="600"/>
              </a:spcAft>
              <a:defRPr sz="1200" b="0">
                <a:solidFill>
                  <a:srgbClr val="141E2D"/>
                </a:solidFill>
                <a:latin typeface="Segoe UI"/>
              </a:defRPr>
            </a:pPr>
            <a:r>
              <a:t>• Unified GRC Risk Catalog: Shared risk taxonomy mapping processes, structures, and systems.</a:t>
            </a:r>
          </a:p>
          <a:p>
            <a:pPr>
              <a:spcAft>
                <a:spcPts val="600"/>
              </a:spcAft>
              <a:defRPr sz="1200" b="0">
                <a:solidFill>
                  <a:srgbClr val="141E2D"/>
                </a:solidFill>
                <a:latin typeface="Segoe UI"/>
              </a:defRPr>
            </a:pPr>
            <a:r>
              <a:t>• Key Risk Indicators (KRIs): Real-time metrics configured to feeds compliance databases.</a:t>
            </a:r>
          </a:p>
          <a:p>
            <a:pPr>
              <a:spcAft>
                <a:spcPts val="600"/>
              </a:spcAft>
              <a:defRPr sz="1200" b="0">
                <a:solidFill>
                  <a:srgbClr val="141E2D"/>
                </a:solidFill>
                <a:latin typeface="Segoe UI"/>
              </a:defRPr>
            </a:pPr>
            <a:r>
              <a:t>• Joule AI Assistant Readiness: Labeling roles and controls to support conversational audit queries via Joule.</a:t>
            </a:r>
          </a:p>
          <a:p>
            <a:pPr>
              <a:spcAft>
                <a:spcPts val="600"/>
              </a:spcAft>
              <a:defRPr sz="1200" b="0">
                <a:solidFill>
                  <a:srgbClr val="141E2D"/>
                </a:solidFill>
                <a:latin typeface="Segoe UI"/>
              </a:defRPr>
            </a:pPr>
            <a:r>
              <a:t>• Predictive Access Simulation: Modeling roles in IAG prior to deployment to prevent conflicts.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645920"/>
            <a:ext cx="33375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920240"/>
            <a:ext cx="2971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066B4"/>
                </a:solidFill>
                <a:latin typeface="Segoe UI"/>
              </a:defRPr>
            </a:pPr>
            <a:r>
              <a:t>Continuous Control Automation</a:t>
            </a:r>
          </a:p>
          <a:p>
            <a:pPr>
              <a:spcAft>
                <a:spcPts val="800"/>
              </a:spcAft>
              <a:defRPr sz="1300" b="1">
                <a:solidFill>
                  <a:srgbClr val="141E2D"/>
                </a:solidFill>
                <a:latin typeface="Segoe UI"/>
              </a:defRPr>
            </a:pPr>
            <a:r>
              <a:t>Out-of-the-Box Auditing</a:t>
            </a:r>
          </a:p>
          <a:p>
            <a:pPr>
              <a:spcAft>
                <a:spcPts val="600"/>
              </a:spcAft>
              <a:defRPr sz="1200" b="0">
                <a:solidFill>
                  <a:srgbClr val="141E2D"/>
                </a:solidFill>
                <a:latin typeface="Segoe UI"/>
              </a:defRPr>
            </a:pPr>
            <a:r>
              <a:t>• Process Control (PC): Automated monitoring rules validating transaction bounds continuously.</a:t>
            </a:r>
          </a:p>
          <a:p>
            <a:pPr>
              <a:spcAft>
                <a:spcPts val="600"/>
              </a:spcAft>
              <a:defRPr sz="1200" b="0">
                <a:solidFill>
                  <a:srgbClr val="141E2D"/>
                </a:solidFill>
                <a:latin typeface="Segoe UI"/>
              </a:defRPr>
            </a:pPr>
            <a:r>
              <a:t>• Automated Exception Routing: Instantly assigning control issues to task queues for fast resolution.</a:t>
            </a:r>
          </a:p>
          <a:p>
            <a:pPr>
              <a:spcAft>
                <a:spcPts val="600"/>
              </a:spcAft>
              <a:defRPr sz="1200" b="0">
                <a:solidFill>
                  <a:srgbClr val="141E2D"/>
                </a:solidFill>
                <a:latin typeface="Segoe UI"/>
              </a:defRPr>
            </a:pPr>
            <a:r>
              <a:t>• Digital Audit Trail: Auto-generated system logs removing manual evidence collection.</a:t>
            </a:r>
          </a:p>
          <a:p>
            <a:pPr>
              <a:spcAft>
                <a:spcPts val="600"/>
              </a:spcAft>
              <a:defRPr sz="1200" b="0">
                <a:solidFill>
                  <a:srgbClr val="141E2D"/>
                </a:solidFill>
                <a:latin typeface="Segoe UI"/>
              </a:defRPr>
            </a:pPr>
            <a:r>
              <a:t>• Continuous Compliance Policies: Linking business objectives directly to automated GRC tests.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066B4"/>
                </a:solidFill>
                <a:latin typeface="Segoe UI"/>
              </a:defRPr>
            </a:pPr>
            <a:r>
              <a:t>PARTNERSHIP SYNERGY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141E2D"/>
                </a:solidFill>
                <a:latin typeface="Segoe UI"/>
              </a:defRPr>
            </a:pPr>
            <a:r>
              <a:t>Strategic Roadmap Synergy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66B4"/>
                </a:solidFill>
                <a:latin typeface="Segoe UI"/>
              </a:defRPr>
            </a:pPr>
            <a:r>
              <a:t>Accelerating SAP IAG Adoption</a:t>
            </a:r>
          </a:p>
          <a:p>
            <a:pPr>
              <a:spcAft>
                <a:spcPts val="1000"/>
              </a:spcAft>
              <a:defRPr sz="1400" b="0">
                <a:solidFill>
                  <a:srgbClr val="141E2D"/>
                </a:solidFill>
                <a:latin typeface="Segoe UI"/>
              </a:defRPr>
            </a:pPr>
            <a:r>
              <a:t>Transitioning enterprise identity access governance to cloud requires structured preparation of authorization data.</a:t>
            </a:r>
          </a:p>
          <a:p>
            <a:pPr>
              <a:spcAft>
                <a:spcPts val="800"/>
              </a:spcAft>
              <a:defRPr sz="1300" b="1">
                <a:solidFill>
                  <a:srgbClr val="141E2D"/>
                </a:solidFill>
                <a:latin typeface="Segoe UI"/>
              </a:defRPr>
            </a:pPr>
            <a:r>
              <a:t>Our implementation methodology is built to fast-track IAG onboarding:</a:t>
            </a:r>
          </a:p>
          <a:p>
            <a:pPr>
              <a:spcAft>
                <a:spcPts val="600"/>
              </a:spcAft>
              <a:defRPr sz="1300" b="0">
                <a:solidFill>
                  <a:srgbClr val="141E2D"/>
                </a:solidFill>
                <a:latin typeface="Segoe UI"/>
              </a:defRPr>
            </a:pPr>
            <a:r>
              <a:t>• Pre-Cloud Legacy Remediation: Redesigning and cleaning on-premise roles prior to migration to ensure cloud-based IAG rules analyze a clean core.</a:t>
            </a:r>
          </a:p>
          <a:p>
            <a:pPr>
              <a:spcAft>
                <a:spcPts val="600"/>
              </a:spcAft>
              <a:defRPr sz="1300" b="0">
                <a:solidFill>
                  <a:srgbClr val="141E2D"/>
                </a:solidFill>
                <a:latin typeface="Segoe UI"/>
              </a:defRPr>
            </a:pPr>
            <a:r>
              <a:t>• Out-of-the-Box BTP Connectors: Deploying standard cloud connectivity templates to link IAG with multi-region SAP landscapes.</a:t>
            </a:r>
          </a:p>
          <a:p>
            <a:pPr>
              <a:spcAft>
                <a:spcPts val="600"/>
              </a:spcAft>
              <a:defRPr sz="1300" b="0">
                <a:solidFill>
                  <a:srgbClr val="141E2D"/>
                </a:solidFill>
                <a:latin typeface="Segoe UI"/>
              </a:defRPr>
            </a:pPr>
            <a:r>
              <a:t>• Hybrid Security Frameworks: Managing access seamlessly across hybrid landscapes (on-premise S/4HANA &amp; cloud-native BTP applications).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92024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66B4"/>
                </a:solidFill>
                <a:latin typeface="Segoe UI"/>
              </a:defRPr>
            </a:pPr>
            <a:r>
              <a:t>Enabling AI-Driven GRC Features</a:t>
            </a:r>
          </a:p>
          <a:p>
            <a:pPr>
              <a:spcAft>
                <a:spcPts val="1000"/>
              </a:spcAft>
              <a:defRPr sz="1400" b="0">
                <a:solidFill>
                  <a:srgbClr val="141E2D"/>
                </a:solidFill>
                <a:latin typeface="Segoe UI"/>
              </a:defRPr>
            </a:pPr>
            <a:r>
              <a:t>Advanced risk predictive capabilities depend on the quality and structure of GRC metadata.</a:t>
            </a:r>
          </a:p>
          <a:p>
            <a:pPr>
              <a:spcAft>
                <a:spcPts val="800"/>
              </a:spcAft>
              <a:defRPr sz="1300" b="1">
                <a:solidFill>
                  <a:srgbClr val="141E2D"/>
                </a:solidFill>
                <a:latin typeface="Segoe UI"/>
              </a:defRPr>
            </a:pPr>
            <a:r>
              <a:t>We configure GRC systems to activate next-gen AI capabilities:</a:t>
            </a:r>
          </a:p>
          <a:p>
            <a:pPr>
              <a:spcAft>
                <a:spcPts val="600"/>
              </a:spcAft>
              <a:defRPr sz="1300" b="0">
                <a:solidFill>
                  <a:srgbClr val="141E2D"/>
                </a:solidFill>
                <a:latin typeface="Segoe UI"/>
              </a:defRPr>
            </a:pPr>
            <a:r>
              <a:t>• Structured Data Metadata: Labeling and mapping role functions, permissions, and risk tags so SAP Joule can retrieve and contextualize data.</a:t>
            </a:r>
          </a:p>
          <a:p>
            <a:pPr>
              <a:spcAft>
                <a:spcPts val="600"/>
              </a:spcAft>
              <a:defRPr sz="1300" b="0">
                <a:solidFill>
                  <a:srgbClr val="141E2D"/>
                </a:solidFill>
                <a:latin typeface="Segoe UI"/>
              </a:defRPr>
            </a:pPr>
            <a:r>
              <a:t>• Automated Continuous Simulation: Setting up predictive anomaly monitors that evaluate transaction risks before processing.</a:t>
            </a:r>
          </a:p>
          <a:p>
            <a:pPr>
              <a:spcAft>
                <a:spcPts val="600"/>
              </a:spcAft>
              <a:defRPr sz="1300" b="0">
                <a:solidFill>
                  <a:srgbClr val="141E2D"/>
                </a:solidFill>
                <a:latin typeface="Segoe UI"/>
              </a:defRPr>
            </a:pPr>
            <a:r>
              <a:t>• Joule Natural-Language Queries: Pre-configuring control logs and test outputs to support direct text-based compliance checks.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066B4"/>
                </a:solidFill>
                <a:latin typeface="Segoe UI"/>
              </a:defRPr>
            </a:pPr>
            <a:r>
              <a:t>CASE STUDIES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141E2D"/>
                </a:solidFill>
                <a:latin typeface="Segoe UI"/>
              </a:defRPr>
            </a:pPr>
            <a:r>
              <a:t>Product Scalability: Analytics &amp; Access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66B4"/>
                </a:solidFill>
                <a:latin typeface="Segoe UI"/>
              </a:defRPr>
            </a:pPr>
            <a:r>
              <a:t>Case Study 1: Global Analytics Platform Scalability</a:t>
            </a:r>
          </a:p>
          <a:p>
            <a:pPr>
              <a:spcAft>
                <a:spcPts val="400"/>
              </a:spcAft>
              <a:defRPr sz="1200" b="1">
                <a:solidFill>
                  <a:srgbClr val="646E78"/>
                </a:solidFill>
                <a:latin typeface="Segoe UI"/>
              </a:defRPr>
            </a:pPr>
            <a:r>
              <a:t>Business Need</a:t>
            </a:r>
          </a:p>
          <a:p>
            <a:pPr>
              <a:spcAft>
                <a:spcPts val="800"/>
              </a:spcAft>
              <a:defRPr sz="1200" b="0">
                <a:solidFill>
                  <a:srgbClr val="141E2D"/>
                </a:solidFill>
                <a:latin typeface="Segoe UI"/>
              </a:defRPr>
            </a:pPr>
            <a:r>
              <a:t>A global corporate leadership team required mobile dashboard access to key business metrics on SAP Analytics Cloud. The platform required a security model that protected data across multiple distinct regions without degrading performance.</a:t>
            </a:r>
          </a:p>
          <a:p>
            <a:pPr>
              <a:spcAft>
                <a:spcPts val="400"/>
              </a:spcAft>
              <a:defRPr sz="1200" b="1">
                <a:solidFill>
                  <a:srgbClr val="646E78"/>
                </a:solidFill>
                <a:latin typeface="Segoe UI"/>
              </a:defRPr>
            </a:pPr>
            <a:r>
              <a:t>Ecosystem Scalable Architecture</a:t>
            </a:r>
          </a:p>
          <a:p>
            <a:pPr>
              <a:spcAft>
                <a:spcPts val="800"/>
              </a:spcAft>
              <a:defRPr sz="1200" b="0">
                <a:solidFill>
                  <a:srgbClr val="141E2D"/>
                </a:solidFill>
                <a:latin typeface="Segoe UI"/>
              </a:defRPr>
            </a:pPr>
            <a:r>
              <a:t>Designed a reusable Analytical Privilege model on SAP HANA combined with SAP GRC Access Risk Management. Constructed regional data-access templates rather than individual security rules.</a:t>
            </a:r>
          </a:p>
          <a:p>
            <a:pPr>
              <a:spcAft>
                <a:spcPts val="400"/>
              </a:spcAft>
              <a:defRPr sz="1200" b="1">
                <a:solidFill>
                  <a:srgbClr val="0066B4"/>
                </a:solidFill>
                <a:latin typeface="Segoe UI"/>
              </a:defRPr>
            </a:pPr>
            <a:r>
              <a:t>Quantified Scalability Outcomes</a:t>
            </a:r>
          </a:p>
          <a:p>
            <a:pPr>
              <a:spcAft>
                <a:spcPts val="400"/>
              </a:spcAft>
              <a:defRPr sz="1200" b="0">
                <a:solidFill>
                  <a:srgbClr val="141E2D"/>
                </a:solidFill>
                <a:latin typeface="Segoe UI"/>
              </a:defRPr>
            </a:pPr>
            <a:r>
              <a:t>• Scaled effortlessly across 15+ business divisions with zero performance impact.</a:t>
            </a:r>
            <a:br/>
            <a:r>
              <a:t>• Reusable security template cut provisioning overhead by 90%.</a:t>
            </a:r>
            <a:br/>
            <a:r>
              <a:t>• Created a stable foundation that supports future SAP Analytics expansions.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92024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66B4"/>
                </a:solidFill>
                <a:latin typeface="Segoe UI"/>
              </a:defRPr>
            </a:pPr>
            <a:r>
              <a:t>Case Study 2: Enterprise Role Architecture Migration</a:t>
            </a:r>
          </a:p>
          <a:p>
            <a:pPr>
              <a:spcAft>
                <a:spcPts val="400"/>
              </a:spcAft>
              <a:defRPr sz="1200" b="1">
                <a:solidFill>
                  <a:srgbClr val="646E78"/>
                </a:solidFill>
                <a:latin typeface="Segoe UI"/>
              </a:defRPr>
            </a:pPr>
            <a:r>
              <a:t>Business Need</a:t>
            </a:r>
          </a:p>
          <a:p>
            <a:pPr>
              <a:spcAft>
                <a:spcPts val="800"/>
              </a:spcAft>
              <a:defRPr sz="1200" b="0">
                <a:solidFill>
                  <a:srgbClr val="141E2D"/>
                </a:solidFill>
                <a:latin typeface="Segoe UI"/>
              </a:defRPr>
            </a:pPr>
            <a:r>
              <a:t>Overhauling legacy, profile-based authorization models across distinct global business lines. Legacy structures were complex, prone to audit findings, and hindered user scalability.</a:t>
            </a:r>
          </a:p>
          <a:p>
            <a:pPr>
              <a:spcAft>
                <a:spcPts val="400"/>
              </a:spcAft>
              <a:defRPr sz="1200" b="1">
                <a:solidFill>
                  <a:srgbClr val="646E78"/>
                </a:solidFill>
                <a:latin typeface="Segoe UI"/>
              </a:defRPr>
            </a:pPr>
            <a:r>
              <a:t>Ecosystem Scalable Architecture</a:t>
            </a:r>
          </a:p>
          <a:p>
            <a:pPr>
              <a:spcAft>
                <a:spcPts val="800"/>
              </a:spcAft>
              <a:defRPr sz="1200" b="0">
                <a:solidFill>
                  <a:srgbClr val="141E2D"/>
                </a:solidFill>
                <a:latin typeface="Segoe UI"/>
              </a:defRPr>
            </a:pPr>
            <a:r>
              <a:t>Integrated SAP Identity Management (IDM) with SAP Virtual Authorization. Replaced thousands of ad-hoc roles with a standardized, parameterized role-template registry.</a:t>
            </a:r>
          </a:p>
          <a:p>
            <a:pPr>
              <a:spcAft>
                <a:spcPts val="400"/>
              </a:spcAft>
              <a:defRPr sz="1200" b="1">
                <a:solidFill>
                  <a:srgbClr val="0066B4"/>
                </a:solidFill>
                <a:latin typeface="Segoe UI"/>
              </a:defRPr>
            </a:pPr>
            <a:r>
              <a:t>Quantified Scalability Outcomes</a:t>
            </a:r>
          </a:p>
          <a:p>
            <a:pPr>
              <a:spcAft>
                <a:spcPts val="400"/>
              </a:spcAft>
              <a:defRPr sz="1200" b="0">
                <a:solidFill>
                  <a:srgbClr val="141E2D"/>
                </a:solidFill>
                <a:latin typeface="Segoe UI"/>
              </a:defRPr>
            </a:pPr>
            <a:r>
              <a:t>• Created a single security blueprint that now scales for 20k+ global users.</a:t>
            </a:r>
            <a:br/>
            <a:r>
              <a:t>• Reduced security maintenance overhead by 60%.</a:t>
            </a:r>
            <a:br/>
            <a:r>
              <a:t>• Eliminated recurring audit findings, establishing long-term compliance stability.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066B4"/>
                </a:solidFill>
                <a:latin typeface="Segoe UI"/>
              </a:defRPr>
            </a:pPr>
            <a:r>
              <a:t>CASE STUDIES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141E2D"/>
                </a:solidFill>
                <a:latin typeface="Segoe UI"/>
              </a:defRPr>
            </a:pPr>
            <a:r>
              <a:t>Product Scalability: Intellectual Property Protection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9966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66B4"/>
                </a:solidFill>
                <a:latin typeface="Segoe UI"/>
              </a:defRPr>
            </a:pPr>
            <a:r>
              <a:t>Case Study 3: Scalable Intellectual Property Protection Architecture</a:t>
            </a:r>
          </a:p>
          <a:p>
            <a:pPr>
              <a:spcAft>
                <a:spcPts val="400"/>
              </a:spcAft>
              <a:defRPr sz="1300" b="1">
                <a:solidFill>
                  <a:srgbClr val="646E78"/>
                </a:solidFill>
                <a:latin typeface="Segoe UI"/>
              </a:defRPr>
            </a:pPr>
            <a:r>
              <a:t>Business Need</a:t>
            </a:r>
          </a:p>
          <a:p>
            <a:pPr>
              <a:spcAft>
                <a:spcPts val="1000"/>
              </a:spcAft>
              <a:defRPr sz="1200" b="0">
                <a:solidFill>
                  <a:srgbClr val="141E2D"/>
                </a:solidFill>
                <a:latin typeface="Segoe UI"/>
              </a:defRPr>
            </a:pPr>
            <a:r>
              <a:t>An enterprise developer required secure, continuous visibility and reporting over sensitive intellectual property, open-source technology, and third-party code. The security concept required absolute database restrictions without introducing human request bottlenecks for developers.</a:t>
            </a:r>
          </a:p>
          <a:p>
            <a:pPr>
              <a:spcAft>
                <a:spcPts val="400"/>
              </a:spcAft>
              <a:defRPr sz="1300" b="1">
                <a:solidFill>
                  <a:srgbClr val="646E78"/>
                </a:solidFill>
                <a:latin typeface="Segoe UI"/>
              </a:defRPr>
            </a:pPr>
            <a:r>
              <a:t>Ecosystem Scalable Architecture</a:t>
            </a:r>
          </a:p>
          <a:p>
            <a:pPr>
              <a:spcAft>
                <a:spcPts val="1000"/>
              </a:spcAft>
              <a:defRPr sz="1200" b="0">
                <a:solidFill>
                  <a:srgbClr val="141E2D"/>
                </a:solidFill>
                <a:latin typeface="Segoe UI"/>
              </a:defRPr>
            </a:pPr>
            <a:r>
              <a:t>Designed dynamic, exit-variable based Analysis Authorizations, integrated with SAP GRC CUP (Compliant User Provisioning) and ARM. Programmed automated provisioning rules triggered directly by developer project tags.</a:t>
            </a:r>
          </a:p>
          <a:p>
            <a:pPr>
              <a:spcAft>
                <a:spcPts val="400"/>
              </a:spcAft>
              <a:defRPr sz="1300" b="1">
                <a:solidFill>
                  <a:srgbClr val="0066B4"/>
                </a:solidFill>
                <a:latin typeface="Segoe UI"/>
              </a:defRPr>
            </a:pPr>
            <a:r>
              <a:t>Quantified Scalability Outcomes</a:t>
            </a:r>
          </a:p>
          <a:p>
            <a:pPr>
              <a:spcAft>
                <a:spcPts val="400"/>
              </a:spcAft>
              <a:defRPr sz="1200" b="0">
                <a:solidFill>
                  <a:srgbClr val="141E2D"/>
                </a:solidFill>
                <a:latin typeface="Segoe UI"/>
              </a:defRPr>
            </a:pPr>
            <a:r>
              <a:t>• 100% compliance with international IP regulations across global development teams.</a:t>
            </a:r>
            <a:br/>
            <a:r>
              <a:t>• Access provisioning SLA reduced from 5 days to 2 hours via automated workflows, scaling to support thousands of active projects.</a:t>
            </a:r>
            <a:br/>
            <a:r>
              <a:t>• Secured intellectual property databases worth billions, providing a template for future secure co-development.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066B4"/>
                </a:solidFill>
                <a:latin typeface="Segoe UI"/>
              </a:defRPr>
            </a:pPr>
            <a:r>
              <a:t>FUTURE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141E2D"/>
                </a:solidFill>
                <a:latin typeface="Segoe UI"/>
              </a:defRPr>
            </a:pPr>
            <a:r>
              <a:t>Roadmap: Bridging to Next-Gen SAP GRC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375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2971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646E78"/>
                </a:solidFill>
                <a:latin typeface="Segoe UI"/>
              </a:defRPr>
            </a:pPr>
            <a:r>
              <a:t>PHASE 1: STABILIZE &amp; ALIGN</a:t>
            </a:r>
          </a:p>
          <a:p>
            <a:pPr>
              <a:spcAft>
                <a:spcPts val="1200"/>
              </a:spcAft>
              <a:defRPr sz="1600" b="1">
                <a:solidFill>
                  <a:srgbClr val="0066B4"/>
                </a:solidFill>
                <a:latin typeface="Segoe UI"/>
              </a:defRPr>
            </a:pPr>
            <a:r>
              <a:t>PFCG Clean Core</a:t>
            </a:r>
          </a:p>
          <a:p>
            <a:pPr>
              <a:spcAft>
                <a:spcPts val="1000"/>
              </a:spcAft>
              <a:defRPr sz="1200" b="1">
                <a:solidFill>
                  <a:srgbClr val="141E2D"/>
                </a:solidFill>
                <a:latin typeface="Segoe UI"/>
              </a:defRPr>
            </a:pPr>
            <a:r>
              <a:t>Months 1 - 3</a:t>
            </a:r>
          </a:p>
          <a:p>
            <a:pPr>
              <a:spcAft>
                <a:spcPts val="600"/>
              </a:spcAft>
              <a:defRPr sz="1200" b="0">
                <a:solidFill>
                  <a:srgbClr val="141E2D"/>
                </a:solidFill>
                <a:latin typeface="Segoe UI"/>
              </a:defRPr>
            </a:pPr>
            <a:r>
              <a:t>• Role Audit: Identify and eliminate redundant, custom PFCG role definitions to protect core stability.</a:t>
            </a:r>
          </a:p>
          <a:p>
            <a:pPr>
              <a:spcAft>
                <a:spcPts val="600"/>
              </a:spcAft>
              <a:defRPr sz="1200" b="0">
                <a:solidFill>
                  <a:srgbClr val="141E2D"/>
                </a:solidFill>
                <a:latin typeface="Segoe UI"/>
              </a:defRPr>
            </a:pPr>
            <a:r>
              <a:t>• SoD Remediation: Execute global cleanup of Segregation of Duties violations.</a:t>
            </a:r>
          </a:p>
          <a:p>
            <a:pPr>
              <a:spcAft>
                <a:spcPts val="600"/>
              </a:spcAft>
              <a:defRPr sz="1200" b="0">
                <a:solidFill>
                  <a:srgbClr val="141E2D"/>
                </a:solidFill>
                <a:latin typeface="Segoe UI"/>
              </a:defRPr>
            </a:pPr>
            <a:r>
              <a:t>• Master Data Alignment: Sync organizational hierarchies and structures across on-premise systems.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645920"/>
            <a:ext cx="33375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920240"/>
            <a:ext cx="2971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646E78"/>
                </a:solidFill>
                <a:latin typeface="Segoe UI"/>
              </a:defRPr>
            </a:pPr>
            <a:r>
              <a:t>PHASE 2: CLOUD INTEGRATION</a:t>
            </a:r>
          </a:p>
          <a:p>
            <a:pPr>
              <a:spcAft>
                <a:spcPts val="1200"/>
              </a:spcAft>
              <a:defRPr sz="1600" b="1">
                <a:solidFill>
                  <a:srgbClr val="0066B4"/>
                </a:solidFill>
                <a:latin typeface="Segoe UI"/>
              </a:defRPr>
            </a:pPr>
            <a:r>
              <a:t>SAP IAG &amp; BTP Transition</a:t>
            </a:r>
          </a:p>
          <a:p>
            <a:pPr>
              <a:spcAft>
                <a:spcPts val="1000"/>
              </a:spcAft>
              <a:defRPr sz="1200" b="1">
                <a:solidFill>
                  <a:srgbClr val="141E2D"/>
                </a:solidFill>
                <a:latin typeface="Segoe UI"/>
              </a:defRPr>
            </a:pPr>
            <a:r>
              <a:t>Months 4 - 6</a:t>
            </a:r>
          </a:p>
          <a:p>
            <a:pPr>
              <a:spcAft>
                <a:spcPts val="600"/>
              </a:spcAft>
              <a:defRPr sz="1200" b="0">
                <a:solidFill>
                  <a:srgbClr val="141E2D"/>
                </a:solidFill>
                <a:latin typeface="Segoe UI"/>
              </a:defRPr>
            </a:pPr>
            <a:r>
              <a:t>• SAP IAG Connectivity: Standardize integrations between Access Control and Cloud Identity Access Governance.</a:t>
            </a:r>
          </a:p>
          <a:p>
            <a:pPr>
              <a:spcAft>
                <a:spcPts val="600"/>
              </a:spcAft>
              <a:defRPr sz="1200" b="0">
                <a:solidFill>
                  <a:srgbClr val="141E2D"/>
                </a:solidFill>
                <a:latin typeface="Segoe UI"/>
              </a:defRPr>
            </a:pPr>
            <a:r>
              <a:t>• BTP Access Management: Deploy single sign-on (SSO) and automated role mappings on BTP.</a:t>
            </a:r>
          </a:p>
          <a:p>
            <a:pPr>
              <a:spcAft>
                <a:spcPts val="600"/>
              </a:spcAft>
              <a:defRPr sz="1200" b="0">
                <a:solidFill>
                  <a:srgbClr val="141E2D"/>
                </a:solidFill>
                <a:latin typeface="Segoe UI"/>
              </a:defRPr>
            </a:pPr>
            <a:r>
              <a:t>• Process Control Rules: Configure automated checks for standard business transactions.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645920"/>
            <a:ext cx="33375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920240"/>
            <a:ext cx="2971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646E78"/>
                </a:solidFill>
                <a:latin typeface="Segoe UI"/>
              </a:defRPr>
            </a:pPr>
            <a:r>
              <a:t>PHASE 3: AI-DRIVEN COMPLIANCE</a:t>
            </a:r>
          </a:p>
          <a:p>
            <a:pPr>
              <a:spcAft>
                <a:spcPts val="1200"/>
              </a:spcAft>
              <a:defRPr sz="1600" b="1">
                <a:solidFill>
                  <a:srgbClr val="0066B4"/>
                </a:solidFill>
                <a:latin typeface="Segoe UI"/>
              </a:defRPr>
            </a:pPr>
            <a:r>
              <a:t>GRC AI &amp; Joule Enablement</a:t>
            </a:r>
          </a:p>
          <a:p>
            <a:pPr>
              <a:spcAft>
                <a:spcPts val="1000"/>
              </a:spcAft>
              <a:defRPr sz="1200" b="1">
                <a:solidFill>
                  <a:srgbClr val="141E2D"/>
                </a:solidFill>
                <a:latin typeface="Segoe UI"/>
              </a:defRPr>
            </a:pPr>
            <a:r>
              <a:t>Months 7 - 12</a:t>
            </a:r>
          </a:p>
          <a:p>
            <a:pPr>
              <a:spcAft>
                <a:spcPts val="600"/>
              </a:spcAft>
              <a:defRPr sz="1200" b="0">
                <a:solidFill>
                  <a:srgbClr val="141E2D"/>
                </a:solidFill>
                <a:latin typeface="Segoe UI"/>
              </a:defRPr>
            </a:pPr>
            <a:r>
              <a:t>• Joule AI Integration: Enable conversational compliance queries and natural-language logs audit via Joule.</a:t>
            </a:r>
          </a:p>
          <a:p>
            <a:pPr>
              <a:spcAft>
                <a:spcPts val="600"/>
              </a:spcAft>
              <a:defRPr sz="1200" b="0">
                <a:solidFill>
                  <a:srgbClr val="141E2D"/>
                </a:solidFill>
                <a:latin typeface="Segoe UI"/>
              </a:defRPr>
            </a:pPr>
            <a:r>
              <a:t>• Continuous Testing: Transition key controls from periodic audits to real-time process monitoring.</a:t>
            </a:r>
          </a:p>
          <a:p>
            <a:pPr>
              <a:spcAft>
                <a:spcPts val="600"/>
              </a:spcAft>
              <a:defRPr sz="1200" b="0">
                <a:solidFill>
                  <a:srgbClr val="141E2D"/>
                </a:solidFill>
                <a:latin typeface="Segoe UI"/>
              </a:defRPr>
            </a:pPr>
            <a:r>
              <a:t>• SAC CPO Dashboard: Deploy real-time compliance posture dashboards on SAP Analytics Cloud.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601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0066B4"/>
                </a:solidFill>
                <a:latin typeface="Segoe UI"/>
              </a:defRPr>
            </a:pPr>
            <a:r>
              <a:t>LUMBINI ELITE SOLUTIONS   |   PARTNERSHIP PROPOSAL</a:t>
            </a:r>
          </a:p>
          <a:p>
            <a:pPr>
              <a:spcAft>
                <a:spcPts val="1400"/>
              </a:spcAft>
              <a:defRPr sz="3200" b="1">
                <a:solidFill>
                  <a:srgbClr val="F0F4F8"/>
                </a:solidFill>
                <a:latin typeface="Segoe UI"/>
              </a:defRPr>
            </a:pPr>
            <a:r>
              <a:t>A Partnership Built on Institutional Resilience</a:t>
            </a:r>
          </a:p>
          <a:p>
            <a:pPr>
              <a:spcAft>
                <a:spcPts val="1800"/>
              </a:spcAft>
              <a:defRPr sz="1400" i="1">
                <a:solidFill>
                  <a:srgbClr val="F0F4F8"/>
                </a:solidFill>
                <a:latin typeface="Segoe UI"/>
              </a:defRPr>
            </a:pPr>
            <a:r>
              <a:t>Lumbini Elite is built on decades of institutional resilience rather than fleeting industry trends. We work as the quiet engine behind high-stakes, confidential enterprise transformations, providing a steady hand in crisis. Specializing in architecture and digital leadership, our value is defined by meaningful advisory and the rigor of deep-impact consulting.</a:t>
            </a:r>
          </a:p>
          <a:p>
            <a:pPr>
              <a:spcAft>
                <a:spcPts val="600"/>
              </a:spcAft>
              <a:defRPr sz="1400" b="1">
                <a:solidFill>
                  <a:srgbClr val="0066B4"/>
                </a:solidFill>
                <a:latin typeface="Segoe UI"/>
              </a:defRPr>
            </a:pPr>
            <a:r>
              <a:t>Our Engagement Framework:</a:t>
            </a:r>
          </a:p>
          <a:p>
            <a:pPr>
              <a:spcAft>
                <a:spcPts val="400"/>
              </a:spcAft>
              <a:defRPr sz="1300">
                <a:solidFill>
                  <a:srgbClr val="F0F4F8"/>
                </a:solidFill>
                <a:latin typeface="Segoe UI"/>
              </a:defRPr>
            </a:pPr>
            <a:r>
              <a:t>• Strategic Architecture Advisory: Restructuring database roles and compliance catalogs to establish S/4HANA Clean Core alignment.</a:t>
            </a:r>
          </a:p>
          <a:p>
            <a:pPr>
              <a:spcAft>
                <a:spcPts val="400"/>
              </a:spcAft>
              <a:defRPr sz="1300">
                <a:solidFill>
                  <a:srgbClr val="F0F4F8"/>
                </a:solidFill>
                <a:latin typeface="Segoe UI"/>
              </a:defRPr>
            </a:pPr>
            <a:r>
              <a:t>• Cloud Transition Accelerators: Reusable BTP templates and GRC rulesets to fast-track SAP IAG deployment.</a:t>
            </a:r>
          </a:p>
          <a:p>
            <a:pPr>
              <a:spcAft>
                <a:spcPts val="2400"/>
              </a:spcAft>
              <a:defRPr sz="1300">
                <a:solidFill>
                  <a:srgbClr val="F0F4F8"/>
                </a:solidFill>
                <a:latin typeface="Segoe UI"/>
              </a:defRPr>
            </a:pPr>
            <a:r>
              <a:t>• Continuous AI Compliance Readiness: Structuring system metadata to support automated controls and SAP Joule integration.</a:t>
            </a:r>
          </a:p>
          <a:p>
            <a:pPr>
              <a:defRPr sz="1100" b="1">
                <a:solidFill>
                  <a:srgbClr val="646E78"/>
                </a:solidFill>
                <a:latin typeface="Segoe UI"/>
              </a:defRPr>
            </a:pPr>
            <a:r>
              <a:t>Email: info@lumbinielite.com   |   Web: www.lumbinielite.com   |   Bangalore  •  Noida  •  Ranchi  •  Qatar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