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4572000" cy="2286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DELIVERABLE MANIFEST | 18 TOTAL EXECUTIVE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0F172A"/>
                </a:solidFill>
                <a:latin typeface="Arial"/>
              </a:defRPr>
            </a:pPr>
            <a:r>
              <a:t>Cockpit Report Inventory: Itemized Deliverables by Cockpit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32688"/>
            <a:ext cx="107286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i="1">
                <a:solidFill>
                  <a:srgbClr val="64748B"/>
                </a:solidFill>
                <a:latin typeface="Arial"/>
              </a:defRPr>
            </a:pPr>
            <a:r>
              <a:t>Itemized Architecture: Exactly 6 Dedicated Production Reports Per Cockpit Across Finance, Sourcing, and Manufacturing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43584"/>
            <a:ext cx="2514600" cy="512064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/>
          <a:lstStyle/>
          <a:p>
            <a:pPr algn="ctr">
              <a:defRPr sz="720" b="1">
                <a:solidFill>
                  <a:srgbClr val="0066CC"/>
                </a:solidFill>
                <a:latin typeface="Arial"/>
              </a:defRPr>
            </a:pPr>
            <a:r>
              <a:t>TOTAL COCKPIT SUITES</a:t>
            </a:r>
          </a:p>
          <a:p>
            <a:pPr>
              <a:defRPr sz="950" b="1">
                <a:solidFill>
                  <a:srgbClr val="0F172A"/>
                </a:solidFill>
                <a:latin typeface="Arial"/>
              </a:defRPr>
            </a:pPr>
            <a:r>
              <a:t>3 Executive Suites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69233" y="1243584"/>
            <a:ext cx="2514600" cy="512064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/>
          <a:lstStyle/>
          <a:p>
            <a:pPr algn="ctr">
              <a:defRPr sz="720" b="1">
                <a:solidFill>
                  <a:srgbClr val="D97706"/>
                </a:solidFill>
                <a:latin typeface="Arial"/>
              </a:defRPr>
            </a:pPr>
            <a:r>
              <a:t>TOTAL DELIVERABLE REPORTS</a:t>
            </a:r>
          </a:p>
          <a:p>
            <a:pPr>
              <a:defRPr sz="950" b="1">
                <a:solidFill>
                  <a:srgbClr val="0F172A"/>
                </a:solidFill>
                <a:latin typeface="Arial"/>
              </a:defRPr>
            </a:pPr>
            <a:r>
              <a:t>18 Production Reports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6947" y="1243584"/>
            <a:ext cx="2514600" cy="51206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/>
          <a:lstStyle/>
          <a:p>
            <a:pPr algn="ctr">
              <a:defRPr sz="720" b="1">
                <a:solidFill>
                  <a:srgbClr val="10B981"/>
                </a:solidFill>
                <a:latin typeface="Arial"/>
              </a:defRPr>
            </a:pPr>
            <a:r>
              <a:t>REPORTS PER COCKPIT</a:t>
            </a:r>
          </a:p>
          <a:p>
            <a:pPr>
              <a:defRPr sz="950" b="1">
                <a:solidFill>
                  <a:srgbClr val="0F172A"/>
                </a:solidFill>
                <a:latin typeface="Arial"/>
              </a:defRPr>
            </a:pPr>
            <a:r>
              <a:t>6 Reports Each (4 Core + 2 Strategic)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44660" y="1243584"/>
            <a:ext cx="2514600" cy="512064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/>
          <a:lstStyle/>
          <a:p>
            <a:pPr algn="ctr">
              <a:defRPr sz="720" b="1">
                <a:solidFill>
                  <a:srgbClr val="7C3AED"/>
                </a:solidFill>
                <a:latin typeface="Arial"/>
              </a:defRPr>
            </a:pPr>
            <a:r>
              <a:t>UNIT COMMERCIAL ALIGNMENT</a:t>
            </a:r>
          </a:p>
          <a:p>
            <a:pPr>
              <a:defRPr sz="950" b="1">
                <a:solidFill>
                  <a:srgbClr val="0F172A"/>
                </a:solidFill>
                <a:latin typeface="Arial"/>
              </a:defRPr>
            </a:pPr>
            <a:r>
              <a:t>~₹1.67L / Report (₹10.0L / Suite)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47088"/>
            <a:ext cx="3429000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6384" y="1901952"/>
            <a:ext cx="3319272" cy="475488"/>
          </a:xfrm>
          <a:prstGeom prst="roundRect">
            <a:avLst/>
          </a:prstGeom>
          <a:solidFill>
            <a:srgbClr val="EEF5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/>
          <a:lstStyle/>
          <a:p>
            <a:pPr algn="ctr">
              <a:defRPr sz="819" b="1">
                <a:solidFill>
                  <a:srgbClr val="0066CC"/>
                </a:solidFill>
                <a:latin typeface="Arial"/>
              </a:defRPr>
            </a:pPr>
            <a:r>
              <a:t>COCKPIT 1: CASH FLOW &amp; FULFILLMENT</a:t>
            </a:r>
          </a:p>
          <a:p>
            <a:pPr>
              <a:defRPr sz="700" b="1">
                <a:solidFill>
                  <a:srgbClr val="0F172A"/>
                </a:solidFill>
                <a:latin typeface="Arial"/>
              </a:defRPr>
            </a:pPr>
            <a:r>
              <a:t>6 Dedicated Reports (4 Core + 2 Strategic) | Finance &amp; SCM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432304"/>
            <a:ext cx="3282696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760" b="1">
                <a:solidFill>
                  <a:srgbClr val="0066CC"/>
                </a:solidFill>
                <a:latin typeface="Arial"/>
              </a:rPr>
              <a:t>• 1.1 Scheduled Shipments &amp; Dispatch Pipeline
</a:t>
            </a:r>
            <a:r>
              <a:rPr sz="690" b="0">
                <a:solidFill>
                  <a:srgbClr val="64748B"/>
                </a:solidFill>
                <a:latin typeface="Arial"/>
              </a:rPr>
              <a:t>   Line-item tracking of customer orders vs. dispatch dates, OTIF %, and backlog velocity.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760" b="1">
                <a:solidFill>
                  <a:srgbClr val="0066CC"/>
                </a:solidFill>
                <a:latin typeface="Arial"/>
              </a:rPr>
              <a:t>• 1.2 Expected Inbound Materials &amp; Bay Staging
</a:t>
            </a:r>
            <a:r>
              <a:rPr sz="690" b="0">
                <a:solidFill>
                  <a:srgbClr val="64748B"/>
                </a:solidFill>
                <a:latin typeface="Arial"/>
              </a:rPr>
              <a:t>   Open vendor PO lines, in-transit ASN visibility, and dock arrival staging readiness.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760" b="1">
                <a:solidFill>
                  <a:srgbClr val="0066CC"/>
                </a:solidFill>
                <a:latin typeface="Arial"/>
              </a:rPr>
              <a:t>• 1.3 Supplier Payables (AP Due) &amp; Liability Aging
</a:t>
            </a:r>
            <a:r>
              <a:rPr sz="690" b="0">
                <a:solidFill>
                  <a:srgbClr val="64748B"/>
                </a:solidFill>
                <a:latin typeface="Arial"/>
              </a:rPr>
              <a:t>   Payables aging (30/60/90 days), cash discount capture, and vendor credit exposure.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760" b="1">
                <a:solidFill>
                  <a:srgbClr val="0066CC"/>
                </a:solidFill>
                <a:latin typeface="Arial"/>
              </a:rPr>
              <a:t>• 1.4 Customer Receivables (AR Due) &amp; Cash Realization
</a:t>
            </a:r>
            <a:r>
              <a:rPr sz="690" b="0">
                <a:solidFill>
                  <a:srgbClr val="64748B"/>
                </a:solidFill>
                <a:latin typeface="Arial"/>
              </a:rPr>
              <a:t>   Open AR aging, customer tier DSO optimization, and unbilled defense milestone claims.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760" b="1">
                <a:solidFill>
                  <a:srgbClr val="D97706"/>
                </a:solidFill>
                <a:latin typeface="Arial"/>
              </a:rPr>
              <a:t>• 1.5 [Strategic] Net Liquidity Runway Simulator
</a:t>
            </a:r>
            <a:r>
              <a:rPr sz="690" b="0">
                <a:solidFill>
                  <a:srgbClr val="0F172A"/>
                </a:solidFill>
                <a:latin typeface="Arial"/>
              </a:rPr>
              <a:t>   Multi-scenario cash burn forecasting (AR vs. AP) under 30/60/90-day stress to safeguard covenants.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760" b="1">
                <a:solidFill>
                  <a:srgbClr val="D97706"/>
                </a:solidFill>
                <a:latin typeface="Arial"/>
              </a:rPr>
              <a:t>• 1.6 [Strategic] Late Delivery Risk &amp; LD Penalty Tracker
</a:t>
            </a:r>
            <a:r>
              <a:rPr sz="690" b="0">
                <a:solidFill>
                  <a:srgbClr val="0F172A"/>
                </a:solidFill>
                <a:latin typeface="Arial"/>
              </a:rPr>
              <a:t>   Algorithmic penalty scoring correlating routing delays with contract LD clauses (protecting 1–3% margin).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1847088"/>
            <a:ext cx="3429000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34840" y="1901952"/>
            <a:ext cx="3319272" cy="475488"/>
          </a:xfrm>
          <a:prstGeom prst="roundRect">
            <a:avLst/>
          </a:prstGeom>
          <a:solidFill>
            <a:srgbClr val="EBFBFF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/>
          <a:lstStyle/>
          <a:p>
            <a:pPr algn="ctr">
              <a:defRPr sz="819" b="1">
                <a:solidFill>
                  <a:srgbClr val="00B4D8"/>
                </a:solidFill>
                <a:latin typeface="Arial"/>
              </a:defRPr>
            </a:pPr>
            <a:r>
              <a:t>COCKPIT 2: PROCUREMENT 52-WEEK PIPELINE</a:t>
            </a:r>
          </a:p>
          <a:p>
            <a:pPr>
              <a:defRPr sz="700" b="1">
                <a:solidFill>
                  <a:srgbClr val="0F172A"/>
                </a:solidFill>
                <a:latin typeface="Arial"/>
              </a:defRPr>
            </a:pPr>
            <a:r>
              <a:t>6 Dedicated Reports (4 Core + 2 Strategic) | Sourcing &amp; Job-Work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2432304"/>
            <a:ext cx="3282696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760" b="1">
                <a:solidFill>
                  <a:srgbClr val="00B4D8"/>
                </a:solidFill>
                <a:latin typeface="Arial"/>
              </a:rPr>
              <a:t>• 2.1 52-Week Sourcing Pipeline &amp; PO Releases
</a:t>
            </a:r>
            <a:r>
              <a:rPr sz="690" b="0">
                <a:solidFill>
                  <a:srgbClr val="64748B"/>
                </a:solidFill>
                <a:latin typeface="Arial"/>
              </a:rPr>
              <a:t>   Forward rolling demand vs. confirmed POs, uncommitted PR gaps, and purchase budget adherence.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760" b="1">
                <a:solidFill>
                  <a:srgbClr val="00B4D8"/>
                </a:solidFill>
                <a:latin typeface="Arial"/>
              </a:rPr>
              <a:t>• 2.2 Component-to-Part Traceability &amp; Program Lineage
</a:t>
            </a:r>
            <a:r>
              <a:rPr sz="690" b="0">
                <a:solidFill>
                  <a:srgbClr val="64748B"/>
                </a:solidFill>
                <a:latin typeface="Arial"/>
              </a:rPr>
              <a:t>   Multi-tier BOM lineage mapping open PO lines directly to SFG/FG and end-customer defense programs.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760" b="1">
                <a:solidFill>
                  <a:srgbClr val="00B4D8"/>
                </a:solidFill>
                <a:latin typeface="Arial"/>
              </a:rPr>
              <a:t>• 2.3 Vendor Concentration &amp; Lead-Time Volatility
</a:t>
            </a:r>
            <a:r>
              <a:rPr sz="690" b="0">
                <a:solidFill>
                  <a:srgbClr val="64748B"/>
                </a:solidFill>
                <a:latin typeface="Arial"/>
              </a:rPr>
              <a:t>   Herfindahl spend concentration (HHI), quoted vs. actual lead-time drift, and supplier scorecards.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760" b="1">
                <a:solidFill>
                  <a:srgbClr val="00B4D8"/>
                </a:solidFill>
                <a:latin typeface="Arial"/>
              </a:rPr>
              <a:t>• 2.4 Subcontractor Job-Work &amp; Special Stock 'O'
</a:t>
            </a:r>
            <a:r>
              <a:rPr sz="690" b="0">
                <a:solidFill>
                  <a:srgbClr val="64748B"/>
                </a:solidFill>
                <a:latin typeface="Arial"/>
              </a:rPr>
              <a:t>   Materials issued to platers/heattreaters (541/542), vendor possession aging, outside processing valuation.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760" b="1">
                <a:solidFill>
                  <a:srgbClr val="D97706"/>
                </a:solidFill>
                <a:latin typeface="Arial"/>
              </a:rPr>
              <a:t>• 2.5 [Strategic] Subcontractor TAT &amp; Stage Yield/Scrap
</a:t>
            </a:r>
            <a:r>
              <a:rPr sz="690" b="0">
                <a:solidFill>
                  <a:srgbClr val="0F172A"/>
                </a:solidFill>
                <a:latin typeface="Arial"/>
              </a:rPr>
              <a:t>   Outside cycle times (TAT) and stage yield loss at external job-workers to stop untracked material bleed.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760" b="1">
                <a:solidFill>
                  <a:srgbClr val="D97706"/>
                </a:solidFill>
                <a:latin typeface="Arial"/>
              </a:rPr>
              <a:t>• 2.6 [Strategic] Critical Path Component Shortage Predictor
</a:t>
            </a:r>
            <a:r>
              <a:rPr sz="690" b="0">
                <a:solidFill>
                  <a:srgbClr val="0F172A"/>
                </a:solidFill>
                <a:latin typeface="Arial"/>
              </a:rPr>
              <a:t>   Predictive heuristic flagging items with lead times &gt;16 wks before buffer stock breaches safety thresholds.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2" y="1847088"/>
            <a:ext cx="3429000" cy="4069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83296" y="1901952"/>
            <a:ext cx="3319272" cy="475488"/>
          </a:xfrm>
          <a:prstGeom prst="roundRect">
            <a:avLst/>
          </a:prstGeom>
          <a:solidFill>
            <a:srgbClr val="F8F4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/>
          <a:lstStyle/>
          <a:p>
            <a:pPr algn="ctr">
              <a:defRPr sz="819" b="1">
                <a:solidFill>
                  <a:srgbClr val="7C3AED"/>
                </a:solidFill>
                <a:latin typeface="Arial"/>
              </a:defRPr>
            </a:pPr>
            <a:r>
              <a:t>COCKPIT 3: MANUFACTURING &amp; BATCH COSTING</a:t>
            </a:r>
          </a:p>
          <a:p>
            <a:pPr>
              <a:defRPr sz="700" b="1">
                <a:solidFill>
                  <a:srgbClr val="0F172A"/>
                </a:solidFill>
                <a:latin typeface="Arial"/>
              </a:defRPr>
            </a:pPr>
            <a:r>
              <a:t>6 Dedicated Reports (4 Core + 2 Strategic) | Operations &amp; Quality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01584" y="2432304"/>
            <a:ext cx="3282696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760" b="1">
                <a:solidFill>
                  <a:srgbClr val="7C3AED"/>
                </a:solidFill>
                <a:latin typeface="Arial"/>
              </a:rPr>
              <a:t>• 3.1 Pre-Release MRP Kitting Readiness Gate
</a:t>
            </a:r>
            <a:r>
              <a:rPr sz="690" b="0">
                <a:solidFill>
                  <a:srgbClr val="64748B"/>
                </a:solidFill>
                <a:latin typeface="Arial"/>
              </a:rPr>
              <a:t>   Automated 100% component availability validation prior to releasing production orders (RESB/AFPO).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760" b="1">
                <a:solidFill>
                  <a:srgbClr val="7C3AED"/>
                </a:solidFill>
                <a:latin typeface="Arial"/>
              </a:rPr>
              <a:t>• 3.2 Batch Costing Variance Engine (Actual vs. Std BOM)
</a:t>
            </a:r>
            <a:r>
              <a:rPr sz="690" b="0">
                <a:solidFill>
                  <a:srgbClr val="64748B"/>
                </a:solidFill>
                <a:latin typeface="Arial"/>
              </a:rPr>
              <a:t>   Material price/usage variance, confirmed machine/labor hours (AFRU) vs. standard routing.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760" b="1">
                <a:solidFill>
                  <a:srgbClr val="7C3AED"/>
                </a:solidFill>
                <a:latin typeface="Arial"/>
              </a:rPr>
              <a:t>• 3.3 Work-Center Utilization (OEE) &amp; Line Throughput
</a:t>
            </a:r>
            <a:r>
              <a:rPr sz="690" b="0">
                <a:solidFill>
                  <a:srgbClr val="64748B"/>
                </a:solidFill>
                <a:latin typeface="Arial"/>
              </a:rPr>
              <a:t>   CNC machine capacity loading, queue bottleneck telemetry across winding, machining, and testing.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760" b="1">
                <a:solidFill>
                  <a:srgbClr val="7C3AED"/>
                </a:solidFill>
                <a:latin typeface="Arial"/>
              </a:rPr>
              <a:t>• 3.4 Shift Operations &amp; Daily Floor Telemetry
</a:t>
            </a:r>
            <a:r>
              <a:rPr sz="690" b="0">
                <a:solidFill>
                  <a:srgbClr val="64748B"/>
                </a:solidFill>
                <a:latin typeface="Arial"/>
              </a:rPr>
              <a:t>   Hourly operator confirmation velocity, machine setup vs. run ratios, and QA dispatch readiness.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760" b="1">
                <a:solidFill>
                  <a:srgbClr val="D97706"/>
                </a:solidFill>
                <a:latin typeface="Arial"/>
              </a:rPr>
              <a:t>• 3.5 [Strategic] Cost of Poor Quality (COPQ) Scrap Leakage
</a:t>
            </a:r>
            <a:r>
              <a:rPr sz="690" b="0">
                <a:solidFill>
                  <a:srgbClr val="0F172A"/>
                </a:solidFill>
                <a:latin typeface="Arial"/>
              </a:rPr>
              <a:t>   Inspection defect logging (551/552) attributed to work centers, tool sets, and shifts (2–4% margin recovery).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760" b="1">
                <a:solidFill>
                  <a:srgbClr val="D97706"/>
                </a:solidFill>
                <a:latin typeface="Arial"/>
              </a:rPr>
              <a:t>• 3.6 [Strategic] WIP Valuation &amp; In-Process Ageing Matrix
</a:t>
            </a:r>
            <a:r>
              <a:rPr sz="690" b="0">
                <a:solidFill>
                  <a:srgbClr val="0F172A"/>
                </a:solidFill>
                <a:latin typeface="Arial"/>
              </a:rPr>
              <a:t>   Financial valuation of stalled semi-finished stock categorized by dwelling age (&lt;15, 16–30, 31–60, &gt;60 days).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998464"/>
            <a:ext cx="10728655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/>
          <a:lstStyle/>
          <a:p>
            <a:pPr algn="ctr"/>
            <a:r>
              <a:rPr b="1" sz="750">
                <a:solidFill>
                  <a:srgbClr val="0066CC"/>
                </a:solidFill>
              </a:rPr>
              <a:t>COMPLETE 4-LAYER TURNKEY STACK PER REPORT: </a:t>
            </a:r>
            <a:r>
              <a:rPr b="0" sz="720">
                <a:solidFill>
                  <a:srgbClr val="0F172A"/>
                </a:solidFill>
              </a:rPr>
              <a:t>All 18 reports include: ① SAP HANA Push-Down Calculation Views  |  ② Power BI DirectQuery Interactive Semantic Models  |  ③ ACDOCA / MATDOC GL Reconciliation  |  ④ Dynamic Role-Based Security (RLS) &amp; UAT Sign-Off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6419088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6455664"/>
            <a:ext cx="777240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Lumbini Elite Solutions  |  Hical Technologies Strategic CXO Dashboards Proposal  | 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45775" y="6455664"/>
            <a:ext cx="914400" cy="256032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850" b="1">
                <a:solidFill>
                  <a:srgbClr val="0066CC"/>
                </a:solidFill>
                <a:latin typeface="Arial"/>
              </a:defRPr>
            </a:pPr>
            <a:r>
              <a:t>07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