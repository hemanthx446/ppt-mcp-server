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4754880" cy="310896"/>
          </a:xfrm>
          <a:prstGeom prst="roundRect">
            <a:avLst/>
          </a:prstGeom>
          <a:solidFill>
            <a:srgbClr val="151F3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AEROSPACE &amp; DEFENCE ENTERPRISE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Strategic CXO Dashboards</a:t>
            </a:r>
            <a:br/>
            <a:r>
              <a:t>for Hical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4A3B8"/>
                </a:solidFill>
                <a:latin typeface="Arial"/>
              </a:defRPr>
            </a:pPr>
            <a:r>
              <a:t>Unlocking S/4HANA Dormant Data: 3 High-Velocity Executive Cockpits Powered by Native SAP HANA Calculation Views &amp; Microsoft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6858000" cy="219456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400"/>
              </a:spcAft>
            </a:pPr>
            <a:r>
              <a:rPr b="1" sz="950">
                <a:solidFill>
                  <a:srgbClr val="00B4D8"/>
                </a:solidFill>
              </a:rPr>
              <a:t>• Client:</a:t>
            </a:r>
            <a:r>
              <a:rPr b="0" sz="950">
                <a:solidFill>
                  <a:srgbClr val="F8FAFC"/>
                </a:solidFill>
              </a:rPr>
              <a:t> Hical Technologies Private Limited (Aerospace, Defence &amp; Electromechanical)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B4D8"/>
                </a:solidFill>
              </a:rPr>
              <a:t>• Technology Stack:</a:t>
            </a:r>
            <a:r>
              <a:rPr b="0" sz="950">
                <a:solidFill>
                  <a:srgbClr val="F8FAFC"/>
                </a:solidFill>
              </a:rPr>
              <a:t> SAP S/4HANA In-Memory Calculation Views + Microsoft Power BI DirectQuery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B4D8"/>
                </a:solidFill>
              </a:rPr>
              <a:t>• Commercial Model:</a:t>
            </a:r>
            <a:r>
              <a:rPr b="0" sz="950">
                <a:solidFill>
                  <a:srgbClr val="F8FAFC"/>
                </a:solidFill>
              </a:rPr>
              <a:t> Fixed-Price Per-Report Commercials @ ₹10,00,000 INR each (₹30,00,000 INR Total)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B4D8"/>
                </a:solidFill>
              </a:rPr>
              <a:t>• Project Duration:</a:t>
            </a:r>
            <a:r>
              <a:rPr b="0" sz="950">
                <a:solidFill>
                  <a:srgbClr val="F8FAFC"/>
                </a:solidFill>
              </a:rPr>
              <a:t> 10-Week Agile Execution across 5 Structured Milestone Gates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B4D8"/>
                </a:solidFill>
              </a:rPr>
              <a:t>• Core Objectives:</a:t>
            </a:r>
            <a:r>
              <a:rPr b="0" sz="950">
                <a:solidFill>
                  <a:srgbClr val="F8FAFC"/>
                </a:solidFill>
              </a:rPr>
              <a:t> Cash Flow Acceleration, 52-Week Sourcing Pipeline, Real-Time Batch Costing &amp; COPQ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3474720" cy="475488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THE 3 STRATEGIC COCKPITS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31089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900">
                <a:solidFill>
                  <a:srgbClr val="0066CC"/>
                </a:solidFill>
              </a:defRPr>
            </a:pPr>
            <a:r>
              <a:t>COCKPIT 1: CASH FLOW &amp; FULFILLMENT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Dispatch SLAs, Expected Inbound Materials, AR/AP Liquidity Runway, Liquidated Damages Risk Tracker.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246120"/>
            <a:ext cx="31089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900">
                <a:solidFill>
                  <a:srgbClr val="00B4D8"/>
                </a:solidFill>
              </a:defRPr>
            </a:pPr>
            <a:r>
              <a:t>COCKPIT 2: 52-WEEK SOURCING PIPELINE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52-Week Horizon, Part Traceability, Subcontractor Special Stock 'O', Critical Component Predictor.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572000"/>
            <a:ext cx="31089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b="1" sz="900">
                <a:solidFill>
                  <a:srgbClr val="7C3AED"/>
                </a:solidFill>
              </a:defRPr>
            </a:pPr>
            <a:r>
              <a:t>COCKPIT 3: MANUFACTURING &amp; BATCH COST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Full-Kitting Verification, Batch Costing (Standard vs. Actual), COPQ Scrap Engine, WIP Aging Matrix.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CONTEXT &amp;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Aerospace Manufacturing Reality: The Dormant Data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Why transactional depth inside S/4HANA without high-velocity analytics leads to trapped working capital and reactive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1000"/>
              </a:spcAft>
              <a:defRPr sz="1100" b="1">
                <a:solidFill>
                  <a:srgbClr val="0066CC"/>
                </a:solidFill>
                <a:latin typeface="Arial"/>
              </a:defRPr>
            </a:pPr>
            <a:r>
              <a:t>Precision Aerospace Constraints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AS9100D &amp; NADCAP: </a:t>
            </a:r>
            <a:r>
              <a:rPr b="0" sz="819">
                <a:solidFill>
                  <a:srgbClr val="64748B"/>
                </a:solidFill>
              </a:rPr>
              <a:t>Zero-defect mandates where component deviation halts entire assemblies.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Multi-Level Indented BOMs: </a:t>
            </a:r>
            <a:r>
              <a:rPr b="0" sz="819">
                <a:solidFill>
                  <a:srgbClr val="64748B"/>
                </a:solidFill>
              </a:rPr>
              <a:t>Complex assemblies (actuators, motors, cable harnesses) spanning 6-10 tiers.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Long-Lead Buffers: </a:t>
            </a:r>
            <a:r>
              <a:rPr b="0" sz="819">
                <a:solidFill>
                  <a:srgbClr val="64748B"/>
                </a:solidFill>
              </a:rPr>
              <a:t>Raw material cycles of 26 to 52 weeks requiring tight procurement coordination.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Subcontractor Job-Work: </a:t>
            </a:r>
            <a:r>
              <a:rPr b="0" sz="819">
                <a:solidFill>
                  <a:srgbClr val="64748B"/>
                </a:solidFill>
              </a:rPr>
              <a:t>Specialized plating, heat-treatment, and winding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1000"/>
              </a:spcAft>
              <a:defRPr sz="1100" b="1">
                <a:solidFill>
                  <a:srgbClr val="EF4444"/>
                </a:solidFill>
                <a:latin typeface="Arial"/>
              </a:defRPr>
            </a:pPr>
            <a:r>
              <a:t>The 'Dormant Data' Paradox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Transactional Silos: </a:t>
            </a:r>
            <a:r>
              <a:rPr b="0" sz="819">
                <a:solidFill>
                  <a:srgbClr val="64748B"/>
                </a:solidFill>
              </a:rPr>
              <a:t>S/4HANA records millions of rows, but insights remain locked in deep tables.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Spreadsheet Dependency: </a:t>
            </a:r>
            <a:r>
              <a:rPr b="0" sz="819">
                <a:solidFill>
                  <a:srgbClr val="64748B"/>
                </a:solidFill>
              </a:rPr>
              <a:t>Planners stitch together manual weekly Excel exports with high latency.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Lagging Month-End Signals: </a:t>
            </a:r>
            <a:r>
              <a:rPr b="0" sz="819">
                <a:solidFill>
                  <a:srgbClr val="64748B"/>
                </a:solidFill>
              </a:rPr>
              <a:t>Cost variances, scrap leakage, and overtime appear weeks after occurrence.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No Unified Visibility: </a:t>
            </a:r>
            <a:r>
              <a:rPr b="0" sz="819">
                <a:solidFill>
                  <a:srgbClr val="64748B"/>
                </a:solidFill>
              </a:rPr>
              <a:t>Absence of real-time bridge linking finance with factory-floor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Financial &amp; Business Bleed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Trapped Working Capital: </a:t>
            </a:r>
            <a:r>
              <a:rPr b="0" sz="819">
                <a:solidFill>
                  <a:srgbClr val="64748B"/>
                </a:solidFill>
              </a:rPr>
              <a:t>Buffer stock and unmonitored WIP accumulate across machine stations.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Liquidated Damages Risk: </a:t>
            </a:r>
            <a:r>
              <a:rPr b="0" sz="819">
                <a:solidFill>
                  <a:srgbClr val="64748B"/>
                </a:solidFill>
              </a:rPr>
              <a:t>Late delivery penalties (0.5%-1% per week) threaten defense contract margins.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Job-Work Leakage: </a:t>
            </a:r>
            <a:r>
              <a:rPr b="0" sz="819">
                <a:solidFill>
                  <a:srgbClr val="64748B"/>
                </a:solidFill>
              </a:rPr>
              <a:t>Material issued to external subcontractors lacks real-time yield/scrap tracking.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Unplanned Expediting: </a:t>
            </a:r>
            <a:r>
              <a:rPr b="0" sz="819">
                <a:solidFill>
                  <a:srgbClr val="64748B"/>
                </a:solidFill>
              </a:rPr>
              <a:t>Emergency weekend overtime and spot-freight erode gross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46304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10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The Strategic Imperative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In-Memory Push-Down: </a:t>
            </a:r>
            <a:r>
              <a:rPr b="0" sz="819">
                <a:solidFill>
                  <a:srgbClr val="64748B"/>
                </a:solidFill>
              </a:rPr>
              <a:t>Leverage native SAP HANA Calculation Views to eliminate batch ETL lag.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Sub-Second Power BI Cockpits: </a:t>
            </a:r>
            <a:r>
              <a:rPr b="0" sz="819">
                <a:solidFill>
                  <a:srgbClr val="64748B"/>
                </a:solidFill>
              </a:rPr>
              <a:t>Deliver live executive direct-query without burdening live OLTP.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Proactive Early Warnings: </a:t>
            </a:r>
            <a:r>
              <a:rPr b="0" sz="819">
                <a:solidFill>
                  <a:srgbClr val="64748B"/>
                </a:solidFill>
              </a:rPr>
              <a:t>Anticipate shortages 60-90 days early and protect project EBITDA.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0F172A"/>
                </a:solidFill>
              </a:rPr>
              <a:t>• Audit-Grade Reconciliation: </a:t>
            </a:r>
            <a:r>
              <a:rPr b="0" sz="819">
                <a:solidFill>
                  <a:srgbClr val="64748B"/>
                </a:solidFill>
              </a:rPr>
              <a:t>Guarantee mathematical harmony with General Ledger (ACDOCA).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Enterprise Solution Architecture: Zero-ETL In-Memory Push-Down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Connecting SAP S/4HANA Database Internals natively to Microsoft Power BI via DirectQuery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>
                <a:solidFill>
                  <a:srgbClr val="0066CC"/>
                </a:solidFill>
                <a:latin typeface="Arial"/>
              </a:defRPr>
            </a:pPr>
            <a:r>
              <a:t>LAYER 1: S/4HANA DATABASE TABLES</a:t>
            </a:r>
          </a:p>
          <a:p>
            <a:pPr>
              <a:spcAft>
                <a:spcPts val="1200"/>
              </a:spcAft>
              <a:defRPr sz="850" i="1">
                <a:solidFill>
                  <a:srgbClr val="94A3B8"/>
                </a:solidFill>
              </a:defRPr>
            </a:pPr>
            <a:r>
              <a:t>Transactional Core (Single Source of Truth)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Financial Universal Journal: </a:t>
            </a:r>
            <a:r>
              <a:rPr b="0" sz="819">
                <a:solidFill>
                  <a:srgbClr val="94A3B8"/>
                </a:solidFill>
              </a:rPr>
              <a:t>ACDOCA, BSID, BSIK, BKPF (Open items, AP/AR liabilities, GL entries)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Inventory &amp; Movements: </a:t>
            </a:r>
            <a:r>
              <a:rPr b="0" sz="819">
                <a:solidFill>
                  <a:srgbClr val="94A3B8"/>
                </a:solidFill>
              </a:rPr>
              <a:t>MATDOC / MSEG, MARC, MARD (Real-time stock, movement types 101, 541, 551)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Production &amp; Costing: </a:t>
            </a:r>
            <a:r>
              <a:rPr b="0" sz="819">
                <a:solidFill>
                  <a:srgbClr val="94A3B8"/>
                </a:solidFill>
              </a:rPr>
              <a:t>AFKO, AFPO, AFRU, RESB, AUFM, CKIS, KEPH (Work orders, confirmations, standard BOM)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Purchasing &amp; Logistics: </a:t>
            </a:r>
            <a:r>
              <a:rPr b="0" sz="819">
                <a:solidFill>
                  <a:srgbClr val="94A3B8"/>
                </a:solidFill>
              </a:rPr>
              <a:t>EKKO, EKPO, EKET, EKKN, VBAK, VBAP, LIKP, LIPS (PO lines, sales schedule lines)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Quality &amp; Subcontracting: </a:t>
            </a:r>
            <a:r>
              <a:rPr b="0" sz="819">
                <a:solidFill>
                  <a:srgbClr val="94A3B8"/>
                </a:solidFill>
              </a:rPr>
              <a:t>QALS, QMEL, Special Stock 'O' (Inspection lots, defects, vendor balances)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>
                <a:solidFill>
                  <a:srgbClr val="00B4D8"/>
                </a:solidFill>
                <a:latin typeface="Arial"/>
              </a:defRPr>
            </a:pPr>
            <a:r>
              <a:t>LAYER 2: SAP HANA CALCULATION VIEWS</a:t>
            </a:r>
          </a:p>
          <a:p>
            <a:pPr>
              <a:spcAft>
                <a:spcPts val="1200"/>
              </a:spcAft>
              <a:defRPr sz="850" i="1">
                <a:solidFill>
                  <a:srgbClr val="94A3B8"/>
                </a:solidFill>
              </a:defRPr>
            </a:pPr>
            <a:r>
              <a:t>In-Memory Engine &amp; Push-Down Logic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Star-Join Architecture: </a:t>
            </a:r>
            <a:r>
              <a:rPr b="0" sz="819">
                <a:solidFill>
                  <a:srgbClr val="94A3B8"/>
                </a:solidFill>
              </a:rPr>
              <a:t>High-speed dimensional joins between facts and master data without Cartesian drag.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Recursive BOM Procedures: </a:t>
            </a:r>
            <a:r>
              <a:rPr b="0" sz="819">
                <a:solidFill>
                  <a:srgbClr val="94A3B8"/>
                </a:solidFill>
              </a:rPr>
              <a:t>In-engine recursive traversal of 6-10 level indented BOM hierarchies in milliseconds.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Workload Management (WLM): </a:t>
            </a:r>
            <a:r>
              <a:rPr b="0" sz="819">
                <a:solidFill>
                  <a:srgbClr val="94A3B8"/>
                </a:solidFill>
              </a:rPr>
              <a:t>Resource-group bounding ensuring zero CPU starvation for transactional users.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Material Movement Unions: </a:t>
            </a:r>
            <a:r>
              <a:rPr b="0" sz="819">
                <a:solidFill>
                  <a:srgbClr val="94A3B8"/>
                </a:solidFill>
              </a:rPr>
              <a:t>Partition-aware projection filters consolidating production and inventory movements.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Data Pruning &amp; Optimization: </a:t>
            </a:r>
            <a:r>
              <a:rPr b="0" sz="819">
                <a:solidFill>
                  <a:srgbClr val="94A3B8"/>
                </a:solidFill>
              </a:rPr>
              <a:t>Push-down SQL hints and temporal windows reducing query load by 85%.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50" b="1">
                <a:solidFill>
                  <a:srgbClr val="10B981"/>
                </a:solidFill>
                <a:latin typeface="Arial"/>
              </a:defRPr>
            </a:pPr>
            <a:r>
              <a:t>LAYER 3: POWER BI EXECUTIVE COCKPIT</a:t>
            </a:r>
          </a:p>
          <a:p>
            <a:pPr>
              <a:spcAft>
                <a:spcPts val="1200"/>
              </a:spcAft>
              <a:defRPr sz="850" i="1">
                <a:solidFill>
                  <a:srgbClr val="94A3B8"/>
                </a:solidFill>
              </a:defRPr>
            </a:pPr>
            <a:r>
              <a:t>DirectQuery / Dual-Storage Semantic Layer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DirectQuery Connectivity: </a:t>
            </a:r>
            <a:r>
              <a:rPr b="0" sz="819">
                <a:solidFill>
                  <a:srgbClr val="94A3B8"/>
                </a:solidFill>
              </a:rPr>
              <a:t>Direct sub-second query execution against HANA DB Server layer (ODBC/HDB).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Advanced DAX Calculations: </a:t>
            </a:r>
            <a:r>
              <a:rPr b="0" sz="819">
                <a:solidFill>
                  <a:srgbClr val="94A3B8"/>
                </a:solidFill>
              </a:rPr>
              <a:t>Dynamic Net Liquidity Runway, Contract LD Exposure, COPQ Leakage, WIP Aging.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Executive UI/UX Design: </a:t>
            </a:r>
            <a:r>
              <a:rPr b="0" sz="819">
                <a:solidFill>
                  <a:srgbClr val="94A3B8"/>
                </a:solidFill>
              </a:rPr>
              <a:t>Board-ready dark/light themes, executive summary KPI cards, and drill-throughs.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Row-Level Security (RLS): </a:t>
            </a:r>
            <a:r>
              <a:rPr b="0" sz="819">
                <a:solidFill>
                  <a:srgbClr val="94A3B8"/>
                </a:solidFill>
              </a:rPr>
              <a:t>Role-based authorization mirroring SAP user profiles across plants and functions.</a:t>
            </a:r>
          </a:p>
          <a:p>
            <a:pPr>
              <a:spcAft>
                <a:spcPts val="600"/>
              </a:spcAft>
            </a:pPr>
            <a:r>
              <a:rPr b="1" sz="850">
                <a:solidFill>
                  <a:srgbClr val="F8FAFC"/>
                </a:solidFill>
              </a:rPr>
              <a:t>• On-Premise Gateway Clustering: </a:t>
            </a:r>
            <a:r>
              <a:rPr b="0" sz="819">
                <a:solidFill>
                  <a:srgbClr val="94A3B8"/>
                </a:solidFill>
              </a:rPr>
              <a:t>High-availability gateway cluster ensuring seamless, secure data traversal.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EXECUTIVE DASHBOARD 1 | DAILY - WEEKLY - MONTHLY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Cockpit 1: Executive Cash Flow &amp; Operational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Synchronizing Customer SLAs, Inbound Supply, Supplier Payables, and Predictive Liquidity Runway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66CC"/>
                </a:solidFill>
                <a:latin typeface="Arial"/>
              </a:defRPr>
            </a:pPr>
            <a:r>
              <a:t>Scheduled Shipments &amp; Pipeline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Committed vs. Actual Dispatch: </a:t>
            </a:r>
            <a:r>
              <a:rPr b="0" sz="819">
                <a:solidFill>
                  <a:srgbClr val="64748B"/>
                </a:solidFill>
              </a:rPr>
              <a:t>Track sales line delivery dates vs. current shipping status.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OTIF Performance: </a:t>
            </a:r>
            <a:r>
              <a:rPr b="0" sz="819">
                <a:solidFill>
                  <a:srgbClr val="64748B"/>
                </a:solidFill>
              </a:rPr>
              <a:t>On-Time In-Full metrics segmented by customer program and division.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Revenue Pipeline: </a:t>
            </a:r>
            <a:r>
              <a:rPr b="0" sz="819">
                <a:solidFill>
                  <a:srgbClr val="64748B"/>
                </a:solidFill>
              </a:rPr>
              <a:t>Confirmed orders ready for invoicing across daily and weekly horizons.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146304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66CC"/>
                </a:solidFill>
                <a:latin typeface="Arial"/>
              </a:defRPr>
            </a:pPr>
            <a:r>
              <a:t>Expected Inbound Raw Materials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Open Vendor PO Lines: </a:t>
            </a:r>
            <a:r>
              <a:rPr b="0" sz="819">
                <a:solidFill>
                  <a:srgbClr val="64748B"/>
                </a:solidFill>
              </a:rPr>
              <a:t>Scheduled dock deliveries cross-referenced with vendor commitments.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In-Transit ASN Visibility: </a:t>
            </a:r>
            <a:r>
              <a:rPr b="0" sz="819">
                <a:solidFill>
                  <a:srgbClr val="64748B"/>
                </a:solidFill>
              </a:rPr>
              <a:t>Early notice of incoming raw materials to stage receiving bays.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Supply Reliability Score: </a:t>
            </a:r>
            <a:r>
              <a:rPr b="0" sz="819">
                <a:solidFill>
                  <a:srgbClr val="64748B"/>
                </a:solidFill>
              </a:rPr>
              <a:t>Vendor delivery date adherence tracking to isolate unreliable suppliers.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66CC"/>
                </a:solidFill>
                <a:latin typeface="Arial"/>
              </a:defRPr>
            </a:pPr>
            <a:r>
              <a:t>Supplier Payments Due (AP)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AP Liability Aging: </a:t>
            </a:r>
            <a:r>
              <a:rPr b="0" sz="819">
                <a:solidFill>
                  <a:srgbClr val="64748B"/>
                </a:solidFill>
              </a:rPr>
              <a:t>Payables grouped into 30/60/90-day buckets based on credit terms.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Cash Discount Capture: </a:t>
            </a:r>
            <a:r>
              <a:rPr b="0" sz="819">
                <a:solidFill>
                  <a:srgbClr val="64748B"/>
                </a:solidFill>
              </a:rPr>
              <a:t>Identification of early-settlement discounts to optimize treasury outflow.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Critical Vendor Exposure: </a:t>
            </a:r>
            <a:r>
              <a:rPr b="0" sz="819">
                <a:solidFill>
                  <a:srgbClr val="64748B"/>
                </a:solidFill>
              </a:rPr>
              <a:t>Payables prioritization for single-source aerospace suppliers.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342900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66CC"/>
                </a:solidFill>
                <a:latin typeface="Arial"/>
              </a:defRPr>
            </a:pPr>
            <a:r>
              <a:t>Customer Payments Incoming (AR)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AR Collection Aging: </a:t>
            </a:r>
            <a:r>
              <a:rPr b="0" sz="819">
                <a:solidFill>
                  <a:srgbClr val="64748B"/>
                </a:solidFill>
              </a:rPr>
              <a:t>Open receivables tracking by customer tier and defense agency.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Milestone Billing Realization: </a:t>
            </a:r>
            <a:r>
              <a:rPr b="0" sz="819">
                <a:solidFill>
                  <a:srgbClr val="64748B"/>
                </a:solidFill>
              </a:rPr>
              <a:t>Unbilled milestone tracking tied to engineering and FAT sign-offs.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DSO Optimization: </a:t>
            </a:r>
            <a:r>
              <a:rPr b="0" sz="819">
                <a:solidFill>
                  <a:srgbClr val="64748B"/>
                </a:solidFill>
              </a:rPr>
              <a:t>Real-time Days Sales Outstanding telemetry to accelerate collections.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8655" cy="8686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2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STRATEGIC ENHANCEMENTS BY LUMBINI ELITE:</a:t>
            </a:r>
          </a:p>
          <a:p>
            <a:r>
              <a:rPr b="1" sz="850">
                <a:solidFill>
                  <a:srgbClr val="0F172A"/>
                </a:solidFill>
              </a:rPr>
              <a:t>1. Net Liquidity Runway Simulator: </a:t>
            </a:r>
            <a:r>
              <a:rPr sz="819">
                <a:solidFill>
                  <a:srgbClr val="0F172A"/>
                </a:solidFill>
              </a:rPr>
              <a:t>Predictive cash flow modeling simulating AR inflow vs. AP outflow under 30/60/90-day stress scenarios to protect bank covenants.  |  </a:t>
            </a:r>
            <a:r>
              <a:rPr b="1" sz="850">
                <a:solidFill>
                  <a:srgbClr val="0F172A"/>
                </a:solidFill>
              </a:rPr>
              <a:t>2. Late Delivery Risk &amp; Liquidated Damages (LD) Tracker: </a:t>
            </a:r>
            <a:r>
              <a:rPr sz="819">
                <a:solidFill>
                  <a:srgbClr val="0F172A"/>
                </a:solidFill>
              </a:rPr>
              <a:t>Algorithmic penalty calculation correlating routing delays with defense contract penalty clauses, protecting 1–3% of top-line revenue.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EXECUTIVE DASHBOARD 2 | ROLLING 52-WEEK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Cockpit 2: Procurement &amp; Subcontracting 52-Week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Forward Sourcing Visibility, Component-to-Part Traceability, and Subcontractor Special Stock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B4D8"/>
                </a:solidFill>
                <a:latin typeface="Arial"/>
              </a:defRPr>
            </a:pPr>
            <a:r>
              <a:t>Scheduled vs. Confirmed PO Releases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52-Week Sourcing Pipeline: </a:t>
            </a:r>
            <a:r>
              <a:rPr b="0" sz="819">
                <a:solidFill>
                  <a:srgbClr val="64748B"/>
                </a:solidFill>
              </a:rPr>
              <a:t>Continuous forward visibility comparing MRP requisition demand with actual PO releases.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Uncommitted Demand Identification: </a:t>
            </a:r>
            <a:r>
              <a:rPr b="0" sz="819">
                <a:solidFill>
                  <a:srgbClr val="64748B"/>
                </a:solidFill>
              </a:rPr>
              <a:t>Highlighting open requirements lacking supplier contracts.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Purchase Budget Adherence: </a:t>
            </a:r>
            <a:r>
              <a:rPr b="0" sz="819">
                <a:solidFill>
                  <a:srgbClr val="64748B"/>
                </a:solidFill>
              </a:rPr>
              <a:t>Monitoring committed capital against approved procurement budgets.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146304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B4D8"/>
                </a:solidFill>
                <a:latin typeface="Arial"/>
              </a:defRPr>
            </a:pPr>
            <a:r>
              <a:t>Component-to-Part Traceability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Parent-Child Lineage: </a:t>
            </a:r>
            <a:r>
              <a:rPr b="0" sz="819">
                <a:solidFill>
                  <a:srgbClr val="64748B"/>
                </a:solidFill>
              </a:rPr>
              <a:t>Direct linkage mapping open purchase order line items to SFG and FG assemblies.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Customer Program Allocation: </a:t>
            </a:r>
            <a:r>
              <a:rPr b="0" sz="819">
                <a:solidFill>
                  <a:srgbClr val="64748B"/>
                </a:solidFill>
              </a:rPr>
              <a:t>Visibility into which defense programs are impacted by specific delayed lines.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Engineering Revision Tracking: </a:t>
            </a:r>
            <a:r>
              <a:rPr b="0" sz="819">
                <a:solidFill>
                  <a:srgbClr val="64748B"/>
                </a:solidFill>
              </a:rPr>
              <a:t>Verifying mil-spec component drawing revisions before PO issuance.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B4D8"/>
                </a:solidFill>
                <a:latin typeface="Arial"/>
              </a:defRPr>
            </a:pPr>
            <a:r>
              <a:t>Vendor Performance &amp; Concentration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Spend Concentration (HHI): </a:t>
            </a:r>
            <a:r>
              <a:rPr b="0" sz="819">
                <a:solidFill>
                  <a:srgbClr val="64748B"/>
                </a:solidFill>
              </a:rPr>
              <a:t>Identifying dangerous single-source vendor vulnerabilities on critical commodities.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Quoted vs. Actual Lead Time: </a:t>
            </a:r>
            <a:r>
              <a:rPr b="0" sz="819">
                <a:solidFill>
                  <a:srgbClr val="64748B"/>
                </a:solidFill>
              </a:rPr>
              <a:t>Tracking supplier lead-time drift across precision alloys and electronic parts.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Supplier On-Time Delivery: </a:t>
            </a:r>
            <a:r>
              <a:rPr b="0" sz="819">
                <a:solidFill>
                  <a:srgbClr val="64748B"/>
                </a:solidFill>
              </a:rPr>
              <a:t>Objective scorecard to strengthen quarterly vendor negotiations.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342900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0B4D8"/>
                </a:solidFill>
                <a:latin typeface="Arial"/>
              </a:defRPr>
            </a:pPr>
            <a:r>
              <a:t>Subcontractor Job-Work Operations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Special Stock 'O' Tracking: </a:t>
            </a:r>
            <a:r>
              <a:rPr b="0" sz="819">
                <a:solidFill>
                  <a:srgbClr val="64748B"/>
                </a:solidFill>
              </a:rPr>
              <a:t>Full visibility into material issued to external vendors (541/542 movements).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Aging of Material with Vendors: </a:t>
            </a:r>
            <a:r>
              <a:rPr b="0" sz="819">
                <a:solidFill>
                  <a:srgbClr val="64748B"/>
                </a:solidFill>
              </a:rPr>
              <a:t>Highlighting raw materials held at job-workers beyond acceptable cycle times.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Outside Processing Balance: </a:t>
            </a:r>
            <a:r>
              <a:rPr b="0" sz="819">
                <a:solidFill>
                  <a:srgbClr val="64748B"/>
                </a:solidFill>
              </a:rPr>
              <a:t>Real-time valuation of inventory residing outside plant premises.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8655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2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STRATEGIC ENHANCEMENTS BY LUMBINI ELITE:</a:t>
            </a:r>
          </a:p>
          <a:p>
            <a:r>
              <a:rPr b="1" sz="850">
                <a:solidFill>
                  <a:srgbClr val="0F172A"/>
                </a:solidFill>
              </a:rPr>
              <a:t>1. Subcontractor TAT &amp; Stage Yield/Scrap Tracker: </a:t>
            </a:r>
            <a:r>
              <a:rPr sz="819">
                <a:solidFill>
                  <a:srgbClr val="0F172A"/>
                </a:solidFill>
              </a:rPr>
              <a:t>Monitors exact turnaround cycle times and scrap/yield discrepancies across external processors, recovering lost material.  |  </a:t>
            </a:r>
            <a:r>
              <a:rPr b="1" sz="850">
                <a:solidFill>
                  <a:srgbClr val="0F172A"/>
                </a:solidFill>
              </a:rPr>
              <a:t>2. Critical Path Component Shortage Predictor: </a:t>
            </a:r>
            <a:r>
              <a:rPr sz="819">
                <a:solidFill>
                  <a:srgbClr val="0F172A"/>
                </a:solidFill>
              </a:rPr>
              <a:t>Predictive heuristic flagging components with Lead Time &gt; 16 weeks where projected stock breaches safety levels, warning buyers 60–90 days ahead.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EXECUTIVE DASHBOARD 3 | SHIFT &amp; BATCH COSTING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Cockpit 3: Manufacturing Operations &amp; Batch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MRP Readiness, Real-Time Batch Cost Variances, Work-in-Progress (WIP) Aging, and COPQ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MRP Readiness &amp; Kitting Operations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Pre-Release Kitting Checks: </a:t>
            </a:r>
            <a:r>
              <a:rPr b="0" sz="819">
                <a:solidFill>
                  <a:srgbClr val="64748B"/>
                </a:solidFill>
              </a:rPr>
              <a:t>Verification of 100% component availability prior to releasing production orders.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Short-Supply Alerts: </a:t>
            </a:r>
            <a:r>
              <a:rPr b="0" sz="819">
                <a:solidFill>
                  <a:srgbClr val="64748B"/>
                </a:solidFill>
              </a:rPr>
              <a:t>Instant notification of missing hardware or fasteners to halt premature staging.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Staging Bay Velocity: </a:t>
            </a:r>
            <a:r>
              <a:rPr b="0" sz="819">
                <a:solidFill>
                  <a:srgbClr val="64748B"/>
                </a:solidFill>
              </a:rPr>
              <a:t>Tracking kit movement from raw stock picking to work-center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146304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Batch Costing Variance Engine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Material Actual vs. Standard: </a:t>
            </a:r>
            <a:r>
              <a:rPr b="0" sz="819">
                <a:solidFill>
                  <a:srgbClr val="64748B"/>
                </a:solidFill>
              </a:rPr>
              <a:t>Real-time detection of component substitution or excessive material consumption.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Machine &amp; Labor Hour Variances: </a:t>
            </a:r>
            <a:r>
              <a:rPr b="0" sz="819">
                <a:solidFill>
                  <a:srgbClr val="64748B"/>
                </a:solidFill>
              </a:rPr>
              <a:t>Comparison of confirmed operation hours (AFRU) against standard routing.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Job-Order Profitability: </a:t>
            </a:r>
            <a:r>
              <a:rPr b="0" sz="819">
                <a:solidFill>
                  <a:srgbClr val="64748B"/>
                </a:solidFill>
              </a:rPr>
              <a:t>Live gross margin calculation per batch before goods receipt to finished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Cross-Functional Decision Engine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Work-Center Utilization: </a:t>
            </a:r>
            <a:r>
              <a:rPr b="0" sz="819">
                <a:solidFill>
                  <a:srgbClr val="64748B"/>
                </a:solidFill>
              </a:rPr>
              <a:t>Overall Equipment Effectiveness (OEE) and capacity loading on critical CNC machines.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Line Throughput Velocity: </a:t>
            </a:r>
            <a:r>
              <a:rPr b="0" sz="819">
                <a:solidFill>
                  <a:srgbClr val="64748B"/>
                </a:solidFill>
              </a:rPr>
              <a:t>Cycle time tracking across winding, machining, assembly, and testing bays.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Capacity Bottleneck Isolation: </a:t>
            </a:r>
            <a:r>
              <a:rPr b="0" sz="819">
                <a:solidFill>
                  <a:srgbClr val="64748B"/>
                </a:solidFill>
              </a:rPr>
              <a:t>Early warning when station queues exceed rated capacity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3429000"/>
            <a:ext cx="5257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Shift Performance &amp; Operations Control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Operator &amp; Shift Efficiency: </a:t>
            </a:r>
            <a:r>
              <a:rPr b="0" sz="819">
                <a:solidFill>
                  <a:srgbClr val="64748B"/>
                </a:solidFill>
              </a:rPr>
              <a:t>Hourly confirmation output tracking across production shifts.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Setup vs. Run Time Ratios: </a:t>
            </a:r>
            <a:r>
              <a:rPr b="0" sz="819">
                <a:solidFill>
                  <a:srgbClr val="64748B"/>
                </a:solidFill>
              </a:rPr>
              <a:t>Highlighting excessive machine setup and changeover times.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Dispatch Readiness: </a:t>
            </a:r>
            <a:r>
              <a:rPr b="0" sz="819">
                <a:solidFill>
                  <a:srgbClr val="64748B"/>
                </a:solidFill>
              </a:rPr>
              <a:t>Finished batch certification status for final QA and shipping handover.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8655" cy="8686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200"/>
              </a:spcAft>
              <a:defRPr sz="900" b="1">
                <a:solidFill>
                  <a:srgbClr val="7C3AED"/>
                </a:solidFill>
                <a:latin typeface="Arial"/>
              </a:defRPr>
            </a:pPr>
            <a:r>
              <a:t>STRATEGIC ENHANCEMENTS BY LUMBINI ELITE:</a:t>
            </a:r>
          </a:p>
          <a:p>
            <a:r>
              <a:rPr b="1" sz="850">
                <a:solidFill>
                  <a:srgbClr val="0F172A"/>
                </a:solidFill>
              </a:rPr>
              <a:t>1. Cost of Poor Quality (COPQ) &amp; Scrap Leakage Engine: </a:t>
            </a:r>
            <a:r>
              <a:rPr sz="819">
                <a:solidFill>
                  <a:srgbClr val="0F172A"/>
                </a:solidFill>
              </a:rPr>
              <a:t>Drills down scrap costs (551/552) to work centers, tool sets, and shifts, identifying root causes to preserve 2-4% gross margin.  |  </a:t>
            </a:r>
            <a:r>
              <a:rPr b="1" sz="850">
                <a:solidFill>
                  <a:srgbClr val="0F172A"/>
                </a:solidFill>
              </a:rPr>
              <a:t>2. WIP Valuation &amp; In-Process Ageing Matrix: </a:t>
            </a:r>
            <a:r>
              <a:rPr sz="819">
                <a:solidFill>
                  <a:srgbClr val="0F172A"/>
                </a:solidFill>
              </a:rPr>
              <a:t>Real-time valuation of semi-finished stock categorized by dwelling age (&lt;15, 16-30, 31-60, &gt;60 days), releasing trapped working capital.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DELIVERABLE MANIFEST | 18 TOTAL EXECUTIVE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Cockpit Report Inventory: Itemized Deliverables by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Itemized Architecture: Exactly 6 Dedicated Production Reports Per Cockpit Across Finance, Sourcing, and Manufacturing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43584"/>
            <a:ext cx="2514600" cy="51206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0066CC"/>
                </a:solidFill>
                <a:latin typeface="Arial"/>
              </a:defRPr>
            </a:pPr>
            <a:r>
              <a:t>TOTAL COCKPIT SUITES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3 Executive Suites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9233" y="1243584"/>
            <a:ext cx="2514600" cy="51206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D97706"/>
                </a:solidFill>
                <a:latin typeface="Arial"/>
              </a:defRPr>
            </a:pPr>
            <a:r>
              <a:t>TOTAL DELIVERABLE REPORTS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18 Production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6947" y="1243584"/>
            <a:ext cx="251460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10B981"/>
                </a:solidFill>
                <a:latin typeface="Arial"/>
              </a:defRPr>
            </a:pPr>
            <a:r>
              <a:t>REPORTS PER COCKPIT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6 Reports Each (4 Core + 2 Strategic)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4660" y="1243584"/>
            <a:ext cx="2514600" cy="5120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7C3AED"/>
                </a:solidFill>
                <a:latin typeface="Arial"/>
              </a:defRPr>
            </a:pPr>
            <a:r>
              <a:t>UNIT COMMERCIAL ALIGNMENT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~₹1.67L / Report (₹10.0L / Suite)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34290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901952"/>
            <a:ext cx="3319272" cy="475488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/>
          <a:lstStyle/>
          <a:p>
            <a:pPr algn="ctr">
              <a:defRPr sz="819" b="1">
                <a:solidFill>
                  <a:srgbClr val="0066CC"/>
                </a:solidFill>
                <a:latin typeface="Arial"/>
              </a:defRPr>
            </a:pPr>
            <a:r>
              <a:t>COCKPIT 1: CASH FLOW &amp; FULFILLMENT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6 Dedicated Reports (4 Core + 2 Strategic) | Finance &amp; SCM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3337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066CC"/>
                </a:solidFill>
                <a:latin typeface="Arial"/>
              </a:rPr>
              <a:t>• 1.1 Scheduled Shipments &amp; Dispatch Pipeline
</a:t>
            </a:r>
            <a:r>
              <a:rPr sz="680" b="0">
                <a:solidFill>
                  <a:srgbClr val="64748B"/>
                </a:solidFill>
                <a:latin typeface="Arial"/>
              </a:rPr>
              <a:t>   Line-item tracking of customer orders vs. dispatch dates, OTIF %, and backlog velocity.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0066CC"/>
                </a:solidFill>
                <a:latin typeface="Arial"/>
              </a:rPr>
              <a:t>• 1.2 Expected Inbound Materials &amp; Bay Staging
</a:t>
            </a:r>
            <a:r>
              <a:rPr sz="680" b="0">
                <a:solidFill>
                  <a:srgbClr val="64748B"/>
                </a:solidFill>
                <a:latin typeface="Arial"/>
              </a:rPr>
              <a:t>   Open vendor PO lines, in-transit ASN visibility, and dock arrival staging readiness.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0066CC"/>
                </a:solidFill>
                <a:latin typeface="Arial"/>
              </a:rPr>
              <a:t>• 1.3 Supplier Payables (AP Due) &amp; Liability Aging
</a:t>
            </a:r>
            <a:r>
              <a:rPr sz="680" b="0">
                <a:solidFill>
                  <a:srgbClr val="64748B"/>
                </a:solidFill>
                <a:latin typeface="Arial"/>
              </a:rPr>
              <a:t>   Payables aging (30/60/90 days), cash discount capture, and vendor credit exposure.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0066CC"/>
                </a:solidFill>
                <a:latin typeface="Arial"/>
              </a:rPr>
              <a:t>• 1.4 Customer Receivables (AR Due) &amp; Cash Realization
</a:t>
            </a:r>
            <a:r>
              <a:rPr sz="680" b="0">
                <a:solidFill>
                  <a:srgbClr val="64748B"/>
                </a:solidFill>
                <a:latin typeface="Arial"/>
              </a:rPr>
              <a:t>   Open AR aging, customer tier DSO optimization, and unbilled defense milestone claims.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D97706"/>
                </a:solidFill>
                <a:latin typeface="Arial"/>
              </a:rPr>
              <a:t>• 1.5 [Strategic] Net Liquidity Runway Simulator
</a:t>
            </a:r>
            <a:r>
              <a:rPr sz="680" b="0">
                <a:solidFill>
                  <a:srgbClr val="0F172A"/>
                </a:solidFill>
                <a:latin typeface="Arial"/>
              </a:rPr>
              <a:t>   Multi-scenario cash burn forecasting (AR vs. AP) under 30/60/90-day stress to safeguard covenants.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D97706"/>
                </a:solidFill>
                <a:latin typeface="Arial"/>
              </a:rPr>
              <a:t>• 1.6 [Strategic] Late Delivery Risk &amp; LD Penalty Tracker
</a:t>
            </a:r>
            <a:r>
              <a:rPr sz="680" b="0">
                <a:solidFill>
                  <a:srgbClr val="0F172A"/>
                </a:solidFill>
                <a:latin typeface="Arial"/>
              </a:rPr>
              <a:t>   Algorithmic penalty scoring correlating routing delays with contract LD clauses (protecting 1–3% margin).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847088"/>
            <a:ext cx="34290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901952"/>
            <a:ext cx="3319272" cy="475488"/>
          </a:xfrm>
          <a:prstGeom prst="roundRect">
            <a:avLst/>
          </a:prstGeom>
          <a:solidFill>
            <a:srgbClr val="EBFB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/>
          <a:lstStyle/>
          <a:p>
            <a:pPr algn="ctr">
              <a:defRPr sz="819" b="1">
                <a:solidFill>
                  <a:srgbClr val="00B4D8"/>
                </a:solidFill>
                <a:latin typeface="Arial"/>
              </a:defRPr>
            </a:pPr>
            <a:r>
              <a:t>COCKPIT 2: PROCUREMENT 52-WEEK PIPELINE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6 Dedicated Reports (4 Core + 2 Strategic) | Sourcing &amp; Job-Work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432304"/>
            <a:ext cx="3337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00B4D8"/>
                </a:solidFill>
                <a:latin typeface="Arial"/>
              </a:rPr>
              <a:t>• 2.1 52-Week Sourcing Pipeline &amp; PO Releases
</a:t>
            </a:r>
            <a:r>
              <a:rPr sz="680" b="0">
                <a:solidFill>
                  <a:srgbClr val="64748B"/>
                </a:solidFill>
                <a:latin typeface="Arial"/>
              </a:rPr>
              <a:t>   Forward rolling demand vs. confirmed POs, uncommitted PR gaps, and purchase budget adherence.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00B4D8"/>
                </a:solidFill>
                <a:latin typeface="Arial"/>
              </a:rPr>
              <a:t>• 2.2 Component-to-Part Traceability &amp; Program Lineage
</a:t>
            </a:r>
            <a:r>
              <a:rPr sz="680" b="0">
                <a:solidFill>
                  <a:srgbClr val="64748B"/>
                </a:solidFill>
                <a:latin typeface="Arial"/>
              </a:rPr>
              <a:t>   Multi-tier BOM lineage mapping open PO lines directly to SFG/FG and end-customer defense programs.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00B4D8"/>
                </a:solidFill>
                <a:latin typeface="Arial"/>
              </a:rPr>
              <a:t>• 2.3 Vendor Concentration &amp; Lead-Time Volatility
</a:t>
            </a:r>
            <a:r>
              <a:rPr sz="680" b="0">
                <a:solidFill>
                  <a:srgbClr val="64748B"/>
                </a:solidFill>
                <a:latin typeface="Arial"/>
              </a:rPr>
              <a:t>   Herfindahl spend concentration (HHI), quoted vs. actual lead-time drift, and supplier scorecards.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00B4D8"/>
                </a:solidFill>
                <a:latin typeface="Arial"/>
              </a:rPr>
              <a:t>• 2.4 Subcontractor Job-Work &amp; Special Stock 'O'
</a:t>
            </a:r>
            <a:r>
              <a:rPr sz="680" b="0">
                <a:solidFill>
                  <a:srgbClr val="64748B"/>
                </a:solidFill>
                <a:latin typeface="Arial"/>
              </a:rPr>
              <a:t>   Materials issued to platers/heattreaters (541/542), vendor possession aging, outside processing valuation.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D97706"/>
                </a:solidFill>
                <a:latin typeface="Arial"/>
              </a:rPr>
              <a:t>• 2.5 [Strategic] Subcontractor TAT &amp; Stage Yield/Scrap
</a:t>
            </a:r>
            <a:r>
              <a:rPr sz="680" b="0">
                <a:solidFill>
                  <a:srgbClr val="0F172A"/>
                </a:solidFill>
                <a:latin typeface="Arial"/>
              </a:rPr>
              <a:t>   Outside cycle times (TAT) and stage yield loss at external job-workers to stop untracked material bleed.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D97706"/>
                </a:solidFill>
                <a:latin typeface="Arial"/>
              </a:rPr>
              <a:t>• 2.6 [Strategic] Critical Path Component Shortage Predictor
</a:t>
            </a:r>
            <a:r>
              <a:rPr sz="680" b="0">
                <a:solidFill>
                  <a:srgbClr val="0F172A"/>
                </a:solidFill>
                <a:latin typeface="Arial"/>
              </a:rPr>
              <a:t>   Predictive heuristic flagging items with lead times &gt;16 wks before buffer stock breaches safety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847088"/>
            <a:ext cx="34290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901952"/>
            <a:ext cx="3319272" cy="475488"/>
          </a:xfrm>
          <a:prstGeom prst="roundRect">
            <a:avLst/>
          </a:prstGeom>
          <a:solidFill>
            <a:srgbClr val="F8F4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/>
          <a:lstStyle/>
          <a:p>
            <a:pPr algn="ctr">
              <a:defRPr sz="819" b="1">
                <a:solidFill>
                  <a:srgbClr val="7C3AED"/>
                </a:solidFill>
                <a:latin typeface="Arial"/>
              </a:defRPr>
            </a:pPr>
            <a:r>
              <a:t>COCKPIT 3: MANUFACTURING &amp; BATCH COSTING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6 Dedicated Reports (4 Core + 2 Strategic) | Operations &amp;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432304"/>
            <a:ext cx="33375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30" b="1">
                <a:solidFill>
                  <a:srgbClr val="7C3AED"/>
                </a:solidFill>
                <a:latin typeface="Arial"/>
              </a:rPr>
              <a:t>• 3.1 Pre-Release MRP Kitting Readiness Gate
</a:t>
            </a:r>
            <a:r>
              <a:rPr sz="680" b="0">
                <a:solidFill>
                  <a:srgbClr val="64748B"/>
                </a:solidFill>
                <a:latin typeface="Arial"/>
              </a:rPr>
              <a:t>   Automated 100% component availability validation prior to releasing production orders (RESB/AFPO).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7C3AED"/>
                </a:solidFill>
                <a:latin typeface="Arial"/>
              </a:rPr>
              <a:t>• 3.2 Batch Costing Variance Engine (Actual vs. Std BOM)
</a:t>
            </a:r>
            <a:r>
              <a:rPr sz="680" b="0">
                <a:solidFill>
                  <a:srgbClr val="64748B"/>
                </a:solidFill>
                <a:latin typeface="Arial"/>
              </a:rPr>
              <a:t>   Material price/usage variance, confirmed machine/labor hours (AFRU) vs. standard routing.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7C3AED"/>
                </a:solidFill>
                <a:latin typeface="Arial"/>
              </a:rPr>
              <a:t>• 3.3 Work-Center Utilization (OEE) &amp; Line Throughput
</a:t>
            </a:r>
            <a:r>
              <a:rPr sz="680" b="0">
                <a:solidFill>
                  <a:srgbClr val="64748B"/>
                </a:solidFill>
                <a:latin typeface="Arial"/>
              </a:rPr>
              <a:t>   CNC machine capacity loading, queue bottleneck telemetry across winding, machining, and testing.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7C3AED"/>
                </a:solidFill>
                <a:latin typeface="Arial"/>
              </a:rPr>
              <a:t>• 3.4 Shift Operations &amp; Daily Floor Telemetry
</a:t>
            </a:r>
            <a:r>
              <a:rPr sz="680" b="0">
                <a:solidFill>
                  <a:srgbClr val="64748B"/>
                </a:solidFill>
                <a:latin typeface="Arial"/>
              </a:rPr>
              <a:t>   Hourly operator confirmation velocity, machine setup vs. run ratios, and QA dispatch readiness.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D97706"/>
                </a:solidFill>
                <a:latin typeface="Arial"/>
              </a:rPr>
              <a:t>• 3.5 [Strategic] Cost of Poor Quality (COPQ) Scrap Leakage
</a:t>
            </a:r>
            <a:r>
              <a:rPr sz="680" b="0">
                <a:solidFill>
                  <a:srgbClr val="0F172A"/>
                </a:solidFill>
                <a:latin typeface="Arial"/>
              </a:rPr>
              <a:t>   Inspection defect logging (551/552) attributed to work centers, tool sets, and shifts (2–4% margin recovery).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30" b="1">
                <a:solidFill>
                  <a:srgbClr val="D97706"/>
                </a:solidFill>
                <a:latin typeface="Arial"/>
              </a:rPr>
              <a:t>• 3.6 [Strategic] WIP Valuation &amp; In-Process Ageing Matrix
</a:t>
            </a:r>
            <a:r>
              <a:rPr sz="680" b="0">
                <a:solidFill>
                  <a:srgbClr val="0F172A"/>
                </a:solidFill>
                <a:latin typeface="Arial"/>
              </a:rPr>
              <a:t>   Financial valuation of stalled semi-finished stock categorized by dwelling age (&lt;15, 16–30, 31–60, &gt;60 days).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98464"/>
            <a:ext cx="10728655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b="1" sz="750">
                <a:solidFill>
                  <a:srgbClr val="0066CC"/>
                </a:solidFill>
              </a:rPr>
              <a:t>COMPLETE 4-LAYER TURNKEY STACK PER REPORT: </a:t>
            </a:r>
            <a:r>
              <a:rPr b="0" sz="720">
                <a:solidFill>
                  <a:srgbClr val="0F172A"/>
                </a:solidFill>
              </a:rPr>
              <a:t>All 18 reports include: ① SAP HANA Push-Down Calculation Views  |  ② Power BI DirectQuery Interactive Semantic Models  |  ③ ACDOCA / MATDOC GL Reconciliation  |  ④ Dynamic Role-Based Security (RLS) &amp; UAT Sign-Off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GOVERNANCE &amp; IMPACT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The 5 W’s Strategic Evaluation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Mapping Organizational Personas, Data Entities, Cadences, and P&amp;L/EBITDA Drivers across Cockpits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286000"/>
                <a:gridCol w="1463040"/>
                <a:gridCol w="1828800"/>
                <a:gridCol w="1858975"/>
              </a:tblGrid>
              <a:tr h="1165860">
                <a:tc>
                  <a:txBody>
                    <a:bodyPr wrap="square" lIns="73152" rIns="73152"/>
                    <a:lstStyle/>
                    <a:p>
                      <a:pPr>
                        <a:defRPr sz="850" b="1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COCKPIT / MODULE</a:t>
                      </a:r>
                    </a:p>
                  </a:txBody>
                  <a:tcPr>
                    <a:solidFill>
                      <a:srgbClr val="151F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50" b="1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WHO (Personas)</a:t>
                      </a:r>
                    </a:p>
                  </a:txBody>
                  <a:tcPr>
                    <a:solidFill>
                      <a:srgbClr val="151F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50" b="1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WHAT (Core Metrics &amp; Scope)</a:t>
                      </a:r>
                    </a:p>
                  </a:txBody>
                  <a:tcPr>
                    <a:solidFill>
                      <a:srgbClr val="151F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50" b="1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WHEN (Cadence)</a:t>
                      </a:r>
                    </a:p>
                  </a:txBody>
                  <a:tcPr>
                    <a:solidFill>
                      <a:srgbClr val="151F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50" b="1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WHERE (S/4HANA Tables)</a:t>
                      </a:r>
                    </a:p>
                  </a:txBody>
                  <a:tcPr>
                    <a:solidFill>
                      <a:srgbClr val="151F3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50" b="1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WHY (EBITDA &amp; Cash Impact)</a:t>
                      </a:r>
                    </a:p>
                  </a:txBody>
                  <a:tcPr>
                    <a:solidFill>
                      <a:srgbClr val="151F3C"/>
                    </a:solidFill>
                  </a:tcPr>
                </a:tc>
              </a:tr>
              <a:tr h="1165860">
                <a:tc>
                  <a:txBody>
                    <a:bodyPr wrap="square" lIns="73152" rIns="73152"/>
                    <a:lstStyle/>
                    <a:p>
                      <a:pPr>
                        <a:defRPr sz="800" b="1">
                          <a:solidFill>
                            <a:srgbClr val="0066CC"/>
                          </a:solidFill>
                          <a:latin typeface="Arial"/>
                        </a:defRPr>
                      </a:pPr>
                      <a:r>
                        <a:t>Dashboard 1: Cash Flow &amp; Fulfillment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CFO, VP Finance, Commercial Director, CEO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Scheduled dispatches vs. SLAs, Inbound materials, AP/AR aging, Liquidity Runway simulation, LD penalty exposure.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Daily 06:00 AM &amp; Intraday on-demand before bank clearing runs.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ACDOCA, BSID, BSIK, VBAK, VBAP, LIKP, LIPS.</a:t>
                      </a:r>
                      <a:br/>
                      <a:r>
                        <a:t>DirectQuery 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Accelerates Free Cash Flow; captures cash discounts; eliminates 1-3% revenue loss from liquidated damages.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65860">
                <a:tc>
                  <a:txBody>
                    <a:bodyPr wrap="square" lIns="73152" rIns="73152"/>
                    <a:lstStyle/>
                    <a:p>
                      <a:pPr>
                        <a:defRPr sz="800" b="1">
                          <a:solidFill>
                            <a:srgbClr val="0066CC"/>
                          </a:solidFill>
                          <a:latin typeface="Arial"/>
                        </a:defRPr>
                      </a:pPr>
                      <a:r>
                        <a:t>Dashboard 2: 52-Week Sourcing Pipeline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CPO, VP Supply Chain, Lead Commodity Buyers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52-week PO releases vs. demand, Component-to-part traceability, Vendor concentration, Subcontractor TAT/Yield, Shortage predictor.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Daily morning refresh; Weekly rolling 52-week planning cycle.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EKKO, EKPO, EKET, EKKN, EBAN, LFA1, MSEG (541/542).</a:t>
                      </a:r>
                      <a:br/>
                      <a:r>
                        <a:t>Star-Join Cube.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Prevents spot freight premiums; mitigates single-source supplier risks; recovers lost job-work material.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65860">
                <a:tc>
                  <a:txBody>
                    <a:bodyPr wrap="square" lIns="73152" rIns="73152"/>
                    <a:lstStyle/>
                    <a:p>
                      <a:pPr>
                        <a:defRPr sz="800" b="1">
                          <a:solidFill>
                            <a:srgbClr val="0066CC"/>
                          </a:solidFill>
                          <a:latin typeface="Arial"/>
                        </a:defRPr>
                      </a:pPr>
                      <a:r>
                        <a:t>Dashboard 3: Manufacturing &amp; Batch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COO, VP Operations, Plant Directors, Cost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Full-kitting readiness %, Batch actual vs. standard cost variance, Line utilization (OEE), COPQ scrap drill-down, WIP aging.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Shift-wise (3x daily) for kitting; Daily for batch cost &amp; scrap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AFKO, AFPO, AFRU, RESB, AUFM, CKIS, KEPH, QALS.</a:t>
                      </a:r>
                      <a:br/>
                      <a:r>
                        <a:t>In-memory Cube.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Releases 10-18% trapped WIP; prevents missing-part line halts; recovers 2-4% gross margin leakage from scrap.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TECHNICAL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Deep Database Internals: The Engineering Rigor Behind the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Establishing why enterprise-grade S/4HANA analytics demands specialized database in-memory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0066CC"/>
                </a:solidFill>
                <a:latin typeface="Arial"/>
              </a:defRPr>
            </a:pPr>
            <a:r>
              <a:t>In-Memory Star-Joins &amp; Recursive BOMs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Multi-Tier BOM Traversal: </a:t>
            </a:r>
            <a:r>
              <a:rPr b="0" sz="819">
                <a:solidFill>
                  <a:srgbClr val="94A3B8"/>
                </a:solidFill>
              </a:rPr>
              <a:t>Hical's electromechanical assemblies feature 6-10 level indented BOMs. Recursive calculation views process parent-child links in milliseconds, avoiding memory overflow.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Cartesian Elimination: </a:t>
            </a:r>
            <a:r>
              <a:rPr b="0" sz="819">
                <a:solidFill>
                  <a:srgbClr val="94A3B8"/>
                </a:solidFill>
              </a:rPr>
              <a:t>Joining material movements (MATDOC/MSEG/AUFM) with confirmations (AFRU) creates millions of records. Push-down projection filters isolate relevant subsets prior to joining.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Columnar Store Pruning: </a:t>
            </a:r>
            <a:r>
              <a:rPr b="0" sz="819">
                <a:solidFill>
                  <a:srgbClr val="94A3B8"/>
                </a:solidFill>
              </a:rPr>
              <a:t>Leveraging SAP HANA's columnar dictionary and partition pruning to achieve sub-second execution across dense manufacturing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00B4D8"/>
                </a:solidFill>
                <a:latin typeface="Arial"/>
              </a:defRPr>
            </a:pPr>
            <a:r>
              <a:t>S/4HANA Production Safety &amp; Isolation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Zero OLTP Degradation: </a:t>
            </a:r>
            <a:r>
              <a:rPr b="0" sz="819">
                <a:solidFill>
                  <a:srgbClr val="94A3B8"/>
                </a:solidFill>
              </a:rPr>
              <a:t>Analytical queries generated by Power BI must never cause row locks, table locks, or CPU starvation for live transactional users on the factory floor.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Workload Management (WLM): </a:t>
            </a:r>
            <a:r>
              <a:rPr b="0" sz="819">
                <a:solidFill>
                  <a:srgbClr val="94A3B8"/>
                </a:solidFill>
              </a:rPr>
              <a:t>Configuring dedicated HANA DB user classes and resource limits to cap memory allocation and thread execution for analytics.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Dual-Mode Aggregations: </a:t>
            </a:r>
            <a:r>
              <a:rPr b="0" sz="819">
                <a:solidFill>
                  <a:srgbClr val="94A3B8"/>
                </a:solidFill>
              </a:rPr>
              <a:t>Power BI composite models cache summarized metrics in memory while routing granular drill-through queries via DirectQuery only when filtered.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Audit-Grade Financial &amp; Operational Harmony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The 'Two-Book' Problem: </a:t>
            </a:r>
            <a:r>
              <a:rPr b="0" sz="819">
                <a:solidFill>
                  <a:srgbClr val="94A3B8"/>
                </a:solidFill>
              </a:rPr>
              <a:t>Factory floor logs frequently diverge from financial ledgers due to timing delays, scrap accruals, and manual journal postings.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Harmonization with ACDOCA: </a:t>
            </a:r>
            <a:r>
              <a:rPr b="0" sz="819">
                <a:solidFill>
                  <a:srgbClr val="94A3B8"/>
                </a:solidFill>
              </a:rPr>
              <a:t>Every rupee reported in cash flow, inventory valuation, and batch costing is programmatically reconciled against the Universal Journal (ACDOCA).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Subledger Alignment: </a:t>
            </a:r>
            <a:r>
              <a:rPr b="0" sz="819">
                <a:solidFill>
                  <a:srgbClr val="94A3B8"/>
                </a:solidFill>
              </a:rPr>
              <a:t>Automated cross-checking between vendor balances (BSIK), customer receivables (BSID), and costing sheets (CKIS/KEPH) guarantees audit sign-off.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PROJECT TIMELINE &amp; PHASING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10-Week Agile Implementation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Disciplined 5-phase delivery framework ensuring rapid time-to-value, rigorous validation, and zero production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0066CC"/>
                </a:solidFill>
                <a:latin typeface="Arial"/>
              </a:defRPr>
            </a:pPr>
            <a:r>
              <a:t>PHASE 1: BLUEPRINT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Weeks 1–2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KPI Workshops: </a:t>
            </a:r>
            <a:r>
              <a:rPr b="0" sz="780">
                <a:solidFill>
                  <a:srgbClr val="64748B"/>
                </a:solidFill>
              </a:rPr>
              <a:t>Alignment with CFO, COO, CPO &amp; Plant Heads on formulas.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Calculation Blueprint: </a:t>
            </a:r>
            <a:r>
              <a:rPr b="0" sz="780">
                <a:solidFill>
                  <a:srgbClr val="64748B"/>
                </a:solidFill>
              </a:rPr>
              <a:t>Documenting field-level logic and transformation rules.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Environment Verification: </a:t>
            </a:r>
            <a:r>
              <a:rPr b="0" sz="780">
                <a:solidFill>
                  <a:srgbClr val="64748B"/>
                </a:solidFill>
              </a:rPr>
              <a:t>HANA DB user permissions &amp; Power BI gateway checks.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0066CC"/>
                </a:solidFill>
              </a:rPr>
              <a:t>Gate 1: Metric Blueprint Sign-Off (25% Milestone)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PHASE 2: HANA VIEWS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Weeks 3–5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Star-Join Modeling: </a:t>
            </a:r>
            <a:r>
              <a:rPr b="0" sz="780">
                <a:solidFill>
                  <a:srgbClr val="64748B"/>
                </a:solidFill>
              </a:rPr>
              <a:t>Building Calculation Views in SAP HANA Studio/Web IDE.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Recursive BOM Logic: </a:t>
            </a:r>
            <a:r>
              <a:rPr b="0" sz="780">
                <a:solidFill>
                  <a:srgbClr val="64748B"/>
                </a:solidFill>
              </a:rPr>
              <a:t>Implementing multi-level indented BOM SQLScript logic.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WLM &amp; Performance: </a:t>
            </a:r>
            <a:r>
              <a:rPr b="0" sz="780">
                <a:solidFill>
                  <a:srgbClr val="64748B"/>
                </a:solidFill>
              </a:rPr>
              <a:t>Workload management configuration and query tuning.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00B4D8"/>
                </a:solidFill>
              </a:rPr>
              <a:t>Gate 2: Calculation Views Validated (35% Milestone)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PHASE 3: POWER BI MODELING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Weeks 5–7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Semantic Model Design: </a:t>
            </a:r>
            <a:r>
              <a:rPr b="0" sz="780">
                <a:solidFill>
                  <a:srgbClr val="64748B"/>
                </a:solidFill>
              </a:rPr>
              <a:t>Building DirectQuery/dual-mode relationships in Power BI.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Advanced DAX Layer: </a:t>
            </a:r>
            <a:r>
              <a:rPr b="0" sz="780">
                <a:solidFill>
                  <a:srgbClr val="64748B"/>
                </a:solidFill>
              </a:rPr>
              <a:t>Implementing Liquidity Runway, LD risk, and COPQ logic.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Executive UI/UX Design: </a:t>
            </a:r>
            <a:r>
              <a:rPr b="0" sz="780">
                <a:solidFill>
                  <a:srgbClr val="64748B"/>
                </a:solidFill>
              </a:rPr>
              <a:t>Crafting intuitive, board-ready dark/light interfaces.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7C3AED"/>
                </a:solidFill>
              </a:rPr>
              <a:t>Review: Interactive Alpha/Beta Dashboard Walkthrough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F59E0B"/>
                </a:solidFill>
                <a:latin typeface="Arial"/>
              </a:defRPr>
            </a:pPr>
            <a:r>
              <a:t>PHASE 4: RECONCILIATION &amp; UAT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Weeks 7–8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Financial Reconciliation: </a:t>
            </a:r>
            <a:r>
              <a:rPr b="0" sz="780">
                <a:solidFill>
                  <a:srgbClr val="64748B"/>
                </a:solidFill>
              </a:rPr>
              <a:t>3-way tie-out between shop floor (MSEG) and GL (ACDOCA).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User Acceptance Testing: </a:t>
            </a:r>
            <a:r>
              <a:rPr b="0" sz="780">
                <a:solidFill>
                  <a:srgbClr val="64748B"/>
                </a:solidFill>
              </a:rPr>
              <a:t>Rigorous validation with Finance &amp; Operations teams.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Concurrency Stress Test: </a:t>
            </a:r>
            <a:r>
              <a:rPr b="0" sz="780">
                <a:solidFill>
                  <a:srgbClr val="64748B"/>
                </a:solidFill>
              </a:rPr>
              <a:t>Validating sub-second response times under peak load.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F59E0B"/>
                </a:solidFill>
              </a:rPr>
              <a:t>Gate 3: Formal Business UAT Sign-Off (25% Milestone)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463040"/>
            <a:ext cx="1965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PHASE 5: CUTOVER &amp; GO-LIVE</a:t>
            </a:r>
          </a:p>
          <a:p>
            <a:pPr>
              <a:spcAft>
                <a:spcPts val="800"/>
              </a:spcAft>
              <a:defRPr sz="850" b="1">
                <a:solidFill>
                  <a:srgbClr val="0F172A"/>
                </a:solidFill>
              </a:defRPr>
            </a:pPr>
            <a:r>
              <a:t>Weeks 9–10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Gateway Deployment: </a:t>
            </a:r>
            <a:r>
              <a:rPr b="0" sz="780">
                <a:solidFill>
                  <a:srgbClr val="64748B"/>
                </a:solidFill>
              </a:rPr>
              <a:t>Publishing semantic models to Power BI Service.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Security &amp; RLS Rollout: </a:t>
            </a:r>
            <a:r>
              <a:rPr b="0" sz="780">
                <a:solidFill>
                  <a:srgbClr val="64748B"/>
                </a:solidFill>
              </a:rPr>
              <a:t>Dynamic role-based security mapped to SAP authorizations.</a:t>
            </a:r>
          </a:p>
          <a:p>
            <a:pPr>
              <a:spcAft>
                <a:spcPts val="500"/>
              </a:spcAft>
            </a:pPr>
            <a:r>
              <a:rPr b="1" sz="800">
                <a:solidFill>
                  <a:srgbClr val="0F172A"/>
                </a:solidFill>
              </a:rPr>
              <a:t>• CXO Handover &amp; Training: </a:t>
            </a:r>
            <a:r>
              <a:rPr b="0" sz="780">
                <a:solidFill>
                  <a:srgbClr val="64748B"/>
                </a:solidFill>
              </a:rPr>
              <a:t>Executive enablement workshops, SOPs, and project closure.</a:t>
            </a:r>
          </a:p>
          <a:p>
            <a:pPr>
              <a:spcBef>
                <a:spcPts val="1200"/>
              </a:spcBef>
            </a:pPr>
            <a:r>
              <a:rPr b="1" sz="780">
                <a:solidFill>
                  <a:srgbClr val="10B981"/>
                </a:solidFill>
              </a:rPr>
              <a:t>Gate 4: Production Go-Live &amp; Handover (15% Milestone)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AGILE SPRINT DELIVERY | ₹10,00,000 PER COCKPIT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Sequential Cockpit Commercial Framework &amp; Sprint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Developing One Cockpit After Another — and Within Each Cockpit, One Report After Another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3977639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00" b="1">
                <a:solidFill>
                  <a:srgbClr val="0066CC"/>
                </a:solidFill>
                <a:latin typeface="Arial"/>
              </a:defRPr>
            </a:pPr>
            <a:r>
              <a:t>SPRINT 1: COCKPIT 1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</a:defRPr>
            </a:pPr>
            <a:r>
              <a:t>Cash Flow &amp; Fulfillment (₹10.0L | W1–W4)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Sequential Report Build: </a:t>
            </a:r>
            <a:r>
              <a:rPr b="0" sz="780">
                <a:solidFill>
                  <a:srgbClr val="94A3B8"/>
                </a:solidFill>
              </a:rPr>
              <a:t>1. Scheduled Dispatches → 2. Inbound Logistics → 3. AP Liability Aging → 4. AR Collection Inflows.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Embedded Enhancements: </a:t>
            </a:r>
            <a:r>
              <a:rPr b="0" sz="780">
                <a:solidFill>
                  <a:srgbClr val="94A3B8"/>
                </a:solidFill>
              </a:rPr>
              <a:t>Net Liquidity Runway Simulator + Late Delivery LD Penalty Tracker embedded on same screens.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Full SOW Layers Included: </a:t>
            </a:r>
            <a:r>
              <a:rPr b="0" sz="780">
                <a:solidFill>
                  <a:srgbClr val="94A3B8"/>
                </a:solidFill>
              </a:rPr>
              <a:t>HANA Views (₹4.5L) + Power BI &amp; DAX (₹3.5L) + Financial Reconciliation (₹1.2L) + UAT/RLS (₹0.8L).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Sprint 1 Milestone Gate: </a:t>
            </a:r>
            <a:r>
              <a:rPr b="0" sz="780">
                <a:solidFill>
                  <a:srgbClr val="94A3B8"/>
                </a:solidFill>
              </a:rPr>
              <a:t>Complete functional sign-off &amp; production cutover of Cockpit 1 before Sprint 2 commences.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17320"/>
            <a:ext cx="3429000" cy="3977639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00" b="1">
                <a:solidFill>
                  <a:srgbClr val="00B4D8"/>
                </a:solidFill>
                <a:latin typeface="Arial"/>
              </a:defRPr>
            </a:pPr>
            <a:r>
              <a:t>SPRINT 2: COCKPIT 2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</a:defRPr>
            </a:pPr>
            <a:r>
              <a:t>52-Week Procurement Pipeline (₹10.0L | W4–W7)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D97706"/>
                </a:solidFill>
              </a:rPr>
              <a:t>Sequential Report Build: </a:t>
            </a:r>
            <a:r>
              <a:rPr b="0" sz="780">
                <a:solidFill>
                  <a:srgbClr val="94A3B8"/>
                </a:solidFill>
              </a:rPr>
              <a:t>1. Planned PO Releases → 2. Confirmed POs → 3. Part Traceability → 4. Vendor Load → 5. Subcontractor Special Stock 'O'.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D97706"/>
                </a:solidFill>
              </a:rPr>
              <a:t>Embedded Enhancements: </a:t>
            </a:r>
            <a:r>
              <a:rPr b="0" sz="780">
                <a:solidFill>
                  <a:srgbClr val="94A3B8"/>
                </a:solidFill>
              </a:rPr>
              <a:t>Subcontractor TAT/Yield Loss Tracker + Critical Component Shortage Predictor.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D97706"/>
                </a:solidFill>
              </a:rPr>
              <a:t>Full SOW Layers Included: </a:t>
            </a:r>
            <a:r>
              <a:rPr b="0" sz="780">
                <a:solidFill>
                  <a:srgbClr val="94A3B8"/>
                </a:solidFill>
              </a:rPr>
              <a:t>HANA Views (₹4.5L) + Power BI &amp; DAX (₹3.5L) + PO Commitment Reconciliation (₹1.2L) + UAT/RLS (₹0.8L).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D97706"/>
                </a:solidFill>
              </a:rPr>
              <a:t>Sprint 2 Milestone Gate: </a:t>
            </a:r>
            <a:r>
              <a:rPr b="0" sz="780">
                <a:solidFill>
                  <a:srgbClr val="94A3B8"/>
                </a:solidFill>
              </a:rPr>
              <a:t>Complete procurement sign-off &amp; production cutover of Cockpit 2 before Sprint 3 commences.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17320"/>
            <a:ext cx="3429000" cy="3977639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00" b="1">
                <a:solidFill>
                  <a:srgbClr val="7C3AED"/>
                </a:solidFill>
                <a:latin typeface="Arial"/>
              </a:defRPr>
            </a:pPr>
            <a:r>
              <a:t>SPRINT 3: COCKPIT 3</a:t>
            </a:r>
          </a:p>
          <a:p>
            <a:pPr>
              <a:spcAft>
                <a:spcPts val="800"/>
              </a:spcAft>
              <a:defRPr sz="850" b="1">
                <a:solidFill>
                  <a:srgbClr val="F8FAFC"/>
                </a:solidFill>
              </a:defRPr>
            </a:pPr>
            <a:r>
              <a:t>Manufacturing &amp; Batch Costing (₹10.0L | W7–W10)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Sequential Report Build: </a:t>
            </a:r>
            <a:r>
              <a:rPr b="0" sz="780">
                <a:solidFill>
                  <a:srgbClr val="94A3B8"/>
                </a:solidFill>
              </a:rPr>
              <a:t>1. MRP Kitting Readiness → 2. Batch Cost Actual vs. Standard → 3. Work-Center OEE &amp; Line Throughput.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Embedded Enhancements: </a:t>
            </a:r>
            <a:r>
              <a:rPr b="0" sz="780">
                <a:solidFill>
                  <a:srgbClr val="94A3B8"/>
                </a:solidFill>
              </a:rPr>
              <a:t>Cost of Poor Quality (COPQ) Scrap Leakage Engine + WIP Valuation &amp; Ageing Matrix.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Full SOW Layers Included: </a:t>
            </a:r>
            <a:r>
              <a:rPr b="0" sz="780">
                <a:solidFill>
                  <a:srgbClr val="94A3B8"/>
                </a:solidFill>
              </a:rPr>
              <a:t>HANA Recursive BOM Views (₹4.5L) + Power BI &amp; DAX (₹3.5L) + Cost Reconciliation (₹1.2L) + UAT/RLS (₹0.8L).</a:t>
            </a:r>
          </a:p>
          <a:p>
            <a:pPr>
              <a:spcAft>
                <a:spcPts val="500"/>
              </a:spcAft>
            </a:pPr>
            <a:r>
              <a:rPr b="1" sz="819">
                <a:solidFill>
                  <a:srgbClr val="00B4D8"/>
                </a:solidFill>
              </a:rPr>
              <a:t>Sprint 3 Milestone Gate: </a:t>
            </a:r>
            <a:r>
              <a:rPr b="0" sz="780">
                <a:solidFill>
                  <a:srgbClr val="94A3B8"/>
                </a:solidFill>
              </a:rPr>
              <a:t>Complete operations UAT sign-off, dynamic RLS rollout, executive training, and final handover.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51F3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spcAft>
                <a:spcPts val="2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SEQUENTIAL SPRINT DELIVERY &amp; BILLING: ₹10,00,000 PER COCKPIT SUITE (₹30,00,000 TOTAL)</a:t>
            </a:r>
          </a:p>
          <a:p>
            <a:r>
              <a:rPr b="1" sz="819">
                <a:solidFill>
                  <a:srgbClr val="F8FAFC"/>
                </a:solidFill>
              </a:rPr>
              <a:t>• Sprint 1 (Weeks 1–4): </a:t>
            </a:r>
            <a:r>
              <a:rPr sz="800">
                <a:solidFill>
                  <a:srgbClr val="94A3B8"/>
                </a:solidFill>
              </a:rPr>
              <a:t>Cockpit 1 Delivered Report-by-Report → UAT &amp; Live (₹10.0L)  |  </a:t>
            </a:r>
            <a:r>
              <a:rPr b="1" sz="819">
                <a:solidFill>
                  <a:srgbClr val="F8FAFC"/>
                </a:solidFill>
              </a:rPr>
              <a:t>• Sprint 2 (Weeks 4–7): </a:t>
            </a:r>
            <a:r>
              <a:rPr sz="800">
                <a:solidFill>
                  <a:srgbClr val="94A3B8"/>
                </a:solidFill>
              </a:rPr>
              <a:t>Cockpit 2 Delivered Report-by-Report → UAT &amp; Live (₹10.0L)  |  </a:t>
            </a:r>
            <a:r>
              <a:rPr b="1" sz="819">
                <a:solidFill>
                  <a:srgbClr val="F8FAFC"/>
                </a:solidFill>
              </a:rPr>
              <a:t>• Sprint 3 (Weeks 7–10): </a:t>
            </a:r>
            <a:r>
              <a:rPr sz="800">
                <a:solidFill>
                  <a:srgbClr val="94A3B8"/>
                </a:solidFill>
              </a:rPr>
              <a:t>Cockpit 3 Delivered Report-by-Report → Final Handover (₹10.0L)</a:t>
            </a:r>
          </a:p>
          <a:p>
            <a:pPr>
              <a:spcBef>
                <a:spcPts val="200"/>
              </a:spcBef>
            </a:pPr>
            <a:r>
              <a:rPr sz="780" i="1">
                <a:solidFill>
                  <a:srgbClr val="00B4D8"/>
                </a:solidFill>
              </a:rPr>
              <a:t>Sprint Milestone Tranches (per Cockpit): 25% Sprint Blueprint &amp; Scope | 50% HANA Views &amp; Reports Built | 25% Sprint UAT &amp; Go-Live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CONTRACTUAL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Commercial Terms &amp; Conditions of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64748B"/>
                </a:solidFill>
                <a:latin typeface="Arial"/>
              </a:defRPr>
            </a:pPr>
            <a:r>
              <a:t>Formal commercial, delivery, intellectual property, and warranty 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66CC"/>
                </a:solidFill>
                <a:latin typeface="Arial"/>
              </a:defRPr>
            </a:pPr>
            <a:r>
              <a:t>1. Commercial Pricing &amp; Taxes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Proposal Validity: </a:t>
            </a:r>
            <a:r>
              <a:rPr b="0" sz="800">
                <a:solidFill>
                  <a:srgbClr val="64748B"/>
                </a:solidFill>
              </a:rPr>
              <a:t>Commercial pricing of ₹10,00,000 INR per report (₹30,00,000 INR total) is valid for 30 calendar days from presentation.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Tax Treatment: </a:t>
            </a:r>
            <a:r>
              <a:rPr b="0" sz="800">
                <a:solidFill>
                  <a:srgbClr val="64748B"/>
                </a:solidFill>
              </a:rPr>
              <a:t>All professional fees are quoted exclusive of statutory levies. Goods &amp; Services Tax (GST @ 18%) applies extra on all invoices.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Fixed-Price Commitment: </a:t>
            </a:r>
            <a:r>
              <a:rPr b="0" sz="800">
                <a:solidFill>
                  <a:srgbClr val="64748B"/>
                </a:solidFill>
              </a:rPr>
              <a:t>Turnkey professional services delivery guarantees zero billing escalation for the agreed scope of work.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Out-of-Pocket Expenses: </a:t>
            </a:r>
            <a:r>
              <a:rPr b="0" sz="800">
                <a:solidFill>
                  <a:srgbClr val="64748B"/>
                </a:solidFill>
              </a:rPr>
              <a:t>Client visits within Bengaluru are included. Any specialized outstation travel, if requested, billed on actuals with prior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2375" y="146304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0B4D8"/>
                </a:solidFill>
                <a:latin typeface="Arial"/>
              </a:defRPr>
            </a:pPr>
            <a:r>
              <a:t>2. Milestone Invoicing &amp; Payment Terms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Invoicing Triggers: </a:t>
            </a:r>
            <a:r>
              <a:rPr b="0" sz="800">
                <a:solidFill>
                  <a:srgbClr val="64748B"/>
                </a:solidFill>
              </a:rPr>
              <a:t>Invoices raised strictly upon written sign-off of defined milestone deliverables (Blueprint, Views, UAT, Go-Live).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Credit Period: </a:t>
            </a:r>
            <a:r>
              <a:rPr b="0" sz="800">
                <a:solidFill>
                  <a:srgbClr val="64748B"/>
                </a:solidFill>
              </a:rPr>
              <a:t>All approved milestone invoices payable within 15 business days from the date of formal electronic submission.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Independent Report Billing: </a:t>
            </a:r>
            <a:r>
              <a:rPr b="0" sz="800">
                <a:solidFill>
                  <a:srgbClr val="64748B"/>
                </a:solidFill>
              </a:rPr>
              <a:t>Reports can progress and be invoiced modularly, allowing rapid deployment of completed cockpits.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Mobilization Advance: </a:t>
            </a:r>
            <a:r>
              <a:rPr b="0" sz="800">
                <a:solidFill>
                  <a:srgbClr val="64748B"/>
                </a:solidFill>
              </a:rPr>
              <a:t>Milestone 1 invoice (25%) payable upon project agreement execution prior to Week 1 workshop kickoff.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F59E0B"/>
                </a:solidFill>
                <a:latin typeface="Arial"/>
              </a:defRPr>
            </a:pPr>
            <a:r>
              <a:t>3. Scope Boundaries &amp; Change Requests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Scope Baseline: </a:t>
            </a:r>
            <a:r>
              <a:rPr b="0" sz="800">
                <a:solidFill>
                  <a:srgbClr val="64748B"/>
                </a:solidFill>
              </a:rPr>
              <a:t>Strictly bounded to the 3 named CXO cockpits and S/4HANA tables specified in the Metric Calculation Blueprint.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Out-of-Scope Items: </a:t>
            </a:r>
            <a:r>
              <a:rPr b="0" sz="800">
                <a:solidFill>
                  <a:srgbClr val="64748B"/>
                </a:solidFill>
              </a:rPr>
              <a:t>Upstream ERP data entry cleanup, custom ABAP transaction creation, or OS-level server upgrades are outside scope.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Change Management (CR): </a:t>
            </a:r>
            <a:r>
              <a:rPr b="0" sz="800">
                <a:solidFill>
                  <a:srgbClr val="64748B"/>
                </a:solidFill>
              </a:rPr>
              <a:t>Substantial additions of new tables, custom data flows, or new reports managed via formal Change Request at agreed daily rates.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Schedule Adjustment: </a:t>
            </a:r>
            <a:r>
              <a:rPr b="0" sz="800">
                <a:solidFill>
                  <a:srgbClr val="64748B"/>
                </a:solidFill>
              </a:rPr>
              <a:t>CR evaluations will define associated timeline impact prior to initiating additional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388620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10B981"/>
                </a:solidFill>
                <a:latin typeface="Arial"/>
              </a:defRPr>
            </a:pPr>
            <a:r>
              <a:t>4. Intellectual Property, Warranty &amp; Hypercare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Full IP Ownership Transfer: </a:t>
            </a:r>
            <a:r>
              <a:rPr b="0" sz="800">
                <a:solidFill>
                  <a:srgbClr val="64748B"/>
                </a:solidFill>
              </a:rPr>
              <a:t>Complete ownership of custom Calculation Views, Power BI .pbix models, and DAX IP vests with Hical upon final settlement.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Complimentary Hypercare: </a:t>
            </a:r>
            <a:r>
              <a:rPr b="0" sz="800">
                <a:solidFill>
                  <a:srgbClr val="64748B"/>
                </a:solidFill>
              </a:rPr>
              <a:t>Includes 30 calendar days of post-go-live hypercare support covering defect fixes and query performance stabilization.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NDA &amp; Confidentiality: </a:t>
            </a:r>
            <a:r>
              <a:rPr b="0" sz="800">
                <a:solidFill>
                  <a:srgbClr val="64748B"/>
                </a:solidFill>
              </a:rPr>
              <a:t>Strict mutual confidentiality protecting Hical's proprietary BOMs, pricing sheets, cost rates, and strategic customer data.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</a:rPr>
              <a:t>• Long-Term Support (AMC): </a:t>
            </a:r>
            <a:r>
              <a:rPr b="0" sz="800">
                <a:solidFill>
                  <a:srgbClr val="64748B"/>
                </a:solidFill>
              </a:rPr>
              <a:t>Optional annual maintenance contract (AMC) available post-hypercare for ongoing model extensions.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1480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DELIVERY PREREQUISITES &amp; CLIENT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rial"/>
              </a:defRPr>
            </a:pPr>
            <a:r>
              <a:t>Project Assumptions &amp; Technical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i="1">
                <a:solidFill>
                  <a:srgbClr val="94A3B8"/>
                </a:solidFill>
                <a:latin typeface="Arial"/>
              </a:defRPr>
            </a:pPr>
            <a:r>
              <a:t>Key environment access, software licensing, and stakeholder availability essential for 10-week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050" b="1">
                <a:solidFill>
                  <a:srgbClr val="0066CC"/>
                </a:solidFill>
                <a:latin typeface="Arial"/>
              </a:defRPr>
            </a:pPr>
            <a:r>
              <a:t>1. SAP S/4HANA Environment &amp; Access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Dedicated Database User: </a:t>
            </a:r>
            <a:r>
              <a:rPr b="0" sz="800">
                <a:solidFill>
                  <a:srgbClr val="94A3B8"/>
                </a:solidFill>
              </a:rPr>
              <a:t>Hical IT to provision a dedicated read-only analytical database user on SAP HANA DB with authorization to build calculation views in an agreed analytics package (e.g. Z_HICAL_ANALYTICS).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Modeling Tool Access: </a:t>
            </a:r>
            <a:r>
              <a:rPr b="0" sz="800">
                <a:solidFill>
                  <a:srgbClr val="94A3B8"/>
                </a:solidFill>
              </a:rPr>
              <a:t>Access to SAP HANA Studio, SAP Web IDE, or Business Application Studio with developer rights to deploy views to the HANA repository (_SYS_BIC).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Data Availability &amp; Consistency: </a:t>
            </a:r>
            <a:r>
              <a:rPr b="0" sz="800">
                <a:solidFill>
                  <a:srgbClr val="94A3B8"/>
                </a:solidFill>
              </a:rPr>
              <a:t>Standard S/4HANA tables (ACDOCA, MATDOC, EKPO, AFPO, RESB) are actively populated with consistent transactional records; upstream master data correction remains with Hical.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050" b="1">
                <a:solidFill>
                  <a:srgbClr val="00B4D8"/>
                </a:solidFill>
                <a:latin typeface="Arial"/>
              </a:defRPr>
            </a:pPr>
            <a:r>
              <a:t>2. Power BI Platform &amp; Gateway Infrastructure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Power BI Workspace &amp; Licensing: </a:t>
            </a:r>
            <a:r>
              <a:rPr b="0" sz="800">
                <a:solidFill>
                  <a:srgbClr val="94A3B8"/>
                </a:solidFill>
              </a:rPr>
              <a:t>Hical to provision required Power BI Pro, Premium Per User (PPU), or Microsoft Fabric capacity licenses for development, publishing, and executive consumption.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On-Premises Gateway VM: </a:t>
            </a:r>
            <a:r>
              <a:rPr b="0" sz="800">
                <a:solidFill>
                  <a:srgbClr val="94A3B8"/>
                </a:solidFill>
              </a:rPr>
              <a:t>Hical IT to provide a dedicated Windows Server VM meeting Microsoft specifications for hosting the clustered On-Premises Data Gateway.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Network &amp; Firewall Clearance: </a:t>
            </a:r>
            <a:r>
              <a:rPr b="0" sz="800">
                <a:solidFill>
                  <a:srgbClr val="94A3B8"/>
                </a:solidFill>
              </a:rPr>
              <a:t>Unrestricted, low-latency network and firewall connectivity between the Data Gateway, SAP HANA DB server (ports 30015/39015), and the Power BI Cloud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6634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3. Business SME Availability &amp; Governance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Single Point of Contact (SPOC): </a:t>
            </a:r>
            <a:r>
              <a:rPr b="0" sz="800">
                <a:solidFill>
                  <a:srgbClr val="94A3B8"/>
                </a:solidFill>
              </a:rPr>
              <a:t>Hical to designate an internal Project Manager / SPOC to facilitate cross-functional scheduling, technical coordination, and milestone sign-offs.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Functional Stakeholder Time: </a:t>
            </a:r>
            <a:r>
              <a:rPr b="0" sz="800">
                <a:solidFill>
                  <a:srgbClr val="94A3B8"/>
                </a:solidFill>
              </a:rPr>
              <a:t>Finance (CFO/Controller), Supply Chain (CPO/Buyers), and Operations (Plant Heads) teams available for Phase 1 metric discovery (4-6 hours total) and Phase 4 UAT sessions.</a:t>
            </a:r>
          </a:p>
          <a:p>
            <a:pPr>
              <a:spcAft>
                <a:spcPts val="800"/>
              </a:spcAft>
            </a:pPr>
            <a:r>
              <a:rPr b="1" sz="850">
                <a:solidFill>
                  <a:srgbClr val="F8FAFC"/>
                </a:solidFill>
              </a:rPr>
              <a:t>• Timely Sign-Off Turnaround: </a:t>
            </a:r>
            <a:r>
              <a:rPr b="0" sz="800">
                <a:solidFill>
                  <a:srgbClr val="94A3B8"/>
                </a:solidFill>
              </a:rPr>
              <a:t>Formal milestone deliverable reviews and feedback turnaround completed within 5 business days to maintain the 10-week agile project schedule.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