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1. EXECUTIVE COCKPIT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Plant Performance &amp; Operational KPI Strip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Real-time operational telemetry across OEE, quality yield, and inventory latency.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Hitachi Energy • CXO Manufacturing Control Tower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04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254500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91056"/>
            <a:ext cx="2288971" cy="456285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10B981"/>
                </a:solidFill>
                <a:latin typeface="Inter"/>
              </a:rPr>
              <a:t>92.4%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F8FAFC"/>
                </a:solidFill>
                <a:latin typeface="Inter"/>
              </a:rPr>
              <a:t>Overall Equipment Effectiveness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+2.4% vs Benchmark | Plant Target: 90.0%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9403" y="1481328"/>
            <a:ext cx="254500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7419" y="1591056"/>
            <a:ext cx="2288971" cy="456285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10B981"/>
                </a:solidFill>
                <a:latin typeface="Inter"/>
              </a:rPr>
              <a:t>99.2%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F8FAFC"/>
                </a:solidFill>
                <a:latin typeface="Inter"/>
              </a:rPr>
              <a:t>First Pass Quality Yield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+1.8% Improvement | Inline Vision Gates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481328"/>
            <a:ext cx="254500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5303" y="1591056"/>
            <a:ext cx="2288971" cy="456285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10B981"/>
                </a:solidFill>
                <a:latin typeface="Inter"/>
              </a:rPr>
              <a:t>1.2%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F8FAFC"/>
                </a:solidFill>
                <a:latin typeface="Inter"/>
              </a:rPr>
              <a:t>Unplanned Machine Downtime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-48% Reduction | Monthly Rolling Avg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171" y="1481328"/>
            <a:ext cx="254500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3187" y="1591056"/>
            <a:ext cx="2288971" cy="456285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10B981"/>
                </a:solidFill>
                <a:latin typeface="Inter"/>
              </a:rPr>
              <a:t>220ms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F8FAFC"/>
                </a:solidFill>
                <a:latin typeface="Inter"/>
              </a:rPr>
              <a:t>Shop-Floor ERP Sync Latency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Sub-Second Verified | BTP Event SLA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" y="3931920"/>
          <a:ext cx="1072865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0A5FA"/>
                          </a:solidFill>
                          <a:latin typeface="Inter"/>
                        </a:defRPr>
                      </a:pPr>
                      <a:r>
                        <a:t>Work Center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0A5FA"/>
                          </a:solidFill>
                          <a:latin typeface="Inter"/>
                        </a:defRPr>
                      </a:pPr>
                      <a:r>
                        <a:t>Target OEE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0A5FA"/>
                          </a:solidFill>
                          <a:latin typeface="Inter"/>
                        </a:defRPr>
                      </a:pPr>
                      <a:r>
                        <a:t>Actual OEE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0A5FA"/>
                          </a:solidFill>
                          <a:latin typeface="Inter"/>
                        </a:defRPr>
                      </a:pPr>
                      <a:r>
                        <a:t>Variance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0A5FA"/>
                          </a:solidFill>
                          <a:latin typeface="Inter"/>
                        </a:defRPr>
                      </a:pPr>
                      <a:r>
                        <a:t>Root Cause &amp; Action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WC-101 CNC Machining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88.0%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82.4%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-5.6%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Tool calibration drift -&gt; recalibrated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WC-204 Robotic Welding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92.0%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91.8%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Normal operational tolerance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WC-305 Final Assembly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95.0%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87.1%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-7.9%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Component kitting shortage (PO-4482)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2. BOTTLENECK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Work-Center Capacity Loading vs. Production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Identifying binding operational constraints before work order release.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Hitachi Energy • CXO Manufacturing Control Tower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02 / 04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427619"/>
            <a:ext cx="1104103" cy="2378820"/>
          </a:xfrm>
          <a:prstGeom prst="rect">
            <a:avLst/>
          </a:prstGeom>
          <a:solidFill>
            <a:srgbClr val="EEF2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41181" y="3004718"/>
            <a:ext cx="1104103" cy="2801721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18488"/>
            <a:ext cx="245356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DC2626"/>
                </a:solidFill>
                <a:latin typeface="Inter"/>
              </a:rPr>
              <a:t>118% UTIL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52159"/>
            <a:ext cx="245356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1">
                <a:solidFill>
                  <a:srgbClr val="64748B"/>
                </a:solidFill>
                <a:latin typeface="Inter"/>
              </a:rPr>
              <a:t>WC-101 CNC Machining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0843" y="3691933"/>
            <a:ext cx="1104103" cy="2114506"/>
          </a:xfrm>
          <a:prstGeom prst="rect">
            <a:avLst/>
          </a:prstGeom>
          <a:solidFill>
            <a:srgbClr val="EEF2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77625" y="3903383"/>
            <a:ext cx="1104103" cy="190305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0843" y="1618488"/>
            <a:ext cx="245356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90% UTIL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0843" y="5852159"/>
            <a:ext cx="245356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1">
                <a:solidFill>
                  <a:srgbClr val="64748B"/>
                </a:solidFill>
                <a:latin typeface="Inter"/>
              </a:rPr>
              <a:t>WC-204 Robotic Welding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7287" y="3163306"/>
            <a:ext cx="1104103" cy="2643133"/>
          </a:xfrm>
          <a:prstGeom prst="rect">
            <a:avLst/>
          </a:prstGeom>
          <a:solidFill>
            <a:srgbClr val="EEF2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14069" y="3480482"/>
            <a:ext cx="1104103" cy="2325957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618488"/>
            <a:ext cx="245356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88% UTIL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5852159"/>
            <a:ext cx="245356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1">
                <a:solidFill>
                  <a:srgbClr val="64748B"/>
                </a:solidFill>
                <a:latin typeface="Inter"/>
              </a:rPr>
              <a:t>WC-305 Final Assembly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23731" y="4220559"/>
            <a:ext cx="1104103" cy="1585880"/>
          </a:xfrm>
          <a:prstGeom prst="rect">
            <a:avLst/>
          </a:prstGeom>
          <a:solidFill>
            <a:srgbClr val="EEF2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50513" y="3797658"/>
            <a:ext cx="1104103" cy="2008781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731" y="1618488"/>
            <a:ext cx="245356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DC2626"/>
                </a:solidFill>
                <a:latin typeface="Inter"/>
              </a:rPr>
              <a:t>127% UTIL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731" y="5852159"/>
            <a:ext cx="245356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1">
                <a:solidFill>
                  <a:srgbClr val="64748B"/>
                </a:solidFill>
                <a:latin typeface="Inter"/>
              </a:rPr>
              <a:t>WC-408 Quality Inspection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3. PARETO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Pareto 80/20 Root-Cause Defect Concentration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Targeting the top two failure modes eliminates 80% of manufacturing rework.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Hitachi Energy • CXO Manufacturing Control Tower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03 / 04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10728655" cy="365760"/>
          </a:xfrm>
          <a:prstGeom prst="rect">
            <a:avLst/>
          </a:prstGeom>
          <a:solidFill>
            <a:srgbClr val="1C3159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PARETO 80/20 ROOT CAUSE CONCENTRATION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890223"/>
            <a:ext cx="1962851" cy="1916216"/>
          </a:xfrm>
          <a:prstGeom prst="rect">
            <a:avLst/>
          </a:prstGeom>
          <a:solidFill>
            <a:srgbClr val="00B4D8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196285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19" b="1" i="0">
                <a:solidFill>
                  <a:srgbClr val="F59E0B"/>
                </a:solidFill>
                <a:latin typeface="Inter"/>
              </a:rPr>
              <a:t>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52159"/>
            <a:ext cx="196285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1">
                <a:solidFill>
                  <a:srgbClr val="94A3B8"/>
                </a:solidFill>
                <a:latin typeface="Inter"/>
              </a:rPr>
              <a:t>Torque Calibration Drift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4411" y="4774631"/>
            <a:ext cx="1962851" cy="1031808"/>
          </a:xfrm>
          <a:prstGeom prst="rect">
            <a:avLst/>
          </a:prstGeom>
          <a:solidFill>
            <a:srgbClr val="00B4D8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4411" y="1920240"/>
            <a:ext cx="196285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19" b="1" i="0">
                <a:solidFill>
                  <a:srgbClr val="F59E0B"/>
                </a:solidFill>
                <a:latin typeface="Inter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4411" y="5852159"/>
            <a:ext cx="196285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1">
                <a:solidFill>
                  <a:srgbClr val="94A3B8"/>
                </a:solidFill>
                <a:latin typeface="Inter"/>
              </a:rPr>
              <a:t>Component Kitting Mismatch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14422" y="5401086"/>
            <a:ext cx="1962851" cy="405353"/>
          </a:xfrm>
          <a:prstGeom prst="rect">
            <a:avLst/>
          </a:prstGeom>
          <a:solidFill>
            <a:srgbClr val="16284B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14422" y="1920240"/>
            <a:ext cx="196285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19" b="1" i="0">
                <a:solidFill>
                  <a:srgbClr val="F59E0B"/>
                </a:solidFill>
                <a:latin typeface="Inter"/>
              </a:rPr>
              <a:t>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4422" y="5852159"/>
            <a:ext cx="196285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1">
                <a:solidFill>
                  <a:srgbClr val="94A3B8"/>
                </a:solidFill>
                <a:latin typeface="Inter"/>
              </a:rPr>
              <a:t>Barcode Camera Read Error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14433" y="5585338"/>
            <a:ext cx="1962851" cy="221101"/>
          </a:xfrm>
          <a:prstGeom prst="rect">
            <a:avLst/>
          </a:prstGeom>
          <a:solidFill>
            <a:srgbClr val="16284B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14433" y="1920240"/>
            <a:ext cx="196285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19" b="1" i="0">
                <a:solidFill>
                  <a:srgbClr val="F59E0B"/>
                </a:solidFill>
                <a:latin typeface="Inter"/>
              </a:rPr>
              <a:t>97%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4433" y="5852159"/>
            <a:ext cx="196285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1">
                <a:solidFill>
                  <a:srgbClr val="94A3B8"/>
                </a:solidFill>
                <a:latin typeface="Inter"/>
              </a:rPr>
              <a:t>Operator Delay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14444" y="5695889"/>
            <a:ext cx="1962851" cy="110550"/>
          </a:xfrm>
          <a:prstGeom prst="rect">
            <a:avLst/>
          </a:prstGeom>
          <a:solidFill>
            <a:srgbClr val="16284B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4444" y="1920240"/>
            <a:ext cx="196285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19" b="1" i="0">
                <a:solidFill>
                  <a:srgbClr val="F59E0B"/>
                </a:solidFill>
                <a:latin typeface="Inter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4444" y="5852159"/>
            <a:ext cx="196285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1">
                <a:solidFill>
                  <a:srgbClr val="94A3B8"/>
                </a:solidFill>
                <a:latin typeface="Inter"/>
              </a:rPr>
              <a:t>Other Minor Exceptions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4. EXCEPTION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Action-Oriented Plant Floor Corrective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Assigned mitigation owners, priority ratings, and due 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Hitachi Energy • CXO Manufacturing Control Tower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04 / 04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81328"/>
          <a:ext cx="10728652" cy="4782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0640"/>
                <a:gridCol w="3395144"/>
                <a:gridCol w="1493863"/>
                <a:gridCol w="1086446"/>
                <a:gridCol w="1358057"/>
                <a:gridCol w="1222251"/>
                <a:gridCol w="1222251"/>
              </a:tblGrid>
              <a:tr h="956462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ID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ACTION ITEM DESCRIPTION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WORKSTREAM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PRIORITY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OWNER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DUE DATE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STATUS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956462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ACT-01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Recalibrate torque load cells on Station 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Maintenance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C2626"/>
                          </a:solidFill>
                          <a:latin typeface="Inter"/>
                        </a:rPr>
                        <a:t>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Lead Tech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Week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0066CC"/>
                          </a:solidFill>
                          <a:latin typeface="Inter"/>
                        </a:rPr>
                        <a:t>IN PROGRESS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56462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ACT-02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Implement automated ASN barcode validation in ERP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C2626"/>
                          </a:solidFill>
                          <a:latin typeface="Inter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BTP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Week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D97706"/>
                          </a:solidFill>
                          <a:latin typeface="Inter"/>
                        </a:rPr>
                        <a:t>OPEN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6462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ACT-03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Conduct operator Poka-Yoke ergonomics review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Plant Ops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97706"/>
                          </a:solidFill>
                          <a:latin typeface="Inter"/>
                        </a:rPr>
                        <a:t>MED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Supervisor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Week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D97706"/>
                          </a:solidFill>
                          <a:latin typeface="Inter"/>
                        </a:rPr>
                        <a:t>OPEN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56464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ACT-04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Publish updated First Pass Yield dashboard to CXO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D97706"/>
                          </a:solidFill>
                          <a:latin typeface="Inter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Data 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D97706"/>
                          </a:solidFill>
                          <a:latin typeface="Inter"/>
                        </a:rPr>
                        <a:t>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