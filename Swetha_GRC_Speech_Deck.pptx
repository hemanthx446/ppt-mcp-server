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2926080" cy="347472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152144"/>
            <a:ext cx="2743200" cy="27432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000" b="1">
                <a:solidFill>
                  <a:srgbClr val="E30613"/>
                </a:solidFill>
                <a:latin typeface="Arial"/>
              </a:defRPr>
            </a:pPr>
            <a:r>
              <a:t>EXECUTIVE STRATEGIC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164592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rial"/>
              </a:defRPr>
            </a:pPr>
            <a:r>
              <a:t>Co-Innovating the Future of SAP GRC</a:t>
            </a:r>
          </a:p>
          <a:p>
            <a:pPr>
              <a:defRPr sz="2800" b="1">
                <a:solidFill>
                  <a:srgbClr val="E30613"/>
                </a:solidFill>
                <a:latin typeface="Arial"/>
              </a:defRPr>
            </a:pPr>
            <a:r>
              <a:t>Lumbini Elite &amp; SAP CPO Office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0440"/>
            <a:ext cx="2011680" cy="36576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332720" cy="82296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alibri"/>
              </a:defRPr>
            </a:pPr>
            <a:r>
              <a:t>A targeted 30-minute dialogue on SAP Clean Core alignment, accelerated Cloud IAG adoption, and proven enterprise execution in regulated global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46320"/>
            <a:ext cx="3200400" cy="11887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983480"/>
            <a:ext cx="2834640" cy="9144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Clean Core Alignment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Zero-modification compliant governance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846320"/>
            <a:ext cx="3200400" cy="11887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983480"/>
            <a:ext cx="2834640" cy="9144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Cloud IAG Acceleration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Frictionless hybrid migration for on-prem clients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846320"/>
            <a:ext cx="3200400" cy="1188720"/>
          </a:xfrm>
          <a:prstGeom prst="roundRect">
            <a:avLst/>
          </a:prstGeom>
          <a:solidFill>
            <a:srgbClr val="1C1C1E"/>
          </a:solidFill>
          <a:ln w="12700"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983480"/>
            <a:ext cx="2834640" cy="91440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Field-Tested Scale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20k+ user scale, 90% cycle time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Arial"/>
              </a:defRPr>
            </a:pPr>
            <a:r>
              <a:t>Strategic Vision Alignment with SAP Clean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Calibri"/>
              </a:defRPr>
            </a:pPr>
            <a:r>
              <a:t>Bridging enterprise compliance to SAP Cloud Identity Services, BTP, and AI-driven risk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73152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2880360" cy="3383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30613"/>
                </a:solidFill>
                <a:latin typeface="Arial"/>
              </a:defRPr>
            </a:pPr>
            <a:r>
              <a:t>01</a:t>
            </a:r>
          </a:p>
          <a:p>
            <a:pPr>
              <a:spcAft>
                <a:spcPts val="200"/>
              </a:spcAft>
              <a:defRPr sz="1400" b="1">
                <a:solidFill>
                  <a:srgbClr val="1A202C"/>
                </a:solidFill>
                <a:latin typeface="Arial"/>
              </a:defRPr>
            </a:pPr>
            <a:r>
              <a:t>SAP Clean Core Alignment</a:t>
            </a:r>
          </a:p>
          <a:p>
            <a:pPr>
              <a:spcAft>
                <a:spcPts val="1400"/>
              </a:spcAft>
              <a:defRPr sz="1050" b="1">
                <a:solidFill>
                  <a:srgbClr val="E30613"/>
                </a:solidFill>
                <a:latin typeface="Calibri"/>
              </a:defRPr>
            </a:pPr>
            <a:r>
              <a:t>Decoupled Extensibility on BTP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Eliminate custom core modifications in S/4HANA transformations.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Enforce native standard APIs for provisioning and compliance.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Maintain continuous upgradeability with zero downtime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417320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5696" y="1417320"/>
            <a:ext cx="3337560" cy="73152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645920"/>
            <a:ext cx="2880360" cy="3383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30613"/>
                </a:solidFill>
                <a:latin typeface="Arial"/>
              </a:defRPr>
            </a:pPr>
            <a:r>
              <a:t>02</a:t>
            </a:r>
          </a:p>
          <a:p>
            <a:pPr>
              <a:spcAft>
                <a:spcPts val="200"/>
              </a:spcAft>
              <a:defRPr sz="1400" b="1">
                <a:solidFill>
                  <a:srgbClr val="1A202C"/>
                </a:solidFill>
                <a:latin typeface="Arial"/>
              </a:defRPr>
            </a:pPr>
            <a:r>
              <a:t>Cloud IAG &amp; Identity Services</a:t>
            </a:r>
          </a:p>
          <a:p>
            <a:pPr>
              <a:spcAft>
                <a:spcPts val="1400"/>
              </a:spcAft>
              <a:defRPr sz="1050" b="1">
                <a:solidFill>
                  <a:srgbClr val="E30613"/>
                </a:solidFill>
                <a:latin typeface="Calibri"/>
              </a:defRPr>
            </a:pPr>
            <a:r>
              <a:t>Hybrid Identity Bridge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Frictionless bridge from on-prem Access Control to Cloud IAG.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Native integration with SAP Cloud Identity Services (IAS/IPS).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Full cross-application identity governance &amp; SCIM connectors.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17320"/>
            <a:ext cx="33375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417320"/>
            <a:ext cx="3337560" cy="73152"/>
          </a:xfrm>
          <a:prstGeom prst="round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645920"/>
            <a:ext cx="2880360" cy="33832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E30613"/>
                </a:solidFill>
                <a:latin typeface="Arial"/>
              </a:defRPr>
            </a:pPr>
            <a:r>
              <a:t>03</a:t>
            </a:r>
          </a:p>
          <a:p>
            <a:pPr>
              <a:spcAft>
                <a:spcPts val="200"/>
              </a:spcAft>
              <a:defRPr sz="1400" b="1">
                <a:solidFill>
                  <a:srgbClr val="1A202C"/>
                </a:solidFill>
                <a:latin typeface="Arial"/>
              </a:defRPr>
            </a:pPr>
            <a:r>
              <a:t>AI-Driven Risk Frameworks</a:t>
            </a:r>
          </a:p>
          <a:p>
            <a:pPr>
              <a:spcAft>
                <a:spcPts val="1400"/>
              </a:spcAft>
              <a:defRPr sz="1050" b="1">
                <a:solidFill>
                  <a:srgbClr val="E30613"/>
                </a:solidFill>
                <a:latin typeface="Calibri"/>
              </a:defRPr>
            </a:pPr>
            <a:r>
              <a:t>Predictive &amp; Continuous Compliance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AI-assisted SoD conflict analysis and proactive simulation.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Contextual anomaly detection across firefighter / emergency roles.</a:t>
            </a:r>
          </a:p>
          <a:p>
            <a:pPr>
              <a:spcAft>
                <a:spcPts val="800"/>
              </a:spcAft>
              <a:defRPr sz="1050">
                <a:solidFill>
                  <a:srgbClr val="1A202C"/>
                </a:solidFill>
                <a:latin typeface="Calibri"/>
              </a:defRPr>
            </a:pPr>
            <a:r>
              <a:t>•  Autonomous remediation recommendations before audit cycles.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8655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defRPr sz="1100" b="1">
                <a:solidFill>
                  <a:srgbClr val="E30613"/>
                </a:solidFill>
                <a:latin typeface="Arial"/>
              </a:defRPr>
            </a:pPr>
            <a:r>
              <a:t>Key Takeaway for CPO Office: </a:t>
            </a:r>
            <a:r>
              <a:rPr sz="1100" b="0">
                <a:solidFill>
                  <a:srgbClr val="1A202C"/>
                </a:solidFill>
                <a:latin typeface="Calibri"/>
              </a:rPr>
              <a:t>Lumbini Elite actively accelerates customer transitions from legacy on-prem custom code to SAP's standard Cloud IAG platform, protecting the Clean Core imperative.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Lumbini Elite  |  Executive Briefing with Swetha, CPO of SAP GRC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Arial"/>
              </a:defRPr>
            </a:pPr>
            <a:r>
              <a:t>Proven Field Execution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Calibri"/>
              </a:defRPr>
            </a:pPr>
            <a:r>
              <a:t>Validating enterprise reliability, zero-touch governance, and verified business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2880360" cy="15544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30613"/>
                </a:solidFill>
                <a:latin typeface="Arial"/>
              </a:defRPr>
            </a:pPr>
            <a:r>
              <a:t>90%</a:t>
            </a:r>
          </a:p>
          <a:p>
            <a:pPr>
              <a:spcAft>
                <a:spcPts val="400"/>
              </a:spcAft>
              <a:defRPr sz="1100" b="1">
                <a:solidFill>
                  <a:srgbClr val="1A202C"/>
                </a:solidFill>
                <a:latin typeface="Arial"/>
              </a:defRPr>
            </a:pPr>
            <a:r>
              <a:t>Provisioning Cycle Reduction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Transformed 5-day manual ticketing bottlenecks into automated, policy-compliant 4-hour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1732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1600200"/>
            <a:ext cx="2880360" cy="15544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30613"/>
                </a:solidFill>
                <a:latin typeface="Arial"/>
              </a:defRPr>
            </a:pPr>
            <a:r>
              <a:t>20,000+</a:t>
            </a:r>
          </a:p>
          <a:p>
            <a:pPr>
              <a:spcAft>
                <a:spcPts val="400"/>
              </a:spcAft>
              <a:defRPr sz="1100" b="1">
                <a:solidFill>
                  <a:srgbClr val="1A202C"/>
                </a:solidFill>
                <a:latin typeface="Arial"/>
              </a:defRPr>
            </a:pPr>
            <a:r>
              <a:t>Enterprise Users Managed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Scaled across highly regulated multi-national SAP estates with 100% audit accuracy and zero findings.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17320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2" y="1600200"/>
            <a:ext cx="2880360" cy="155448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E30613"/>
                </a:solidFill>
                <a:latin typeface="Arial"/>
              </a:defRPr>
            </a:pPr>
            <a:r>
              <a:t>&lt; 2 Hours</a:t>
            </a:r>
          </a:p>
          <a:p>
            <a:pPr>
              <a:spcAft>
                <a:spcPts val="400"/>
              </a:spcAft>
              <a:defRPr sz="1100" b="1">
                <a:solidFill>
                  <a:srgbClr val="1A202C"/>
                </a:solidFill>
                <a:latin typeface="Arial"/>
              </a:defRPr>
            </a:pPr>
            <a:r>
              <a:t>Emergency Access SLA</a:t>
            </a:r>
          </a:p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Frictionless firefighter role elevation with automated continuous logging and post-session risk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518464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4727448" cy="219456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202C"/>
                </a:solidFill>
                <a:latin typeface="Arial"/>
              </a:defRPr>
            </a:pPr>
            <a:r>
              <a:t>Field-Tested Execution Pillars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Hybrid Interoperability: Seamless bridge connecting on-prem SAP ECC / S/4HANA with BTP cloud services.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Zero-Touch Lifecycle: Automated HR-driven onboarding, role mapping, and instantaneous offboarding revokes.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Audit-Proof Integrity: Automated logging satisfying rigorous external SOX, ISO-27001, and GDPR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3" y="3566160"/>
            <a:ext cx="5184648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3" y="3749039"/>
            <a:ext cx="4727448" cy="219456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A202C"/>
                </a:solidFill>
                <a:latin typeface="Arial"/>
              </a:defRPr>
            </a:pPr>
            <a:r>
              <a:t>Value Proposition for SAP Product Strategy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Unlocks IAG Conversions: Solves complex enterprise objections by proving rapid, non-disruptive migration paths.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Reduces Customer Churn: Eliminates governance friction during S/4HANA Cloud and RISE with SAP journeys.</a:t>
            </a:r>
          </a:p>
          <a:p>
            <a:pPr>
              <a:spcAft>
                <a:spcPts val="6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Telemetry &amp; Insights: Real-world operational feedback on API edge cases and enterprise scalability.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Lumbini Elite  |  Executive Briefing with Swetha, CPO of SAP GRC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73152" cy="50292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202C"/>
                </a:solidFill>
                <a:latin typeface="Arial"/>
              </a:defRPr>
            </a:pPr>
            <a:r>
              <a:t>Partnership &amp; Co-Innovation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9611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i="1">
                <a:solidFill>
                  <a:srgbClr val="64748B"/>
                </a:solidFill>
                <a:latin typeface="Calibri"/>
              </a:defRPr>
            </a:pPr>
            <a:r>
              <a:t>Establishing a structured collaboration framework between Lumbini Elite and the SAP GRC CPO Office.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645920"/>
            <a:ext cx="1097280" cy="274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73352"/>
            <a:ext cx="109728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900" b="1">
                <a:solidFill>
                  <a:srgbClr val="E30613"/>
                </a:solidFill>
                <a:latin typeface="Arial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691640"/>
            <a:ext cx="164592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Calibri"/>
              </a:defRPr>
            </a:pPr>
            <a:r>
              <a:t>Weeks 1 –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2880360" cy="256032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A202C"/>
                </a:solidFill>
                <a:latin typeface="Arial"/>
              </a:defRPr>
            </a:pPr>
            <a:r>
              <a:t>Joint Architecture Workshop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Roadmap deep dive on upcoming Cloud IAG and BTP governance features.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Review joint reference architecture for Clean Core identity lifecycle.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Define API extensibility standards and enterprise telemetry hooks.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41732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54296" y="1645920"/>
            <a:ext cx="1097280" cy="274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1673352"/>
            <a:ext cx="109728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900" b="1">
                <a:solidFill>
                  <a:srgbClr val="E30613"/>
                </a:solidFill>
                <a:latin typeface="Arial"/>
              </a:defRPr>
            </a:pPr>
            <a: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3016" y="1691640"/>
            <a:ext cx="164592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Calibri"/>
              </a:defRPr>
            </a:pPr>
            <a:r>
              <a:t>Weeks 3 –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103120"/>
            <a:ext cx="2880360" cy="256032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A202C"/>
                </a:solidFill>
                <a:latin typeface="Arial"/>
              </a:defRPr>
            </a:pPr>
            <a:r>
              <a:t>Lighthouse Customer Pilot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Select 1–2 enterprise clients modernizing from on-prem GRC to IAG.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Deploy co-innovated Clean Core baseline with zero modifications.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Validate 90%+ cycle time reduction and capture telemetry.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417320"/>
            <a:ext cx="33375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8472" y="1645920"/>
            <a:ext cx="1097280" cy="274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673352"/>
            <a:ext cx="109728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 algn="ctr">
              <a:defRPr sz="900" b="1">
                <a:solidFill>
                  <a:srgbClr val="E30613"/>
                </a:solidFill>
                <a:latin typeface="Arial"/>
              </a:defRPr>
            </a:pPr>
            <a: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1691640"/>
            <a:ext cx="1645920" cy="22860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950" i="1">
                <a:solidFill>
                  <a:srgbClr val="64748B"/>
                </a:solidFill>
                <a:latin typeface="Calibri"/>
              </a:defRPr>
            </a:pPr>
            <a:r>
              <a:t>Ongoing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103120"/>
            <a:ext cx="2880360" cy="256032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1A202C"/>
                </a:solidFill>
                <a:latin typeface="Arial"/>
              </a:defRPr>
            </a:pPr>
            <a:r>
              <a:t>Continuous Success Feedback Loops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Direct bi-directional feedback loop into SAP GRC Product Management.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Joint customer reference stories, whitepapers, and SAP Sapphire showcase.</a:t>
            </a:r>
          </a:p>
          <a:p>
            <a:pPr>
              <a:spcAft>
                <a:spcPts val="700"/>
              </a:spcAft>
              <a:defRPr sz="1000">
                <a:solidFill>
                  <a:srgbClr val="1A202C"/>
                </a:solidFill>
                <a:latin typeface="Calibri"/>
              </a:defRPr>
            </a:pPr>
            <a:r>
              <a:t>•  Co-developed standard packages accelerating RISE with SAP migrations.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306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38928"/>
            <a:ext cx="10149840" cy="822960"/>
          </a:xfrm>
          <a:prstGeom prst="rect">
            <a:avLst/>
          </a:prstGeom>
          <a:noFill/>
        </p:spPr>
        <p:txBody>
          <a:bodyPr wrap="square" tIns="0" lIns="0" b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30613"/>
                </a:solidFill>
                <a:latin typeface="Arial"/>
              </a:defRPr>
            </a:pPr>
            <a:r>
              <a:t>Proposed Immediate Next Step: 45-Minute Working Session</a:t>
            </a:r>
          </a:p>
          <a:p>
            <a:pPr>
              <a:defRPr sz="1100">
                <a:solidFill>
                  <a:srgbClr val="1A202C"/>
                </a:solidFill>
                <a:latin typeface="Calibri"/>
              </a:defRPr>
            </a:pPr>
            <a:r>
              <a:t>Align our Lead Architect with the SAP GRC Product Architecture team to scope the Phase 1 workshop agenda and establish technical criteria for the customer co-innovation pilot.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77724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Lumbini Elite  |  Executive Briefing with Swetha, CPO of SAP GRC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6355080"/>
            <a:ext cx="1371600" cy="27432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Calibri"/>
              </a:defRPr>
            </a:pPr>
            <a: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