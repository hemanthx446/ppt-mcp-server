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"Good morning. Today, we're not just here to talk about building two reports. We're here to position HICAL for a transformation in how you manage one of the most critical operational challenges in aerospace/defense manufacturing: the tension between customer demand, production capacity, and execution cost.</a:t>
            </a:r>
          </a:p>
          <a:p/>
          <a:p>
            <a:r>
              <a:t>Your request for a backlog report and a costing report is actually the entry point to something much bigger—a real-time management cockpit that connects order flow, capacity utilization, and financial exposure into a single decision-support system. Think of this like moving from a paper-based flight plan to a modern glass cockpit.</a:t>
            </a:r>
          </a:p>
          <a:p/>
          <a:p>
            <a:r>
              <a:t>Over the next 45 minutes, we'll walk you through:</a:t>
            </a:r>
          </a:p>
          <a:p>
            <a:r>
              <a:t>1. Why these two reports matter, and what they really represent</a:t>
            </a:r>
          </a:p>
          <a:p>
            <a:r>
              <a:t>2. The hidden business logic that ties backlog, capacity, and cost together</a:t>
            </a:r>
          </a:p>
          <a:p>
            <a:r>
              <a:t>3. A phased implementation roadmap that delivers value immediately while scaling toward a world-class ePPDS/CRP capability</a:t>
            </a:r>
          </a:p>
          <a:p>
            <a:r>
              <a:t>4. The specific questions we need to answer to make this real in your environment</a:t>
            </a:r>
          </a:p>
          <a:p/>
          <a:p>
            <a:r>
              <a:t>Let's start by grounding ourselves in your operational reality."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"Let's zoom into your world for a moment. HICAL operates in one of the most complex manufacturing verticals—aerospace and defense. Why does that matter? Because you're not just managing orders; you're managing a web of interdependencies:</a:t>
            </a:r>
          </a:p>
          <a:p/>
          <a:p>
            <a:r>
              <a:t>First, you have demand complexity. You don't know if a customer order is going to be built from stock (MTS) or from scratch (MTO). Some components are long-lead supplier items bought months in advance. Others are made in-house with quality gates that add unpredictability.</a:t>
            </a:r>
          </a:p>
          <a:p/>
          <a:p>
            <a:r>
              <a:t>Second, you have capacity constraints, and they're not always visible. You might have a precision CNC center, a sheet metal line, or a winding operation that becomes a bottleneck. You might not know it's constrained until an order hits it—at which point you're already late.</a:t>
            </a:r>
          </a:p>
          <a:p/>
          <a:p>
            <a:r>
              <a:t>Third, you have cost exposure. When an order sits in backlog, it's tying up labor, consuming inventory holding cost, and potentially triggering supplier penalties. But where do you see that? You don't. It shows up in your monthly CO variance reports, weeks after the fact.</a:t>
            </a:r>
          </a:p>
          <a:p/>
          <a:p>
            <a:r>
              <a:t>This is why your Excel backlog sheet exists. Planners maintain it because SAP doesn't answer their core question: 'Which orders are at-risk of missing their delivery date, what's the root cause, and what's it costing us?'</a:t>
            </a:r>
          </a:p>
          <a:p/>
          <a:p>
            <a:r>
              <a:t>Your costing spreadsheet exists for the same reason: nobody has connected the dots between backlog depth -&gt; capacity utilization -&gt; execution cost.</a:t>
            </a:r>
          </a:p>
          <a:p/>
          <a:p>
            <a:r>
              <a:t>So when you ask for a 'backlog report' and a 'costing report,' what you're really asking for is: 'Give me a system that tells me, in real-time, whether my operations are healthy.' That's what we are going to build."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 me be direct: if we just build you a backlog report and a costing report, you'll have better information than you have today. But you'll still be solving the problem the same way you're solving it now—manually, in spreadsheets and meetings.</a:t>
            </a:r>
          </a:p>
          <a:p/>
          <a:p>
            <a:r>
              <a:t>Here's what's actually happening:</a:t>
            </a:r>
          </a:p>
          <a:p>
            <a:r>
              <a:t>- Planners maintain a backlog spreadsheet to compensate for what SAP doesn't show them.</a:t>
            </a:r>
          </a:p>
          <a:p>
            <a:r>
              <a:t>- Finance builds a separate costing model to understand the financial drag of backlog.</a:t>
            </a:r>
          </a:p>
          <a:p>
            <a:r>
              <a:t>- Operations discovers bottlenecks when it's too late.</a:t>
            </a:r>
          </a:p>
          <a:p>
            <a:r>
              <a:t>- Leadership makes decisions based on last week's data, not today's reality.</a:t>
            </a:r>
          </a:p>
          <a:p/>
          <a:p>
            <a:r>
              <a:t>This is reactive firefighting, not proactive capacity management.</a:t>
            </a:r>
          </a:p>
          <a:p/>
          <a:p>
            <a:r>
              <a:t>What if instead, we built you a system that:</a:t>
            </a:r>
          </a:p>
          <a:p>
            <a:r>
              <a:t>1. Shows every open order, its promised date, its current status, and its risk score</a:t>
            </a:r>
          </a:p>
          <a:p>
            <a:r>
              <a:t>2. Connects that backlog to your production capacity and shows you which work center is constraining which orders</a:t>
            </a:r>
          </a:p>
          <a:p>
            <a:r>
              <a:t>3. Calculates the financial impact of that constraint in real-time (cost of delay, OT premiums, supplier penalties)</a:t>
            </a:r>
          </a:p>
          <a:p>
            <a:r>
              <a:t>4. Lets you simulate what-if scenarios (add a shift, expedite a supplier, change production sequence) to see impact on delivery and margin</a:t>
            </a:r>
          </a:p>
          <a:p>
            <a:r>
              <a:t>5. Sends exceptions to management when an order moves from 'manageable' to 'at-risk'</a:t>
            </a:r>
          </a:p>
          <a:p/>
          <a:p>
            <a:r>
              <a:t>That's not a report. That's a management cockpit. It's what SAP's ePPDS and Capacity Requirement Planning (CRP) do in world-class enterprises. We deliver the foundational reports in Phase 1, and scale seamlessly into the cockpit."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"Let's talk about what this transformation is actually worth.</a:t>
            </a:r>
          </a:p>
          <a:p/>
          <a:p>
            <a:r>
              <a:t>Today, your operation is optimized for reactive response. When a work center starts getting backed up, someone notices late—in a standup or an escalation call. Then costs spike: unplanned overtime, expedited freight, margin erosion.</a:t>
            </a:r>
          </a:p>
          <a:p/>
          <a:p>
            <a:r>
              <a:t>Here is what's happening financially:</a:t>
            </a:r>
          </a:p>
          <a:p>
            <a:r>
              <a:t>- You are spending $250K–$400K/year on unplanned overtime.</a:t>
            </a:r>
          </a:p>
          <a:p>
            <a:r>
              <a:t>- Delayed orders erode 2–4% of gross margin through concessions and penalties.</a:t>
            </a:r>
          </a:p>
          <a:p>
            <a:r>
              <a:t>- Your finance team spends 40+ hours/month chasing variance explanations instead of driving strategic decisions.</a:t>
            </a:r>
          </a:p>
          <a:p/>
          <a:p>
            <a:r>
              <a:t>Now imagine the proactive world:</a:t>
            </a:r>
          </a:p>
          <a:p>
            <a:r>
              <a:t>On Day 1, an order enters SAP. The system immediately checks current backlog and finite capacity load. If there is a bottleneck, it flags it within hours, not weeks.</a:t>
            </a:r>
          </a:p>
          <a:p>
            <a:r>
              <a:t>The planner sees the root cause: CNC Work Center AB100 is at 115% in Week 4, threatening $45K of delay cost. They evaluate 3 clear options and make the economically optimal choice.</a:t>
            </a:r>
          </a:p>
          <a:p/>
          <a:p>
            <a:r>
              <a:t>The result is $450K to $1.1M in first-year financial impact, with a 6 to 12 month payback period."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"Let's dive into Module 1: The Backlog Management Report. This is not just a spreadsheet list of orders; it is an order risk management engine.</a:t>
            </a:r>
          </a:p>
          <a:p/>
          <a:p>
            <a:r>
              <a:t>Here is what we are solving:</a:t>
            </a:r>
          </a:p>
          <a:p>
            <a:r>
              <a:t>Your planners spend hours every week asking: 'Which orders do I need to worry about, and why?' That question should be answered automatically by a system.</a:t>
            </a:r>
          </a:p>
          <a:p/>
          <a:p>
            <a:r>
              <a:t>We organize the backlog into three layers:</a:t>
            </a:r>
          </a:p>
          <a:p>
            <a:r>
              <a:t>Layer 1 is Order Identity: What is this order? Who is the customer? What did we promise?</a:t>
            </a:r>
          </a:p>
          <a:p>
            <a:r>
              <a:t>Layer 2 is Backlog Aging and Buffer: How long has it been sitting? How much buffer remains?</a:t>
            </a:r>
          </a:p>
          <a:p>
            <a:r>
              <a:t>Layer 3 is Constraint Visibility: What is actually blocking it? A CNC machine? A supplier delay? A quality inspection hold?</a:t>
            </a:r>
          </a:p>
          <a:p/>
          <a:p>
            <a:r>
              <a:t>These layers feed our dynamic Risk Scoring Engine. Red orders don't just show a problem—they display a recommended action:</a:t>
            </a:r>
          </a:p>
          <a:p>
            <a:r>
              <a:t>- 'Authorize Saturday shift to unblock CNC Work Center AB100'</a:t>
            </a:r>
          </a:p>
          <a:p>
            <a:r>
              <a:t>- 'Expedite vendor shipment via airfreight'</a:t>
            </a:r>
          </a:p>
          <a:p>
            <a:r>
              <a:t>- 'Negotiate 2-day customer extension'</a:t>
            </a:r>
          </a:p>
          <a:p/>
          <a:p>
            <a:r>
              <a:t>The planner is no longer guessing. They are executing data-backed decisions."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"Now let's talk about money. A backlog report that doesn't connect to financial impact is interesting, but it's not actionable.</a:t>
            </a:r>
          </a:p>
          <a:p/>
          <a:p>
            <a:r>
              <a:t>Here is the hidden cost structure:</a:t>
            </a:r>
          </a:p>
          <a:p>
            <a:r>
              <a:t>When an order sits in backlog, it forces operational compromises. Standard quoted cost might be $1,000. But if we work emergency weekend shifts, add rush shipping, or shuffle machine setups, execution premiums add $190 per unit.</a:t>
            </a:r>
          </a:p>
          <a:p>
            <a:r>
              <a:t>Add aging drag—working capital lockup, holding costs, customer penalties—and the actual cost climbs to $1,490. You just lost 49% of your gross margin!</a:t>
            </a:r>
          </a:p>
          <a:p/>
          <a:p>
            <a:r>
              <a:t>The Costing Report aggregates this exposure by bottleneck work center:</a:t>
            </a:r>
          </a:p>
          <a:p>
            <a:r>
              <a:t>- 48% of your current drag is concentrated on CNC Work Center AB100 ($68,400 exposure).</a:t>
            </a:r>
          </a:p>
          <a:p/>
          <a:p>
            <a:r>
              <a:t>Even more powerful is the Decision Support Simulation:</a:t>
            </a:r>
          </a:p>
          <a:p>
            <a:r>
              <a:t>- Scenario A: Add a Saturday shift. Costs $8,500, but recovers $17,040 in delay drag. Net benefit: +$8,540. A no-brainer.</a:t>
            </a:r>
          </a:p>
          <a:p>
            <a:r>
              <a:t>- Scenario B: Expedite a supplier. Costs $12,000, recovers only $8,200. Net loss: -$3,800. The system tells you NOT to do this.</a:t>
            </a:r>
          </a:p>
          <a:p>
            <a:r>
              <a:t>- Scenario C: Proactively negotiate a promise extension. Saves $8,500 in overtime with zero cash spent.</a:t>
            </a:r>
          </a:p>
          <a:p/>
          <a:p>
            <a:r>
              <a:t>This shifts management from gut-feel crisis spending to economically optimal decisions."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is what the Phase 1 Management Cockpit looks like. It is built in Tableau, pulling live data from SAP HANA every 4 hours.</a:t>
            </a:r>
          </a:p>
          <a:p/>
          <a:p>
            <a:r>
              <a:t>Let me walk you through the four key zones:</a:t>
            </a:r>
          </a:p>
          <a:p>
            <a:r>
              <a:t>Zone 1 at the top gives leadership the pulse of operations in 3 seconds: total open orders, how many are at-risk, backlog aging, and total dollar exposure.</a:t>
            </a:r>
          </a:p>
          <a:p>
            <a:r>
              <a:t>Zone 2 is the Constraint Heatmap. It shows exactly which work centers are choking production right now.</a:t>
            </a:r>
          </a:p>
          <a:p>
            <a:r>
              <a:t>Zone 3 is the Live Exception Queue. It ranks every at-risk order, shows the root cause, and provides a direct recommended action.</a:t>
            </a:r>
          </a:p>
          <a:p>
            <a:r>
              <a:t>Zone 4 is the What-If Simulation Engine. Planners can test operational adjustments—like scheduling a Saturday shift—and see immediate financial and timeline consequences before committing company capital.</a:t>
            </a:r>
          </a:p>
          <a:p/>
          <a:p>
            <a:r>
              <a:t>Every element is clickable, fully drillable down to the underlying SAP production order, and accessible on desktop or mobile."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"Let's look under the hood. The cockpit isn't magic; it is systematic and auditable. Every metric displayed comes from a transparent business rule grounded in active SAP tables.</a:t>
            </a:r>
          </a:p>
          <a:p/>
          <a:p>
            <a:r>
              <a:t>In Tier 1, we translate leadership's core operational questions into strict mathematical formulas.</a:t>
            </a:r>
          </a:p>
          <a:p>
            <a:r>
              <a:t>In Tier 2, we tap into your existing SAP HANA environment:</a:t>
            </a:r>
          </a:p>
          <a:p>
            <a:r>
              <a:t>- Sales dates come directly from VBAK and VBAP.</a:t>
            </a:r>
          </a:p>
          <a:p>
            <a:r>
              <a:t>- Routing and operation progress come from AFPO and AUFM.</a:t>
            </a:r>
          </a:p>
          <a:p>
            <a:r>
              <a:t>- Work center capacity limits come from CRHD.</a:t>
            </a:r>
          </a:p>
          <a:p>
            <a:r>
              <a:t>- Component availability is pulled live from MM and MSEG.</a:t>
            </a:r>
          </a:p>
          <a:p>
            <a:r>
              <a:t>- Cost benchmarks come from COPC.</a:t>
            </a:r>
          </a:p>
          <a:p/>
          <a:p>
            <a:r>
              <a:t>In Tier 3, we govern data integrity. The pipeline runs automated 4-hour extracts using read-only service accounts. Every number can be audited down to the specific SAP production order.</a:t>
            </a:r>
          </a:p>
          <a:p/>
          <a:p>
            <a:r>
              <a:t>Most importantly, you validate these rules with us upfront during discovery. If your threshold for a constrained machine is 85% instead of 100%, we tune the logic accordingly."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"Let's talk execution strategy. We don't try to boil the ocean on day one. We take a disciplined, phased approach that derisks delivery while generating immediate ROI.</a:t>
            </a:r>
          </a:p>
          <a:p/>
          <a:p>
            <a:r>
              <a:t>Phase 1 is your 12-week MVP. It delivers the live Backlog Report, the Costing Report, and the foundational Tableau dashboard. It retires manual spreadsheets and delivers a proven $180K to $400K first-year benefit. That alone pays for the project within 4 to 6 months.</a:t>
            </a:r>
          </a:p>
          <a:p/>
          <a:p>
            <a:r>
              <a:t>Phase 2 builds upon clean Phase 1 data, adding cross-facility load balancing, what-if scenario simulations, and automated mobile alerts.</a:t>
            </a:r>
          </a:p>
          <a:p/>
          <a:p>
            <a:r>
              <a:t>Phase 3 is the long-term strategic vision: full finite capacity scheduling with SAP ePPDS and machine learning constraint forecasting.</a:t>
            </a:r>
          </a:p>
          <a:p/>
          <a:p>
            <a:r>
              <a:t>Notice that each phase is self-funding and self-contained. Phase 1 delivers complete value even if you pause before Phase 2. To hit the 12-week Phase 1 target, we require 3 to 4 HICAL resources allocated at roughly 40% time during discovery and testing."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"Before we write a single line of code, we want to ensure complete alignment with your operational reality. These 30+ questions represent our discovery framework.</a:t>
            </a:r>
          </a:p>
          <a:p/>
          <a:p>
            <a:r>
              <a:t>Let me highlight the top three that drive the entire system:</a:t>
            </a:r>
          </a:p>
          <a:p>
            <a:r>
              <a:t>First is Q1.1: What is your exact definition of backlog? Some companies count all open sales orders; others only count orders within a 30-day window. This determines our query scope.</a:t>
            </a:r>
          </a:p>
          <a:p>
            <a:r>
              <a:t>Second is Q2.1: What are your top 3 to 5 bottleneck machines? If precision CNC centers are the pinch point 80% of the time, we instrument them with specialized predictive alerts.</a:t>
            </a:r>
          </a:p>
          <a:p>
            <a:r>
              <a:t>Third is Q4.4: What is the true cost of a one-day delay to your business? When we know the daily holding cost, contract penalty, and margin impact, our simulation engine can tell planners exactly whether spending $5K on overtime is economically sound.</a:t>
            </a:r>
          </a:p>
          <a:p/>
          <a:p>
            <a:r>
              <a:t>We will provide this checklist as a structured discovery workbook for your team to complete."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"HICAL has an opportunity to move from reactive firefighting to proactive capacity intelligence. We've outlined a realistic, phased path to get there.</a:t>
            </a:r>
          </a:p>
          <a:p/>
          <a:p>
            <a:r>
              <a:t>The foundation is strong: you already have SAP HANA data, Tableau infrastructure, and motivated teams.</a:t>
            </a:r>
          </a:p>
          <a:p>
            <a:r>
              <a:t>The business case is compelling: a 4 to 6 month payback with $450K to $1.1M in value unlocked over 3 years.</a:t>
            </a:r>
          </a:p>
          <a:p>
            <a:r>
              <a:t>The risk is low: Phase 1 delivers complete value in 12 weeks without requiring massive system overhauls.</a:t>
            </a:r>
          </a:p>
          <a:p/>
          <a:p>
            <a:r>
              <a:t>What is required next is simple:</a:t>
            </a:r>
          </a:p>
          <a:p>
            <a:r>
              <a:t>1. We transmit the discovery workbook.</a:t>
            </a:r>
          </a:p>
          <a:p>
            <a:r>
              <a:t>2. We hold two 2-hour discovery workshops over the next two weeks.</a:t>
            </a:r>
          </a:p>
          <a:p>
            <a:r>
              <a:t>3. We finalize the Statement of Work and launch Phase 1 for a target go-live by the end of Q2.</a:t>
            </a:r>
          </a:p>
          <a:p/>
          <a:p>
            <a:r>
              <a:t>Thank you for your time, and we look forward to answering your questions."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005840"/>
            <a:ext cx="4389120" cy="310896"/>
          </a:xfrm>
          <a:prstGeom prst="roundRect">
            <a:avLst/>
          </a:prstGeom>
          <a:solidFill>
            <a:srgbClr val="151F3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tIns="27432"/>
          <a:lstStyle/>
          <a:p>
            <a:pPr algn="ctr">
              <a:defRPr sz="900" b="1">
                <a:solidFill>
                  <a:srgbClr val="D97706"/>
                </a:solidFill>
                <a:latin typeface="Arial"/>
              </a:defRPr>
            </a:pPr>
            <a:r>
              <a:t>AEROSPACE &amp; DEFENSE MANUFACTURING EXCELLENCE</a:t>
            </a:r>
          </a:p>
        </p:txBody>
      </p:sp>
      <p:sp>
        <p:nvSpPr>
          <p:cNvPr id="5" name="TextBox 4"/>
          <p:cNvSpPr txBox="1"/>
          <p:nvPr/>
        </p:nvSpPr>
        <p:spPr>
          <a:xfrm>
            <a:off x="822960" y="1463040"/>
            <a:ext cx="6583680" cy="1463040"/>
          </a:xfrm>
          <a:prstGeom prst="rect">
            <a:avLst/>
          </a:prstGeom>
          <a:noFill/>
        </p:spPr>
        <p:txBody>
          <a:bodyPr wrap="square" lIns="0" tIns="0">
            <a:spAutoFit/>
          </a:bodyPr>
          <a:lstStyle/>
          <a:p>
            <a:pPr>
              <a:defRPr sz="3200" b="1">
                <a:solidFill>
                  <a:srgbClr val="F8FAFC"/>
                </a:solidFill>
                <a:latin typeface="Arial"/>
              </a:defRPr>
            </a:pPr>
            <a:r>
              <a:t>From Reactive Firefighting</a:t>
            </a:r>
            <a:br/>
            <a:r>
              <a:t>to Proactive Capacity</a:t>
            </a:r>
            <a:br/>
            <a:r>
              <a:t>Intelligence</a:t>
            </a:r>
          </a:p>
        </p:txBody>
      </p:sp>
      <p:sp>
        <p:nvSpPr>
          <p:cNvPr id="6" name="TextBox 5"/>
          <p:cNvSpPr txBox="1"/>
          <p:nvPr/>
        </p:nvSpPr>
        <p:spPr>
          <a:xfrm>
            <a:off x="822960" y="3154680"/>
            <a:ext cx="6583680" cy="731520"/>
          </a:xfrm>
          <a:prstGeom prst="rect">
            <a:avLst/>
          </a:prstGeom>
          <a:noFill/>
        </p:spPr>
        <p:txBody>
          <a:bodyPr wrap="square" lIns="0" tIns="0">
            <a:spAutoFit/>
          </a:bodyPr>
          <a:lstStyle/>
          <a:p>
            <a:pPr>
              <a:defRPr sz="1300" i="1">
                <a:solidFill>
                  <a:srgbClr val="94A3B8"/>
                </a:solidFill>
                <a:latin typeface="Arial"/>
              </a:defRPr>
            </a:pPr>
            <a:r>
              <a:t>A Strategic Roadmap to Transform Backlog &amp; Costing Visibility into Real-Time Management Decisioning for HICAL Technologies</a:t>
            </a:r>
          </a:p>
        </p:txBody>
      </p:sp>
      <p:sp>
        <p:nvSpPr>
          <p:cNvPr id="7" name="Rounded Rectangle 6"/>
          <p:cNvSpPr/>
          <p:nvPr/>
        </p:nvSpPr>
        <p:spPr>
          <a:xfrm>
            <a:off x="822960" y="4069080"/>
            <a:ext cx="6583680" cy="2011680"/>
          </a:xfrm>
          <a:prstGeom prst="roundRect">
            <a:avLst/>
          </a:prstGeom>
          <a:solidFill>
            <a:srgbClr val="151F3C"/>
          </a:solidFill>
          <a:ln w="12700">
            <a:solidFill>
              <a:srgbClr val="28385F"/>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a:lstStyle/>
          <a:p>
            <a:pPr algn="ctr">
              <a:spcAft>
                <a:spcPts val="600"/>
              </a:spcAft>
            </a:pPr>
            <a:r>
              <a:rPr b="1" sz="1000">
                <a:solidFill>
                  <a:srgbClr val="00B4D8"/>
                </a:solidFill>
              </a:rPr>
              <a:t>• Challenge Reframed:</a:t>
            </a:r>
            <a:r>
              <a:rPr b="0" sz="1000">
                <a:solidFill>
                  <a:srgbClr val="F8FAFC"/>
                </a:solidFill>
              </a:rPr>
              <a:t> HICAL's request for backlog &amp; costing reports is a gateway to solving systemic operational constraints.</a:t>
            </a:r>
          </a:p>
          <a:p>
            <a:pPr>
              <a:spcAft>
                <a:spcPts val="600"/>
              </a:spcAft>
            </a:pPr>
            <a:r>
              <a:rPr b="1" sz="1000">
                <a:solidFill>
                  <a:srgbClr val="00B4D8"/>
                </a:solidFill>
              </a:rPr>
              <a:t>• Opportunity Identified:</a:t>
            </a:r>
            <a:r>
              <a:rPr b="0" sz="1000">
                <a:solidFill>
                  <a:srgbClr val="F8FAFC"/>
                </a:solidFill>
              </a:rPr>
              <a:t> Real-time visibility into order status, capacity bottlenecks, and financial exposure enables proactive control.</a:t>
            </a:r>
          </a:p>
          <a:p>
            <a:pPr>
              <a:spcAft>
                <a:spcPts val="600"/>
              </a:spcAft>
            </a:pPr>
            <a:r>
              <a:rPr b="1" sz="1000">
                <a:solidFill>
                  <a:srgbClr val="00B4D8"/>
                </a:solidFill>
              </a:rPr>
              <a:t>• Our Approach:</a:t>
            </a:r>
            <a:r>
              <a:rPr b="0" sz="1000">
                <a:solidFill>
                  <a:srgbClr val="F8FAFC"/>
                </a:solidFill>
              </a:rPr>
              <a:t> A phased, value-driven transformation delivering immediate MVP reporting while scaling into full SAP ePPDS/CRP.</a:t>
            </a:r>
          </a:p>
          <a:p>
            <a:pPr>
              <a:spcAft>
                <a:spcPts val="600"/>
              </a:spcAft>
            </a:pPr>
            <a:r>
              <a:rPr b="1" sz="1000">
                <a:solidFill>
                  <a:srgbClr val="00B4D8"/>
                </a:solidFill>
              </a:rPr>
              <a:t>• Expected Outcome:</a:t>
            </a:r>
            <a:r>
              <a:rPr b="0" sz="1000">
                <a:solidFill>
                  <a:srgbClr val="F8FAFC"/>
                </a:solidFill>
              </a:rPr>
              <a:t> Reduced backlog variance, 98%+ on-time delivery predictability, lower execution risk, and quantified margin recovery.</a:t>
            </a:r>
          </a:p>
        </p:txBody>
      </p:sp>
      <p:sp>
        <p:nvSpPr>
          <p:cNvPr id="8" name="Rounded Rectangle 7"/>
          <p:cNvSpPr/>
          <p:nvPr/>
        </p:nvSpPr>
        <p:spPr>
          <a:xfrm>
            <a:off x="7680960" y="1005840"/>
            <a:ext cx="3749039" cy="5074920"/>
          </a:xfrm>
          <a:prstGeom prst="roundRect">
            <a:avLst/>
          </a:prstGeom>
          <a:solidFill>
            <a:srgbClr val="151F3C"/>
          </a:solidFill>
          <a:ln w="15240">
            <a:solidFill>
              <a:srgbClr val="283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188720"/>
            <a:ext cx="3383280" cy="365760"/>
          </a:xfrm>
          <a:prstGeom prst="rect">
            <a:avLst/>
          </a:prstGeom>
          <a:noFill/>
        </p:spPr>
        <p:txBody>
          <a:bodyPr wrap="square">
            <a:spAutoFit/>
          </a:bodyPr>
          <a:lstStyle/>
          <a:p>
            <a:pPr>
              <a:defRPr sz="1000" b="1">
                <a:solidFill>
                  <a:srgbClr val="D97706"/>
                </a:solidFill>
                <a:latin typeface="Arial"/>
              </a:defRPr>
            </a:pPr>
            <a:r>
              <a:t>CAPABILITY MATURITY STACK</a:t>
            </a:r>
          </a:p>
        </p:txBody>
      </p:sp>
      <p:sp>
        <p:nvSpPr>
          <p:cNvPr id="10" name="Rounded Rectangle 9"/>
          <p:cNvSpPr/>
          <p:nvPr/>
        </p:nvSpPr>
        <p:spPr>
          <a:xfrm>
            <a:off x="7909560" y="1645920"/>
            <a:ext cx="3291840" cy="1280160"/>
          </a:xfrm>
          <a:prstGeom prst="roundRect">
            <a:avLst/>
          </a:prstGeom>
          <a:solidFill>
            <a:srgbClr val="1E1B14"/>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D97706"/>
                </a:solidFill>
              </a:defRPr>
            </a:pPr>
            <a:r>
              <a:t>LAYER 3: PREDICTIVE &amp; SIMULATION</a:t>
            </a:r>
          </a:p>
          <a:p>
            <a:pPr>
              <a:defRPr sz="1200" b="1">
                <a:solidFill>
                  <a:srgbClr val="F8FAFC"/>
                </a:solidFill>
              </a:defRPr>
            </a:pPr>
            <a:r>
              <a:t>Capacity Intelligence &amp; ePPDS</a:t>
            </a:r>
          </a:p>
          <a:p>
            <a:pPr>
              <a:defRPr sz="900">
                <a:solidFill>
                  <a:srgbClr val="94A3B8"/>
                </a:solidFill>
              </a:defRPr>
            </a:pPr>
            <a:r>
              <a:t>Finite capacity scheduling, ML bottleneck forecasting &amp; automated what-if scenario engines.</a:t>
            </a:r>
          </a:p>
        </p:txBody>
      </p:sp>
      <p:sp>
        <p:nvSpPr>
          <p:cNvPr id="11" name="Rounded Rectangle 10"/>
          <p:cNvSpPr/>
          <p:nvPr/>
        </p:nvSpPr>
        <p:spPr>
          <a:xfrm>
            <a:off x="7909560" y="3108960"/>
            <a:ext cx="3291840" cy="1280160"/>
          </a:xfrm>
          <a:prstGeom prst="roundRect">
            <a:avLst/>
          </a:prstGeom>
          <a:solidFill>
            <a:srgbClr val="0F1E3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00B4D8"/>
                </a:solidFill>
              </a:defRPr>
            </a:pPr>
            <a:r>
              <a:t>LAYER 2: DECISION COCKPIT</a:t>
            </a:r>
          </a:p>
          <a:p>
            <a:pPr>
              <a:defRPr sz="1200" b="1">
                <a:solidFill>
                  <a:srgbClr val="F8FAFC"/>
                </a:solidFill>
              </a:defRPr>
            </a:pPr>
            <a:r>
              <a:t>Real-Time Management Cockpit</a:t>
            </a:r>
          </a:p>
          <a:p>
            <a:pPr>
              <a:defRPr sz="900">
                <a:solidFill>
                  <a:srgbClr val="94A3B8"/>
                </a:solidFill>
              </a:defRPr>
            </a:pPr>
            <a:r>
              <a:t>Unified cross-functional risk scores, constraint heatmaps, and financial drag analysis.</a:t>
            </a:r>
          </a:p>
        </p:txBody>
      </p:sp>
      <p:sp>
        <p:nvSpPr>
          <p:cNvPr id="12" name="Rounded Rectangle 11"/>
          <p:cNvSpPr/>
          <p:nvPr/>
        </p:nvSpPr>
        <p:spPr>
          <a:xfrm>
            <a:off x="7909560" y="4572000"/>
            <a:ext cx="3291840" cy="1280160"/>
          </a:xfrm>
          <a:prstGeom prst="roundRect">
            <a:avLst/>
          </a:prstGeom>
          <a:solidFill>
            <a:srgbClr val="10231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10B981"/>
                </a:solidFill>
              </a:defRPr>
            </a:pPr>
            <a:r>
              <a:t>LAYER 1: FOUNDATIONAL MVP</a:t>
            </a:r>
          </a:p>
          <a:p>
            <a:pPr>
              <a:defRPr sz="1200" b="1">
                <a:solidFill>
                  <a:srgbClr val="F8FAFC"/>
                </a:solidFill>
              </a:defRPr>
            </a:pPr>
            <a:r>
              <a:t>Live Backlog &amp; Costing Reports</a:t>
            </a:r>
          </a:p>
          <a:p>
            <a:pPr>
              <a:defRPr sz="900">
                <a:solidFill>
                  <a:srgbClr val="94A3B8"/>
                </a:solidFill>
              </a:defRPr>
            </a:pPr>
            <a:r>
              <a:t>Direct automated SAP HANA extracts retiring manual Excel tracker sheets in 8–12 weeks.</a:t>
            </a:r>
          </a:p>
        </p:txBody>
      </p:sp>
      <p:sp>
        <p:nvSpPr>
          <p:cNvPr id="13" name="Rectangle 12"/>
          <p:cNvSpPr/>
          <p:nvPr/>
        </p:nvSpPr>
        <p:spPr>
          <a:xfrm>
            <a:off x="731520" y="6400800"/>
            <a:ext cx="10728655" cy="9144"/>
          </a:xfrm>
          <a:prstGeom prst="rect">
            <a:avLst/>
          </a:prstGeom>
          <a:solidFill>
            <a:srgbClr val="28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46520"/>
            <a:ext cx="7772400" cy="274320"/>
          </a:xfrm>
          <a:prstGeom prst="rect">
            <a:avLst/>
          </a:prstGeom>
          <a:noFill/>
        </p:spPr>
        <p:txBody>
          <a:bodyPr wrap="square" lIns="0" tIns="0">
            <a:spAutoFit/>
          </a:bodyPr>
          <a:lstStyle/>
          <a:p>
            <a:pPr>
              <a:defRPr sz="850">
                <a:solidFill>
                  <a:srgbClr val="94A3B8"/>
                </a:solidFill>
                <a:latin typeface="Arial"/>
              </a:defRPr>
            </a:pPr>
            <a:r>
              <a:t>Lumbini Elite Solutions  |  HICAL Technologies Strategic Roadmap  |  Confidential</a:t>
            </a:r>
          </a:p>
        </p:txBody>
      </p:sp>
      <p:sp>
        <p:nvSpPr>
          <p:cNvPr id="15" name="TextBox 14"/>
          <p:cNvSpPr txBox="1"/>
          <p:nvPr/>
        </p:nvSpPr>
        <p:spPr>
          <a:xfrm>
            <a:off x="10545775" y="6446520"/>
            <a:ext cx="914400" cy="274320"/>
          </a:xfrm>
          <a:prstGeom prst="rect">
            <a:avLst/>
          </a:prstGeom>
          <a:noFill/>
        </p:spPr>
        <p:txBody>
          <a:bodyPr wrap="square" rIns="0" tIns="0">
            <a:spAutoFit/>
          </a:bodyPr>
          <a:lstStyle/>
          <a:p>
            <a:pPr algn="r">
              <a:defRPr sz="850" b="1">
                <a:solidFill>
                  <a:srgbClr val="00B4D8"/>
                </a:solidFill>
                <a:latin typeface="Arial"/>
              </a:defRPr>
            </a:pPr>
            <a:r>
              <a:t>01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OPERATIONAL REALITY &amp; CONTEXT</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The Aerospace/Defense Manufacturing Complexity: Your Starting Point</a:t>
            </a:r>
          </a:p>
        </p:txBody>
      </p:sp>
      <p:sp>
        <p:nvSpPr>
          <p:cNvPr id="5" name="Rounded Rectangle 4"/>
          <p:cNvSpPr/>
          <p:nvPr/>
        </p:nvSpPr>
        <p:spPr>
          <a:xfrm>
            <a:off x="731520" y="1325880"/>
            <a:ext cx="2514600" cy="1051560"/>
          </a:xfrm>
          <a:prstGeom prst="roundRect">
            <a:avLst/>
          </a:prstGeom>
          <a:solidFill>
            <a:srgbClr val="FFFFFF"/>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000" b="1">
                <a:solidFill>
                  <a:srgbClr val="0066CC"/>
                </a:solidFill>
                <a:latin typeface="Arial"/>
              </a:defRPr>
            </a:pPr>
            <a:r>
              <a:t>1. Customer Orders (SD)</a:t>
            </a:r>
          </a:p>
          <a:p>
            <a:pPr>
              <a:defRPr sz="850">
                <a:solidFill>
                  <a:srgbClr val="0F172A"/>
                </a:solidFill>
                <a:latin typeface="Arial"/>
              </a:defRPr>
            </a:pPr>
            <a:r>
              <a:t>Firm MTO orders &amp; forecast demand; strict contractual delivery dates &amp; certifications.</a:t>
            </a:r>
          </a:p>
        </p:txBody>
      </p:sp>
      <p:sp>
        <p:nvSpPr>
          <p:cNvPr id="6" name="Right Arrow 5"/>
          <p:cNvSpPr/>
          <p:nvPr/>
        </p:nvSpPr>
        <p:spPr>
          <a:xfrm>
            <a:off x="3291839" y="1737360"/>
            <a:ext cx="128016"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65576" y="1325880"/>
            <a:ext cx="2514600" cy="1051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000" b="1">
                <a:solidFill>
                  <a:srgbClr val="D97706"/>
                </a:solidFill>
                <a:latin typeface="Arial"/>
              </a:defRPr>
            </a:pPr>
            <a:r>
              <a:t>2. MTO/MTS Planning (PP)</a:t>
            </a:r>
          </a:p>
          <a:p>
            <a:pPr>
              <a:defRPr sz="850">
                <a:solidFill>
                  <a:srgbClr val="0F172A"/>
                </a:solidFill>
                <a:latin typeface="Arial"/>
              </a:defRPr>
            </a:pPr>
            <a:r>
              <a:t>Multi-level routing, long-lead components, BOM explosion &amp; capacity allocations.</a:t>
            </a:r>
          </a:p>
        </p:txBody>
      </p:sp>
      <p:sp>
        <p:nvSpPr>
          <p:cNvPr id="8" name="Right Arrow 7"/>
          <p:cNvSpPr/>
          <p:nvPr/>
        </p:nvSpPr>
        <p:spPr>
          <a:xfrm>
            <a:off x="6025896" y="1737360"/>
            <a:ext cx="128016"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99632" y="1325880"/>
            <a:ext cx="2514600" cy="105156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000" b="1">
                <a:solidFill>
                  <a:srgbClr val="7C3AED"/>
                </a:solidFill>
                <a:latin typeface="Arial"/>
              </a:defRPr>
            </a:pPr>
            <a:r>
              <a:t>3. Multi-Facility Execution (EWM)</a:t>
            </a:r>
          </a:p>
          <a:p>
            <a:pPr>
              <a:defRPr sz="850">
                <a:solidFill>
                  <a:srgbClr val="0F172A"/>
                </a:solidFill>
                <a:latin typeface="Arial"/>
              </a:defRPr>
            </a:pPr>
            <a:r>
              <a:t>Precision CNC, winding &amp; sheet metal lines with setup constraints &amp; QA gates.</a:t>
            </a:r>
          </a:p>
        </p:txBody>
      </p:sp>
      <p:sp>
        <p:nvSpPr>
          <p:cNvPr id="10" name="Right Arrow 9"/>
          <p:cNvSpPr/>
          <p:nvPr/>
        </p:nvSpPr>
        <p:spPr>
          <a:xfrm>
            <a:off x="8759952" y="1737360"/>
            <a:ext cx="128016" cy="22860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33688" y="1325880"/>
            <a:ext cx="2514600" cy="10515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000" b="1">
                <a:solidFill>
                  <a:srgbClr val="10B981"/>
                </a:solidFill>
                <a:latin typeface="Arial"/>
              </a:defRPr>
            </a:pPr>
            <a:r>
              <a:t>4. Supplier Network (MM/SCP)</a:t>
            </a:r>
          </a:p>
          <a:p>
            <a:pPr>
              <a:defRPr sz="850">
                <a:solidFill>
                  <a:srgbClr val="0F172A"/>
                </a:solidFill>
                <a:latin typeface="Arial"/>
              </a:defRPr>
            </a:pPr>
            <a:r>
              <a:t>Global high-reliability sourcing + local precision subcontracting with variable leads.</a:t>
            </a:r>
          </a:p>
        </p:txBody>
      </p:sp>
      <p:sp>
        <p:nvSpPr>
          <p:cNvPr id="12" name="Rounded Rectangle 11"/>
          <p:cNvSpPr/>
          <p:nvPr/>
        </p:nvSpPr>
        <p:spPr>
          <a:xfrm>
            <a:off x="731520" y="2542032"/>
            <a:ext cx="5257800" cy="2514600"/>
          </a:xfrm>
          <a:prstGeom prst="roundRect">
            <a:avLst/>
          </a:prstGeom>
          <a:solidFill>
            <a:srgbClr val="FEF2F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sz="1000" b="1">
                <a:solidFill>
                  <a:srgbClr val="EF4444"/>
                </a:solidFill>
                <a:latin typeface="Arial"/>
              </a:defRPr>
            </a:pPr>
            <a:r>
              <a:t>CURRENT STATE PAIN POINTS (REACTIVE MODE)</a:t>
            </a:r>
          </a:p>
          <a:p>
            <a:pPr>
              <a:spcBef>
                <a:spcPts val="400"/>
              </a:spcBef>
            </a:pPr>
            <a:r>
              <a:rPr b="1" sz="900">
                <a:solidFill>
                  <a:srgbClr val="0F172A"/>
                </a:solidFill>
              </a:rPr>
              <a:t>• Manual Excel Backlog Tracking: </a:t>
            </a:r>
            <a:r>
              <a:rPr b="0" sz="900">
                <a:solidFill>
                  <a:srgbClr val="64748B"/>
                </a:solidFill>
              </a:rPr>
              <a:t>Planners burn 2+ hours/week reconciling orders, promises, and status across spreadsheets.</a:t>
            </a:r>
          </a:p>
          <a:p>
            <a:pPr>
              <a:spcBef>
                <a:spcPts val="400"/>
              </a:spcBef>
            </a:pPr>
            <a:r>
              <a:rPr b="1" sz="900">
                <a:solidFill>
                  <a:srgbClr val="0F172A"/>
                </a:solidFill>
              </a:rPr>
              <a:t>• Siloed Departmental Visibility: </a:t>
            </a:r>
            <a:r>
              <a:rPr b="0" sz="900">
                <a:solidFill>
                  <a:srgbClr val="64748B"/>
                </a:solidFill>
              </a:rPr>
              <a:t>Sales, Planning, Finance, and Operations manage divergent versions of truth.</a:t>
            </a:r>
          </a:p>
          <a:p>
            <a:pPr>
              <a:spcBef>
                <a:spcPts val="400"/>
              </a:spcBef>
            </a:pPr>
            <a:r>
              <a:rPr b="1" sz="900">
                <a:solidFill>
                  <a:srgbClr val="0F172A"/>
                </a:solidFill>
              </a:rPr>
              <a:t>• Late Bottleneck Discovery: </a:t>
            </a:r>
            <a:r>
              <a:rPr b="0" sz="900">
                <a:solidFill>
                  <a:srgbClr val="64748B"/>
                </a:solidFill>
              </a:rPr>
              <a:t>Capacity constraints are discovered only when a work center backs up, forcing crisis overtime.</a:t>
            </a:r>
          </a:p>
          <a:p>
            <a:pPr>
              <a:spcBef>
                <a:spcPts val="400"/>
              </a:spcBef>
            </a:pPr>
            <a:r>
              <a:rPr b="1" sz="900">
                <a:solidFill>
                  <a:srgbClr val="0F172A"/>
                </a:solidFill>
              </a:rPr>
              <a:t>• Cost Variance Blind Spot: </a:t>
            </a:r>
            <a:r>
              <a:rPr b="0" sz="900">
                <a:solidFill>
                  <a:srgbClr val="64748B"/>
                </a:solidFill>
              </a:rPr>
              <a:t>True backlog cost drag is hidden in lagging monthly CO variance reports long after execution.</a:t>
            </a:r>
          </a:p>
        </p:txBody>
      </p:sp>
      <p:sp>
        <p:nvSpPr>
          <p:cNvPr id="13" name="Rounded Rectangle 12"/>
          <p:cNvSpPr/>
          <p:nvPr/>
        </p:nvSpPr>
        <p:spPr>
          <a:xfrm>
            <a:off x="6199632" y="2542032"/>
            <a:ext cx="5257800" cy="2514600"/>
          </a:xfrm>
          <a:prstGeom prst="roundRect">
            <a:avLst/>
          </a:prstGeom>
          <a:solidFill>
            <a:srgbClr val="FFFFFF"/>
          </a:solidFill>
          <a:ln w="1524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sz="1000" b="1">
                <a:solidFill>
                  <a:srgbClr val="0066CC"/>
                </a:solidFill>
                <a:latin typeface="Arial"/>
              </a:defRPr>
            </a:pPr>
            <a:r>
              <a:t>AEROSPACE &amp; DEFENSE OPERATIONAL DRIVERS</a:t>
            </a:r>
          </a:p>
          <a:p>
            <a:pPr>
              <a:spcBef>
                <a:spcPts val="400"/>
              </a:spcBef>
            </a:pPr>
            <a:r>
              <a:rPr b="1" sz="900">
                <a:solidFill>
                  <a:srgbClr val="0F172A"/>
                </a:solidFill>
              </a:rPr>
              <a:t>• 100% On-Time, Zero-Defect Mandate: </a:t>
            </a:r>
            <a:r>
              <a:rPr b="0" sz="900">
                <a:solidFill>
                  <a:srgbClr val="64748B"/>
                </a:solidFill>
              </a:rPr>
              <a:t>Defense Tier-1 contracts carry heavy delay penalties, strict qualification audits, and zero tolerance.</a:t>
            </a:r>
          </a:p>
          <a:p>
            <a:pPr>
              <a:spcBef>
                <a:spcPts val="400"/>
              </a:spcBef>
            </a:pPr>
            <a:r>
              <a:rPr b="1" sz="900">
                <a:solidFill>
                  <a:srgbClr val="0F172A"/>
                </a:solidFill>
              </a:rPr>
              <a:t>• Complex Hybrid Production Mix: </a:t>
            </a:r>
            <a:r>
              <a:rPr b="0" sz="900">
                <a:solidFill>
                  <a:srgbClr val="64748B"/>
                </a:solidFill>
              </a:rPr>
              <a:t>Make-to-Order (MTO) customer builds combined with forecast-driven subassemblies (MTS).</a:t>
            </a:r>
          </a:p>
          <a:p>
            <a:pPr>
              <a:spcBef>
                <a:spcPts val="400"/>
              </a:spcBef>
            </a:pPr>
            <a:r>
              <a:rPr b="1" sz="900">
                <a:solidFill>
                  <a:srgbClr val="0F172A"/>
                </a:solidFill>
              </a:rPr>
              <a:t>• Multi-Tier BOM Dependencies: </a:t>
            </a:r>
            <a:r>
              <a:rPr b="0" sz="900">
                <a:solidFill>
                  <a:srgbClr val="64748B"/>
                </a:solidFill>
              </a:rPr>
              <a:t>Sheet metal, precision winding, high-spec assembly, and subcontracts with distinct lead times.</a:t>
            </a:r>
          </a:p>
          <a:p>
            <a:pPr>
              <a:spcBef>
                <a:spcPts val="400"/>
              </a:spcBef>
            </a:pPr>
            <a:r>
              <a:rPr b="1" sz="900">
                <a:solidFill>
                  <a:srgbClr val="0F172A"/>
                </a:solidFill>
              </a:rPr>
              <a:t>• Strict Quality Gate Hurdles: </a:t>
            </a:r>
            <a:r>
              <a:rPr b="0" sz="900">
                <a:solidFill>
                  <a:srgbClr val="64748B"/>
                </a:solidFill>
              </a:rPr>
              <a:t>FAI (First Article Inspection) and SPC holds create execution delays that must be dynamically factored.</a:t>
            </a:r>
          </a:p>
        </p:txBody>
      </p:sp>
      <p:sp>
        <p:nvSpPr>
          <p:cNvPr id="14" name="Rounded Rectangle 13"/>
          <p:cNvSpPr/>
          <p:nvPr/>
        </p:nvSpPr>
        <p:spPr>
          <a:xfrm>
            <a:off x="731520" y="5166360"/>
            <a:ext cx="10728655" cy="1097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950" b="1">
                <a:solidFill>
                  <a:srgbClr val="0066CC"/>
                </a:solidFill>
                <a:latin typeface="Arial"/>
              </a:defRPr>
            </a:pPr>
            <a:r>
              <a:t>HICAL'S ENTERPRISE IT &amp; DATA ASSETS: THE LEVERAGE POINT</a:t>
            </a:r>
          </a:p>
          <a:p>
            <a:pPr>
              <a:spcBef>
                <a:spcPts val="300"/>
              </a:spcBef>
              <a:defRPr sz="850">
                <a:solidFill>
                  <a:srgbClr val="0F172A"/>
                </a:solidFill>
                <a:latin typeface="Arial"/>
              </a:defRPr>
            </a:pPr>
            <a:r>
              <a:t>• Core System: SAP HANA (MM, PP, PS, SD, EWM, CO/CA, BI) contains all operational data, but lacks a synthesized capacity-risk layer.</a:t>
            </a:r>
            <a:br/>
            <a:r>
              <a:t>• Advanced Planning: APO/ePPDS capable architecture exists within SAP, but is currently underutilized for finite constraint-based scheduling.</a:t>
            </a:r>
            <a:br/>
            <a:r>
              <a:t>• Analytics Layer: Tableau dashboards are already deployed across management, but are fed by manual Excel extracts rather than live SAP pipelines.</a:t>
            </a:r>
          </a:p>
        </p:txBody>
      </p:sp>
      <p:sp>
        <p:nvSpPr>
          <p:cNvPr id="15" name="Rectangle 14"/>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7" name="TextBox 16"/>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02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STRATEGIC REFRAMING</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From 'Two Reports' to 'One Integrated Management System'</a:t>
            </a:r>
          </a:p>
        </p:txBody>
      </p:sp>
      <p:sp>
        <p:nvSpPr>
          <p:cNvPr id="5" name="Rounded Rectangle 4"/>
          <p:cNvSpPr/>
          <p:nvPr/>
        </p:nvSpPr>
        <p:spPr>
          <a:xfrm>
            <a:off x="731520" y="1280160"/>
            <a:ext cx="3108960" cy="246888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1000" b="1">
                <a:solidFill>
                  <a:srgbClr val="64748B"/>
                </a:solidFill>
                <a:latin typeface="Arial"/>
              </a:defRPr>
            </a:pPr>
            <a:r>
              <a:t>YOUR REQUEST (LITERAL VIEW)</a:t>
            </a:r>
          </a:p>
          <a:p>
            <a:pPr>
              <a:spcBef>
                <a:spcPts val="600"/>
              </a:spcBef>
              <a:defRPr sz="850">
                <a:solidFill>
                  <a:srgbClr val="0F172A"/>
                </a:solidFill>
              </a:defRPr>
            </a:pPr>
            <a:r>
              <a:t>• Report 1: Backlog Report with open orders and current status.</a:t>
            </a:r>
          </a:p>
          <a:p>
            <a:pPr>
              <a:spcBef>
                <a:spcPts val="600"/>
              </a:spcBef>
              <a:defRPr sz="850">
                <a:solidFill>
                  <a:srgbClr val="0F172A"/>
                </a:solidFill>
              </a:defRPr>
            </a:pPr>
            <a:r>
              <a:t>• Report 2: Costing Report showing backlog cost figures.</a:t>
            </a:r>
          </a:p>
          <a:p>
            <a:pPr>
              <a:spcBef>
                <a:spcPts val="600"/>
              </a:spcBef>
              <a:defRPr sz="850">
                <a:solidFill>
                  <a:srgbClr val="0F172A"/>
                </a:solidFill>
              </a:defRPr>
            </a:pPr>
            <a:r>
              <a:t>• Approach: Flat tabular Excel or basic BI extract.</a:t>
            </a:r>
          </a:p>
          <a:p>
            <a:pPr>
              <a:spcBef>
                <a:spcPts val="600"/>
              </a:spcBef>
              <a:defRPr sz="850">
                <a:solidFill>
                  <a:srgbClr val="0F172A"/>
                </a:solidFill>
              </a:defRPr>
            </a:pPr>
            <a:r>
              <a:t>• Outcome: Static snapshots that freeze at demand spikes and trigger endless reconciliation meetings.</a:t>
            </a:r>
          </a:p>
        </p:txBody>
      </p:sp>
      <p:sp>
        <p:nvSpPr>
          <p:cNvPr id="6" name="Rounded Rectangle 5"/>
          <p:cNvSpPr/>
          <p:nvPr/>
        </p:nvSpPr>
        <p:spPr>
          <a:xfrm>
            <a:off x="3977639" y="2103120"/>
            <a:ext cx="822960" cy="82296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a:t>
            </a:r>
            <a:br/>
            <a:r>
              <a:t>VALUE</a:t>
            </a:r>
          </a:p>
        </p:txBody>
      </p:sp>
      <p:sp>
        <p:nvSpPr>
          <p:cNvPr id="7" name="Rounded Rectangle 6"/>
          <p:cNvSpPr/>
          <p:nvPr/>
        </p:nvSpPr>
        <p:spPr>
          <a:xfrm>
            <a:off x="4937760" y="1280160"/>
            <a:ext cx="6522415" cy="2468880"/>
          </a:xfrm>
          <a:prstGeom prst="roundRect">
            <a:avLst/>
          </a:prstGeom>
          <a:solidFill>
            <a:srgbClr val="FFFFFF"/>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1050" b="1">
                <a:solidFill>
                  <a:srgbClr val="0066CC"/>
                </a:solidFill>
                <a:latin typeface="Arial"/>
              </a:defRPr>
            </a:pPr>
            <a:r>
              <a:t>OUR INTERPRETATION (INTEGRATED SYSTEMS VIEW)</a:t>
            </a:r>
          </a:p>
          <a:p>
            <a:pPr>
              <a:spcBef>
                <a:spcPts val="500"/>
              </a:spcBef>
            </a:pPr>
            <a:r>
              <a:rPr b="1" sz="900">
                <a:solidFill>
                  <a:srgbClr val="0F172A"/>
                </a:solidFill>
              </a:rPr>
              <a:t>• 1. Order Pipeline &amp; Risk Management: </a:t>
            </a:r>
            <a:r>
              <a:rPr b="0" sz="850">
                <a:solidFill>
                  <a:srgbClr val="64748B"/>
                </a:solidFill>
              </a:rPr>
              <a:t>Enriches backlog with buffer health, dynamic risk scoring (1-10), QA status, and material readiness.</a:t>
            </a:r>
          </a:p>
          <a:p>
            <a:pPr>
              <a:spcBef>
                <a:spcPts val="500"/>
              </a:spcBef>
            </a:pPr>
            <a:r>
              <a:rPr b="1" sz="900">
                <a:solidFill>
                  <a:srgbClr val="0F172A"/>
                </a:solidFill>
              </a:rPr>
              <a:t>• 2. Capacity-Finance Bridge: </a:t>
            </a:r>
            <a:r>
              <a:rPr b="0" sz="850">
                <a:solidFill>
                  <a:srgbClr val="64748B"/>
                </a:solidFill>
              </a:rPr>
              <a:t>Links specific work center bottlenecks (CNC, sheet metal) directly to the financial cost of delayed orders.</a:t>
            </a:r>
          </a:p>
          <a:p>
            <a:pPr>
              <a:spcBef>
                <a:spcPts val="500"/>
              </a:spcBef>
            </a:pPr>
            <a:r>
              <a:rPr b="1" sz="900">
                <a:solidFill>
                  <a:srgbClr val="0F172A"/>
                </a:solidFill>
              </a:rPr>
              <a:t>• 3. Integrated Management Cockpit: </a:t>
            </a:r>
            <a:r>
              <a:rPr b="0" sz="850">
                <a:solidFill>
                  <a:srgbClr val="64748B"/>
                </a:solidFill>
              </a:rPr>
              <a:t>Unifies order pipeline, capacity utilization, and what-if simulation (shift addition, expediting, sequencing) in live Tableau.</a:t>
            </a:r>
          </a:p>
        </p:txBody>
      </p:sp>
      <p:graphicFrame>
        <p:nvGraphicFramePr>
          <p:cNvPr id="8" name="Table 7"/>
          <p:cNvGraphicFramePr>
            <a:graphicFrameLocks noGrp="1"/>
          </p:cNvGraphicFramePr>
          <p:nvPr/>
        </p:nvGraphicFramePr>
        <p:xfrm>
          <a:off x="731520" y="3931920"/>
          <a:ext cx="10728655" cy="2331720"/>
        </p:xfrm>
        <a:graphic>
          <a:graphicData uri="http://schemas.openxmlformats.org/drawingml/2006/table">
            <a:tbl>
              <a:tblPr firstRow="1" bandRow="1">
                <a:tableStyleId>{5C22544A-7EE6-4342-B048-85BDC9FD1C3A}</a:tableStyleId>
              </a:tblPr>
              <a:tblGrid>
                <a:gridCol w="2011680"/>
                <a:gridCol w="4023360"/>
                <a:gridCol w="4693615"/>
              </a:tblGrid>
              <a:tr h="333102">
                <a:tc>
                  <a:txBody>
                    <a:bodyPr/>
                    <a:lstStyle/>
                    <a:p>
                      <a:pPr>
                        <a:defRPr b="1" sz="900">
                          <a:solidFill>
                            <a:srgbClr val="FFFFFF"/>
                          </a:solidFill>
                        </a:defRPr>
                      </a:pPr>
                      <a:r>
                        <a:t>Dimension</a:t>
                      </a:r>
                    </a:p>
                  </a:txBody>
                  <a:tcPr>
                    <a:solidFill>
                      <a:srgbClr val="151F3C"/>
                    </a:solidFill>
                  </a:tcPr>
                </a:tc>
                <a:tc>
                  <a:txBody>
                    <a:bodyPr/>
                    <a:lstStyle/>
                    <a:p>
                      <a:pPr>
                        <a:defRPr b="1" sz="900">
                          <a:solidFill>
                            <a:srgbClr val="FFFFFF"/>
                          </a:solidFill>
                        </a:defRPr>
                      </a:pPr>
                      <a:r>
                        <a:t>Report-Only Approach (Traditional)</a:t>
                      </a:r>
                    </a:p>
                  </a:txBody>
                  <a:tcPr>
                    <a:solidFill>
                      <a:srgbClr val="151F3C"/>
                    </a:solidFill>
                  </a:tcPr>
                </a:tc>
                <a:tc>
                  <a:txBody>
                    <a:bodyPr/>
                    <a:lstStyle/>
                    <a:p>
                      <a:pPr>
                        <a:defRPr b="1" sz="900">
                          <a:solidFill>
                            <a:srgbClr val="FFFFFF"/>
                          </a:solidFill>
                        </a:defRPr>
                      </a:pPr>
                      <a:r>
                        <a:t>Integrated Cockpit Approach (Lumbini Proposal)</a:t>
                      </a:r>
                    </a:p>
                  </a:txBody>
                  <a:tcPr>
                    <a:solidFill>
                      <a:srgbClr val="0066CC"/>
                    </a:solidFill>
                  </a:tcPr>
                </a:tc>
              </a:tr>
              <a:tr h="333102">
                <a:tc>
                  <a:txBody>
                    <a:bodyPr/>
                    <a:lstStyle/>
                    <a:p>
                      <a:pPr>
                        <a:defRPr sz="850" b="1">
                          <a:solidFill>
                            <a:srgbClr val="0F172A"/>
                          </a:solidFill>
                        </a:defRPr>
                      </a:pPr>
                      <a:r>
                        <a:t>Scope &amp; Horizon</a:t>
                      </a:r>
                    </a:p>
                  </a:txBody>
                  <a:tcPr>
                    <a:solidFill>
                      <a:srgbClr val="FFFFFF"/>
                    </a:solidFill>
                  </a:tcPr>
                </a:tc>
                <a:tc>
                  <a:txBody>
                    <a:bodyPr/>
                    <a:lstStyle/>
                    <a:p>
                      <a:pPr>
                        <a:defRPr sz="850" b="0">
                          <a:solidFill>
                            <a:srgbClr val="0F172A"/>
                          </a:solidFill>
                        </a:defRPr>
                      </a:pPr>
                      <a:r>
                        <a:t>Static order listing + basic historical cost summaries</a:t>
                      </a:r>
                    </a:p>
                  </a:txBody>
                  <a:tcPr>
                    <a:solidFill>
                      <a:srgbClr val="FFFFFF"/>
                    </a:solidFill>
                  </a:tcPr>
                </a:tc>
                <a:tc>
                  <a:txBody>
                    <a:bodyPr/>
                    <a:lstStyle/>
                    <a:p>
                      <a:pPr>
                        <a:defRPr sz="850" b="1">
                          <a:solidFill>
                            <a:srgbClr val="0066CC"/>
                          </a:solidFill>
                        </a:defRPr>
                      </a:pPr>
                      <a:r>
                        <a:t>Order pipeline + capacity load + financial drag + action engine</a:t>
                      </a:r>
                    </a:p>
                  </a:txBody>
                  <a:tcPr>
                    <a:solidFill>
                      <a:srgbClr val="F0F9FF"/>
                    </a:solidFill>
                  </a:tcPr>
                </a:tc>
              </a:tr>
              <a:tr h="333102">
                <a:tc>
                  <a:txBody>
                    <a:bodyPr/>
                    <a:lstStyle/>
                    <a:p>
                      <a:pPr>
                        <a:defRPr sz="850" b="1">
                          <a:solidFill>
                            <a:srgbClr val="0F172A"/>
                          </a:solidFill>
                        </a:defRPr>
                      </a:pPr>
                      <a:r>
                        <a:t>Data Latency</a:t>
                      </a:r>
                    </a:p>
                  </a:txBody>
                  <a:tcPr>
                    <a:solidFill>
                      <a:srgbClr val="F1F5F9"/>
                    </a:solidFill>
                  </a:tcPr>
                </a:tc>
                <a:tc>
                  <a:txBody>
                    <a:bodyPr/>
                    <a:lstStyle/>
                    <a:p>
                      <a:pPr>
                        <a:defRPr sz="850" b="0">
                          <a:solidFill>
                            <a:srgbClr val="0F172A"/>
                          </a:solidFill>
                        </a:defRPr>
                      </a:pPr>
                      <a:r>
                        <a:t>Daily or weekly manual Excel extracts</a:t>
                      </a:r>
                    </a:p>
                  </a:txBody>
                  <a:tcPr>
                    <a:solidFill>
                      <a:srgbClr val="F1F5F9"/>
                    </a:solidFill>
                  </a:tcPr>
                </a:tc>
                <a:tc>
                  <a:txBody>
                    <a:bodyPr/>
                    <a:lstStyle/>
                    <a:p>
                      <a:pPr>
                        <a:defRPr sz="850" b="1">
                          <a:solidFill>
                            <a:srgbClr val="0066CC"/>
                          </a:solidFill>
                        </a:defRPr>
                      </a:pPr>
                      <a:r>
                        <a:t>Near real-time (4-hr live automated refresh directly from SAP)</a:t>
                      </a:r>
                    </a:p>
                  </a:txBody>
                  <a:tcPr>
                    <a:solidFill>
                      <a:srgbClr val="F0F9FF"/>
                    </a:solidFill>
                  </a:tcPr>
                </a:tc>
              </a:tr>
              <a:tr h="333102">
                <a:tc>
                  <a:txBody>
                    <a:bodyPr/>
                    <a:lstStyle/>
                    <a:p>
                      <a:pPr>
                        <a:defRPr sz="850" b="1">
                          <a:solidFill>
                            <a:srgbClr val="0F172A"/>
                          </a:solidFill>
                        </a:defRPr>
                      </a:pPr>
                      <a:r>
                        <a:t>Depth of Insight</a:t>
                      </a:r>
                    </a:p>
                  </a:txBody>
                  <a:tcPr>
                    <a:solidFill>
                      <a:srgbClr val="FFFFFF"/>
                    </a:solidFill>
                  </a:tcPr>
                </a:tc>
                <a:tc>
                  <a:txBody>
                    <a:bodyPr/>
                    <a:lstStyle/>
                    <a:p>
                      <a:pPr>
                        <a:defRPr sz="850" b="0">
                          <a:solidFill>
                            <a:srgbClr val="0F172A"/>
                          </a:solidFill>
                        </a:defRPr>
                      </a:pPr>
                      <a:r>
                        <a:t>Answers WHAT is late after it occurs</a:t>
                      </a:r>
                    </a:p>
                  </a:txBody>
                  <a:tcPr>
                    <a:solidFill>
                      <a:srgbClr val="FFFFFF"/>
                    </a:solidFill>
                  </a:tcPr>
                </a:tc>
                <a:tc>
                  <a:txBody>
                    <a:bodyPr/>
                    <a:lstStyle/>
                    <a:p>
                      <a:pPr>
                        <a:defRPr sz="850" b="1">
                          <a:solidFill>
                            <a:srgbClr val="0066CC"/>
                          </a:solidFill>
                        </a:defRPr>
                      </a:pPr>
                      <a:r>
                        <a:t>Answers WHAT, WHY, WHICH constraints, and FINANCIAL IMPACT</a:t>
                      </a:r>
                    </a:p>
                  </a:txBody>
                  <a:tcPr>
                    <a:solidFill>
                      <a:srgbClr val="F0F9FF"/>
                    </a:solidFill>
                  </a:tcPr>
                </a:tc>
              </a:tr>
              <a:tr h="333102">
                <a:tc>
                  <a:txBody>
                    <a:bodyPr/>
                    <a:lstStyle/>
                    <a:p>
                      <a:pPr>
                        <a:defRPr sz="850" b="1">
                          <a:solidFill>
                            <a:srgbClr val="0F172A"/>
                          </a:solidFill>
                        </a:defRPr>
                      </a:pPr>
                      <a:r>
                        <a:t>Operational Value</a:t>
                      </a:r>
                    </a:p>
                  </a:txBody>
                  <a:tcPr>
                    <a:solidFill>
                      <a:srgbClr val="F1F5F9"/>
                    </a:solidFill>
                  </a:tcPr>
                </a:tc>
                <a:tc>
                  <a:txBody>
                    <a:bodyPr/>
                    <a:lstStyle/>
                    <a:p>
                      <a:pPr>
                        <a:defRPr sz="850" b="0">
                          <a:solidFill>
                            <a:srgbClr val="0F172A"/>
                          </a:solidFill>
                        </a:defRPr>
                      </a:pPr>
                      <a:r>
                        <a:t>Triggers meetings, debate, and firefighting</a:t>
                      </a:r>
                    </a:p>
                  </a:txBody>
                  <a:tcPr>
                    <a:solidFill>
                      <a:srgbClr val="F1F5F9"/>
                    </a:solidFill>
                  </a:tcPr>
                </a:tc>
                <a:tc>
                  <a:txBody>
                    <a:bodyPr/>
                    <a:lstStyle/>
                    <a:p>
                      <a:pPr>
                        <a:defRPr sz="850" b="1">
                          <a:solidFill>
                            <a:srgbClr val="0066CC"/>
                          </a:solidFill>
                        </a:defRPr>
                      </a:pPr>
                      <a:r>
                        <a:t>Drives actionable decisions directly from exception dashboards</a:t>
                      </a:r>
                    </a:p>
                  </a:txBody>
                  <a:tcPr>
                    <a:solidFill>
                      <a:srgbClr val="F0F9FF"/>
                    </a:solidFill>
                  </a:tcPr>
                </a:tc>
              </a:tr>
              <a:tr h="333102">
                <a:tc>
                  <a:txBody>
                    <a:bodyPr/>
                    <a:lstStyle/>
                    <a:p>
                      <a:pPr>
                        <a:defRPr sz="850" b="1">
                          <a:solidFill>
                            <a:srgbClr val="0F172A"/>
                          </a:solidFill>
                        </a:defRPr>
                      </a:pPr>
                      <a:r>
                        <a:t>Adaptability</a:t>
                      </a:r>
                    </a:p>
                  </a:txBody>
                  <a:tcPr>
                    <a:solidFill>
                      <a:srgbClr val="FFFFFF"/>
                    </a:solidFill>
                  </a:tcPr>
                </a:tc>
                <a:tc>
                  <a:txBody>
                    <a:bodyPr/>
                    <a:lstStyle/>
                    <a:p>
                      <a:pPr>
                        <a:defRPr sz="850" b="0">
                          <a:solidFill>
                            <a:srgbClr val="0F172A"/>
                          </a:solidFill>
                        </a:defRPr>
                      </a:pPr>
                      <a:r>
                        <a:t>Breaks down during volume spikes or supply shocks</a:t>
                      </a:r>
                    </a:p>
                  </a:txBody>
                  <a:tcPr>
                    <a:solidFill>
                      <a:srgbClr val="FFFFFF"/>
                    </a:solidFill>
                  </a:tcPr>
                </a:tc>
                <a:tc>
                  <a:txBody>
                    <a:bodyPr/>
                    <a:lstStyle/>
                    <a:p>
                      <a:pPr>
                        <a:defRPr sz="850" b="1">
                          <a:solidFill>
                            <a:srgbClr val="0066CC"/>
                          </a:solidFill>
                        </a:defRPr>
                      </a:pPr>
                      <a:r>
                        <a:t>Dynamically absorbs changes in priority, shifts, or vendor status</a:t>
                      </a:r>
                    </a:p>
                  </a:txBody>
                  <a:tcPr>
                    <a:solidFill>
                      <a:srgbClr val="F0F9FF"/>
                    </a:solidFill>
                  </a:tcPr>
                </a:tc>
              </a:tr>
              <a:tr h="333108">
                <a:tc>
                  <a:txBody>
                    <a:bodyPr/>
                    <a:lstStyle/>
                    <a:p>
                      <a:pPr>
                        <a:defRPr sz="850" b="1">
                          <a:solidFill>
                            <a:srgbClr val="0F172A"/>
                          </a:solidFill>
                        </a:defRPr>
                      </a:pPr>
                      <a:r>
                        <a:t>Phase 1 Delivery</a:t>
                      </a:r>
                    </a:p>
                  </a:txBody>
                  <a:tcPr>
                    <a:solidFill>
                      <a:srgbClr val="F1F5F9"/>
                    </a:solidFill>
                  </a:tcPr>
                </a:tc>
                <a:tc>
                  <a:txBody>
                    <a:bodyPr/>
                    <a:lstStyle/>
                    <a:p>
                      <a:pPr>
                        <a:defRPr sz="850" b="0">
                          <a:solidFill>
                            <a:srgbClr val="0F172A"/>
                          </a:solidFill>
                        </a:defRPr>
                      </a:pPr>
                      <a:r>
                        <a:t>6–8 weeks for basic reports</a:t>
                      </a:r>
                    </a:p>
                  </a:txBody>
                  <a:tcPr>
                    <a:solidFill>
                      <a:srgbClr val="F1F5F9"/>
                    </a:solidFill>
                  </a:tcPr>
                </a:tc>
                <a:tc>
                  <a:txBody>
                    <a:bodyPr/>
                    <a:lstStyle/>
                    <a:p>
                      <a:pPr>
                        <a:defRPr sz="850" b="1">
                          <a:solidFill>
                            <a:srgbClr val="0066CC"/>
                          </a:solidFill>
                        </a:defRPr>
                      </a:pPr>
                      <a:r>
                        <a:t>8–12 weeks for automated reports AND integrated MVP dashboard</a:t>
                      </a:r>
                    </a:p>
                  </a:txBody>
                  <a:tcPr>
                    <a:solidFill>
                      <a:srgbClr val="F0F9FF"/>
                    </a:solidFill>
                  </a:tcPr>
                </a:tc>
              </a:tr>
            </a:tbl>
          </a:graphicData>
        </a:graphic>
      </p:graphicFrame>
      <p:sp>
        <p:nvSpPr>
          <p:cNvPr id="9" name="Rectangle 8"/>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1" name="TextBox 10"/>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03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OPERATIONAL TRANSFORMATION &amp; ROI</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Moving from Reactive Crisis Management to Proactive Capacity Intelligence</a:t>
            </a:r>
          </a:p>
        </p:txBody>
      </p:sp>
      <p:sp>
        <p:nvSpPr>
          <p:cNvPr id="5" name="Rounded Rectangle 4"/>
          <p:cNvSpPr/>
          <p:nvPr/>
        </p:nvSpPr>
        <p:spPr>
          <a:xfrm>
            <a:off x="731520" y="1234440"/>
            <a:ext cx="5257800" cy="2057400"/>
          </a:xfrm>
          <a:prstGeom prst="roundRect">
            <a:avLst/>
          </a:prstGeom>
          <a:solidFill>
            <a:srgbClr val="FEF2F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950" b="1">
                <a:solidFill>
                  <a:srgbClr val="EF4444"/>
                </a:solidFill>
                <a:latin typeface="Arial"/>
              </a:defRPr>
            </a:pPr>
            <a:r>
              <a:t>CURRENT: REACTIVE CYCLE (25+ DAY LAG TO CRISIS)</a:t>
            </a:r>
          </a:p>
          <a:p>
            <a:pPr>
              <a:spcBef>
                <a:spcPts val="200"/>
              </a:spcBef>
              <a:defRPr sz="800">
                <a:solidFill>
                  <a:srgbClr val="0F172A"/>
                </a:solidFill>
              </a:defRPr>
            </a:pPr>
            <a:r>
              <a:t>• Day 1: Order entered into SAP without forward capacity bottleneck check.</a:t>
            </a:r>
          </a:p>
          <a:p>
            <a:pPr>
              <a:spcBef>
                <a:spcPts val="200"/>
              </a:spcBef>
              <a:defRPr sz="800">
                <a:solidFill>
                  <a:srgbClr val="0F172A"/>
                </a:solidFill>
              </a:defRPr>
            </a:pPr>
            <a:r>
              <a:t>• Day 15: Planners spot backlog spike manually in Excel sheet during weekly review.</a:t>
            </a:r>
          </a:p>
          <a:p>
            <a:pPr>
              <a:spcBef>
                <a:spcPts val="200"/>
              </a:spcBef>
              <a:defRPr sz="800">
                <a:solidFill>
                  <a:srgbClr val="0F172A"/>
                </a:solidFill>
              </a:defRPr>
            </a:pPr>
            <a:r>
              <a:t>• Day 20: Work center bottleneck hit on shop floor; parts halted.</a:t>
            </a:r>
          </a:p>
          <a:p>
            <a:pPr>
              <a:spcBef>
                <a:spcPts val="200"/>
              </a:spcBef>
              <a:defRPr sz="800">
                <a:solidFill>
                  <a:srgbClr val="0F172A"/>
                </a:solidFill>
              </a:defRPr>
            </a:pPr>
            <a:r>
              <a:t>• Day 25: Customer escalates impending late delivery; emergency standup called.</a:t>
            </a:r>
          </a:p>
          <a:p>
            <a:pPr>
              <a:spcBef>
                <a:spcPts val="200"/>
              </a:spcBef>
              <a:defRPr sz="800">
                <a:solidFill>
                  <a:srgbClr val="0F172A"/>
                </a:solidFill>
              </a:defRPr>
            </a:pPr>
            <a:r>
              <a:t>• Day 28: Crisis firefighting: expensive weekend OT &amp; airfreight premiums paid.</a:t>
            </a:r>
          </a:p>
          <a:p>
            <a:pPr>
              <a:spcBef>
                <a:spcPts val="200"/>
              </a:spcBef>
              <a:defRPr sz="800">
                <a:solidFill>
                  <a:srgbClr val="0F172A"/>
                </a:solidFill>
              </a:defRPr>
            </a:pPr>
            <a:r>
              <a:t>• Day 30: Delivery delayed by 3-5 days; contract penalties absorbed &amp; margin eroded.</a:t>
            </a:r>
          </a:p>
        </p:txBody>
      </p:sp>
      <p:sp>
        <p:nvSpPr>
          <p:cNvPr id="6" name="Rounded Rectangle 5"/>
          <p:cNvSpPr/>
          <p:nvPr/>
        </p:nvSpPr>
        <p:spPr>
          <a:xfrm>
            <a:off x="6199632" y="1234440"/>
            <a:ext cx="5257800" cy="205740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950" b="1">
                <a:solidFill>
                  <a:srgbClr val="10B981"/>
                </a:solidFill>
                <a:latin typeface="Arial"/>
              </a:defRPr>
            </a:pPr>
            <a:r>
              <a:t>FUTURE: PROACTIVE CAPACITY INTELLIGENCE (1-2 DAY DETECTION)</a:t>
            </a:r>
          </a:p>
          <a:p>
            <a:pPr>
              <a:spcBef>
                <a:spcPts val="200"/>
              </a:spcBef>
              <a:defRPr sz="800">
                <a:solidFill>
                  <a:srgbClr val="0F172A"/>
                </a:solidFill>
              </a:defRPr>
            </a:pPr>
            <a:r>
              <a:t>• Day 1: Order entered; automated logic evaluates buffer health &amp; flags work center load.</a:t>
            </a:r>
          </a:p>
          <a:p>
            <a:pPr>
              <a:spcBef>
                <a:spcPts val="200"/>
              </a:spcBef>
              <a:defRPr sz="800">
                <a:solidFill>
                  <a:srgbClr val="0F172A"/>
                </a:solidFill>
              </a:defRPr>
            </a:pPr>
            <a:r>
              <a:t>• Day 2: Planner cockpit highlights yellow risk: CNC load at 115% in Week 4 ($45K risk).</a:t>
            </a:r>
          </a:p>
          <a:p>
            <a:pPr>
              <a:spcBef>
                <a:spcPts val="200"/>
              </a:spcBef>
              <a:defRPr sz="800">
                <a:solidFill>
                  <a:srgbClr val="0F172A"/>
                </a:solidFill>
              </a:defRPr>
            </a:pPr>
            <a:r>
              <a:t>• Day 3: Simulation engine compares 3 options (shift add vs vendor expedite vs sequence).</a:t>
            </a:r>
          </a:p>
          <a:p>
            <a:pPr>
              <a:spcBef>
                <a:spcPts val="200"/>
              </a:spcBef>
              <a:defRPr sz="800">
                <a:solidFill>
                  <a:srgbClr val="0F172A"/>
                </a:solidFill>
              </a:defRPr>
            </a:pPr>
            <a:r>
              <a:t>• Day 5: Cost-optimal decision approved (planned OT at $8.5K saves $17K execution drag).</a:t>
            </a:r>
          </a:p>
          <a:p>
            <a:pPr>
              <a:spcBef>
                <a:spcPts val="200"/>
              </a:spcBef>
              <a:defRPr sz="800">
                <a:solidFill>
                  <a:srgbClr val="0F172A"/>
                </a:solidFill>
              </a:defRPr>
            </a:pPr>
            <a:r>
              <a:t>• Day 15-20: Smooth shop execution without bottleneck surprises or rework chaos.</a:t>
            </a:r>
          </a:p>
          <a:p>
            <a:pPr>
              <a:spcBef>
                <a:spcPts val="200"/>
              </a:spcBef>
              <a:defRPr sz="800">
                <a:solidFill>
                  <a:srgbClr val="0F172A"/>
                </a:solidFill>
              </a:defRPr>
            </a:pPr>
            <a:r>
              <a:t>• Day 25: 100% on-time delivery achieved, full customer trust &amp; target margin protected.</a:t>
            </a:r>
          </a:p>
        </p:txBody>
      </p:sp>
      <p:graphicFrame>
        <p:nvGraphicFramePr>
          <p:cNvPr id="7" name="Table 6"/>
          <p:cNvGraphicFramePr>
            <a:graphicFrameLocks noGrp="1"/>
          </p:cNvGraphicFramePr>
          <p:nvPr/>
        </p:nvGraphicFramePr>
        <p:xfrm>
          <a:off x="731520" y="3429000"/>
          <a:ext cx="7589520" cy="2834640"/>
        </p:xfrm>
        <a:graphic>
          <a:graphicData uri="http://schemas.openxmlformats.org/drawingml/2006/table">
            <a:tbl>
              <a:tblPr firstRow="1" bandRow="1">
                <a:tableStyleId>{5C22544A-7EE6-4342-B048-85BDC9FD1C3A}</a:tableStyleId>
              </a:tblPr>
              <a:tblGrid>
                <a:gridCol w="2011680"/>
                <a:gridCol w="1645920"/>
                <a:gridCol w="1645920"/>
                <a:gridCol w="2286000"/>
              </a:tblGrid>
              <a:tr h="354330">
                <a:tc>
                  <a:txBody>
                    <a:bodyPr/>
                    <a:lstStyle/>
                    <a:p>
                      <a:pPr>
                        <a:defRPr b="1" sz="850">
                          <a:solidFill>
                            <a:srgbClr val="FFFFFF"/>
                          </a:solidFill>
                        </a:defRPr>
                      </a:pPr>
                      <a:r>
                        <a:t>Metric / Dimension</a:t>
                      </a:r>
                    </a:p>
                  </a:txBody>
                  <a:tcPr>
                    <a:solidFill>
                      <a:srgbClr val="151F3C"/>
                    </a:solidFill>
                  </a:tcPr>
                </a:tc>
                <a:tc>
                  <a:txBody>
                    <a:bodyPr/>
                    <a:lstStyle/>
                    <a:p>
                      <a:pPr>
                        <a:defRPr b="1" sz="850">
                          <a:solidFill>
                            <a:srgbClr val="FFFFFF"/>
                          </a:solidFill>
                        </a:defRPr>
                      </a:pPr>
                      <a:r>
                        <a:t>Current State</a:t>
                      </a:r>
                    </a:p>
                  </a:txBody>
                  <a:tcPr>
                    <a:solidFill>
                      <a:srgbClr val="151F3C"/>
                    </a:solidFill>
                  </a:tcPr>
                </a:tc>
                <a:tc>
                  <a:txBody>
                    <a:bodyPr/>
                    <a:lstStyle/>
                    <a:p>
                      <a:pPr>
                        <a:defRPr b="1" sz="850">
                          <a:solidFill>
                            <a:srgbClr val="FFFFFF"/>
                          </a:solidFill>
                        </a:defRPr>
                      </a:pPr>
                      <a:r>
                        <a:t>Future Target</a:t>
                      </a:r>
                    </a:p>
                  </a:txBody>
                  <a:tcPr>
                    <a:solidFill>
                      <a:srgbClr val="151F3C"/>
                    </a:solidFill>
                  </a:tcPr>
                </a:tc>
                <a:tc>
                  <a:txBody>
                    <a:bodyPr/>
                    <a:lstStyle/>
                    <a:p>
                      <a:pPr>
                        <a:defRPr b="1" sz="850">
                          <a:solidFill>
                            <a:srgbClr val="FFFFFF"/>
                          </a:solidFill>
                        </a:defRPr>
                      </a:pPr>
                      <a:r>
                        <a:t>Value Driver</a:t>
                      </a:r>
                    </a:p>
                  </a:txBody>
                  <a:tcPr>
                    <a:solidFill>
                      <a:srgbClr val="151F3C"/>
                    </a:solidFill>
                  </a:tcPr>
                </a:tc>
              </a:tr>
              <a:tr h="354330">
                <a:tc>
                  <a:txBody>
                    <a:bodyPr/>
                    <a:lstStyle/>
                    <a:p>
                      <a:pPr>
                        <a:defRPr sz="800" b="1">
                          <a:solidFill>
                            <a:srgbClr val="0F172A"/>
                          </a:solidFill>
                        </a:defRPr>
                      </a:pPr>
                      <a:r>
                        <a:t>Backlog Detection Lag</a:t>
                      </a:r>
                    </a:p>
                  </a:txBody>
                  <a:tcPr>
                    <a:solidFill>
                      <a:srgbClr val="FFFFFF"/>
                    </a:solidFill>
                  </a:tcPr>
                </a:tc>
                <a:tc>
                  <a:txBody>
                    <a:bodyPr/>
                    <a:lstStyle/>
                    <a:p>
                      <a:pPr>
                        <a:defRPr sz="800" b="0">
                          <a:solidFill>
                            <a:srgbClr val="0F172A"/>
                          </a:solidFill>
                        </a:defRPr>
                      </a:pPr>
                      <a:r>
                        <a:t>15–20 days</a:t>
                      </a:r>
                    </a:p>
                  </a:txBody>
                  <a:tcPr>
                    <a:solidFill>
                      <a:srgbClr val="FFFFFF"/>
                    </a:solidFill>
                  </a:tcPr>
                </a:tc>
                <a:tc>
                  <a:txBody>
                    <a:bodyPr/>
                    <a:lstStyle/>
                    <a:p>
                      <a:pPr>
                        <a:defRPr sz="800" b="1">
                          <a:solidFill>
                            <a:srgbClr val="10B981"/>
                          </a:solidFill>
                        </a:defRPr>
                      </a:pPr>
                      <a:r>
                        <a:t>1–2 days</a:t>
                      </a:r>
                    </a:p>
                  </a:txBody>
                  <a:tcPr>
                    <a:solidFill>
                      <a:srgbClr val="ECFDF5"/>
                    </a:solidFill>
                  </a:tcPr>
                </a:tc>
                <a:tc>
                  <a:txBody>
                    <a:bodyPr/>
                    <a:lstStyle/>
                    <a:p>
                      <a:pPr>
                        <a:defRPr sz="800" b="0">
                          <a:solidFill>
                            <a:srgbClr val="0F172A"/>
                          </a:solidFill>
                        </a:defRPr>
                      </a:pPr>
                      <a:r>
                        <a:t>Automated SAP feed vs Excel</a:t>
                      </a:r>
                    </a:p>
                  </a:txBody>
                  <a:tcPr>
                    <a:solidFill>
                      <a:srgbClr val="FFFFFF"/>
                    </a:solidFill>
                  </a:tcPr>
                </a:tc>
              </a:tr>
              <a:tr h="354330">
                <a:tc>
                  <a:txBody>
                    <a:bodyPr/>
                    <a:lstStyle/>
                    <a:p>
                      <a:pPr>
                        <a:defRPr sz="800" b="1">
                          <a:solidFill>
                            <a:srgbClr val="0F172A"/>
                          </a:solidFill>
                        </a:defRPr>
                      </a:pPr>
                      <a:r>
                        <a:t>On-Time Delivery Rate</a:t>
                      </a:r>
                    </a:p>
                  </a:txBody>
                  <a:tcPr>
                    <a:solidFill>
                      <a:srgbClr val="F1F5F9"/>
                    </a:solidFill>
                  </a:tcPr>
                </a:tc>
                <a:tc>
                  <a:txBody>
                    <a:bodyPr/>
                    <a:lstStyle/>
                    <a:p>
                      <a:pPr>
                        <a:defRPr sz="800" b="0">
                          <a:solidFill>
                            <a:srgbClr val="0F172A"/>
                          </a:solidFill>
                        </a:defRPr>
                      </a:pPr>
                      <a:r>
                        <a:t>94–96%</a:t>
                      </a:r>
                    </a:p>
                  </a:txBody>
                  <a:tcPr>
                    <a:solidFill>
                      <a:srgbClr val="F1F5F9"/>
                    </a:solidFill>
                  </a:tcPr>
                </a:tc>
                <a:tc>
                  <a:txBody>
                    <a:bodyPr/>
                    <a:lstStyle/>
                    <a:p>
                      <a:pPr>
                        <a:defRPr sz="800" b="1">
                          <a:solidFill>
                            <a:srgbClr val="10B981"/>
                          </a:solidFill>
                        </a:defRPr>
                      </a:pPr>
                      <a:r>
                        <a:t>98%+</a:t>
                      </a:r>
                    </a:p>
                  </a:txBody>
                  <a:tcPr>
                    <a:solidFill>
                      <a:srgbClr val="ECFDF5"/>
                    </a:solidFill>
                  </a:tcPr>
                </a:tc>
                <a:tc>
                  <a:txBody>
                    <a:bodyPr/>
                    <a:lstStyle/>
                    <a:p>
                      <a:pPr>
                        <a:defRPr sz="800" b="0">
                          <a:solidFill>
                            <a:srgbClr val="0F172A"/>
                          </a:solidFill>
                        </a:defRPr>
                      </a:pPr>
                      <a:r>
                        <a:t>Proactive buffer &amp; capacity control</a:t>
                      </a:r>
                    </a:p>
                  </a:txBody>
                  <a:tcPr>
                    <a:solidFill>
                      <a:srgbClr val="F1F5F9"/>
                    </a:solidFill>
                  </a:tcPr>
                </a:tc>
              </a:tr>
              <a:tr h="354330">
                <a:tc>
                  <a:txBody>
                    <a:bodyPr/>
                    <a:lstStyle/>
                    <a:p>
                      <a:pPr>
                        <a:defRPr sz="800" b="1">
                          <a:solidFill>
                            <a:srgbClr val="0F172A"/>
                          </a:solidFill>
                        </a:defRPr>
                      </a:pPr>
                      <a:r>
                        <a:t>Average Delay (Late Orders)</a:t>
                      </a:r>
                    </a:p>
                  </a:txBody>
                  <a:tcPr>
                    <a:solidFill>
                      <a:srgbClr val="FFFFFF"/>
                    </a:solidFill>
                  </a:tcPr>
                </a:tc>
                <a:tc>
                  <a:txBody>
                    <a:bodyPr/>
                    <a:lstStyle/>
                    <a:p>
                      <a:pPr>
                        <a:defRPr sz="800" b="0">
                          <a:solidFill>
                            <a:srgbClr val="0F172A"/>
                          </a:solidFill>
                        </a:defRPr>
                      </a:pPr>
                      <a:r>
                        <a:t>3–5 days</a:t>
                      </a:r>
                    </a:p>
                  </a:txBody>
                  <a:tcPr>
                    <a:solidFill>
                      <a:srgbClr val="FFFFFF"/>
                    </a:solidFill>
                  </a:tcPr>
                </a:tc>
                <a:tc>
                  <a:txBody>
                    <a:bodyPr/>
                    <a:lstStyle/>
                    <a:p>
                      <a:pPr>
                        <a:defRPr sz="800" b="1">
                          <a:solidFill>
                            <a:srgbClr val="10B981"/>
                          </a:solidFill>
                        </a:defRPr>
                      </a:pPr>
                      <a:r>
                        <a:t>0–1 day</a:t>
                      </a:r>
                    </a:p>
                  </a:txBody>
                  <a:tcPr>
                    <a:solidFill>
                      <a:srgbClr val="ECFDF5"/>
                    </a:solidFill>
                  </a:tcPr>
                </a:tc>
                <a:tc>
                  <a:txBody>
                    <a:bodyPr/>
                    <a:lstStyle/>
                    <a:p>
                      <a:pPr>
                        <a:defRPr sz="800" b="0">
                          <a:solidFill>
                            <a:srgbClr val="0F172A"/>
                          </a:solidFill>
                        </a:defRPr>
                      </a:pPr>
                      <a:r>
                        <a:t>Early resolution of bottlenecks</a:t>
                      </a:r>
                    </a:p>
                  </a:txBody>
                  <a:tcPr>
                    <a:solidFill>
                      <a:srgbClr val="FFFFFF"/>
                    </a:solidFill>
                  </a:tcPr>
                </a:tc>
              </a:tr>
              <a:tr h="354330">
                <a:tc>
                  <a:txBody>
                    <a:bodyPr/>
                    <a:lstStyle/>
                    <a:p>
                      <a:pPr>
                        <a:defRPr sz="800" b="1">
                          <a:solidFill>
                            <a:srgbClr val="0F172A"/>
                          </a:solidFill>
                        </a:defRPr>
                      </a:pPr>
                      <a:r>
                        <a:t>Excess Overtime Spend</a:t>
                      </a:r>
                    </a:p>
                  </a:txBody>
                  <a:tcPr>
                    <a:solidFill>
                      <a:srgbClr val="F1F5F9"/>
                    </a:solidFill>
                  </a:tcPr>
                </a:tc>
                <a:tc>
                  <a:txBody>
                    <a:bodyPr/>
                    <a:lstStyle/>
                    <a:p>
                      <a:pPr>
                        <a:defRPr sz="800" b="0">
                          <a:solidFill>
                            <a:srgbClr val="0F172A"/>
                          </a:solidFill>
                        </a:defRPr>
                      </a:pPr>
                      <a:r>
                        <a:t>$250K–$400K / yr</a:t>
                      </a:r>
                    </a:p>
                  </a:txBody>
                  <a:tcPr>
                    <a:solidFill>
                      <a:srgbClr val="F1F5F9"/>
                    </a:solidFill>
                  </a:tcPr>
                </a:tc>
                <a:tc>
                  <a:txBody>
                    <a:bodyPr/>
                    <a:lstStyle/>
                    <a:p>
                      <a:pPr>
                        <a:defRPr sz="800" b="1">
                          <a:solidFill>
                            <a:srgbClr val="10B981"/>
                          </a:solidFill>
                        </a:defRPr>
                      </a:pPr>
                      <a:r>
                        <a:t>$80K–$120K / yr</a:t>
                      </a:r>
                    </a:p>
                  </a:txBody>
                  <a:tcPr>
                    <a:solidFill>
                      <a:srgbClr val="ECFDF5"/>
                    </a:solidFill>
                  </a:tcPr>
                </a:tc>
                <a:tc>
                  <a:txBody>
                    <a:bodyPr/>
                    <a:lstStyle/>
                    <a:p>
                      <a:pPr>
                        <a:defRPr sz="800" b="0">
                          <a:solidFill>
                            <a:srgbClr val="0F172A"/>
                          </a:solidFill>
                        </a:defRPr>
                      </a:pPr>
                      <a:r>
                        <a:t>Planned shifts vs reactive crisis OT</a:t>
                      </a:r>
                    </a:p>
                  </a:txBody>
                  <a:tcPr>
                    <a:solidFill>
                      <a:srgbClr val="F1F5F9"/>
                    </a:solidFill>
                  </a:tcPr>
                </a:tc>
              </a:tr>
              <a:tr h="354330">
                <a:tc>
                  <a:txBody>
                    <a:bodyPr/>
                    <a:lstStyle/>
                    <a:p>
                      <a:pPr>
                        <a:defRPr sz="800" b="1">
                          <a:solidFill>
                            <a:srgbClr val="0F172A"/>
                          </a:solidFill>
                        </a:defRPr>
                      </a:pPr>
                      <a:r>
                        <a:t>Customer Escalations</a:t>
                      </a:r>
                    </a:p>
                  </a:txBody>
                  <a:tcPr>
                    <a:solidFill>
                      <a:srgbClr val="FFFFFF"/>
                    </a:solidFill>
                  </a:tcPr>
                </a:tc>
                <a:tc>
                  <a:txBody>
                    <a:bodyPr/>
                    <a:lstStyle/>
                    <a:p>
                      <a:pPr>
                        <a:defRPr sz="800" b="0">
                          <a:solidFill>
                            <a:srgbClr val="0F172A"/>
                          </a:solidFill>
                        </a:defRPr>
                      </a:pPr>
                      <a:r>
                        <a:t>8–12 / month</a:t>
                      </a:r>
                    </a:p>
                  </a:txBody>
                  <a:tcPr>
                    <a:solidFill>
                      <a:srgbClr val="FFFFFF"/>
                    </a:solidFill>
                  </a:tcPr>
                </a:tc>
                <a:tc>
                  <a:txBody>
                    <a:bodyPr/>
                    <a:lstStyle/>
                    <a:p>
                      <a:pPr>
                        <a:defRPr sz="800" b="1">
                          <a:solidFill>
                            <a:srgbClr val="10B981"/>
                          </a:solidFill>
                        </a:defRPr>
                      </a:pPr>
                      <a:r>
                        <a:t>1–2 / month</a:t>
                      </a:r>
                    </a:p>
                  </a:txBody>
                  <a:tcPr>
                    <a:solidFill>
                      <a:srgbClr val="ECFDF5"/>
                    </a:solidFill>
                  </a:tcPr>
                </a:tc>
                <a:tc>
                  <a:txBody>
                    <a:bodyPr/>
                    <a:lstStyle/>
                    <a:p>
                      <a:pPr>
                        <a:defRPr sz="800" b="0">
                          <a:solidFill>
                            <a:srgbClr val="0F172A"/>
                          </a:solidFill>
                        </a:defRPr>
                      </a:pPr>
                      <a:r>
                        <a:t>Predictable schedules &amp; alerts</a:t>
                      </a:r>
                    </a:p>
                  </a:txBody>
                  <a:tcPr>
                    <a:solidFill>
                      <a:srgbClr val="FFFFFF"/>
                    </a:solidFill>
                  </a:tcPr>
                </a:tc>
              </a:tr>
              <a:tr h="354330">
                <a:tc>
                  <a:txBody>
                    <a:bodyPr/>
                    <a:lstStyle/>
                    <a:p>
                      <a:pPr>
                        <a:defRPr sz="800" b="1">
                          <a:solidFill>
                            <a:srgbClr val="0F172A"/>
                          </a:solidFill>
                        </a:defRPr>
                      </a:pPr>
                      <a:r>
                        <a:t>Finance Variance Chasing</a:t>
                      </a:r>
                    </a:p>
                  </a:txBody>
                  <a:tcPr>
                    <a:solidFill>
                      <a:srgbClr val="F1F5F9"/>
                    </a:solidFill>
                  </a:tcPr>
                </a:tc>
                <a:tc>
                  <a:txBody>
                    <a:bodyPr/>
                    <a:lstStyle/>
                    <a:p>
                      <a:pPr>
                        <a:defRPr sz="800" b="0">
                          <a:solidFill>
                            <a:srgbClr val="0F172A"/>
                          </a:solidFill>
                        </a:defRPr>
                      </a:pPr>
                      <a:r>
                        <a:t>40 hrs / month</a:t>
                      </a:r>
                    </a:p>
                  </a:txBody>
                  <a:tcPr>
                    <a:solidFill>
                      <a:srgbClr val="F1F5F9"/>
                    </a:solidFill>
                  </a:tcPr>
                </a:tc>
                <a:tc>
                  <a:txBody>
                    <a:bodyPr/>
                    <a:lstStyle/>
                    <a:p>
                      <a:pPr>
                        <a:defRPr sz="800" b="1">
                          <a:solidFill>
                            <a:srgbClr val="10B981"/>
                          </a:solidFill>
                        </a:defRPr>
                      </a:pPr>
                      <a:r>
                        <a:t>10 hrs / month</a:t>
                      </a:r>
                    </a:p>
                  </a:txBody>
                  <a:tcPr>
                    <a:solidFill>
                      <a:srgbClr val="ECFDF5"/>
                    </a:solidFill>
                  </a:tcPr>
                </a:tc>
                <a:tc>
                  <a:txBody>
                    <a:bodyPr/>
                    <a:lstStyle/>
                    <a:p>
                      <a:pPr>
                        <a:defRPr sz="800" b="0">
                          <a:solidFill>
                            <a:srgbClr val="0F172A"/>
                          </a:solidFill>
                        </a:defRPr>
                      </a:pPr>
                      <a:r>
                        <a:t>Automated cost drag analytics</a:t>
                      </a:r>
                    </a:p>
                  </a:txBody>
                  <a:tcPr>
                    <a:solidFill>
                      <a:srgbClr val="F1F5F9"/>
                    </a:solidFill>
                  </a:tcPr>
                </a:tc>
              </a:tr>
              <a:tr h="354330">
                <a:tc>
                  <a:txBody>
                    <a:bodyPr/>
                    <a:lstStyle/>
                    <a:p>
                      <a:pPr>
                        <a:defRPr sz="800" b="1">
                          <a:solidFill>
                            <a:srgbClr val="0F172A"/>
                          </a:solidFill>
                        </a:defRPr>
                      </a:pPr>
                      <a:r>
                        <a:t>Working Capital Freed</a:t>
                      </a:r>
                    </a:p>
                  </a:txBody>
                  <a:tcPr>
                    <a:solidFill>
                      <a:srgbClr val="FFFFFF"/>
                    </a:solidFill>
                  </a:tcPr>
                </a:tc>
                <a:tc>
                  <a:txBody>
                    <a:bodyPr/>
                    <a:lstStyle/>
                    <a:p>
                      <a:pPr>
                        <a:defRPr sz="800" b="0">
                          <a:solidFill>
                            <a:srgbClr val="0F172A"/>
                          </a:solidFill>
                        </a:defRPr>
                      </a:pPr>
                      <a:r>
                        <a:t>Inflated inventory</a:t>
                      </a:r>
                    </a:p>
                  </a:txBody>
                  <a:tcPr>
                    <a:solidFill>
                      <a:srgbClr val="FFFFFF"/>
                    </a:solidFill>
                  </a:tcPr>
                </a:tc>
                <a:tc>
                  <a:txBody>
                    <a:bodyPr/>
                    <a:lstStyle/>
                    <a:p>
                      <a:pPr>
                        <a:defRPr sz="800" b="1">
                          <a:solidFill>
                            <a:srgbClr val="10B981"/>
                          </a:solidFill>
                        </a:defRPr>
                      </a:pPr>
                      <a:r>
                        <a:t>$100K–$300K freed</a:t>
                      </a:r>
                    </a:p>
                  </a:txBody>
                  <a:tcPr>
                    <a:solidFill>
                      <a:srgbClr val="ECFDF5"/>
                    </a:solidFill>
                  </a:tcPr>
                </a:tc>
                <a:tc>
                  <a:txBody>
                    <a:bodyPr/>
                    <a:lstStyle/>
                    <a:p>
                      <a:pPr>
                        <a:defRPr sz="800" b="0">
                          <a:solidFill>
                            <a:srgbClr val="0F172A"/>
                          </a:solidFill>
                        </a:defRPr>
                      </a:pPr>
                      <a:r>
                        <a:t>Faster throughput &amp; lower WIP</a:t>
                      </a:r>
                    </a:p>
                  </a:txBody>
                  <a:tcPr>
                    <a:solidFill>
                      <a:srgbClr val="FFFFFF"/>
                    </a:solidFill>
                  </a:tcPr>
                </a:tc>
              </a:tr>
            </a:tbl>
          </a:graphicData>
        </a:graphic>
      </p:graphicFrame>
      <p:sp>
        <p:nvSpPr>
          <p:cNvPr id="8" name="Rounded Rectangle 7"/>
          <p:cNvSpPr/>
          <p:nvPr/>
        </p:nvSpPr>
        <p:spPr>
          <a:xfrm>
            <a:off x="8503920" y="3429000"/>
            <a:ext cx="2956255" cy="2834640"/>
          </a:xfrm>
          <a:prstGeom prst="roundRect">
            <a:avLst/>
          </a:prstGeom>
          <a:solidFill>
            <a:srgbClr val="151F3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950" b="1">
                <a:solidFill>
                  <a:srgbClr val="D97706"/>
                </a:solidFill>
                <a:latin typeface="Arial"/>
              </a:defRPr>
            </a:pPr>
            <a:r>
              <a:t>QUANTIFIED FIRST-YEAR BENEFIT</a:t>
            </a:r>
          </a:p>
          <a:p>
            <a:pPr>
              <a:spcBef>
                <a:spcPts val="600"/>
              </a:spcBef>
              <a:defRPr sz="2400" b="1">
                <a:solidFill>
                  <a:srgbClr val="F8FAFC"/>
                </a:solidFill>
                <a:latin typeface="Arial"/>
              </a:defRPr>
            </a:pPr>
            <a:r>
              <a:t>$450K – $1.1M</a:t>
            </a:r>
          </a:p>
          <a:p>
            <a:pPr>
              <a:spcBef>
                <a:spcPts val="300"/>
              </a:spcBef>
              <a:defRPr sz="800">
                <a:solidFill>
                  <a:srgbClr val="00B4D8"/>
                </a:solidFill>
              </a:defRPr>
            </a:pPr>
            <a:r>
              <a:t>✓ Overtime &amp; Freight Recovery: $150K–$280K</a:t>
            </a:r>
          </a:p>
          <a:p>
            <a:pPr>
              <a:spcBef>
                <a:spcPts val="300"/>
              </a:spcBef>
              <a:defRPr sz="800">
                <a:solidFill>
                  <a:srgbClr val="00B4D8"/>
                </a:solidFill>
              </a:defRPr>
            </a:pPr>
            <a:r>
              <a:t>✓ OTD Customer Retention: $200K–$500K</a:t>
            </a:r>
          </a:p>
          <a:p>
            <a:pPr>
              <a:spcBef>
                <a:spcPts val="300"/>
              </a:spcBef>
              <a:defRPr sz="800">
                <a:solidFill>
                  <a:srgbClr val="00B4D8"/>
                </a:solidFill>
              </a:defRPr>
            </a:pPr>
            <a:r>
              <a:t>✓ Working Capital Release: $100K–$300K</a:t>
            </a:r>
          </a:p>
          <a:p>
            <a:pPr>
              <a:spcBef>
                <a:spcPts val="300"/>
              </a:spcBef>
              <a:defRPr sz="800">
                <a:solidFill>
                  <a:srgbClr val="00B4D8"/>
                </a:solidFill>
              </a:defRPr>
            </a:pPr>
            <a:r>
              <a:t>✓ Planning Labor Reclaimed: 50–80 hrs/mo</a:t>
            </a:r>
          </a:p>
          <a:p>
            <a:pPr>
              <a:spcBef>
                <a:spcPts val="300"/>
              </a:spcBef>
              <a:defRPr sz="800">
                <a:solidFill>
                  <a:srgbClr val="00B4D8"/>
                </a:solidFill>
              </a:defRPr>
            </a:pPr>
            <a:r>
              <a:t>✓ Expected Payback Period: 6–12 Months</a:t>
            </a:r>
          </a:p>
          <a:p>
            <a:pPr>
              <a:spcBef>
                <a:spcPts val="300"/>
              </a:spcBef>
              <a:defRPr sz="800">
                <a:solidFill>
                  <a:srgbClr val="00B4D8"/>
                </a:solidFill>
              </a:defRPr>
            </a:pPr>
            <a:r>
              <a:t>✓ 100% Founded on Existing SAP Data</a:t>
            </a:r>
          </a:p>
        </p:txBody>
      </p:sp>
      <p:sp>
        <p:nvSpPr>
          <p:cNvPr id="9" name="Rectangle 8"/>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1" name="TextBox 10"/>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04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MODULE 1: BACKLOG INTELLIGENCE</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Module 1: The 'Order Risk &amp; Pipeline' Intelligence Layer</a:t>
            </a:r>
          </a:p>
        </p:txBody>
      </p:sp>
      <p:sp>
        <p:nvSpPr>
          <p:cNvPr id="5" name="TextBox 4"/>
          <p:cNvSpPr txBox="1"/>
          <p:nvPr/>
        </p:nvSpPr>
        <p:spPr>
          <a:xfrm>
            <a:off x="731520" y="987552"/>
            <a:ext cx="10728655" cy="256032"/>
          </a:xfrm>
          <a:prstGeom prst="rect">
            <a:avLst/>
          </a:prstGeom>
          <a:noFill/>
        </p:spPr>
        <p:txBody>
          <a:bodyPr wrap="square" lIns="0" tIns="0" rIns="0" bIns="0">
            <a:spAutoFit/>
          </a:bodyPr>
          <a:lstStyle/>
          <a:p>
            <a:pPr>
              <a:defRPr sz="1050" i="1">
                <a:solidFill>
                  <a:srgbClr val="64748B"/>
                </a:solidFill>
                <a:latin typeface="Arial"/>
              </a:defRPr>
            </a:pPr>
            <a:r>
              <a:t>Connecting Order Attributes, Aging Status, and Capacity Risk Flags to Drive Execution</a:t>
            </a:r>
          </a:p>
        </p:txBody>
      </p:sp>
      <p:sp>
        <p:nvSpPr>
          <p:cNvPr id="6" name="Rounded Rectangle 5"/>
          <p:cNvSpPr/>
          <p:nvPr/>
        </p:nvSpPr>
        <p:spPr>
          <a:xfrm>
            <a:off x="731520" y="1325880"/>
            <a:ext cx="3429000" cy="1691640"/>
          </a:xfrm>
          <a:prstGeom prst="roundRect">
            <a:avLst/>
          </a:prstGeom>
          <a:solidFill>
            <a:srgbClr val="FFFFFF"/>
          </a:solidFill>
          <a:ln w="1524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0066CC"/>
                </a:solidFill>
                <a:latin typeface="Arial"/>
              </a:defRPr>
            </a:pPr>
            <a:r>
              <a:t>1. Order-Level Attributes (SD/PP)</a:t>
            </a:r>
          </a:p>
          <a:p>
            <a:pPr>
              <a:spcBef>
                <a:spcPts val="200"/>
              </a:spcBef>
              <a:defRPr sz="800">
                <a:solidFill>
                  <a:srgbClr val="0F172A"/>
                </a:solidFill>
              </a:defRPr>
            </a:pPr>
            <a:r>
              <a:t>• Order Number &amp; Line Item (VBAK/VBAP)</a:t>
            </a:r>
          </a:p>
          <a:p>
            <a:pPr>
              <a:spcBef>
                <a:spcPts val="200"/>
              </a:spcBef>
              <a:defRPr sz="800">
                <a:solidFill>
                  <a:srgbClr val="0F172A"/>
                </a:solidFill>
              </a:defRPr>
            </a:pPr>
            <a:r>
              <a:t>• Customer Name &amp; Strategic Tier (KNA1)</a:t>
            </a:r>
          </a:p>
          <a:p>
            <a:pPr>
              <a:spcBef>
                <a:spcPts val="200"/>
              </a:spcBef>
              <a:defRPr sz="800">
                <a:solidFill>
                  <a:srgbClr val="0F172A"/>
                </a:solidFill>
              </a:defRPr>
            </a:pPr>
            <a:r>
              <a:t>• Promised Delivery Date (VDDAT)</a:t>
            </a:r>
          </a:p>
          <a:p>
            <a:pPr>
              <a:spcBef>
                <a:spcPts val="200"/>
              </a:spcBef>
              <a:defRPr sz="800">
                <a:solidFill>
                  <a:srgbClr val="0F172A"/>
                </a:solidFill>
              </a:defRPr>
            </a:pPr>
            <a:r>
              <a:t>• Order Type: MTO, MTS, Subcontract</a:t>
            </a:r>
          </a:p>
          <a:p>
            <a:pPr>
              <a:spcBef>
                <a:spcPts val="200"/>
              </a:spcBef>
              <a:defRPr sz="800">
                <a:solidFill>
                  <a:srgbClr val="0F172A"/>
                </a:solidFill>
              </a:defRPr>
            </a:pPr>
            <a:r>
              <a:t>• Order Value &amp; Standard Margin %</a:t>
            </a:r>
          </a:p>
          <a:p>
            <a:pPr>
              <a:spcBef>
                <a:spcPts val="200"/>
              </a:spcBef>
              <a:defRPr sz="800">
                <a:solidFill>
                  <a:srgbClr val="0F172A"/>
                </a:solidFill>
              </a:defRPr>
            </a:pPr>
            <a:r>
              <a:t>• Order State: Planned, Released, In-Progress</a:t>
            </a:r>
          </a:p>
        </p:txBody>
      </p:sp>
      <p:sp>
        <p:nvSpPr>
          <p:cNvPr id="7" name="Rounded Rectangle 6"/>
          <p:cNvSpPr/>
          <p:nvPr/>
        </p:nvSpPr>
        <p:spPr>
          <a:xfrm>
            <a:off x="4379976" y="1325880"/>
            <a:ext cx="3429000" cy="169164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D97706"/>
                </a:solidFill>
                <a:latin typeface="Arial"/>
              </a:defRPr>
            </a:pPr>
            <a:r>
              <a:t>2. Backlog-Level Attributes (Buffer &amp; Aging)</a:t>
            </a:r>
          </a:p>
          <a:p>
            <a:pPr>
              <a:spcBef>
                <a:spcPts val="200"/>
              </a:spcBef>
              <a:defRPr sz="800">
                <a:solidFill>
                  <a:srgbClr val="0F172A"/>
                </a:solidFill>
              </a:defRPr>
            </a:pPr>
            <a:r>
              <a:t>• Days in Backlog (TODAY - ERDAT)</a:t>
            </a:r>
          </a:p>
          <a:p>
            <a:pPr>
              <a:spcBef>
                <a:spcPts val="200"/>
              </a:spcBef>
              <a:defRPr sz="800">
                <a:solidFill>
                  <a:srgbClr val="0F172A"/>
                </a:solidFill>
              </a:defRPr>
            </a:pPr>
            <a:r>
              <a:t>• Days Until Promise (VDDAT - TODAY)</a:t>
            </a:r>
          </a:p>
          <a:p>
            <a:pPr>
              <a:spcBef>
                <a:spcPts val="200"/>
              </a:spcBef>
              <a:defRPr sz="800">
                <a:solidFill>
                  <a:srgbClr val="0F172A"/>
                </a:solidFill>
              </a:defRPr>
            </a:pPr>
            <a:r>
              <a:t>• Buffer Health: Green (&gt;5d), Yellow (2-5d), Red (&lt;2d)</a:t>
            </a:r>
          </a:p>
          <a:p>
            <a:pPr>
              <a:spcBef>
                <a:spcPts val="200"/>
              </a:spcBef>
              <a:defRPr sz="800">
                <a:solidFill>
                  <a:srgbClr val="0F172A"/>
                </a:solidFill>
              </a:defRPr>
            </a:pPr>
            <a:r>
              <a:t>• Backlog Priority Sequence Rank</a:t>
            </a:r>
          </a:p>
          <a:p>
            <a:pPr>
              <a:spcBef>
                <a:spcPts val="200"/>
              </a:spcBef>
              <a:defRPr sz="800">
                <a:solidFill>
                  <a:srgbClr val="0F172A"/>
                </a:solidFill>
              </a:defRPr>
            </a:pPr>
            <a:r>
              <a:t>• Component Material Readiness (MSEG/MIGO)</a:t>
            </a:r>
          </a:p>
          <a:p>
            <a:pPr>
              <a:spcBef>
                <a:spcPts val="200"/>
              </a:spcBef>
              <a:defRPr sz="800">
                <a:solidFill>
                  <a:srgbClr val="0F172A"/>
                </a:solidFill>
              </a:defRPr>
            </a:pPr>
            <a:r>
              <a:t>• Quality Gate Status: FAI, SPC, Hold</a:t>
            </a:r>
          </a:p>
        </p:txBody>
      </p:sp>
      <p:sp>
        <p:nvSpPr>
          <p:cNvPr id="8" name="Rounded Rectangle 7"/>
          <p:cNvSpPr/>
          <p:nvPr/>
        </p:nvSpPr>
        <p:spPr>
          <a:xfrm>
            <a:off x="8028432" y="1325880"/>
            <a:ext cx="3429000" cy="1691640"/>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7C3AED"/>
                </a:solidFill>
                <a:latin typeface="Arial"/>
              </a:defRPr>
            </a:pPr>
            <a:r>
              <a:t>3. Production-Level Attributes (Capacity)</a:t>
            </a:r>
          </a:p>
          <a:p>
            <a:pPr>
              <a:spcBef>
                <a:spcPts val="200"/>
              </a:spcBef>
              <a:defRPr sz="800">
                <a:solidFill>
                  <a:srgbClr val="0F172A"/>
                </a:solidFill>
              </a:defRPr>
            </a:pPr>
            <a:r>
              <a:t>• Operations Completed % (AUFM / AFVU)</a:t>
            </a:r>
          </a:p>
          <a:p>
            <a:pPr>
              <a:spcBef>
                <a:spcPts val="200"/>
              </a:spcBef>
              <a:defRPr sz="800">
                <a:solidFill>
                  <a:srgbClr val="0F172A"/>
                </a:solidFill>
              </a:defRPr>
            </a:pPr>
            <a:r>
              <a:t>• Identified Bottleneck Work Center (CRHD)</a:t>
            </a:r>
          </a:p>
          <a:p>
            <a:pPr>
              <a:spcBef>
                <a:spcPts val="200"/>
              </a:spcBef>
              <a:defRPr sz="800">
                <a:solidFill>
                  <a:srgbClr val="0F172A"/>
                </a:solidFill>
              </a:defRPr>
            </a:pPr>
            <a:r>
              <a:t>• Capacity Constraint Flag: YES / NO</a:t>
            </a:r>
          </a:p>
          <a:p>
            <a:pPr>
              <a:spcBef>
                <a:spcPts val="200"/>
              </a:spcBef>
              <a:defRPr sz="800">
                <a:solidFill>
                  <a:srgbClr val="0F172A"/>
                </a:solidFill>
              </a:defRPr>
            </a:pPr>
            <a:r>
              <a:t>• Supplier Dependency Flag (Open POs)</a:t>
            </a:r>
          </a:p>
          <a:p>
            <a:pPr>
              <a:spcBef>
                <a:spcPts val="200"/>
              </a:spcBef>
              <a:defRPr sz="800">
                <a:solidFill>
                  <a:srgbClr val="0F172A"/>
                </a:solidFill>
              </a:defRPr>
            </a:pPr>
            <a:r>
              <a:t>• Cumulative Setup &amp; Rework Hours Absorbed</a:t>
            </a:r>
          </a:p>
          <a:p>
            <a:pPr>
              <a:spcBef>
                <a:spcPts val="200"/>
              </a:spcBef>
              <a:defRPr sz="800">
                <a:solidFill>
                  <a:srgbClr val="0F172A"/>
                </a:solidFill>
              </a:defRPr>
            </a:pPr>
            <a:r>
              <a:t>• Recommended Execution Action</a:t>
            </a:r>
          </a:p>
        </p:txBody>
      </p:sp>
      <p:sp>
        <p:nvSpPr>
          <p:cNvPr id="9" name="Rounded Rectangle 8"/>
          <p:cNvSpPr/>
          <p:nvPr/>
        </p:nvSpPr>
        <p:spPr>
          <a:xfrm>
            <a:off x="731520" y="3108960"/>
            <a:ext cx="10728655" cy="777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0066CC"/>
                </a:solidFill>
                <a:latin typeface="Arial"/>
              </a:defRPr>
            </a:pPr>
            <a:r>
              <a:t>DYNAMIC RISK SCORING ENGINE (1–10 INDEX)</a:t>
            </a:r>
          </a:p>
          <a:p>
            <a:pPr>
              <a:spcBef>
                <a:spcPts val="200"/>
              </a:spcBef>
              <a:defRPr sz="800">
                <a:solidFill>
                  <a:srgbClr val="0F172A"/>
                </a:solidFill>
              </a:defRPr>
            </a:pPr>
            <a:r>
              <a:t>• GREEN (Score 1-4): Buffer &gt;5 days AND No work center constraint AND 100% material ready → Action: Standard monitoring.</a:t>
            </a:r>
            <a:br/>
            <a:r>
              <a:t>• YELLOW (Score 5-7): Buffer 2-5 days OR capacity constraint active OR minor supplier delay → Action: Review sequence &amp; buffer.</a:t>
            </a:r>
            <a:br/>
            <a:r>
              <a:t>• RED (Score 8-10): Buffer &lt;2 days OR bottleneck load &gt;100% OR QA hold → Action: Immediate escalation (add shift, expedite, negotiate).</a:t>
            </a:r>
          </a:p>
        </p:txBody>
      </p:sp>
      <p:graphicFrame>
        <p:nvGraphicFramePr>
          <p:cNvPr id="10" name="Table 9"/>
          <p:cNvGraphicFramePr>
            <a:graphicFrameLocks noGrp="1"/>
          </p:cNvGraphicFramePr>
          <p:nvPr/>
        </p:nvGraphicFramePr>
        <p:xfrm>
          <a:off x="731520" y="3977639"/>
          <a:ext cx="10728655" cy="2331720"/>
        </p:xfrm>
        <a:graphic>
          <a:graphicData uri="http://schemas.openxmlformats.org/drawingml/2006/table">
            <a:tbl>
              <a:tblPr firstRow="1" bandRow="1">
                <a:tableStyleId>{5C22544A-7EE6-4342-B048-85BDC9FD1C3A}</a:tableStyleId>
              </a:tblPr>
              <a:tblGrid>
                <a:gridCol w="548640"/>
                <a:gridCol w="1005840"/>
                <a:gridCol w="1371600"/>
                <a:gridCol w="1005840"/>
                <a:gridCol w="822960"/>
                <a:gridCol w="1371600"/>
                <a:gridCol w="1005840"/>
                <a:gridCol w="1097280"/>
                <a:gridCol w="2499055"/>
              </a:tblGrid>
              <a:tr h="466344">
                <a:tc>
                  <a:txBody>
                    <a:bodyPr/>
                    <a:lstStyle/>
                    <a:p>
                      <a:pPr>
                        <a:defRPr b="1" sz="800">
                          <a:solidFill>
                            <a:srgbClr val="FFFFFF"/>
                          </a:solidFill>
                        </a:defRPr>
                      </a:pPr>
                      <a:r>
                        <a:t>Risk</a:t>
                      </a:r>
                    </a:p>
                  </a:txBody>
                  <a:tcPr>
                    <a:solidFill>
                      <a:srgbClr val="151F3C"/>
                    </a:solidFill>
                  </a:tcPr>
                </a:tc>
                <a:tc>
                  <a:txBody>
                    <a:bodyPr/>
                    <a:lstStyle/>
                    <a:p>
                      <a:pPr>
                        <a:defRPr b="1" sz="800">
                          <a:solidFill>
                            <a:srgbClr val="FFFFFF"/>
                          </a:solidFill>
                        </a:defRPr>
                      </a:pPr>
                      <a:r>
                        <a:t>Order #</a:t>
                      </a:r>
                    </a:p>
                  </a:txBody>
                  <a:tcPr>
                    <a:solidFill>
                      <a:srgbClr val="151F3C"/>
                    </a:solidFill>
                  </a:tcPr>
                </a:tc>
                <a:tc>
                  <a:txBody>
                    <a:bodyPr/>
                    <a:lstStyle/>
                    <a:p>
                      <a:pPr>
                        <a:defRPr b="1" sz="800">
                          <a:solidFill>
                            <a:srgbClr val="FFFFFF"/>
                          </a:solidFill>
                        </a:defRPr>
                      </a:pPr>
                      <a:r>
                        <a:t>Customer</a:t>
                      </a:r>
                    </a:p>
                  </a:txBody>
                  <a:tcPr>
                    <a:solidFill>
                      <a:srgbClr val="151F3C"/>
                    </a:solidFill>
                  </a:tcPr>
                </a:tc>
                <a:tc>
                  <a:txBody>
                    <a:bodyPr/>
                    <a:lstStyle/>
                    <a:p>
                      <a:pPr>
                        <a:defRPr b="1" sz="800">
                          <a:solidFill>
                            <a:srgbClr val="FFFFFF"/>
                          </a:solidFill>
                        </a:defRPr>
                      </a:pPr>
                      <a:r>
                        <a:t>Promised</a:t>
                      </a:r>
                    </a:p>
                  </a:txBody>
                  <a:tcPr>
                    <a:solidFill>
                      <a:srgbClr val="151F3C"/>
                    </a:solidFill>
                  </a:tcPr>
                </a:tc>
                <a:tc>
                  <a:txBody>
                    <a:bodyPr/>
                    <a:lstStyle/>
                    <a:p>
                      <a:pPr>
                        <a:defRPr b="1" sz="800">
                          <a:solidFill>
                            <a:srgbClr val="FFFFFF"/>
                          </a:solidFill>
                        </a:defRPr>
                      </a:pPr>
                      <a:r>
                        <a:t>Days Left</a:t>
                      </a:r>
                    </a:p>
                  </a:txBody>
                  <a:tcPr>
                    <a:solidFill>
                      <a:srgbClr val="151F3C"/>
                    </a:solidFill>
                  </a:tcPr>
                </a:tc>
                <a:tc>
                  <a:txBody>
                    <a:bodyPr/>
                    <a:lstStyle/>
                    <a:p>
                      <a:pPr>
                        <a:defRPr b="1" sz="800">
                          <a:solidFill>
                            <a:srgbClr val="FFFFFF"/>
                          </a:solidFill>
                        </a:defRPr>
                      </a:pPr>
                      <a:r>
                        <a:t>Constraint</a:t>
                      </a:r>
                    </a:p>
                  </a:txBody>
                  <a:tcPr>
                    <a:solidFill>
                      <a:srgbClr val="151F3C"/>
                    </a:solidFill>
                  </a:tcPr>
                </a:tc>
                <a:tc>
                  <a:txBody>
                    <a:bodyPr/>
                    <a:lstStyle/>
                    <a:p>
                      <a:pPr>
                        <a:defRPr b="1" sz="800">
                          <a:solidFill>
                            <a:srgbClr val="FFFFFF"/>
                          </a:solidFill>
                        </a:defRPr>
                      </a:pPr>
                      <a:r>
                        <a:t>Material</a:t>
                      </a:r>
                    </a:p>
                  </a:txBody>
                  <a:tcPr>
                    <a:solidFill>
                      <a:srgbClr val="151F3C"/>
                    </a:solidFill>
                  </a:tcPr>
                </a:tc>
                <a:tc>
                  <a:txBody>
                    <a:bodyPr/>
                    <a:lstStyle/>
                    <a:p>
                      <a:pPr>
                        <a:defRPr b="1" sz="800">
                          <a:solidFill>
                            <a:srgbClr val="FFFFFF"/>
                          </a:solidFill>
                        </a:defRPr>
                      </a:pPr>
                      <a:r>
                        <a:t>Cost Impact</a:t>
                      </a:r>
                    </a:p>
                  </a:txBody>
                  <a:tcPr>
                    <a:solidFill>
                      <a:srgbClr val="151F3C"/>
                    </a:solidFill>
                  </a:tcPr>
                </a:tc>
                <a:tc>
                  <a:txBody>
                    <a:bodyPr/>
                    <a:lstStyle/>
                    <a:p>
                      <a:pPr>
                        <a:defRPr b="1" sz="800">
                          <a:solidFill>
                            <a:srgbClr val="FFFFFF"/>
                          </a:solidFill>
                        </a:defRPr>
                      </a:pPr>
                      <a:r>
                        <a:t>Recommended Action</a:t>
                      </a:r>
                    </a:p>
                  </a:txBody>
                  <a:tcPr>
                    <a:solidFill>
                      <a:srgbClr val="151F3C"/>
                    </a:solidFill>
                  </a:tcPr>
                </a:tc>
              </a:tr>
              <a:tr h="466344">
                <a:tc>
                  <a:txBody>
                    <a:bodyPr/>
                    <a:lstStyle/>
                    <a:p>
                      <a:pPr>
                        <a:defRPr sz="800" b="1">
                          <a:solidFill>
                            <a:srgbClr val="0F172A"/>
                          </a:solidFill>
                        </a:defRPr>
                      </a:pPr>
                      <a:r>
                        <a:t>🔴 9</a:t>
                      </a:r>
                    </a:p>
                  </a:txBody>
                  <a:tcPr>
                    <a:solidFill>
                      <a:srgbClr val="FEF2F2"/>
                    </a:solidFill>
                  </a:tcPr>
                </a:tc>
                <a:tc>
                  <a:txBody>
                    <a:bodyPr/>
                    <a:lstStyle/>
                    <a:p>
                      <a:pPr>
                        <a:defRPr sz="800" b="1">
                          <a:solidFill>
                            <a:srgbClr val="0F172A"/>
                          </a:solidFill>
                        </a:defRPr>
                      </a:pPr>
                      <a:r>
                        <a:t>SO-104921</a:t>
                      </a:r>
                    </a:p>
                  </a:txBody>
                  <a:tcPr>
                    <a:solidFill>
                      <a:srgbClr val="FEF2F2"/>
                    </a:solidFill>
                  </a:tcPr>
                </a:tc>
                <a:tc>
                  <a:txBody>
                    <a:bodyPr/>
                    <a:lstStyle/>
                    <a:p>
                      <a:pPr>
                        <a:defRPr sz="800" b="0">
                          <a:solidFill>
                            <a:srgbClr val="0F172A"/>
                          </a:solidFill>
                        </a:defRPr>
                      </a:pPr>
                      <a:r>
                        <a:t>Acme Aerospace</a:t>
                      </a:r>
                    </a:p>
                  </a:txBody>
                  <a:tcPr>
                    <a:solidFill>
                      <a:srgbClr val="FEF2F2"/>
                    </a:solidFill>
                  </a:tcPr>
                </a:tc>
                <a:tc>
                  <a:txBody>
                    <a:bodyPr/>
                    <a:lstStyle/>
                    <a:p>
                      <a:pPr>
                        <a:defRPr sz="800" b="0">
                          <a:solidFill>
                            <a:srgbClr val="0F172A"/>
                          </a:solidFill>
                        </a:defRPr>
                      </a:pPr>
                      <a:r>
                        <a:t>2026-03-02</a:t>
                      </a:r>
                    </a:p>
                  </a:txBody>
                  <a:tcPr>
                    <a:solidFill>
                      <a:srgbClr val="FEF2F2"/>
                    </a:solidFill>
                  </a:tcPr>
                </a:tc>
                <a:tc>
                  <a:txBody>
                    <a:bodyPr/>
                    <a:lstStyle/>
                    <a:p>
                      <a:pPr>
                        <a:defRPr sz="800" b="0">
                          <a:solidFill>
                            <a:srgbClr val="0F172A"/>
                          </a:solidFill>
                        </a:defRPr>
                      </a:pPr>
                      <a:r>
                        <a:t>2 days</a:t>
                      </a:r>
                    </a:p>
                  </a:txBody>
                  <a:tcPr>
                    <a:solidFill>
                      <a:srgbClr val="FEF2F2"/>
                    </a:solidFill>
                  </a:tcPr>
                </a:tc>
                <a:tc>
                  <a:txBody>
                    <a:bodyPr/>
                    <a:lstStyle/>
                    <a:p>
                      <a:pPr>
                        <a:defRPr sz="800" b="0">
                          <a:solidFill>
                            <a:srgbClr val="0F172A"/>
                          </a:solidFill>
                        </a:defRPr>
                      </a:pPr>
                      <a:r>
                        <a:t>CNC Work Center AB100</a:t>
                      </a:r>
                    </a:p>
                  </a:txBody>
                  <a:tcPr>
                    <a:solidFill>
                      <a:srgbClr val="FEF2F2"/>
                    </a:solidFill>
                  </a:tcPr>
                </a:tc>
                <a:tc>
                  <a:txBody>
                    <a:bodyPr/>
                    <a:lstStyle/>
                    <a:p>
                      <a:pPr>
                        <a:defRPr sz="800" b="0">
                          <a:solidFill>
                            <a:srgbClr val="0F172A"/>
                          </a:solidFill>
                        </a:defRPr>
                      </a:pPr>
                      <a:r>
                        <a:t>✓ Ready (100%)</a:t>
                      </a:r>
                    </a:p>
                  </a:txBody>
                  <a:tcPr>
                    <a:solidFill>
                      <a:srgbClr val="FEF2F2"/>
                    </a:solidFill>
                  </a:tcPr>
                </a:tc>
                <a:tc>
                  <a:txBody>
                    <a:bodyPr/>
                    <a:lstStyle/>
                    <a:p>
                      <a:pPr>
                        <a:defRPr sz="800" b="1">
                          <a:solidFill>
                            <a:srgbClr val="EF4444"/>
                          </a:solidFill>
                        </a:defRPr>
                      </a:pPr>
                      <a:r>
                        <a:t>$24,500</a:t>
                      </a:r>
                    </a:p>
                  </a:txBody>
                  <a:tcPr>
                    <a:solidFill>
                      <a:srgbClr val="FEF2F2"/>
                    </a:solidFill>
                  </a:tcPr>
                </a:tc>
                <a:tc>
                  <a:txBody>
                    <a:bodyPr/>
                    <a:lstStyle/>
                    <a:p>
                      <a:pPr>
                        <a:defRPr sz="800" b="0">
                          <a:solidFill>
                            <a:srgbClr val="0F172A"/>
                          </a:solidFill>
                        </a:defRPr>
                      </a:pPr>
                      <a:r>
                        <a:t>Authorize Saturday shift to unblock 6 orders</a:t>
                      </a:r>
                    </a:p>
                  </a:txBody>
                  <a:tcPr>
                    <a:solidFill>
                      <a:srgbClr val="FEF2F2"/>
                    </a:solidFill>
                  </a:tcPr>
                </a:tc>
              </a:tr>
              <a:tr h="466344">
                <a:tc>
                  <a:txBody>
                    <a:bodyPr/>
                    <a:lstStyle/>
                    <a:p>
                      <a:pPr>
                        <a:defRPr sz="800" b="1">
                          <a:solidFill>
                            <a:srgbClr val="0F172A"/>
                          </a:solidFill>
                        </a:defRPr>
                      </a:pPr>
                      <a:r>
                        <a:t>🟡 6</a:t>
                      </a:r>
                    </a:p>
                  </a:txBody>
                  <a:tcPr>
                    <a:solidFill>
                      <a:srgbClr val="FFFBEB"/>
                    </a:solidFill>
                  </a:tcPr>
                </a:tc>
                <a:tc>
                  <a:txBody>
                    <a:bodyPr/>
                    <a:lstStyle/>
                    <a:p>
                      <a:pPr>
                        <a:defRPr sz="800" b="1">
                          <a:solidFill>
                            <a:srgbClr val="0F172A"/>
                          </a:solidFill>
                        </a:defRPr>
                      </a:pPr>
                      <a:r>
                        <a:t>SO-105014</a:t>
                      </a:r>
                    </a:p>
                  </a:txBody>
                  <a:tcPr>
                    <a:solidFill>
                      <a:srgbClr val="FFFBEB"/>
                    </a:solidFill>
                  </a:tcPr>
                </a:tc>
                <a:tc>
                  <a:txBody>
                    <a:bodyPr/>
                    <a:lstStyle/>
                    <a:p>
                      <a:pPr>
                        <a:defRPr sz="800" b="0">
                          <a:solidFill>
                            <a:srgbClr val="0F172A"/>
                          </a:solidFill>
                        </a:defRPr>
                      </a:pPr>
                      <a:r>
                        <a:t>Boeing Defense</a:t>
                      </a:r>
                    </a:p>
                  </a:txBody>
                  <a:tcPr>
                    <a:solidFill>
                      <a:srgbClr val="FFFBEB"/>
                    </a:solidFill>
                  </a:tcPr>
                </a:tc>
                <a:tc>
                  <a:txBody>
                    <a:bodyPr/>
                    <a:lstStyle/>
                    <a:p>
                      <a:pPr>
                        <a:defRPr sz="800" b="0">
                          <a:solidFill>
                            <a:srgbClr val="0F172A"/>
                          </a:solidFill>
                        </a:defRPr>
                      </a:pPr>
                      <a:r>
                        <a:t>2026-03-08</a:t>
                      </a:r>
                    </a:p>
                  </a:txBody>
                  <a:tcPr>
                    <a:solidFill>
                      <a:srgbClr val="FFFBEB"/>
                    </a:solidFill>
                  </a:tcPr>
                </a:tc>
                <a:tc>
                  <a:txBody>
                    <a:bodyPr/>
                    <a:lstStyle/>
                    <a:p>
                      <a:pPr>
                        <a:defRPr sz="800" b="0">
                          <a:solidFill>
                            <a:srgbClr val="0F172A"/>
                          </a:solidFill>
                        </a:defRPr>
                      </a:pPr>
                      <a:r>
                        <a:t>8 days</a:t>
                      </a:r>
                    </a:p>
                  </a:txBody>
                  <a:tcPr>
                    <a:solidFill>
                      <a:srgbClr val="FFFBEB"/>
                    </a:solidFill>
                  </a:tcPr>
                </a:tc>
                <a:tc>
                  <a:txBody>
                    <a:bodyPr/>
                    <a:lstStyle/>
                    <a:p>
                      <a:pPr>
                        <a:defRPr sz="800" b="0">
                          <a:solidFill>
                            <a:srgbClr val="0F172A"/>
                          </a:solidFill>
                        </a:defRPr>
                      </a:pPr>
                      <a:r>
                        <a:t>Supplier Delay (Part X)</a:t>
                      </a:r>
                    </a:p>
                  </a:txBody>
                  <a:tcPr>
                    <a:solidFill>
                      <a:srgbClr val="FFFBEB"/>
                    </a:solidFill>
                  </a:tcPr>
                </a:tc>
                <a:tc>
                  <a:txBody>
                    <a:bodyPr/>
                    <a:lstStyle/>
                    <a:p>
                      <a:pPr>
                        <a:defRPr sz="800" b="0">
                          <a:solidFill>
                            <a:srgbClr val="0F172A"/>
                          </a:solidFill>
                        </a:defRPr>
                      </a:pPr>
                      <a:r>
                        <a:t>⚠ Delayed 4d</a:t>
                      </a:r>
                    </a:p>
                  </a:txBody>
                  <a:tcPr>
                    <a:solidFill>
                      <a:srgbClr val="FFFBEB"/>
                    </a:solidFill>
                  </a:tcPr>
                </a:tc>
                <a:tc>
                  <a:txBody>
                    <a:bodyPr/>
                    <a:lstStyle/>
                    <a:p>
                      <a:pPr>
                        <a:defRPr sz="800" b="1">
                          <a:solidFill>
                            <a:srgbClr val="0F172A"/>
                          </a:solidFill>
                        </a:defRPr>
                      </a:pPr>
                      <a:r>
                        <a:t>$8,200</a:t>
                      </a:r>
                    </a:p>
                  </a:txBody>
                  <a:tcPr>
                    <a:solidFill>
                      <a:srgbClr val="FFFBEB"/>
                    </a:solidFill>
                  </a:tcPr>
                </a:tc>
                <a:tc>
                  <a:txBody>
                    <a:bodyPr/>
                    <a:lstStyle/>
                    <a:p>
                      <a:pPr>
                        <a:defRPr sz="800" b="0">
                          <a:solidFill>
                            <a:srgbClr val="0F172A"/>
                          </a:solidFill>
                        </a:defRPr>
                      </a:pPr>
                      <a:r>
                        <a:t>Expedite shipment via airfreight ($1.8K cost)</a:t>
                      </a:r>
                    </a:p>
                  </a:txBody>
                  <a:tcPr>
                    <a:solidFill>
                      <a:srgbClr val="FFFBEB"/>
                    </a:solidFill>
                  </a:tcPr>
                </a:tc>
              </a:tr>
              <a:tr h="466344">
                <a:tc>
                  <a:txBody>
                    <a:bodyPr/>
                    <a:lstStyle/>
                    <a:p>
                      <a:pPr>
                        <a:defRPr sz="800" b="1">
                          <a:solidFill>
                            <a:srgbClr val="0F172A"/>
                          </a:solidFill>
                        </a:defRPr>
                      </a:pPr>
                      <a:r>
                        <a:t>🟡 5</a:t>
                      </a:r>
                    </a:p>
                  </a:txBody>
                  <a:tcPr>
                    <a:solidFill>
                      <a:srgbClr val="FFFBEB"/>
                    </a:solidFill>
                  </a:tcPr>
                </a:tc>
                <a:tc>
                  <a:txBody>
                    <a:bodyPr/>
                    <a:lstStyle/>
                    <a:p>
                      <a:pPr>
                        <a:defRPr sz="800" b="1">
                          <a:solidFill>
                            <a:srgbClr val="0F172A"/>
                          </a:solidFill>
                        </a:defRPr>
                      </a:pPr>
                      <a:r>
                        <a:t>SO-105188</a:t>
                      </a:r>
                    </a:p>
                  </a:txBody>
                  <a:tcPr>
                    <a:solidFill>
                      <a:srgbClr val="FFFBEB"/>
                    </a:solidFill>
                  </a:tcPr>
                </a:tc>
                <a:tc>
                  <a:txBody>
                    <a:bodyPr/>
                    <a:lstStyle/>
                    <a:p>
                      <a:pPr>
                        <a:defRPr sz="800" b="0">
                          <a:solidFill>
                            <a:srgbClr val="0F172A"/>
                          </a:solidFill>
                        </a:defRPr>
                      </a:pPr>
                      <a:r>
                        <a:t>Hitachi Energy</a:t>
                      </a:r>
                    </a:p>
                  </a:txBody>
                  <a:tcPr>
                    <a:solidFill>
                      <a:srgbClr val="FFFBEB"/>
                    </a:solidFill>
                  </a:tcPr>
                </a:tc>
                <a:tc>
                  <a:txBody>
                    <a:bodyPr/>
                    <a:lstStyle/>
                    <a:p>
                      <a:pPr>
                        <a:defRPr sz="800" b="0">
                          <a:solidFill>
                            <a:srgbClr val="0F172A"/>
                          </a:solidFill>
                        </a:defRPr>
                      </a:pPr>
                      <a:r>
                        <a:t>2026-03-12</a:t>
                      </a:r>
                    </a:p>
                  </a:txBody>
                  <a:tcPr>
                    <a:solidFill>
                      <a:srgbClr val="FFFBEB"/>
                    </a:solidFill>
                  </a:tcPr>
                </a:tc>
                <a:tc>
                  <a:txBody>
                    <a:bodyPr/>
                    <a:lstStyle/>
                    <a:p>
                      <a:pPr>
                        <a:defRPr sz="800" b="0">
                          <a:solidFill>
                            <a:srgbClr val="0F172A"/>
                          </a:solidFill>
                        </a:defRPr>
                      </a:pPr>
                      <a:r>
                        <a:t>12 days</a:t>
                      </a:r>
                    </a:p>
                  </a:txBody>
                  <a:tcPr>
                    <a:solidFill>
                      <a:srgbClr val="FFFBEB"/>
                    </a:solidFill>
                  </a:tcPr>
                </a:tc>
                <a:tc>
                  <a:txBody>
                    <a:bodyPr/>
                    <a:lstStyle/>
                    <a:p>
                      <a:pPr>
                        <a:defRPr sz="800" b="0">
                          <a:solidFill>
                            <a:srgbClr val="0F172A"/>
                          </a:solidFill>
                        </a:defRPr>
                      </a:pPr>
                      <a:r>
                        <a:t>Sheet Metal Line S2</a:t>
                      </a:r>
                    </a:p>
                  </a:txBody>
                  <a:tcPr>
                    <a:solidFill>
                      <a:srgbClr val="FFFBEB"/>
                    </a:solidFill>
                  </a:tcPr>
                </a:tc>
                <a:tc>
                  <a:txBody>
                    <a:bodyPr/>
                    <a:lstStyle/>
                    <a:p>
                      <a:pPr>
                        <a:defRPr sz="800" b="0">
                          <a:solidFill>
                            <a:srgbClr val="0F172A"/>
                          </a:solidFill>
                        </a:defRPr>
                      </a:pPr>
                      <a:r>
                        <a:t>✓ Ready (100%)</a:t>
                      </a:r>
                    </a:p>
                  </a:txBody>
                  <a:tcPr>
                    <a:solidFill>
                      <a:srgbClr val="FFFBEB"/>
                    </a:solidFill>
                  </a:tcPr>
                </a:tc>
                <a:tc>
                  <a:txBody>
                    <a:bodyPr/>
                    <a:lstStyle/>
                    <a:p>
                      <a:pPr>
                        <a:defRPr sz="800" b="1">
                          <a:solidFill>
                            <a:srgbClr val="0F172A"/>
                          </a:solidFill>
                        </a:defRPr>
                      </a:pPr>
                      <a:r>
                        <a:t>$4,100</a:t>
                      </a:r>
                    </a:p>
                  </a:txBody>
                  <a:tcPr>
                    <a:solidFill>
                      <a:srgbClr val="FFFBEB"/>
                    </a:solidFill>
                  </a:tcPr>
                </a:tc>
                <a:tc>
                  <a:txBody>
                    <a:bodyPr/>
                    <a:lstStyle/>
                    <a:p>
                      <a:pPr>
                        <a:defRPr sz="800" b="0">
                          <a:solidFill>
                            <a:srgbClr val="0F172A"/>
                          </a:solidFill>
                        </a:defRPr>
                      </a:pPr>
                      <a:r>
                        <a:t>Re-sequence behind priority batch #4</a:t>
                      </a:r>
                    </a:p>
                  </a:txBody>
                  <a:tcPr>
                    <a:solidFill>
                      <a:srgbClr val="FFFBEB"/>
                    </a:solidFill>
                  </a:tcPr>
                </a:tc>
              </a:tr>
              <a:tr h="466344">
                <a:tc>
                  <a:txBody>
                    <a:bodyPr/>
                    <a:lstStyle/>
                    <a:p>
                      <a:pPr>
                        <a:defRPr sz="800" b="1">
                          <a:solidFill>
                            <a:srgbClr val="0F172A"/>
                          </a:solidFill>
                        </a:defRPr>
                      </a:pPr>
                      <a:r>
                        <a:t>🟢 2</a:t>
                      </a:r>
                    </a:p>
                  </a:txBody>
                  <a:tcPr>
                    <a:solidFill>
                      <a:srgbClr val="ECFDF5"/>
                    </a:solidFill>
                  </a:tcPr>
                </a:tc>
                <a:tc>
                  <a:txBody>
                    <a:bodyPr/>
                    <a:lstStyle/>
                    <a:p>
                      <a:pPr>
                        <a:defRPr sz="800" b="1">
                          <a:solidFill>
                            <a:srgbClr val="0F172A"/>
                          </a:solidFill>
                        </a:defRPr>
                      </a:pPr>
                      <a:r>
                        <a:t>SO-105340</a:t>
                      </a:r>
                    </a:p>
                  </a:txBody>
                  <a:tcPr>
                    <a:solidFill>
                      <a:srgbClr val="ECFDF5"/>
                    </a:solidFill>
                  </a:tcPr>
                </a:tc>
                <a:tc>
                  <a:txBody>
                    <a:bodyPr/>
                    <a:lstStyle/>
                    <a:p>
                      <a:pPr>
                        <a:defRPr sz="800" b="0">
                          <a:solidFill>
                            <a:srgbClr val="0F172A"/>
                          </a:solidFill>
                        </a:defRPr>
                      </a:pPr>
                      <a:r>
                        <a:t>Pratt &amp; Whitney</a:t>
                      </a:r>
                    </a:p>
                  </a:txBody>
                  <a:tcPr>
                    <a:solidFill>
                      <a:srgbClr val="ECFDF5"/>
                    </a:solidFill>
                  </a:tcPr>
                </a:tc>
                <a:tc>
                  <a:txBody>
                    <a:bodyPr/>
                    <a:lstStyle/>
                    <a:p>
                      <a:pPr>
                        <a:defRPr sz="800" b="0">
                          <a:solidFill>
                            <a:srgbClr val="0F172A"/>
                          </a:solidFill>
                        </a:defRPr>
                      </a:pPr>
                      <a:r>
                        <a:t>2026-03-25</a:t>
                      </a:r>
                    </a:p>
                  </a:txBody>
                  <a:tcPr>
                    <a:solidFill>
                      <a:srgbClr val="ECFDF5"/>
                    </a:solidFill>
                  </a:tcPr>
                </a:tc>
                <a:tc>
                  <a:txBody>
                    <a:bodyPr/>
                    <a:lstStyle/>
                    <a:p>
                      <a:pPr>
                        <a:defRPr sz="800" b="0">
                          <a:solidFill>
                            <a:srgbClr val="0F172A"/>
                          </a:solidFill>
                        </a:defRPr>
                      </a:pPr>
                      <a:r>
                        <a:t>25 days</a:t>
                      </a:r>
                    </a:p>
                  </a:txBody>
                  <a:tcPr>
                    <a:solidFill>
                      <a:srgbClr val="ECFDF5"/>
                    </a:solidFill>
                  </a:tcPr>
                </a:tc>
                <a:tc>
                  <a:txBody>
                    <a:bodyPr/>
                    <a:lstStyle/>
                    <a:p>
                      <a:pPr>
                        <a:defRPr sz="800" b="0">
                          <a:solidFill>
                            <a:srgbClr val="0F172A"/>
                          </a:solidFill>
                        </a:defRPr>
                      </a:pPr>
                      <a:r>
                        <a:t>None (On Schedule)</a:t>
                      </a:r>
                    </a:p>
                  </a:txBody>
                  <a:tcPr>
                    <a:solidFill>
                      <a:srgbClr val="ECFDF5"/>
                    </a:solidFill>
                  </a:tcPr>
                </a:tc>
                <a:tc>
                  <a:txBody>
                    <a:bodyPr/>
                    <a:lstStyle/>
                    <a:p>
                      <a:pPr>
                        <a:defRPr sz="800" b="0">
                          <a:solidFill>
                            <a:srgbClr val="0F172A"/>
                          </a:solidFill>
                        </a:defRPr>
                      </a:pPr>
                      <a:r>
                        <a:t>✓ Ready (100%)</a:t>
                      </a:r>
                    </a:p>
                  </a:txBody>
                  <a:tcPr>
                    <a:solidFill>
                      <a:srgbClr val="ECFDF5"/>
                    </a:solidFill>
                  </a:tcPr>
                </a:tc>
                <a:tc>
                  <a:txBody>
                    <a:bodyPr/>
                    <a:lstStyle/>
                    <a:p>
                      <a:pPr>
                        <a:defRPr sz="800" b="1">
                          <a:solidFill>
                            <a:srgbClr val="0F172A"/>
                          </a:solidFill>
                        </a:defRPr>
                      </a:pPr>
                      <a:r>
                        <a:t>$0</a:t>
                      </a:r>
                    </a:p>
                  </a:txBody>
                  <a:tcPr>
                    <a:solidFill>
                      <a:srgbClr val="ECFDF5"/>
                    </a:solidFill>
                  </a:tcPr>
                </a:tc>
                <a:tc>
                  <a:txBody>
                    <a:bodyPr/>
                    <a:lstStyle/>
                    <a:p>
                      <a:pPr>
                        <a:defRPr sz="800" b="0">
                          <a:solidFill>
                            <a:srgbClr val="0F172A"/>
                          </a:solidFill>
                        </a:defRPr>
                      </a:pPr>
                      <a:r>
                        <a:t>On track; standard production release</a:t>
                      </a:r>
                    </a:p>
                  </a:txBody>
                  <a:tcPr>
                    <a:solidFill>
                      <a:srgbClr val="ECFDF5"/>
                    </a:solidFill>
                  </a:tcPr>
                </a:tc>
              </a:tr>
            </a:tbl>
          </a:graphicData>
        </a:graphic>
      </p:graphicFrame>
      <p:sp>
        <p:nvSpPr>
          <p:cNvPr id="11" name="Rectangle 10"/>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3" name="TextBox 12"/>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05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MODULE 2: FINANCIAL IMPACT &amp; COSTING</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Module 2: The 'Capacity-Finance Bridge' Intelligence Layer</a:t>
            </a:r>
          </a:p>
        </p:txBody>
      </p:sp>
      <p:sp>
        <p:nvSpPr>
          <p:cNvPr id="5" name="TextBox 4"/>
          <p:cNvSpPr txBox="1"/>
          <p:nvPr/>
        </p:nvSpPr>
        <p:spPr>
          <a:xfrm>
            <a:off x="731520" y="987552"/>
            <a:ext cx="10728655" cy="256032"/>
          </a:xfrm>
          <a:prstGeom prst="rect">
            <a:avLst/>
          </a:prstGeom>
          <a:noFill/>
        </p:spPr>
        <p:txBody>
          <a:bodyPr wrap="square" lIns="0" tIns="0" rIns="0" bIns="0">
            <a:spAutoFit/>
          </a:bodyPr>
          <a:lstStyle/>
          <a:p>
            <a:pPr>
              <a:defRPr sz="1050" i="1">
                <a:solidFill>
                  <a:srgbClr val="64748B"/>
                </a:solidFill>
                <a:latin typeface="Arial"/>
              </a:defRPr>
            </a:pPr>
            <a:r>
              <a:t>Connecting Backlog Depth, Capacity Constraints, and Execution Cost to Drive Economic Decisions</a:t>
            </a:r>
          </a:p>
        </p:txBody>
      </p:sp>
      <p:sp>
        <p:nvSpPr>
          <p:cNvPr id="6" name="Rounded Rectangle 5"/>
          <p:cNvSpPr/>
          <p:nvPr/>
        </p:nvSpPr>
        <p:spPr>
          <a:xfrm>
            <a:off x="731520" y="1325880"/>
            <a:ext cx="3429000" cy="1463040"/>
          </a:xfrm>
          <a:prstGeom prst="roundRect">
            <a:avLst/>
          </a:prstGeom>
          <a:solidFill>
            <a:srgbClr val="FFFFFF"/>
          </a:solidFill>
          <a:ln w="1524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0066CC"/>
                </a:solidFill>
                <a:latin typeface="Arial"/>
              </a:defRPr>
            </a:pPr>
            <a:r>
              <a:t>Column 1: Standard Cost (Quoted)</a:t>
            </a:r>
          </a:p>
          <a:p>
            <a:pPr>
              <a:spcBef>
                <a:spcPts val="150"/>
              </a:spcBef>
              <a:defRPr sz="750" b="0">
                <a:solidFill>
                  <a:srgbClr val="0F172A"/>
                </a:solidFill>
              </a:defRPr>
            </a:pPr>
            <a:r>
              <a:t>• Bill of Materials (BOM) Standard Material</a:t>
            </a:r>
          </a:p>
          <a:p>
            <a:pPr>
              <a:spcBef>
                <a:spcPts val="150"/>
              </a:spcBef>
              <a:defRPr sz="750" b="0">
                <a:solidFill>
                  <a:srgbClr val="0F172A"/>
                </a:solidFill>
              </a:defRPr>
            </a:pPr>
            <a:r>
              <a:t>• Direct Standard Labor Hours × Rate</a:t>
            </a:r>
          </a:p>
          <a:p>
            <a:pPr>
              <a:spcBef>
                <a:spcPts val="150"/>
              </a:spcBef>
              <a:defRPr sz="750" b="0">
                <a:solidFill>
                  <a:srgbClr val="0F172A"/>
                </a:solidFill>
              </a:defRPr>
            </a:pPr>
            <a:r>
              <a:t>• Standard Factory Burden / Overhead %</a:t>
            </a:r>
          </a:p>
          <a:p>
            <a:pPr>
              <a:spcBef>
                <a:spcPts val="150"/>
              </a:spcBef>
              <a:defRPr sz="750" b="0">
                <a:solidFill>
                  <a:srgbClr val="0F172A"/>
                </a:solidFill>
              </a:defRPr>
            </a:pPr>
            <a:r>
              <a:t>• Baseline Target: $1,000 / Unit</a:t>
            </a:r>
          </a:p>
          <a:p>
            <a:pPr>
              <a:spcBef>
                <a:spcPts val="150"/>
              </a:spcBef>
              <a:defRPr sz="750" b="0">
                <a:solidFill>
                  <a:srgbClr val="0F172A"/>
                </a:solidFill>
              </a:defRPr>
            </a:pPr>
            <a:r>
              <a:t>• Source: SAP COPC / Material Master</a:t>
            </a:r>
          </a:p>
        </p:txBody>
      </p:sp>
      <p:sp>
        <p:nvSpPr>
          <p:cNvPr id="7" name="Rounded Rectangle 6"/>
          <p:cNvSpPr/>
          <p:nvPr/>
        </p:nvSpPr>
        <p:spPr>
          <a:xfrm>
            <a:off x="4379976" y="1325880"/>
            <a:ext cx="3429000" cy="146304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D97706"/>
                </a:solidFill>
                <a:latin typeface="Arial"/>
              </a:defRPr>
            </a:pPr>
            <a:r>
              <a:t>Column 2: Execution Premiums (Actual)</a:t>
            </a:r>
          </a:p>
          <a:p>
            <a:pPr>
              <a:spcBef>
                <a:spcPts val="150"/>
              </a:spcBef>
              <a:defRPr sz="750" b="0">
                <a:solidFill>
                  <a:srgbClr val="0F172A"/>
                </a:solidFill>
              </a:defRPr>
            </a:pPr>
            <a:r>
              <a:t>• + Unplanned Overtime &amp; Shift Premiums</a:t>
            </a:r>
          </a:p>
          <a:p>
            <a:pPr>
              <a:spcBef>
                <a:spcPts val="150"/>
              </a:spcBef>
              <a:defRPr sz="750" b="0">
                <a:solidFill>
                  <a:srgbClr val="0F172A"/>
                </a:solidFill>
              </a:defRPr>
            </a:pPr>
            <a:r>
              <a:t>• + Expedited Supplier Freight &amp; Rush Fees</a:t>
            </a:r>
          </a:p>
          <a:p>
            <a:pPr>
              <a:spcBef>
                <a:spcPts val="150"/>
              </a:spcBef>
              <a:defRPr sz="750" b="0">
                <a:solidFill>
                  <a:srgbClr val="0F172A"/>
                </a:solidFill>
              </a:defRPr>
            </a:pPr>
            <a:r>
              <a:t>• + Machine Setup Waste from Line Shuffling</a:t>
            </a:r>
          </a:p>
          <a:p>
            <a:pPr>
              <a:spcBef>
                <a:spcPts val="150"/>
              </a:spcBef>
              <a:defRPr sz="750" b="0">
                <a:solidFill>
                  <a:srgbClr val="0F172A"/>
                </a:solidFill>
              </a:defRPr>
            </a:pPr>
            <a:r>
              <a:t>• + Rework &amp; Quality Gate Absorption</a:t>
            </a:r>
          </a:p>
          <a:p>
            <a:pPr>
              <a:spcBef>
                <a:spcPts val="150"/>
              </a:spcBef>
              <a:defRPr sz="750" b="0">
                <a:solidFill>
                  <a:srgbClr val="0F172A"/>
                </a:solidFill>
              </a:defRPr>
            </a:pPr>
            <a:r>
              <a:t>• Execution Premium: +$190 / Unit</a:t>
            </a:r>
          </a:p>
        </p:txBody>
      </p:sp>
      <p:sp>
        <p:nvSpPr>
          <p:cNvPr id="8" name="Rounded Rectangle 7"/>
          <p:cNvSpPr/>
          <p:nvPr/>
        </p:nvSpPr>
        <p:spPr>
          <a:xfrm>
            <a:off x="8028432" y="1325880"/>
            <a:ext cx="3429000" cy="146304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EF4444"/>
                </a:solidFill>
                <a:latin typeface="Arial"/>
              </a:defRPr>
            </a:pPr>
            <a:r>
              <a:t>Column 3: Backlog Drag Cost (Age)</a:t>
            </a:r>
          </a:p>
          <a:p>
            <a:pPr>
              <a:spcBef>
                <a:spcPts val="150"/>
              </a:spcBef>
              <a:defRPr sz="750" b="0">
                <a:solidFill>
                  <a:srgbClr val="0F172A"/>
                </a:solidFill>
              </a:defRPr>
            </a:pPr>
            <a:r>
              <a:t>• + Daily Holding &amp; WIP Financing Cost</a:t>
            </a:r>
          </a:p>
          <a:p>
            <a:pPr>
              <a:spcBef>
                <a:spcPts val="150"/>
              </a:spcBef>
              <a:defRPr sz="750" b="0">
                <a:solidFill>
                  <a:srgbClr val="0F172A"/>
                </a:solidFill>
              </a:defRPr>
            </a:pPr>
            <a:r>
              <a:t>• + Contractual Customer Delay Penalties</a:t>
            </a:r>
          </a:p>
          <a:p>
            <a:pPr>
              <a:spcBef>
                <a:spcPts val="150"/>
              </a:spcBef>
              <a:defRPr sz="750" b="0">
                <a:solidFill>
                  <a:srgbClr val="0F172A"/>
                </a:solidFill>
              </a:defRPr>
            </a:pPr>
            <a:r>
              <a:t>• + Capacity Lockout (Opportunity Cost)</a:t>
            </a:r>
          </a:p>
          <a:p>
            <a:pPr>
              <a:spcBef>
                <a:spcPts val="150"/>
              </a:spcBef>
              <a:defRPr sz="750" b="0">
                <a:solidFill>
                  <a:srgbClr val="0F172A"/>
                </a:solidFill>
              </a:defRPr>
            </a:pPr>
            <a:r>
              <a:t>• Backlog Aging Drag: +$300 / Unit</a:t>
            </a:r>
          </a:p>
          <a:p>
            <a:pPr>
              <a:spcBef>
                <a:spcPts val="150"/>
              </a:spcBef>
              <a:defRPr sz="750" b="1">
                <a:solidFill>
                  <a:srgbClr val="EF4444"/>
                </a:solidFill>
              </a:defRPr>
            </a:pPr>
            <a:r>
              <a:t>• TRUE UNIT COST: $1,490 (49% Margin Erosion!)</a:t>
            </a:r>
          </a:p>
        </p:txBody>
      </p:sp>
      <p:sp>
        <p:nvSpPr>
          <p:cNvPr id="9" name="TextBox 8"/>
          <p:cNvSpPr txBox="1"/>
          <p:nvPr/>
        </p:nvSpPr>
        <p:spPr>
          <a:xfrm>
            <a:off x="731520" y="2834640"/>
            <a:ext cx="10728655" cy="228600"/>
          </a:xfrm>
          <a:prstGeom prst="rect">
            <a:avLst/>
          </a:prstGeom>
          <a:noFill/>
        </p:spPr>
        <p:txBody>
          <a:bodyPr wrap="none" lIns="0" tIns="0">
            <a:spAutoFit/>
          </a:bodyPr>
          <a:lstStyle/>
          <a:p>
            <a:pPr>
              <a:defRPr sz="900" b="1">
                <a:solidFill>
                  <a:srgbClr val="0066CC"/>
                </a:solidFill>
                <a:latin typeface="Arial"/>
              </a:defRPr>
            </a:pPr>
            <a:r>
              <a:t>AGGREGATED FINANCIAL EXPOSURE BY CONSTRAINT TYPE</a:t>
            </a:r>
          </a:p>
        </p:txBody>
      </p:sp>
      <p:graphicFrame>
        <p:nvGraphicFramePr>
          <p:cNvPr id="10" name="Table 9"/>
          <p:cNvGraphicFramePr>
            <a:graphicFrameLocks noGrp="1"/>
          </p:cNvGraphicFramePr>
          <p:nvPr/>
        </p:nvGraphicFramePr>
        <p:xfrm>
          <a:off x="731520" y="3108960"/>
          <a:ext cx="10728655" cy="1188720"/>
        </p:xfrm>
        <a:graphic>
          <a:graphicData uri="http://schemas.openxmlformats.org/drawingml/2006/table">
            <a:tbl>
              <a:tblPr firstRow="1" bandRow="1">
                <a:tableStyleId>{5C22544A-7EE6-4342-B048-85BDC9FD1C3A}</a:tableStyleId>
              </a:tblPr>
              <a:tblGrid>
                <a:gridCol w="3017520"/>
                <a:gridCol w="1645920"/>
                <a:gridCol w="2011680"/>
                <a:gridCol w="2011680"/>
                <a:gridCol w="2041855"/>
              </a:tblGrid>
              <a:tr h="297180">
                <a:tc>
                  <a:txBody>
                    <a:bodyPr/>
                    <a:lstStyle/>
                    <a:p>
                      <a:pPr>
                        <a:defRPr b="1" sz="800">
                          <a:solidFill>
                            <a:srgbClr val="FFFFFF"/>
                          </a:solidFill>
                        </a:defRPr>
                      </a:pPr>
                      <a:r>
                        <a:t>Bottleneck / Constraint Type</a:t>
                      </a:r>
                    </a:p>
                  </a:txBody>
                  <a:tcPr>
                    <a:solidFill>
                      <a:srgbClr val="151F3C"/>
                    </a:solidFill>
                  </a:tcPr>
                </a:tc>
                <a:tc>
                  <a:txBody>
                    <a:bodyPr/>
                    <a:lstStyle/>
                    <a:p>
                      <a:pPr>
                        <a:defRPr b="1" sz="800">
                          <a:solidFill>
                            <a:srgbClr val="FFFFFF"/>
                          </a:solidFill>
                        </a:defRPr>
                      </a:pPr>
                      <a:r>
                        <a:t>Affected Orders</a:t>
                      </a:r>
                    </a:p>
                  </a:txBody>
                  <a:tcPr>
                    <a:solidFill>
                      <a:srgbClr val="151F3C"/>
                    </a:solidFill>
                  </a:tcPr>
                </a:tc>
                <a:tc>
                  <a:txBody>
                    <a:bodyPr/>
                    <a:lstStyle/>
                    <a:p>
                      <a:pPr>
                        <a:defRPr b="1" sz="800">
                          <a:solidFill>
                            <a:srgbClr val="FFFFFF"/>
                          </a:solidFill>
                        </a:defRPr>
                      </a:pPr>
                      <a:r>
                        <a:t>Total Backlog Value</a:t>
                      </a:r>
                    </a:p>
                  </a:txBody>
                  <a:tcPr>
                    <a:solidFill>
                      <a:srgbClr val="151F3C"/>
                    </a:solidFill>
                  </a:tcPr>
                </a:tc>
                <a:tc>
                  <a:txBody>
                    <a:bodyPr/>
                    <a:lstStyle/>
                    <a:p>
                      <a:pPr>
                        <a:defRPr b="1" sz="800">
                          <a:solidFill>
                            <a:srgbClr val="FFFFFF"/>
                          </a:solidFill>
                        </a:defRPr>
                      </a:pPr>
                      <a:r>
                        <a:t>Avg Delay Added</a:t>
                      </a:r>
                    </a:p>
                  </a:txBody>
                  <a:tcPr>
                    <a:solidFill>
                      <a:srgbClr val="151F3C"/>
                    </a:solidFill>
                  </a:tcPr>
                </a:tc>
                <a:tc>
                  <a:txBody>
                    <a:bodyPr/>
                    <a:lstStyle/>
                    <a:p>
                      <a:pPr>
                        <a:defRPr b="1" sz="800">
                          <a:solidFill>
                            <a:srgbClr val="FFFFFF"/>
                          </a:solidFill>
                        </a:defRPr>
                      </a:pPr>
                      <a:r>
                        <a:t>Est. Execution Drag Cost</a:t>
                      </a:r>
                    </a:p>
                  </a:txBody>
                  <a:tcPr>
                    <a:solidFill>
                      <a:srgbClr val="151F3C"/>
                    </a:solidFill>
                  </a:tcPr>
                </a:tc>
              </a:tr>
              <a:tr h="297180">
                <a:tc>
                  <a:txBody>
                    <a:bodyPr/>
                    <a:lstStyle/>
                    <a:p>
                      <a:pPr>
                        <a:defRPr sz="800" b="1">
                          <a:solidFill>
                            <a:srgbClr val="0F172A"/>
                          </a:solidFill>
                        </a:defRPr>
                      </a:pPr>
                      <a:r>
                        <a:t>CNC Work Center AB100 Capacity</a:t>
                      </a:r>
                    </a:p>
                  </a:txBody>
                  <a:tcPr>
                    <a:solidFill>
                      <a:srgbClr val="FFFFFF"/>
                    </a:solidFill>
                  </a:tcPr>
                </a:tc>
                <a:tc>
                  <a:txBody>
                    <a:bodyPr/>
                    <a:lstStyle/>
                    <a:p>
                      <a:pPr>
                        <a:defRPr sz="800" b="0">
                          <a:solidFill>
                            <a:srgbClr val="0F172A"/>
                          </a:solidFill>
                        </a:defRPr>
                      </a:pPr>
                      <a:r>
                        <a:t>15 orders</a:t>
                      </a:r>
                    </a:p>
                  </a:txBody>
                  <a:tcPr>
                    <a:solidFill>
                      <a:srgbClr val="FFFFFF"/>
                    </a:solidFill>
                  </a:tcPr>
                </a:tc>
                <a:tc>
                  <a:txBody>
                    <a:bodyPr/>
                    <a:lstStyle/>
                    <a:p>
                      <a:pPr>
                        <a:defRPr sz="800" b="0">
                          <a:solidFill>
                            <a:srgbClr val="0F172A"/>
                          </a:solidFill>
                        </a:defRPr>
                      </a:pPr>
                      <a:r>
                        <a:t>$1,450,000</a:t>
                      </a:r>
                    </a:p>
                  </a:txBody>
                  <a:tcPr>
                    <a:solidFill>
                      <a:srgbClr val="FFFFFF"/>
                    </a:solidFill>
                  </a:tcPr>
                </a:tc>
                <a:tc>
                  <a:txBody>
                    <a:bodyPr/>
                    <a:lstStyle/>
                    <a:p>
                      <a:pPr>
                        <a:defRPr sz="800" b="0">
                          <a:solidFill>
                            <a:srgbClr val="0F172A"/>
                          </a:solidFill>
                        </a:defRPr>
                      </a:pPr>
                      <a:r>
                        <a:t>+8.5 days</a:t>
                      </a:r>
                    </a:p>
                  </a:txBody>
                  <a:tcPr>
                    <a:solidFill>
                      <a:srgbClr val="FFFFFF"/>
                    </a:solidFill>
                  </a:tcPr>
                </a:tc>
                <a:tc>
                  <a:txBody>
                    <a:bodyPr/>
                    <a:lstStyle/>
                    <a:p>
                      <a:pPr>
                        <a:defRPr sz="800" b="1">
                          <a:solidFill>
                            <a:srgbClr val="EF4444"/>
                          </a:solidFill>
                        </a:defRPr>
                      </a:pPr>
                      <a:r>
                        <a:t>$68,400 (48% of total drag)</a:t>
                      </a:r>
                    </a:p>
                  </a:txBody>
                  <a:tcPr>
                    <a:solidFill>
                      <a:srgbClr val="FFFFFF"/>
                    </a:solidFill>
                  </a:tcPr>
                </a:tc>
              </a:tr>
              <a:tr h="297180">
                <a:tc>
                  <a:txBody>
                    <a:bodyPr/>
                    <a:lstStyle/>
                    <a:p>
                      <a:pPr>
                        <a:defRPr sz="800" b="1">
                          <a:solidFill>
                            <a:srgbClr val="0F172A"/>
                          </a:solidFill>
                        </a:defRPr>
                      </a:pPr>
                      <a:r>
                        <a:t>Supplier Component Delay (XYZ)</a:t>
                      </a:r>
                    </a:p>
                  </a:txBody>
                  <a:tcPr>
                    <a:solidFill>
                      <a:srgbClr val="F1F5F9"/>
                    </a:solidFill>
                  </a:tcPr>
                </a:tc>
                <a:tc>
                  <a:txBody>
                    <a:bodyPr/>
                    <a:lstStyle/>
                    <a:p>
                      <a:pPr>
                        <a:defRPr sz="800" b="0">
                          <a:solidFill>
                            <a:srgbClr val="0F172A"/>
                          </a:solidFill>
                        </a:defRPr>
                      </a:pPr>
                      <a:r>
                        <a:t>8 orders</a:t>
                      </a:r>
                    </a:p>
                  </a:txBody>
                  <a:tcPr>
                    <a:solidFill>
                      <a:srgbClr val="F1F5F9"/>
                    </a:solidFill>
                  </a:tcPr>
                </a:tc>
                <a:tc>
                  <a:txBody>
                    <a:bodyPr/>
                    <a:lstStyle/>
                    <a:p>
                      <a:pPr>
                        <a:defRPr sz="800" b="0">
                          <a:solidFill>
                            <a:srgbClr val="0F172A"/>
                          </a:solidFill>
                        </a:defRPr>
                      </a:pPr>
                      <a:r>
                        <a:t>$620,000</a:t>
                      </a:r>
                    </a:p>
                  </a:txBody>
                  <a:tcPr>
                    <a:solidFill>
                      <a:srgbClr val="F1F5F9"/>
                    </a:solidFill>
                  </a:tcPr>
                </a:tc>
                <a:tc>
                  <a:txBody>
                    <a:bodyPr/>
                    <a:lstStyle/>
                    <a:p>
                      <a:pPr>
                        <a:defRPr sz="800" b="0">
                          <a:solidFill>
                            <a:srgbClr val="0F172A"/>
                          </a:solidFill>
                        </a:defRPr>
                      </a:pPr>
                      <a:r>
                        <a:t>+4.0 days</a:t>
                      </a:r>
                    </a:p>
                  </a:txBody>
                  <a:tcPr>
                    <a:solidFill>
                      <a:srgbClr val="F1F5F9"/>
                    </a:solidFill>
                  </a:tcPr>
                </a:tc>
                <a:tc>
                  <a:txBody>
                    <a:bodyPr/>
                    <a:lstStyle/>
                    <a:p>
                      <a:pPr>
                        <a:defRPr sz="800" b="1">
                          <a:solidFill>
                            <a:srgbClr val="EF4444"/>
                          </a:solidFill>
                        </a:defRPr>
                      </a:pPr>
                      <a:r>
                        <a:t>$28,500 (20% of total drag)</a:t>
                      </a:r>
                    </a:p>
                  </a:txBody>
                  <a:tcPr>
                    <a:solidFill>
                      <a:srgbClr val="F1F5F9"/>
                    </a:solidFill>
                  </a:tcPr>
                </a:tc>
              </a:tr>
              <a:tr h="297180">
                <a:tc>
                  <a:txBody>
                    <a:bodyPr/>
                    <a:lstStyle/>
                    <a:p>
                      <a:pPr>
                        <a:defRPr sz="800" b="1">
                          <a:solidFill>
                            <a:srgbClr val="0F172A"/>
                          </a:solidFill>
                        </a:defRPr>
                      </a:pPr>
                      <a:r>
                        <a:t>Quality Gate FAI Inspection Hold</a:t>
                      </a:r>
                    </a:p>
                  </a:txBody>
                  <a:tcPr>
                    <a:solidFill>
                      <a:srgbClr val="FFFFFF"/>
                    </a:solidFill>
                  </a:tcPr>
                </a:tc>
                <a:tc>
                  <a:txBody>
                    <a:bodyPr/>
                    <a:lstStyle/>
                    <a:p>
                      <a:pPr>
                        <a:defRPr sz="800" b="0">
                          <a:solidFill>
                            <a:srgbClr val="0F172A"/>
                          </a:solidFill>
                        </a:defRPr>
                      </a:pPr>
                      <a:r>
                        <a:t>5 orders</a:t>
                      </a:r>
                    </a:p>
                  </a:txBody>
                  <a:tcPr>
                    <a:solidFill>
                      <a:srgbClr val="FFFFFF"/>
                    </a:solidFill>
                  </a:tcPr>
                </a:tc>
                <a:tc>
                  <a:txBody>
                    <a:bodyPr/>
                    <a:lstStyle/>
                    <a:p>
                      <a:pPr>
                        <a:defRPr sz="800" b="0">
                          <a:solidFill>
                            <a:srgbClr val="0F172A"/>
                          </a:solidFill>
                        </a:defRPr>
                      </a:pPr>
                      <a:r>
                        <a:t>$380,000</a:t>
                      </a:r>
                    </a:p>
                  </a:txBody>
                  <a:tcPr>
                    <a:solidFill>
                      <a:srgbClr val="FFFFFF"/>
                    </a:solidFill>
                  </a:tcPr>
                </a:tc>
                <a:tc>
                  <a:txBody>
                    <a:bodyPr/>
                    <a:lstStyle/>
                    <a:p>
                      <a:pPr>
                        <a:defRPr sz="800" b="0">
                          <a:solidFill>
                            <a:srgbClr val="0F172A"/>
                          </a:solidFill>
                        </a:defRPr>
                      </a:pPr>
                      <a:r>
                        <a:t>+3.2 days</a:t>
                      </a:r>
                    </a:p>
                  </a:txBody>
                  <a:tcPr>
                    <a:solidFill>
                      <a:srgbClr val="FFFFFF"/>
                    </a:solidFill>
                  </a:tcPr>
                </a:tc>
                <a:tc>
                  <a:txBody>
                    <a:bodyPr/>
                    <a:lstStyle/>
                    <a:p>
                      <a:pPr>
                        <a:defRPr sz="800" b="1">
                          <a:solidFill>
                            <a:srgbClr val="EF4444"/>
                          </a:solidFill>
                        </a:defRPr>
                      </a:pPr>
                      <a:r>
                        <a:t>$15,200 (11% of total drag)</a:t>
                      </a:r>
                    </a:p>
                  </a:txBody>
                  <a:tcPr>
                    <a:solidFill>
                      <a:srgbClr val="FFFFFF"/>
                    </a:solidFill>
                  </a:tcPr>
                </a:tc>
              </a:tr>
            </a:tbl>
          </a:graphicData>
        </a:graphic>
      </p:graphicFrame>
      <p:sp>
        <p:nvSpPr>
          <p:cNvPr id="11" name="Rounded Rectangle 10"/>
          <p:cNvSpPr/>
          <p:nvPr/>
        </p:nvSpPr>
        <p:spPr>
          <a:xfrm>
            <a:off x="731520" y="4389120"/>
            <a:ext cx="3429000" cy="192024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10B981"/>
                </a:solidFill>
                <a:latin typeface="Arial"/>
              </a:defRPr>
            </a:pPr>
            <a:r>
              <a:t>SCENARIO A: Add Saturday Shift (CNC AB100)</a:t>
            </a:r>
          </a:p>
          <a:p>
            <a:pPr>
              <a:spcBef>
                <a:spcPts val="200"/>
              </a:spcBef>
              <a:defRPr sz="750" b="0">
                <a:solidFill>
                  <a:srgbClr val="0F172A"/>
                </a:solidFill>
              </a:defRPr>
            </a:pPr>
            <a:r>
              <a:t>• Action: Schedule 8 hrs Saturday OT for CNC work center.</a:t>
            </a:r>
          </a:p>
          <a:p>
            <a:pPr>
              <a:spcBef>
                <a:spcPts val="200"/>
              </a:spcBef>
              <a:defRPr sz="750" b="0">
                <a:solidFill>
                  <a:srgbClr val="0F172A"/>
                </a:solidFill>
              </a:defRPr>
            </a:pPr>
            <a:r>
              <a:t>• Cost: $8,500 (OT wages, utilities, supervision).</a:t>
            </a:r>
          </a:p>
          <a:p>
            <a:pPr>
              <a:spcBef>
                <a:spcPts val="200"/>
              </a:spcBef>
              <a:defRPr sz="750" b="0">
                <a:solidFill>
                  <a:srgbClr val="0F172A"/>
                </a:solidFill>
              </a:defRPr>
            </a:pPr>
            <a:r>
              <a:t>• Impact: Clears 6 critical orders; unblocks $17,040 in delay penalties.</a:t>
            </a:r>
          </a:p>
          <a:p>
            <a:pPr>
              <a:spcBef>
                <a:spcPts val="200"/>
              </a:spcBef>
              <a:defRPr sz="750" b="1">
                <a:solidFill>
                  <a:srgbClr val="10B981"/>
                </a:solidFill>
              </a:defRPr>
            </a:pPr>
            <a:r>
              <a:t>• NET FINANCIAL BENEFIT: +$8,540 | Delivery compressed 1.5 days</a:t>
            </a:r>
          </a:p>
          <a:p>
            <a:pPr>
              <a:spcBef>
                <a:spcPts val="200"/>
              </a:spcBef>
              <a:defRPr sz="750" b="1">
                <a:solidFill>
                  <a:srgbClr val="10B981"/>
                </a:solidFill>
              </a:defRPr>
            </a:pPr>
            <a:r>
              <a:t>• Decision: HIGH ROI — AUTHORIZE IMMEDIATELY</a:t>
            </a:r>
          </a:p>
        </p:txBody>
      </p:sp>
      <p:sp>
        <p:nvSpPr>
          <p:cNvPr id="12" name="Rounded Rectangle 11"/>
          <p:cNvSpPr/>
          <p:nvPr/>
        </p:nvSpPr>
        <p:spPr>
          <a:xfrm>
            <a:off x="4379976" y="4389120"/>
            <a:ext cx="3429000" cy="1920240"/>
          </a:xfrm>
          <a:prstGeom prst="roundRect">
            <a:avLst/>
          </a:prstGeom>
          <a:solidFill>
            <a:srgbClr val="FEF2F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EF4444"/>
                </a:solidFill>
                <a:latin typeface="Arial"/>
              </a:defRPr>
            </a:pPr>
            <a:r>
              <a:t>SCENARIO B: Expedite Supplier (Component XYZ)</a:t>
            </a:r>
          </a:p>
          <a:p>
            <a:pPr>
              <a:spcBef>
                <a:spcPts val="200"/>
              </a:spcBef>
              <a:defRPr sz="750" b="0">
                <a:solidFill>
                  <a:srgbClr val="0F172A"/>
                </a:solidFill>
              </a:defRPr>
            </a:pPr>
            <a:r>
              <a:t>• Action: Pay rush airfreight surcharge on 400 subassemblies.</a:t>
            </a:r>
          </a:p>
          <a:p>
            <a:pPr>
              <a:spcBef>
                <a:spcPts val="200"/>
              </a:spcBef>
              <a:defRPr sz="750" b="0">
                <a:solidFill>
                  <a:srgbClr val="0F172A"/>
                </a:solidFill>
              </a:defRPr>
            </a:pPr>
            <a:r>
              <a:t>• Cost: $12,000 expedited logistics fees.</a:t>
            </a:r>
          </a:p>
          <a:p>
            <a:pPr>
              <a:spcBef>
                <a:spcPts val="200"/>
              </a:spcBef>
              <a:defRPr sz="750" b="0">
                <a:solidFill>
                  <a:srgbClr val="0F172A"/>
                </a:solidFill>
              </a:defRPr>
            </a:pPr>
            <a:r>
              <a:t>• Impact: Advances delivery 3 days, avoids $8,200 in holding cost.</a:t>
            </a:r>
          </a:p>
          <a:p>
            <a:pPr>
              <a:spcBef>
                <a:spcPts val="200"/>
              </a:spcBef>
              <a:defRPr sz="750" b="1">
                <a:solidFill>
                  <a:srgbClr val="EF4444"/>
                </a:solidFill>
              </a:defRPr>
            </a:pPr>
            <a:r>
              <a:t>• NET FINANCIAL BENEFIT: -$3,800 (Net Negative Trade-Off)</a:t>
            </a:r>
          </a:p>
          <a:p>
            <a:pPr>
              <a:spcBef>
                <a:spcPts val="200"/>
              </a:spcBef>
              <a:defRPr sz="750" b="1">
                <a:solidFill>
                  <a:srgbClr val="EF4444"/>
                </a:solidFill>
              </a:defRPr>
            </a:pPr>
            <a:r>
              <a:t>• Decision: REJECT — Cost exceeds delay penalty recovery</a:t>
            </a:r>
          </a:p>
        </p:txBody>
      </p:sp>
      <p:sp>
        <p:nvSpPr>
          <p:cNvPr id="13" name="Rounded Rectangle 12"/>
          <p:cNvSpPr/>
          <p:nvPr/>
        </p:nvSpPr>
        <p:spPr>
          <a:xfrm>
            <a:off x="8028432" y="4389120"/>
            <a:ext cx="3429000" cy="1920240"/>
          </a:xfrm>
          <a:prstGeom prst="roundRect">
            <a:avLst/>
          </a:prstGeom>
          <a:solidFill>
            <a:srgbClr val="FFFBEB"/>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D97706"/>
                </a:solidFill>
                <a:latin typeface="Arial"/>
              </a:defRPr>
            </a:pPr>
            <a:r>
              <a:t>SCENARIO C: Negotiate Customer Promise Extension</a:t>
            </a:r>
          </a:p>
          <a:p>
            <a:pPr>
              <a:spcBef>
                <a:spcPts val="200"/>
              </a:spcBef>
              <a:defRPr sz="750" b="0">
                <a:solidFill>
                  <a:srgbClr val="0F172A"/>
                </a:solidFill>
              </a:defRPr>
            </a:pPr>
            <a:r>
              <a:t>• Action: Proactively request 3-day extension with customer tier-2.</a:t>
            </a:r>
          </a:p>
          <a:p>
            <a:pPr>
              <a:spcBef>
                <a:spcPts val="200"/>
              </a:spcBef>
              <a:defRPr sz="750" b="0">
                <a:solidFill>
                  <a:srgbClr val="0F172A"/>
                </a:solidFill>
              </a:defRPr>
            </a:pPr>
            <a:r>
              <a:t>• Cost: $0 direct expenditure (relies on customer goodwill).</a:t>
            </a:r>
          </a:p>
          <a:p>
            <a:pPr>
              <a:spcBef>
                <a:spcPts val="200"/>
              </a:spcBef>
              <a:defRPr sz="750" b="0">
                <a:solidFill>
                  <a:srgbClr val="0F172A"/>
                </a:solidFill>
              </a:defRPr>
            </a:pPr>
            <a:r>
              <a:t>• Impact: Alleviates CNC crunch; eliminates need for Scenario A OT.</a:t>
            </a:r>
          </a:p>
          <a:p>
            <a:pPr>
              <a:spcBef>
                <a:spcPts val="200"/>
              </a:spcBef>
              <a:defRPr sz="750" b="1">
                <a:solidFill>
                  <a:srgbClr val="D97706"/>
                </a:solidFill>
              </a:defRPr>
            </a:pPr>
            <a:r>
              <a:t>• NET FINANCIAL BENEFIT: +$8,500 (Overtime Avoided)</a:t>
            </a:r>
          </a:p>
          <a:p>
            <a:pPr>
              <a:spcBef>
                <a:spcPts val="200"/>
              </a:spcBef>
              <a:defRPr sz="750" b="1">
                <a:solidFill>
                  <a:srgbClr val="D97706"/>
                </a:solidFill>
              </a:defRPr>
            </a:pPr>
            <a:r>
              <a:t>• Decision: FEASIBLE — Engage account manager for extension</a:t>
            </a:r>
          </a:p>
        </p:txBody>
      </p:sp>
      <p:sp>
        <p:nvSpPr>
          <p:cNvPr id="14" name="Rectangle 13"/>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6" name="TextBox 15"/>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06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CONCEPTUAL UI / UX WIREFRAME</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The Management Cockpit Interface: Where Reports Become Decisions</a:t>
            </a:r>
          </a:p>
        </p:txBody>
      </p:sp>
      <p:sp>
        <p:nvSpPr>
          <p:cNvPr id="5" name="TextBox 4"/>
          <p:cNvSpPr txBox="1"/>
          <p:nvPr/>
        </p:nvSpPr>
        <p:spPr>
          <a:xfrm>
            <a:off x="731520" y="987552"/>
            <a:ext cx="10728655" cy="256032"/>
          </a:xfrm>
          <a:prstGeom prst="rect">
            <a:avLst/>
          </a:prstGeom>
          <a:noFill/>
        </p:spPr>
        <p:txBody>
          <a:bodyPr wrap="square" lIns="0" tIns="0" rIns="0" bIns="0">
            <a:spAutoFit/>
          </a:bodyPr>
          <a:lstStyle/>
          <a:p>
            <a:pPr>
              <a:defRPr sz="1050" i="1">
                <a:solidFill>
                  <a:srgbClr val="64748B"/>
                </a:solidFill>
                <a:latin typeface="Arial"/>
              </a:defRPr>
            </a:pPr>
            <a:r>
              <a:t>Phase 1 MVP Interactive Dashboard Mock-up Unifying Backlog, Capacity, and Costing</a:t>
            </a:r>
          </a:p>
        </p:txBody>
      </p:sp>
      <p:sp>
        <p:nvSpPr>
          <p:cNvPr id="6" name="Rounded Rectangle 5"/>
          <p:cNvSpPr/>
          <p:nvPr/>
        </p:nvSpPr>
        <p:spPr>
          <a:xfrm>
            <a:off x="731520" y="1280160"/>
            <a:ext cx="10728655" cy="5029200"/>
          </a:xfrm>
          <a:prstGeom prst="roundRect">
            <a:avLst/>
          </a:prstGeom>
          <a:solidFill>
            <a:srgbClr val="FFFFFF"/>
          </a:solidFill>
          <a:ln w="19050">
            <a:solidFill>
              <a:srgbClr val="283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80160"/>
            <a:ext cx="10728655" cy="411480"/>
          </a:xfrm>
          <a:prstGeom prst="rect">
            <a:avLst/>
          </a:prstGeom>
          <a:solidFill>
            <a:srgbClr val="151F3C"/>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73152"/>
          <a:lstStyle/>
          <a:p>
            <a:pPr algn="ctr">
              <a:defRPr sz="850" b="1">
                <a:solidFill>
                  <a:srgbClr val="00B4D8"/>
                </a:solidFill>
                <a:latin typeface="Arial"/>
              </a:defRPr>
            </a:pPr>
            <a:r>
              <a:t>LUMBINI ELITE  |  HICAL CAPACITY INTELLIGENCE COCKPIT  •  LIVE SAP FEED (REFRESH: TODAY 14:32)  •  3 AT-RISK ORDERS FLAGGED</a:t>
            </a:r>
          </a:p>
        </p:txBody>
      </p:sp>
      <p:sp>
        <p:nvSpPr>
          <p:cNvPr id="8" name="Rectangle 7"/>
          <p:cNvSpPr/>
          <p:nvPr/>
        </p:nvSpPr>
        <p:spPr>
          <a:xfrm>
            <a:off x="731520" y="1691640"/>
            <a:ext cx="1645920" cy="461772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spcBef>
                <a:spcPts val="300"/>
              </a:spcBef>
              <a:defRPr sz="750" b="1">
                <a:solidFill>
                  <a:srgbClr val="0066CC"/>
                </a:solidFill>
              </a:defRPr>
            </a:pPr>
            <a:r>
              <a:t>📊 Executive Cockpit</a:t>
            </a:r>
          </a:p>
          <a:p>
            <a:pPr>
              <a:spcBef>
                <a:spcPts val="300"/>
              </a:spcBef>
              <a:defRPr sz="750" b="0">
                <a:solidFill>
                  <a:srgbClr val="0F172A"/>
                </a:solidFill>
              </a:defRPr>
            </a:pPr>
            <a:r>
              <a:t>📋 Backlog Pipeline</a:t>
            </a:r>
          </a:p>
          <a:p>
            <a:pPr>
              <a:spcBef>
                <a:spcPts val="300"/>
              </a:spcBef>
              <a:defRPr sz="750" b="0">
                <a:solidFill>
                  <a:srgbClr val="0F172A"/>
                </a:solidFill>
              </a:defRPr>
            </a:pPr>
            <a:r>
              <a:t>💰 Costing Drag Engine</a:t>
            </a:r>
          </a:p>
          <a:p>
            <a:pPr>
              <a:spcBef>
                <a:spcPts val="300"/>
              </a:spcBef>
              <a:defRPr sz="750" b="0">
                <a:solidFill>
                  <a:srgbClr val="0F172A"/>
                </a:solidFill>
              </a:defRPr>
            </a:pPr>
            <a:r>
              <a:t>⚙ Capacity &amp; Work Centers</a:t>
            </a:r>
          </a:p>
          <a:p>
            <a:pPr>
              <a:spcBef>
                <a:spcPts val="300"/>
              </a:spcBef>
              <a:defRPr sz="750" b="0">
                <a:solidFill>
                  <a:srgbClr val="0F172A"/>
                </a:solidFill>
              </a:defRPr>
            </a:pPr>
            <a:r>
              <a:t>🔄 What-If Simulation</a:t>
            </a:r>
          </a:p>
          <a:p>
            <a:pPr>
              <a:spcBef>
                <a:spcPts val="300"/>
              </a:spcBef>
              <a:defRPr sz="750" b="0">
                <a:solidFill>
                  <a:srgbClr val="0F172A"/>
                </a:solidFill>
              </a:defRPr>
            </a:pPr>
            <a:r>
              <a:t>-------------------</a:t>
            </a:r>
          </a:p>
          <a:p>
            <a:pPr>
              <a:spcBef>
                <a:spcPts val="300"/>
              </a:spcBef>
              <a:defRPr sz="750" b="1">
                <a:solidFill>
                  <a:srgbClr val="0066CC"/>
                </a:solidFill>
              </a:defRPr>
            </a:pPr>
            <a:r>
              <a:t>FILTERS ACTIVE:</a:t>
            </a:r>
          </a:p>
          <a:p>
            <a:pPr>
              <a:spcBef>
                <a:spcPts val="300"/>
              </a:spcBef>
              <a:defRPr sz="750" b="0">
                <a:solidFill>
                  <a:srgbClr val="0F172A"/>
                </a:solidFill>
              </a:defRPr>
            </a:pPr>
            <a:r>
              <a:t>• Horizon: Next 30 Days</a:t>
            </a:r>
          </a:p>
          <a:p>
            <a:pPr>
              <a:spcBef>
                <a:spcPts val="300"/>
              </a:spcBef>
              <a:defRPr sz="750" b="0">
                <a:solidFill>
                  <a:srgbClr val="0F172A"/>
                </a:solidFill>
              </a:defRPr>
            </a:pPr>
            <a:r>
              <a:t>• Facility: CNC &amp; Winding</a:t>
            </a:r>
          </a:p>
          <a:p>
            <a:pPr>
              <a:spcBef>
                <a:spcPts val="300"/>
              </a:spcBef>
              <a:defRPr sz="750" b="0">
                <a:solidFill>
                  <a:srgbClr val="0F172A"/>
                </a:solidFill>
              </a:defRPr>
            </a:pPr>
            <a:r>
              <a:t>• Status: Red &amp; Yellow</a:t>
            </a:r>
          </a:p>
        </p:txBody>
      </p:sp>
      <p:sp>
        <p:nvSpPr>
          <p:cNvPr id="9" name="Rounded Rectangle 8"/>
          <p:cNvSpPr/>
          <p:nvPr/>
        </p:nvSpPr>
        <p:spPr>
          <a:xfrm>
            <a:off x="2514600" y="1783080"/>
            <a:ext cx="2084831"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700" b="1">
                <a:solidFill>
                  <a:srgbClr val="64748B"/>
                </a:solidFill>
              </a:defRPr>
            </a:pPr>
            <a:r>
              <a:t>TOTAL OPEN BACKLOG</a:t>
            </a:r>
          </a:p>
          <a:p>
            <a:pPr>
              <a:defRPr sz="1300" b="1">
                <a:solidFill>
                  <a:srgbClr val="0F172A"/>
                </a:solidFill>
              </a:defRPr>
            </a:pPr>
            <a:r>
              <a:t>47 Orders</a:t>
            </a:r>
          </a:p>
          <a:p>
            <a:pPr>
              <a:defRPr sz="650">
                <a:solidFill>
                  <a:srgbClr val="64748B"/>
                </a:solidFill>
              </a:defRPr>
            </a:pPr>
            <a:r>
              <a:t>↑ +3 from yesterday</a:t>
            </a:r>
          </a:p>
        </p:txBody>
      </p:sp>
      <p:sp>
        <p:nvSpPr>
          <p:cNvPr id="10" name="Rounded Rectangle 9"/>
          <p:cNvSpPr/>
          <p:nvPr/>
        </p:nvSpPr>
        <p:spPr>
          <a:xfrm>
            <a:off x="4709160" y="1783080"/>
            <a:ext cx="2084831" cy="777240"/>
          </a:xfrm>
          <a:prstGeom prst="roundRect">
            <a:avLst/>
          </a:prstGeom>
          <a:solidFill>
            <a:srgbClr val="FEF2F2"/>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700" b="1">
                <a:solidFill>
                  <a:srgbClr val="64748B"/>
                </a:solidFill>
              </a:defRPr>
            </a:pPr>
            <a:r>
              <a:t>AT-RISK ORDERS (RED)</a:t>
            </a:r>
          </a:p>
          <a:p>
            <a:pPr>
              <a:defRPr sz="1300" b="1">
                <a:solidFill>
                  <a:srgbClr val="EF4444"/>
                </a:solidFill>
              </a:defRPr>
            </a:pPr>
            <a:r>
              <a:t>12 Orders</a:t>
            </a:r>
          </a:p>
          <a:p>
            <a:pPr>
              <a:defRPr sz="650">
                <a:solidFill>
                  <a:srgbClr val="64748B"/>
                </a:solidFill>
              </a:defRPr>
            </a:pPr>
            <a:r>
              <a:t>Buffer &lt;2d or Overload</a:t>
            </a:r>
          </a:p>
        </p:txBody>
      </p:sp>
      <p:sp>
        <p:nvSpPr>
          <p:cNvPr id="11" name="Rounded Rectangle 10"/>
          <p:cNvSpPr/>
          <p:nvPr/>
        </p:nvSpPr>
        <p:spPr>
          <a:xfrm>
            <a:off x="6903720" y="1783080"/>
            <a:ext cx="2084831" cy="777240"/>
          </a:xfrm>
          <a:prstGeom prst="roundRect">
            <a:avLst/>
          </a:prstGeom>
          <a:solidFill>
            <a:srgbClr val="FFFBE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700" b="1">
                <a:solidFill>
                  <a:srgbClr val="64748B"/>
                </a:solidFill>
              </a:defRPr>
            </a:pPr>
            <a:r>
              <a:t>AVERAGE BACKLOG AGE</a:t>
            </a:r>
          </a:p>
          <a:p>
            <a:pPr>
              <a:defRPr sz="1300" b="1">
                <a:solidFill>
                  <a:srgbClr val="D97706"/>
                </a:solidFill>
              </a:defRPr>
            </a:pPr>
            <a:r>
              <a:t>8.3 Days</a:t>
            </a:r>
          </a:p>
          <a:p>
            <a:pPr>
              <a:defRPr sz="650">
                <a:solidFill>
                  <a:srgbClr val="64748B"/>
                </a:solidFill>
              </a:defRPr>
            </a:pPr>
            <a:r>
              <a:t>↓ -0.5d improvement</a:t>
            </a:r>
          </a:p>
        </p:txBody>
      </p:sp>
      <p:sp>
        <p:nvSpPr>
          <p:cNvPr id="12" name="Rounded Rectangle 11"/>
          <p:cNvSpPr/>
          <p:nvPr/>
        </p:nvSpPr>
        <p:spPr>
          <a:xfrm>
            <a:off x="9098280" y="1783080"/>
            <a:ext cx="2084831" cy="777240"/>
          </a:xfrm>
          <a:prstGeom prst="roundRect">
            <a:avLst/>
          </a:prstGeom>
          <a:solidFill>
            <a:srgbClr val="EEF2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700" b="1">
                <a:solidFill>
                  <a:srgbClr val="64748B"/>
                </a:solidFill>
              </a:defRPr>
            </a:pPr>
            <a:r>
              <a:t>FINANCIAL DRAG EXPOSURE</a:t>
            </a:r>
          </a:p>
          <a:p>
            <a:pPr>
              <a:defRPr sz="1300" b="1">
                <a:solidFill>
                  <a:srgbClr val="0066CC"/>
                </a:solidFill>
              </a:defRPr>
            </a:pPr>
            <a:r>
              <a:t>$1,240,000</a:t>
            </a:r>
          </a:p>
          <a:p>
            <a:pPr>
              <a:defRPr sz="650">
                <a:solidFill>
                  <a:srgbClr val="64748B"/>
                </a:solidFill>
              </a:defRPr>
            </a:pPr>
            <a:r>
              <a:t>+$180K cost risk</a:t>
            </a:r>
          </a:p>
        </p:txBody>
      </p:sp>
      <p:sp>
        <p:nvSpPr>
          <p:cNvPr id="13" name="Rounded Rectangle 12"/>
          <p:cNvSpPr/>
          <p:nvPr/>
        </p:nvSpPr>
        <p:spPr>
          <a:xfrm>
            <a:off x="2514600" y="2651760"/>
            <a:ext cx="411480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800" b="1">
                <a:solidFill>
                  <a:srgbClr val="0066CC"/>
                </a:solidFill>
              </a:defRPr>
            </a:pPr>
            <a:r>
              <a:t>WORK CENTER CONSTRAINT HEATMAP</a:t>
            </a:r>
          </a:p>
          <a:p>
            <a:pPr>
              <a:spcBef>
                <a:spcPts val="200"/>
              </a:spcBef>
              <a:defRPr sz="700">
                <a:solidFill>
                  <a:srgbClr val="EF4444"/>
                </a:solidFill>
              </a:defRPr>
            </a:pPr>
            <a:r>
              <a:t>CNC Work Center AB100 (115% Load) (15 orders)</a:t>
            </a:r>
            <a:br/>
            <a:r>
              <a:t>████████████████</a:t>
            </a:r>
          </a:p>
          <a:p>
            <a:pPr>
              <a:spcBef>
                <a:spcPts val="200"/>
              </a:spcBef>
              <a:defRPr sz="700">
                <a:solidFill>
                  <a:srgbClr val="D97706"/>
                </a:solidFill>
              </a:defRPr>
            </a:pPr>
            <a:r>
              <a:t>Sequence &amp; Setup Contention (19 orders)</a:t>
            </a:r>
            <a:br/>
            <a:r>
              <a:t>████████████</a:t>
            </a:r>
          </a:p>
          <a:p>
            <a:pPr>
              <a:spcBef>
                <a:spcPts val="200"/>
              </a:spcBef>
              <a:defRPr sz="700">
                <a:solidFill>
                  <a:srgbClr val="0066CC"/>
                </a:solidFill>
              </a:defRPr>
            </a:pPr>
            <a:r>
              <a:t>Supplier Part XYZ Shortage (8 orders)</a:t>
            </a:r>
            <a:br/>
            <a:r>
              <a:t>██████</a:t>
            </a:r>
          </a:p>
          <a:p>
            <a:pPr>
              <a:spcBef>
                <a:spcPts val="200"/>
              </a:spcBef>
              <a:defRPr sz="700">
                <a:solidFill>
                  <a:srgbClr val="10B981"/>
                </a:solidFill>
              </a:defRPr>
            </a:pPr>
            <a:r>
              <a:t>Quality Gate FAI Inspection Hold (5 orders)</a:t>
            </a:r>
            <a:br/>
            <a:r>
              <a:t>████</a:t>
            </a:r>
          </a:p>
        </p:txBody>
      </p:sp>
      <p:sp>
        <p:nvSpPr>
          <p:cNvPr id="14" name="Rounded Rectangle 13"/>
          <p:cNvSpPr/>
          <p:nvPr/>
        </p:nvSpPr>
        <p:spPr>
          <a:xfrm>
            <a:off x="6720840" y="2651760"/>
            <a:ext cx="4647895"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800" b="1">
                <a:solidFill>
                  <a:srgbClr val="0066CC"/>
                </a:solidFill>
              </a:defRPr>
            </a:pPr>
            <a:r>
              <a:t>LIVE EXCEPTION QUEUE (TOP RED &amp; YELLOW ORDERS)</a:t>
            </a:r>
          </a:p>
          <a:p>
            <a:pPr>
              <a:spcBef>
                <a:spcPts val="200"/>
              </a:spcBef>
              <a:defRPr sz="700">
                <a:solidFill>
                  <a:srgbClr val="0F172A"/>
                </a:solidFill>
              </a:defRPr>
            </a:pPr>
            <a:r>
              <a:t>🔴 SO-104921 | Acme Corp | Due in 2d | Blocked: CNC AB100 ($24.5K Drag) [ACTION: Add Shift]</a:t>
            </a:r>
          </a:p>
          <a:p>
            <a:pPr>
              <a:spcBef>
                <a:spcPts val="200"/>
              </a:spcBef>
              <a:defRPr sz="700">
                <a:solidFill>
                  <a:srgbClr val="0F172A"/>
                </a:solidFill>
              </a:defRPr>
            </a:pPr>
            <a:r>
              <a:t>🟡 SO-105014 | Boeing | Due in 8d | Blocked: Supplier XYZ ($8.2K Drag) [ACTION: Airfreight]</a:t>
            </a:r>
          </a:p>
          <a:p>
            <a:pPr>
              <a:spcBef>
                <a:spcPts val="200"/>
              </a:spcBef>
              <a:defRPr sz="700">
                <a:solidFill>
                  <a:srgbClr val="0F172A"/>
                </a:solidFill>
              </a:defRPr>
            </a:pPr>
            <a:r>
              <a:t>🟡 SO-105188 | Hitachi | Due in 12d | Blocked: Sheet Metal Line ($4.1K Drag) [ACTION: Sequence]</a:t>
            </a:r>
          </a:p>
          <a:p>
            <a:pPr>
              <a:spcBef>
                <a:spcPts val="200"/>
              </a:spcBef>
              <a:defRPr sz="700">
                <a:solidFill>
                  <a:srgbClr val="0F172A"/>
                </a:solidFill>
              </a:defRPr>
            </a:pPr>
            <a:r>
              <a:t>✓ SO-104880 | Pratt &amp; Whitney | Completed 1d early | Cost Drag Saved: +$11,400</a:t>
            </a:r>
          </a:p>
        </p:txBody>
      </p:sp>
      <p:sp>
        <p:nvSpPr>
          <p:cNvPr id="15" name="Rounded Rectangle 14"/>
          <p:cNvSpPr/>
          <p:nvPr/>
        </p:nvSpPr>
        <p:spPr>
          <a:xfrm>
            <a:off x="2514600" y="4389120"/>
            <a:ext cx="8854135" cy="1828800"/>
          </a:xfrm>
          <a:prstGeom prst="roundRect">
            <a:avLst/>
          </a:prstGeom>
          <a:solidFill>
            <a:srgbClr val="F5F3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7C3AED"/>
                </a:solidFill>
              </a:defRPr>
            </a:pPr>
            <a:r>
              <a:t>WHAT-IF SIMULATION ENGINE (SCENARIO MODELING &amp; ROI PREDICTION)</a:t>
            </a:r>
          </a:p>
          <a:p>
            <a:pPr>
              <a:spcBef>
                <a:spcPts val="300"/>
              </a:spcBef>
              <a:defRPr sz="750">
                <a:solidFill>
                  <a:srgbClr val="0F172A"/>
                </a:solidFill>
              </a:defRPr>
            </a:pPr>
            <a:r>
              <a:t>• Scenario Selected: Schedule Saturday Shift (+8 hrs capacity on CNC AB100)</a:t>
            </a:r>
            <a:br/>
            <a:r>
              <a:t>  → Recalculation: Load drops from 115% to 88% | 6 Red orders unblocked | Net Savings: +$8,540 | Timeline compressed 1.5 days</a:t>
            </a:r>
            <a:br/>
            <a:r>
              <a:t>• One-Click Action: [EXECUTE SHIFT SCHEDULE]  [PUSH REVISED SAP ROUTING]  [NOTIFY PRODUCTION MANAGER]</a:t>
            </a:r>
            <a:br/>
            <a:r>
              <a:t>• Mobile Alert Rule: Push automated SMS/Email alert to VP Operations if any Tier-1 order hits Red buffer (&lt;2 days).</a:t>
            </a:r>
          </a:p>
        </p:txBody>
      </p:sp>
      <p:sp>
        <p:nvSpPr>
          <p:cNvPr id="16" name="Rectangle 15"/>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8" name="TextBox 17"/>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07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TECHNICAL ARCHITECTURE &amp; DATA ENGINE</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The Engine Behind the Cockpit: Business Rules &amp; SAP Integration</a:t>
            </a:r>
          </a:p>
        </p:txBody>
      </p:sp>
      <p:sp>
        <p:nvSpPr>
          <p:cNvPr id="5" name="TextBox 4"/>
          <p:cNvSpPr txBox="1"/>
          <p:nvPr/>
        </p:nvSpPr>
        <p:spPr>
          <a:xfrm>
            <a:off x="731520" y="987552"/>
            <a:ext cx="10728655" cy="256032"/>
          </a:xfrm>
          <a:prstGeom prst="rect">
            <a:avLst/>
          </a:prstGeom>
          <a:noFill/>
        </p:spPr>
        <p:txBody>
          <a:bodyPr wrap="square" lIns="0" tIns="0" rIns="0" bIns="0">
            <a:spAutoFit/>
          </a:bodyPr>
          <a:lstStyle/>
          <a:p>
            <a:pPr>
              <a:defRPr sz="1050" i="1">
                <a:solidFill>
                  <a:srgbClr val="64748B"/>
                </a:solidFill>
                <a:latin typeface="Arial"/>
              </a:defRPr>
            </a:pPr>
            <a:r>
              <a:t>Transparent Three-Tier Architecture Translating Raw SAP Tables into Calculated Executive Insights</a:t>
            </a:r>
          </a:p>
        </p:txBody>
      </p:sp>
      <p:sp>
        <p:nvSpPr>
          <p:cNvPr id="6" name="Rounded Rectangle 5"/>
          <p:cNvSpPr/>
          <p:nvPr/>
        </p:nvSpPr>
        <p:spPr>
          <a:xfrm>
            <a:off x="731520" y="1280160"/>
            <a:ext cx="10728655" cy="1188720"/>
          </a:xfrm>
          <a:prstGeom prst="roundRect">
            <a:avLst/>
          </a:prstGeom>
          <a:solidFill>
            <a:srgbClr val="FFFFFF"/>
          </a:solidFill>
          <a:ln w="1524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0066CC"/>
                </a:solidFill>
              </a:defRPr>
            </a:pPr>
            <a:r>
              <a:t>TIER 1: STRATEGIC BUSINESS QUESTIONS → MEASURABLE METRICS</a:t>
            </a:r>
          </a:p>
          <a:p>
            <a:pPr>
              <a:spcBef>
                <a:spcPts val="200"/>
              </a:spcBef>
            </a:pPr>
            <a:r>
              <a:rPr b="1" sz="750">
                <a:solidFill>
                  <a:srgbClr val="0F172A"/>
                </a:solidFill>
              </a:rPr>
              <a:t>• Which orders are at-risk of late delivery? → </a:t>
            </a:r>
            <a:r>
              <a:rPr b="0" sz="750">
                <a:solidFill>
                  <a:srgbClr val="64748B"/>
                </a:solidFill>
              </a:rPr>
              <a:t>Risk Score (1-10) = Weighted formula of Buffer Days + Work Center Load + Material Ready.</a:t>
            </a:r>
          </a:p>
          <a:p>
            <a:pPr>
              <a:spcBef>
                <a:spcPts val="200"/>
              </a:spcBef>
            </a:pPr>
            <a:r>
              <a:rPr b="1" sz="750">
                <a:solidFill>
                  <a:srgbClr val="0F172A"/>
                </a:solidFill>
              </a:rPr>
              <a:t>• Where are my critical bottlenecks? → </a:t>
            </a:r>
            <a:r>
              <a:rPr b="0" sz="750">
                <a:solidFill>
                  <a:srgbClr val="64748B"/>
                </a:solidFill>
              </a:rPr>
              <a:t>Constraint Flag = SUM(RESB Operation Hours) / CRHD Work Center Available Capacity &gt; 100%.</a:t>
            </a:r>
          </a:p>
          <a:p>
            <a:pPr>
              <a:spcBef>
                <a:spcPts val="200"/>
              </a:spcBef>
            </a:pPr>
            <a:r>
              <a:rPr b="1" sz="750">
                <a:solidFill>
                  <a:srgbClr val="0F172A"/>
                </a:solidFill>
              </a:rPr>
              <a:t>• What is backlog costing us financially? → </a:t>
            </a:r>
            <a:r>
              <a:rPr b="0" sz="750">
                <a:solidFill>
                  <a:srgbClr val="64748B"/>
                </a:solidFill>
              </a:rPr>
              <a:t>Total Drag = (Order Value × Margin Drag %) + (Backlog Age × Daily Holding Cost) + Premium OT.</a:t>
            </a:r>
          </a:p>
          <a:p>
            <a:pPr>
              <a:spcBef>
                <a:spcPts val="200"/>
              </a:spcBef>
            </a:pPr>
            <a:r>
              <a:rPr b="1" sz="750">
                <a:solidFill>
                  <a:srgbClr val="0F172A"/>
                </a:solidFill>
              </a:rPr>
              <a:t>• What unblocks if we add capacity? → </a:t>
            </a:r>
            <a:r>
              <a:rPr b="0" sz="750">
                <a:solidFill>
                  <a:srgbClr val="64748B"/>
                </a:solidFill>
              </a:rPr>
              <a:t>Simulation Engine = Re-routes order sequence against +8 hrs CRHD capacity, recalculating margin.</a:t>
            </a:r>
          </a:p>
        </p:txBody>
      </p:sp>
      <p:sp>
        <p:nvSpPr>
          <p:cNvPr id="7" name="Rounded Rectangle 6"/>
          <p:cNvSpPr/>
          <p:nvPr/>
        </p:nvSpPr>
        <p:spPr>
          <a:xfrm>
            <a:off x="731520" y="2560320"/>
            <a:ext cx="10728655" cy="210312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D97706"/>
                </a:solidFill>
              </a:defRPr>
            </a:pPr>
            <a:r>
              <a:t>TIER 2: SAP DATA OBJECT MAPPING &amp; TRANSFORMATION PIPELINE</a:t>
            </a:r>
          </a:p>
          <a:p>
            <a:pPr>
              <a:spcBef>
                <a:spcPts val="250"/>
              </a:spcBef>
            </a:pPr>
            <a:r>
              <a:rPr b="1" sz="750">
                <a:solidFill>
                  <a:srgbClr val="0F172A"/>
                </a:solidFill>
              </a:rPr>
              <a:t>• Sales &amp; Demand (SD): </a:t>
            </a:r>
            <a:r>
              <a:rPr b="0" sz="750">
                <a:solidFill>
                  <a:srgbClr val="64748B"/>
                </a:solidFill>
              </a:rPr>
              <a:t>VBAK (Order Header), VBAP (Line Items), VBEP (Delivery Schedule) → Pulls promised date (VDDAT), order net value (NETWR), and customer tier.</a:t>
            </a:r>
          </a:p>
          <a:p>
            <a:pPr>
              <a:spcBef>
                <a:spcPts val="250"/>
              </a:spcBef>
            </a:pPr>
            <a:r>
              <a:rPr b="1" sz="750">
                <a:solidFill>
                  <a:srgbClr val="0F172A"/>
                </a:solidFill>
              </a:rPr>
              <a:t>• Production Planning (PP): </a:t>
            </a:r>
            <a:r>
              <a:rPr b="0" sz="750">
                <a:solidFill>
                  <a:srgbClr val="64748B"/>
                </a:solidFill>
              </a:rPr>
              <a:t>AFPO / AFKO (Production Orders), AUFM (Operation Confirmations), RESB (Reservations) → Tracks % completion and material component allocation.</a:t>
            </a:r>
          </a:p>
          <a:p>
            <a:pPr>
              <a:spcBef>
                <a:spcPts val="250"/>
              </a:spcBef>
            </a:pPr>
            <a:r>
              <a:rPr b="1" sz="750">
                <a:solidFill>
                  <a:srgbClr val="0F172A"/>
                </a:solidFill>
              </a:rPr>
              <a:t>• Capacity Management (CR): </a:t>
            </a:r>
            <a:r>
              <a:rPr b="0" sz="750">
                <a:solidFill>
                  <a:srgbClr val="64748B"/>
                </a:solidFill>
              </a:rPr>
              <a:t>CRHD (Work Center Header), PLKO / PLKP (Routing Plans) → Extracts work center maximum daily hours vs scheduled load to pinpoint bottlenecks.</a:t>
            </a:r>
          </a:p>
          <a:p>
            <a:pPr>
              <a:spcBef>
                <a:spcPts val="250"/>
              </a:spcBef>
            </a:pPr>
            <a:r>
              <a:rPr b="1" sz="750">
                <a:solidFill>
                  <a:srgbClr val="0F172A"/>
                </a:solidFill>
              </a:rPr>
              <a:t>• Materials Management (MM): </a:t>
            </a:r>
            <a:r>
              <a:rPr b="0" sz="750">
                <a:solidFill>
                  <a:srgbClr val="64748B"/>
                </a:solidFill>
              </a:rPr>
              <a:t>MARA / MARC (Material Master), MSEG / MIGO (Goods Movements), EKKO / EKPO (Purchasing) → Detects part shortages and supplier receipt dates.</a:t>
            </a:r>
          </a:p>
          <a:p>
            <a:pPr>
              <a:spcBef>
                <a:spcPts val="250"/>
              </a:spcBef>
            </a:pPr>
            <a:r>
              <a:rPr b="1" sz="750">
                <a:solidFill>
                  <a:srgbClr val="0F172A"/>
                </a:solidFill>
              </a:rPr>
              <a:t>• Costing &amp; Finance (CO/FI): </a:t>
            </a:r>
            <a:r>
              <a:rPr b="0" sz="750">
                <a:solidFill>
                  <a:srgbClr val="64748B"/>
                </a:solidFill>
              </a:rPr>
              <a:t>COPC (Cost Component Split), AFVC (Operation Costs), General Ledger → Computes baseline BOM standard cost vs overtime variance.</a:t>
            </a:r>
          </a:p>
        </p:txBody>
      </p:sp>
      <p:sp>
        <p:nvSpPr>
          <p:cNvPr id="8" name="Rounded Rectangle 7"/>
          <p:cNvSpPr/>
          <p:nvPr/>
        </p:nvSpPr>
        <p:spPr>
          <a:xfrm>
            <a:off x="731520" y="4754880"/>
            <a:ext cx="10728655" cy="1508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850" b="1">
                <a:solidFill>
                  <a:srgbClr val="0066CC"/>
                </a:solidFill>
              </a:defRPr>
            </a:pPr>
            <a:r>
              <a:t>TIER 3: DATA REFRESH, INTEGRITY &amp; AUDIT GOVERNANCE</a:t>
            </a:r>
          </a:p>
          <a:p>
            <a:pPr>
              <a:spcBef>
                <a:spcPts val="200"/>
              </a:spcBef>
              <a:defRPr sz="750">
                <a:solidFill>
                  <a:srgbClr val="0F172A"/>
                </a:solidFill>
              </a:defRPr>
            </a:pPr>
            <a:r>
              <a:t>✓ Automated Refresh Cadence: Live data extracted from SAP HANA every 4 hours via read-only queries with zero operational slowdown.</a:t>
            </a:r>
          </a:p>
          <a:p>
            <a:pPr>
              <a:spcBef>
                <a:spcPts val="200"/>
              </a:spcBef>
              <a:defRPr sz="750">
                <a:solidFill>
                  <a:srgbClr val="0F172A"/>
                </a:solidFill>
              </a:defRPr>
            </a:pPr>
            <a:r>
              <a:t>✓ Full Traceability &amp; Audit: Every KPI, risk score, and drag estimate is click-traceable back to individual SAP document numbers.</a:t>
            </a:r>
          </a:p>
          <a:p>
            <a:pPr>
              <a:spcBef>
                <a:spcPts val="200"/>
              </a:spcBef>
              <a:defRPr sz="750">
                <a:solidFill>
                  <a:srgbClr val="0F172A"/>
                </a:solidFill>
              </a:defRPr>
            </a:pPr>
            <a:r>
              <a:t>✓ Embedded Logic Transparency: Business calculation rules are documented in Tableau metadata and can be tuned dynamically by HICAL leadership.</a:t>
            </a:r>
          </a:p>
          <a:p>
            <a:pPr>
              <a:spcBef>
                <a:spcPts val="200"/>
              </a:spcBef>
              <a:defRPr sz="750">
                <a:solidFill>
                  <a:srgbClr val="0F172A"/>
                </a:solidFill>
              </a:defRPr>
            </a:pPr>
            <a:r>
              <a:t>✓ Data Quality Verification: Discovery phase includes automated pre-flight reconciliation against existing manual spreadsheets to guarantee 100% precision.</a:t>
            </a:r>
          </a:p>
        </p:txBody>
      </p:sp>
      <p:sp>
        <p:nvSpPr>
          <p:cNvPr id="9" name="Rectangle 8"/>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1" name="TextBox 10"/>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08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DELIVERY STRATEGY &amp; ROADMAP</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From MVP to World-Class ePPDS: A Phased Delivery Strategy</a:t>
            </a:r>
          </a:p>
        </p:txBody>
      </p:sp>
      <p:sp>
        <p:nvSpPr>
          <p:cNvPr id="5" name="TextBox 4"/>
          <p:cNvSpPr txBox="1"/>
          <p:nvPr/>
        </p:nvSpPr>
        <p:spPr>
          <a:xfrm>
            <a:off x="731520" y="987552"/>
            <a:ext cx="10728655" cy="256032"/>
          </a:xfrm>
          <a:prstGeom prst="rect">
            <a:avLst/>
          </a:prstGeom>
          <a:noFill/>
        </p:spPr>
        <p:txBody>
          <a:bodyPr wrap="square" lIns="0" tIns="0" rIns="0" bIns="0">
            <a:spAutoFit/>
          </a:bodyPr>
          <a:lstStyle/>
          <a:p>
            <a:pPr>
              <a:defRPr sz="1050" i="1">
                <a:solidFill>
                  <a:srgbClr val="64748B"/>
                </a:solidFill>
                <a:latin typeface="Arial"/>
              </a:defRPr>
            </a:pPr>
            <a:r>
              <a:t>Low-Risk, Value-Driven Roadmap: Phase 1 MVP (Weeks 1–12) → Phase 2 Cockpit (Weeks 12–24) → Phase 3 ePPDS (Weeks 24+)</a:t>
            </a:r>
          </a:p>
        </p:txBody>
      </p:sp>
      <p:sp>
        <p:nvSpPr>
          <p:cNvPr id="6" name="Rounded Rectangle 5"/>
          <p:cNvSpPr/>
          <p:nvPr/>
        </p:nvSpPr>
        <p:spPr>
          <a:xfrm>
            <a:off x="731520" y="1325880"/>
            <a:ext cx="3429000" cy="205740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10B981"/>
                </a:solidFill>
                <a:latin typeface="Arial"/>
              </a:defRPr>
            </a:pPr>
            <a:r>
              <a:t>PHASE 1: FOUNDATIONAL MVP</a:t>
            </a:r>
          </a:p>
          <a:p>
            <a:pPr>
              <a:defRPr sz="800" b="1">
                <a:solidFill>
                  <a:srgbClr val="64748B"/>
                </a:solidFill>
              </a:defRPr>
            </a:pPr>
            <a:r>
              <a:t>WEEKS 1 – 12</a:t>
            </a:r>
          </a:p>
          <a:p>
            <a:pPr>
              <a:spcBef>
                <a:spcPts val="250"/>
              </a:spcBef>
              <a:defRPr sz="750">
                <a:solidFill>
                  <a:srgbClr val="0F172A"/>
                </a:solidFill>
              </a:defRPr>
            </a:pPr>
            <a:r>
              <a:t>✓ Live Backlog Report with risk scoring</a:t>
            </a:r>
          </a:p>
          <a:p>
            <a:pPr>
              <a:spcBef>
                <a:spcPts val="250"/>
              </a:spcBef>
              <a:defRPr sz="750">
                <a:solidFill>
                  <a:srgbClr val="0F172A"/>
                </a:solidFill>
              </a:defRPr>
            </a:pPr>
            <a:r>
              <a:t>✓ Costing Report with backlog drag metrics</a:t>
            </a:r>
          </a:p>
          <a:p>
            <a:pPr>
              <a:spcBef>
                <a:spcPts val="250"/>
              </a:spcBef>
              <a:defRPr sz="750">
                <a:solidFill>
                  <a:srgbClr val="0F172A"/>
                </a:solidFill>
              </a:defRPr>
            </a:pPr>
            <a:r>
              <a:t>✓ Initial Tableau Dashboard with KPI cards</a:t>
            </a:r>
          </a:p>
          <a:p>
            <a:pPr>
              <a:spcBef>
                <a:spcPts val="250"/>
              </a:spcBef>
              <a:defRPr sz="750">
                <a:solidFill>
                  <a:srgbClr val="0F172A"/>
                </a:solidFill>
              </a:defRPr>
            </a:pPr>
            <a:r>
              <a:t>✓ Automated 4-hour SAP HANA extraction</a:t>
            </a:r>
          </a:p>
          <a:p>
            <a:pPr>
              <a:spcBef>
                <a:spcPts val="250"/>
              </a:spcBef>
              <a:defRPr sz="750">
                <a:solidFill>
                  <a:srgbClr val="0F172A"/>
                </a:solidFill>
              </a:defRPr>
            </a:pPr>
            <a:r>
              <a:t>✓ Retires manual Excel tracking spreadsheets</a:t>
            </a:r>
          </a:p>
          <a:p>
            <a:pPr>
              <a:spcBef>
                <a:spcPts val="250"/>
              </a:spcBef>
              <a:defRPr sz="750">
                <a:solidFill>
                  <a:srgbClr val="0F172A"/>
                </a:solidFill>
              </a:defRPr>
            </a:pPr>
            <a:r>
              <a:t>✓ Delivers immediate $180K–$400K first-year ROI</a:t>
            </a:r>
          </a:p>
        </p:txBody>
      </p:sp>
      <p:sp>
        <p:nvSpPr>
          <p:cNvPr id="7" name="Rounded Rectangle 6"/>
          <p:cNvSpPr/>
          <p:nvPr/>
        </p:nvSpPr>
        <p:spPr>
          <a:xfrm>
            <a:off x="4379976" y="1325880"/>
            <a:ext cx="3429000" cy="2057400"/>
          </a:xfrm>
          <a:prstGeom prst="roundRect">
            <a:avLst/>
          </a:prstGeom>
          <a:solidFill>
            <a:srgbClr val="EEF2FF"/>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0066CC"/>
                </a:solidFill>
                <a:latin typeface="Arial"/>
              </a:defRPr>
            </a:pPr>
            <a:r>
              <a:t>PHASE 2: MANAGEMENT COCKPIT</a:t>
            </a:r>
          </a:p>
          <a:p>
            <a:pPr>
              <a:defRPr sz="800" b="1">
                <a:solidFill>
                  <a:srgbClr val="64748B"/>
                </a:solidFill>
              </a:defRPr>
            </a:pPr>
            <a:r>
              <a:t>WEEKS 12 – 24</a:t>
            </a:r>
          </a:p>
          <a:p>
            <a:pPr>
              <a:spcBef>
                <a:spcPts val="250"/>
              </a:spcBef>
              <a:defRPr sz="750">
                <a:solidFill>
                  <a:srgbClr val="0F172A"/>
                </a:solidFill>
              </a:defRPr>
            </a:pPr>
            <a:r>
              <a:t>✓ Integrated multi-constraint heatmap</a:t>
            </a:r>
          </a:p>
          <a:p>
            <a:pPr>
              <a:spcBef>
                <a:spcPts val="250"/>
              </a:spcBef>
              <a:defRPr sz="750">
                <a:solidFill>
                  <a:srgbClr val="0F172A"/>
                </a:solidFill>
              </a:defRPr>
            </a:pPr>
            <a:r>
              <a:t>✓ What-If Scenario Simulation engine</a:t>
            </a:r>
          </a:p>
          <a:p>
            <a:pPr>
              <a:spcBef>
                <a:spcPts val="250"/>
              </a:spcBef>
              <a:defRPr sz="750">
                <a:solidFill>
                  <a:srgbClr val="0F172A"/>
                </a:solidFill>
              </a:defRPr>
            </a:pPr>
            <a:r>
              <a:t>✓ Economic trade-off decision modeling</a:t>
            </a:r>
          </a:p>
          <a:p>
            <a:pPr>
              <a:spcBef>
                <a:spcPts val="250"/>
              </a:spcBef>
              <a:defRPr sz="750">
                <a:solidFill>
                  <a:srgbClr val="0F172A"/>
                </a:solidFill>
              </a:defRPr>
            </a:pPr>
            <a:r>
              <a:t>✓ Automated SMS/Email exception alerts</a:t>
            </a:r>
          </a:p>
          <a:p>
            <a:pPr>
              <a:spcBef>
                <a:spcPts val="250"/>
              </a:spcBef>
              <a:defRPr sz="750">
                <a:solidFill>
                  <a:srgbClr val="0F172A"/>
                </a:solidFill>
              </a:defRPr>
            </a:pPr>
            <a:r>
              <a:t>✓ Cross-facility load balancing (Plants A &amp; B)</a:t>
            </a:r>
          </a:p>
          <a:p>
            <a:pPr>
              <a:spcBef>
                <a:spcPts val="250"/>
              </a:spcBef>
              <a:defRPr sz="750">
                <a:solidFill>
                  <a:srgbClr val="0F172A"/>
                </a:solidFill>
              </a:defRPr>
            </a:pPr>
            <a:r>
              <a:t>✓ Unlocks additional $100K–$200K annual value</a:t>
            </a:r>
          </a:p>
        </p:txBody>
      </p:sp>
      <p:sp>
        <p:nvSpPr>
          <p:cNvPr id="8" name="Rounded Rectangle 7"/>
          <p:cNvSpPr/>
          <p:nvPr/>
        </p:nvSpPr>
        <p:spPr>
          <a:xfrm>
            <a:off x="8028432" y="1325880"/>
            <a:ext cx="3429000" cy="20574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sz="900" b="1">
                <a:solidFill>
                  <a:srgbClr val="D97706"/>
                </a:solidFill>
                <a:latin typeface="Arial"/>
              </a:defRPr>
            </a:pPr>
            <a:r>
              <a:t>PHASE 3: SAP ePPDS / CRP</a:t>
            </a:r>
          </a:p>
          <a:p>
            <a:pPr>
              <a:defRPr sz="800" b="1">
                <a:solidFill>
                  <a:srgbClr val="64748B"/>
                </a:solidFill>
              </a:defRPr>
            </a:pPr>
            <a:r>
              <a:t>WEEKS 24+</a:t>
            </a:r>
          </a:p>
          <a:p>
            <a:pPr>
              <a:spcBef>
                <a:spcPts val="250"/>
              </a:spcBef>
              <a:defRPr sz="750">
                <a:solidFill>
                  <a:srgbClr val="0F172A"/>
                </a:solidFill>
              </a:defRPr>
            </a:pPr>
            <a:r>
              <a:t>✓ Finite capacity automated scheduling</a:t>
            </a:r>
          </a:p>
          <a:p>
            <a:pPr>
              <a:spcBef>
                <a:spcPts val="250"/>
              </a:spcBef>
              <a:defRPr sz="750">
                <a:solidFill>
                  <a:srgbClr val="0F172A"/>
                </a:solidFill>
              </a:defRPr>
            </a:pPr>
            <a:r>
              <a:t>✓ Predictive ML bottleneck identification</a:t>
            </a:r>
          </a:p>
          <a:p>
            <a:pPr>
              <a:spcBef>
                <a:spcPts val="250"/>
              </a:spcBef>
              <a:defRPr sz="750">
                <a:solidFill>
                  <a:srgbClr val="0F172A"/>
                </a:solidFill>
              </a:defRPr>
            </a:pPr>
            <a:r>
              <a:t>✓ Dynamic automated sequence optimization</a:t>
            </a:r>
          </a:p>
          <a:p>
            <a:pPr>
              <a:spcBef>
                <a:spcPts val="250"/>
              </a:spcBef>
              <a:defRPr sz="750">
                <a:solidFill>
                  <a:srgbClr val="0F172A"/>
                </a:solidFill>
              </a:defRPr>
            </a:pPr>
            <a:r>
              <a:t>✓ Full SAP APO / ePPDS core integration</a:t>
            </a:r>
          </a:p>
          <a:p>
            <a:pPr>
              <a:spcBef>
                <a:spcPts val="250"/>
              </a:spcBef>
              <a:defRPr sz="750">
                <a:solidFill>
                  <a:srgbClr val="0F172A"/>
                </a:solidFill>
              </a:defRPr>
            </a:pPr>
            <a:r>
              <a:t>✓ Supply chain shock &amp; demand sensing</a:t>
            </a:r>
          </a:p>
          <a:p>
            <a:pPr>
              <a:spcBef>
                <a:spcPts val="250"/>
              </a:spcBef>
              <a:defRPr sz="750">
                <a:solidFill>
                  <a:srgbClr val="0F172A"/>
                </a:solidFill>
              </a:defRPr>
            </a:pPr>
            <a:r>
              <a:t>✓ World-class aerospace manufacturing scale</a:t>
            </a:r>
          </a:p>
        </p:txBody>
      </p:sp>
      <p:sp>
        <p:nvSpPr>
          <p:cNvPr id="9" name="Rounded Rectangle 8"/>
          <p:cNvSpPr/>
          <p:nvPr/>
        </p:nvSpPr>
        <p:spPr>
          <a:xfrm>
            <a:off x="731520" y="3520440"/>
            <a:ext cx="694944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850" b="1">
                <a:solidFill>
                  <a:srgbClr val="0066CC"/>
                </a:solidFill>
              </a:defRPr>
            </a:pPr>
            <a:r>
              <a:t>PHASE 1 DETAILED 12-WEEK SPRINT EXECUTION</a:t>
            </a:r>
          </a:p>
          <a:p>
            <a:pPr>
              <a:spcBef>
                <a:spcPts val="300"/>
              </a:spcBef>
            </a:pPr>
            <a:r>
              <a:rPr b="1" sz="750">
                <a:solidFill>
                  <a:srgbClr val="0F172A"/>
                </a:solidFill>
              </a:rPr>
              <a:t>• Weeks 1–2: Discovery &amp; Requirements: </a:t>
            </a:r>
            <a:r>
              <a:rPr b="0" sz="700">
                <a:solidFill>
                  <a:srgbClr val="64748B"/>
                </a:solidFill>
              </a:rPr>
              <a:t>Conduct stakeholder workshops (Sales, Planning, Operations, Finance); audit SAP table access &amp; data cleanliness; document custom business rules.</a:t>
            </a:r>
          </a:p>
          <a:p>
            <a:pPr>
              <a:spcBef>
                <a:spcPts val="300"/>
              </a:spcBef>
            </a:pPr>
            <a:r>
              <a:rPr b="1" sz="750">
                <a:solidFill>
                  <a:srgbClr val="0F172A"/>
                </a:solidFill>
              </a:rPr>
              <a:t>• Weeks 3–4: Architecture &amp; Design Sign-off: </a:t>
            </a:r>
            <a:r>
              <a:rPr b="0" sz="700">
                <a:solidFill>
                  <a:srgbClr val="64748B"/>
                </a:solidFill>
              </a:rPr>
              <a:t>Finalize Tableau UI wireframes, risk scoring formulas, and cost drag logic; obtain executive sign-off from CFO and VP Operations.</a:t>
            </a:r>
          </a:p>
          <a:p>
            <a:pPr>
              <a:spcBef>
                <a:spcPts val="300"/>
              </a:spcBef>
            </a:pPr>
            <a:r>
              <a:rPr b="1" sz="750">
                <a:solidFill>
                  <a:srgbClr val="0F172A"/>
                </a:solidFill>
              </a:rPr>
              <a:t>• Weeks 5–7: SAP Integration &amp; Data Pipeline Build: </a:t>
            </a:r>
            <a:r>
              <a:rPr b="0" sz="700">
                <a:solidFill>
                  <a:srgbClr val="64748B"/>
                </a:solidFill>
              </a:rPr>
              <a:t>Deploy automated read-only SQL/HANA queries; code data transformation models; build live Tableau data sources and calculations.</a:t>
            </a:r>
          </a:p>
          <a:p>
            <a:pPr>
              <a:spcBef>
                <a:spcPts val="300"/>
              </a:spcBef>
            </a:pPr>
            <a:r>
              <a:rPr b="1" sz="750">
                <a:solidFill>
                  <a:srgbClr val="0F172A"/>
                </a:solidFill>
              </a:rPr>
              <a:t>• Weeks 8–10: User Acceptance Testing (UAT): </a:t>
            </a:r>
            <a:r>
              <a:rPr b="0" sz="700">
                <a:solidFill>
                  <a:srgbClr val="64748B"/>
                </a:solidFill>
              </a:rPr>
              <a:t>Execute parallel test runs against manual spreadsheets; validate risk scores and financial estimates with shop floor planners; tune UI.</a:t>
            </a:r>
          </a:p>
          <a:p>
            <a:pPr>
              <a:spcBef>
                <a:spcPts val="300"/>
              </a:spcBef>
            </a:pPr>
            <a:r>
              <a:rPr b="1" sz="750">
                <a:solidFill>
                  <a:srgbClr val="0F172A"/>
                </a:solidFill>
              </a:rPr>
              <a:t>• Weeks 11–12: Deployment, Training &amp; Go-Live: </a:t>
            </a:r>
            <a:r>
              <a:rPr b="0" sz="700">
                <a:solidFill>
                  <a:srgbClr val="64748B"/>
                </a:solidFill>
              </a:rPr>
              <a:t>Production cutover; deliver role-based user training for 50+ staff; establish support SLAs; officially retire manual backlog spreadsheets.</a:t>
            </a:r>
          </a:p>
        </p:txBody>
      </p:sp>
      <p:sp>
        <p:nvSpPr>
          <p:cNvPr id="10" name="Rounded Rectangle 9"/>
          <p:cNvSpPr/>
          <p:nvPr/>
        </p:nvSpPr>
        <p:spPr>
          <a:xfrm>
            <a:off x="7863840" y="3520440"/>
            <a:ext cx="3596335" cy="2743200"/>
          </a:xfrm>
          <a:prstGeom prst="roundRect">
            <a:avLst/>
          </a:prstGeom>
          <a:solidFill>
            <a:srgbClr val="151F3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850" b="1">
                <a:solidFill>
                  <a:srgbClr val="D97706"/>
                </a:solidFill>
              </a:defRPr>
            </a:pPr>
            <a:r>
              <a:t>INVESTMENT, GOVERNANCE &amp; RISK MITIGATION</a:t>
            </a:r>
          </a:p>
          <a:p>
            <a:pPr>
              <a:spcBef>
                <a:spcPts val="300"/>
              </a:spcBef>
            </a:pPr>
            <a:r>
              <a:rPr b="1" sz="750">
                <a:solidFill>
                  <a:srgbClr val="00B4D8"/>
                </a:solidFill>
              </a:rPr>
              <a:t>• Project Investment:</a:t>
            </a:r>
            <a:r>
              <a:rPr b="0" sz="750">
                <a:solidFill>
                  <a:srgbClr val="F8FAFC"/>
                </a:solidFill>
              </a:rPr>
              <a:t> $60K–$85K (Fixed-scope delivery, consulting, configuration &amp; enablement).</a:t>
            </a:r>
          </a:p>
          <a:p>
            <a:pPr>
              <a:spcBef>
                <a:spcPts val="300"/>
              </a:spcBef>
            </a:pPr>
            <a:r>
              <a:rPr b="1" sz="750">
                <a:solidFill>
                  <a:srgbClr val="00B4D8"/>
                </a:solidFill>
              </a:rPr>
              <a:t>• Team Commitment:</a:t>
            </a:r>
            <a:r>
              <a:rPr b="0" sz="750">
                <a:solidFill>
                  <a:srgbClr val="F8FAFC"/>
                </a:solidFill>
              </a:rPr>
              <a:t> 3–4 HICAL champions allocated at 40% time for discovery and UAT.</a:t>
            </a:r>
          </a:p>
          <a:p>
            <a:pPr>
              <a:spcBef>
                <a:spcPts val="300"/>
              </a:spcBef>
            </a:pPr>
            <a:r>
              <a:rPr b="1" sz="750">
                <a:solidFill>
                  <a:srgbClr val="00B4D8"/>
                </a:solidFill>
              </a:rPr>
              <a:t>• First-Year Value:</a:t>
            </a:r>
            <a:r>
              <a:rPr b="0" sz="750">
                <a:solidFill>
                  <a:srgbClr val="F8FAFC"/>
                </a:solidFill>
              </a:rPr>
              <a:t> $180K–$400K direct net operational and overtime recovery.</a:t>
            </a:r>
          </a:p>
          <a:p>
            <a:pPr>
              <a:spcBef>
                <a:spcPts val="300"/>
              </a:spcBef>
            </a:pPr>
            <a:r>
              <a:rPr b="1" sz="750">
                <a:solidFill>
                  <a:srgbClr val="00B4D8"/>
                </a:solidFill>
              </a:rPr>
              <a:t>• Payback Horizon:</a:t>
            </a:r>
            <a:r>
              <a:rPr b="0" sz="750">
                <a:solidFill>
                  <a:srgbClr val="F8FAFC"/>
                </a:solidFill>
              </a:rPr>
              <a:t> 4–6 months from production go-live.</a:t>
            </a:r>
          </a:p>
          <a:p>
            <a:pPr>
              <a:spcBef>
                <a:spcPts val="300"/>
              </a:spcBef>
            </a:pPr>
            <a:r>
              <a:rPr b="1" sz="750">
                <a:solidFill>
                  <a:srgbClr val="00B4D8"/>
                </a:solidFill>
              </a:rPr>
              <a:t>• Data Quality Risk:</a:t>
            </a:r>
            <a:r>
              <a:rPr b="0" sz="750">
                <a:solidFill>
                  <a:srgbClr val="F8FAFC"/>
                </a:solidFill>
              </a:rPr>
              <a:t> Mitigated by automated pre-flight audit during Weeks 1-2.</a:t>
            </a:r>
          </a:p>
          <a:p>
            <a:pPr>
              <a:spcBef>
                <a:spcPts val="300"/>
              </a:spcBef>
            </a:pPr>
            <a:r>
              <a:rPr b="1" sz="750">
                <a:solidFill>
                  <a:srgbClr val="00B4D8"/>
                </a:solidFill>
              </a:rPr>
              <a:t>• Adoption Risk:</a:t>
            </a:r>
            <a:r>
              <a:rPr b="0" sz="750">
                <a:solidFill>
                  <a:srgbClr val="F8FAFC"/>
                </a:solidFill>
              </a:rPr>
              <a:t> Super-user champions trained per facility with daily usage metrics tracked.</a:t>
            </a:r>
          </a:p>
        </p:txBody>
      </p:sp>
      <p:sp>
        <p:nvSpPr>
          <p:cNvPr id="11" name="Rectangle 10"/>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3" name="TextBox 12"/>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09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3474720" cy="237744"/>
          </a:xfrm>
          <a:prstGeom prst="roundRect">
            <a:avLst/>
          </a:prstGeom>
          <a:solidFill>
            <a:srgbClr val="EEF2FF"/>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66CC"/>
                </a:solidFill>
                <a:latin typeface="Arial"/>
              </a:defRPr>
            </a:pPr>
            <a:r>
              <a:t>STAKEHOLDER DISCOVERY FRAMEWORK</a:t>
            </a:r>
          </a:p>
        </p:txBody>
      </p:sp>
      <p:sp>
        <p:nvSpPr>
          <p:cNvPr id="4" name="TextBox 3"/>
          <p:cNvSpPr txBox="1"/>
          <p:nvPr/>
        </p:nvSpPr>
        <p:spPr>
          <a:xfrm>
            <a:off x="731520" y="603504"/>
            <a:ext cx="10728655" cy="384048"/>
          </a:xfrm>
          <a:prstGeom prst="rect">
            <a:avLst/>
          </a:prstGeom>
          <a:noFill/>
        </p:spPr>
        <p:txBody>
          <a:bodyPr wrap="square" lIns="0" tIns="0" rIns="0" bIns="0">
            <a:spAutoFit/>
          </a:bodyPr>
          <a:lstStyle/>
          <a:p>
            <a:pPr>
              <a:defRPr sz="1900" b="1">
                <a:solidFill>
                  <a:srgbClr val="0F172A"/>
                </a:solidFill>
                <a:latin typeface="Arial"/>
              </a:defRPr>
            </a:pPr>
            <a:r>
              <a:t>The Critical Discovery Questions: Inputs Required for Design</a:t>
            </a:r>
          </a:p>
        </p:txBody>
      </p:sp>
      <p:sp>
        <p:nvSpPr>
          <p:cNvPr id="5" name="TextBox 4"/>
          <p:cNvSpPr txBox="1"/>
          <p:nvPr/>
        </p:nvSpPr>
        <p:spPr>
          <a:xfrm>
            <a:off x="731520" y="987552"/>
            <a:ext cx="10728655" cy="256032"/>
          </a:xfrm>
          <a:prstGeom prst="rect">
            <a:avLst/>
          </a:prstGeom>
          <a:noFill/>
        </p:spPr>
        <p:txBody>
          <a:bodyPr wrap="square" lIns="0" tIns="0" rIns="0" bIns="0">
            <a:spAutoFit/>
          </a:bodyPr>
          <a:lstStyle/>
          <a:p>
            <a:pPr>
              <a:defRPr sz="1050" i="1">
                <a:solidFill>
                  <a:srgbClr val="64748B"/>
                </a:solidFill>
                <a:latin typeface="Arial"/>
              </a:defRPr>
            </a:pPr>
            <a:r>
              <a:t>30+ Operational, Financial, and Technical Clarifications to Tailor the Solution to HICAL's Reality</a:t>
            </a:r>
          </a:p>
        </p:txBody>
      </p:sp>
      <p:sp>
        <p:nvSpPr>
          <p:cNvPr id="6" name="Rounded Rectangle 5"/>
          <p:cNvSpPr/>
          <p:nvPr/>
        </p:nvSpPr>
        <p:spPr>
          <a:xfrm>
            <a:off x="731520" y="1325880"/>
            <a:ext cx="5257800" cy="3977639"/>
          </a:xfrm>
          <a:prstGeom prst="roundRect">
            <a:avLst/>
          </a:prstGeom>
          <a:solidFill>
            <a:srgbClr val="FFFFFF"/>
          </a:solidFill>
          <a:ln w="1524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850" b="1">
                <a:solidFill>
                  <a:srgbClr val="0066CC"/>
                </a:solidFill>
              </a:defRPr>
            </a:pPr>
            <a:r>
              <a:t>OPERATIONAL &amp; MANUFACTURING DISCOVERY</a:t>
            </a:r>
          </a:p>
          <a:p>
            <a:pPr>
              <a:spcBef>
                <a:spcPts val="400"/>
              </a:spcBef>
              <a:defRPr sz="750" b="1">
                <a:solidFill>
                  <a:srgbClr val="0F172A"/>
                </a:solidFill>
              </a:defRPr>
            </a:pPr>
            <a:r>
              <a:t>SECTION 1: ORDER &amp; BACKLOG DEFINITION</a:t>
            </a:r>
          </a:p>
          <a:p>
            <a:pPr>
              <a:spcBef>
                <a:spcPts val="150"/>
              </a:spcBef>
              <a:defRPr sz="700">
                <a:solidFill>
                  <a:srgbClr val="64748B"/>
                </a:solidFill>
              </a:defRPr>
            </a:pPr>
            <a:r>
              <a:t>☐ Q1.1: What is HICAL's precise definition of backlog? (All open orders, released only, or &lt;X days?)</a:t>
            </a:r>
          </a:p>
          <a:p>
            <a:pPr>
              <a:spcBef>
                <a:spcPts val="150"/>
              </a:spcBef>
              <a:defRPr sz="700">
                <a:solidFill>
                  <a:srgbClr val="64748B"/>
                </a:solidFill>
              </a:defRPr>
            </a:pPr>
            <a:r>
              <a:t>☐ Q1.2: What is your current average backlog depth (# of orders and $ total exposure)?</a:t>
            </a:r>
          </a:p>
          <a:p>
            <a:pPr>
              <a:spcBef>
                <a:spcPts val="150"/>
              </a:spcBef>
              <a:defRPr sz="700">
                <a:solidFill>
                  <a:srgbClr val="64748B"/>
                </a:solidFill>
              </a:defRPr>
            </a:pPr>
            <a:r>
              <a:t>☐ Q1.3: What is the split between Make-to-Order (MTO) and Make-to-Stock (MTS)?</a:t>
            </a:r>
          </a:p>
          <a:p>
            <a:pPr>
              <a:spcBef>
                <a:spcPts val="150"/>
              </a:spcBef>
              <a:defRPr sz="700">
                <a:solidFill>
                  <a:srgbClr val="64748B"/>
                </a:solidFill>
              </a:defRPr>
            </a:pPr>
            <a:r>
              <a:t>☐ Q1.4: Are there contractual customer delivery penalty clauses in defense accounts?</a:t>
            </a:r>
          </a:p>
          <a:p>
            <a:pPr>
              <a:spcBef>
                <a:spcPts val="400"/>
              </a:spcBef>
              <a:defRPr sz="750" b="1">
                <a:solidFill>
                  <a:srgbClr val="0F172A"/>
                </a:solidFill>
              </a:defRPr>
            </a:pPr>
            <a:r>
              <a:t>SECTION 2: CAPACITY &amp; BOTTLENECK IDENTIFICATION</a:t>
            </a:r>
          </a:p>
          <a:p>
            <a:pPr>
              <a:spcBef>
                <a:spcPts val="150"/>
              </a:spcBef>
              <a:defRPr sz="700">
                <a:solidFill>
                  <a:srgbClr val="64748B"/>
                </a:solidFill>
              </a:defRPr>
            </a:pPr>
            <a:r>
              <a:t>☐ Q2.1: What are your top 3–5 recurring bottleneck work centers (e.g., CNC, winding, sheet metal)?</a:t>
            </a:r>
          </a:p>
          <a:p>
            <a:pPr>
              <a:spcBef>
                <a:spcPts val="150"/>
              </a:spcBef>
              <a:defRPr sz="700">
                <a:solidFill>
                  <a:srgbClr val="64748B"/>
                </a:solidFill>
              </a:defRPr>
            </a:pPr>
            <a:r>
              <a:t>☐ Q2.2: How is machine capacity tracked today in SAP (CRHD shift-based or static)?</a:t>
            </a:r>
          </a:p>
          <a:p>
            <a:pPr>
              <a:spcBef>
                <a:spcPts val="150"/>
              </a:spcBef>
              <a:defRPr sz="700">
                <a:solidFill>
                  <a:srgbClr val="64748B"/>
                </a:solidFill>
              </a:defRPr>
            </a:pPr>
            <a:r>
              <a:t>☐ Q2.3: What is your flexibility to schedule weekend overtime or second/third shifts?</a:t>
            </a:r>
          </a:p>
          <a:p>
            <a:pPr>
              <a:spcBef>
                <a:spcPts val="150"/>
              </a:spcBef>
              <a:defRPr sz="700">
                <a:solidFill>
                  <a:srgbClr val="64748B"/>
                </a:solidFill>
              </a:defRPr>
            </a:pPr>
            <a:r>
              <a:t>☐ Q2.4: What % of precision fabrication is subcontracted, and what are vendor lead times?</a:t>
            </a:r>
          </a:p>
          <a:p>
            <a:pPr>
              <a:spcBef>
                <a:spcPts val="400"/>
              </a:spcBef>
              <a:defRPr sz="750" b="1">
                <a:solidFill>
                  <a:srgbClr val="0F172A"/>
                </a:solidFill>
              </a:defRPr>
            </a:pPr>
            <a:r>
              <a:t>SECTION 3: QUALITY GATES &amp; SUPPLY CHAIN RISK</a:t>
            </a:r>
          </a:p>
          <a:p>
            <a:pPr>
              <a:spcBef>
                <a:spcPts val="150"/>
              </a:spcBef>
              <a:defRPr sz="700">
                <a:solidFill>
                  <a:srgbClr val="64748B"/>
                </a:solidFill>
              </a:defRPr>
            </a:pPr>
            <a:r>
              <a:t>☐ Q3.1: Which specific quality gates delay release (First Article Inspection FAI, customer SPC)?</a:t>
            </a:r>
          </a:p>
          <a:p>
            <a:pPr>
              <a:spcBef>
                <a:spcPts val="150"/>
              </a:spcBef>
              <a:defRPr sz="700">
                <a:solidFill>
                  <a:srgbClr val="64748B"/>
                </a:solidFill>
              </a:defRPr>
            </a:pPr>
            <a:r>
              <a:t>☐ Q3.2: How frequently do component supplier delivery delays cause shop floor rescheduling?</a:t>
            </a:r>
          </a:p>
        </p:txBody>
      </p:sp>
      <p:sp>
        <p:nvSpPr>
          <p:cNvPr id="7" name="Rounded Rectangle 6"/>
          <p:cNvSpPr/>
          <p:nvPr/>
        </p:nvSpPr>
        <p:spPr>
          <a:xfrm>
            <a:off x="6199632" y="1325880"/>
            <a:ext cx="5257800" cy="3977639"/>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850" b="1">
                <a:solidFill>
                  <a:srgbClr val="D97706"/>
                </a:solidFill>
              </a:defRPr>
            </a:pPr>
            <a:r>
              <a:t>FINANCIAL, TECHNICAL &amp; GOVERNANCE DISCOVERY</a:t>
            </a:r>
          </a:p>
          <a:p>
            <a:pPr>
              <a:spcBef>
                <a:spcPts val="400"/>
              </a:spcBef>
              <a:defRPr sz="750" b="1">
                <a:solidFill>
                  <a:srgbClr val="0F172A"/>
                </a:solidFill>
              </a:defRPr>
            </a:pPr>
            <a:r>
              <a:t>SECTION 4: COSTING &amp; FINANCIAL DRAG</a:t>
            </a:r>
          </a:p>
          <a:p>
            <a:pPr>
              <a:spcBef>
                <a:spcPts val="150"/>
              </a:spcBef>
              <a:defRPr sz="700">
                <a:solidFill>
                  <a:srgbClr val="64748B"/>
                </a:solidFill>
              </a:defRPr>
            </a:pPr>
            <a:r>
              <a:t>☐ Q4.1: How is standard product cost calculated today (SAP COPC standard cost roll-up)?</a:t>
            </a:r>
          </a:p>
          <a:p>
            <a:pPr>
              <a:spcBef>
                <a:spcPts val="150"/>
              </a:spcBef>
              <a:defRPr sz="700">
                <a:solidFill>
                  <a:srgbClr val="64748B"/>
                </a:solidFill>
              </a:defRPr>
            </a:pPr>
            <a:r>
              <a:t>☐ Q4.2: What is your effective overtime wage multiplier (1.5x, 2.0x, shift differentials)?</a:t>
            </a:r>
          </a:p>
          <a:p>
            <a:pPr>
              <a:spcBef>
                <a:spcPts val="150"/>
              </a:spcBef>
              <a:defRPr sz="700">
                <a:solidFill>
                  <a:srgbClr val="64748B"/>
                </a:solidFill>
              </a:defRPr>
            </a:pPr>
            <a:r>
              <a:t>☐ Q4.3: What annual or daily holding cost rate % is applied to work-in-progress inventory?</a:t>
            </a:r>
          </a:p>
          <a:p>
            <a:pPr>
              <a:spcBef>
                <a:spcPts val="150"/>
              </a:spcBef>
              <a:defRPr sz="700">
                <a:solidFill>
                  <a:srgbClr val="64748B"/>
                </a:solidFill>
              </a:defRPr>
            </a:pPr>
            <a:r>
              <a:t>☐ Q4.4: What is the estimated business cost of a 1-day delivery delay for a key tier-1 customer?</a:t>
            </a:r>
          </a:p>
          <a:p>
            <a:pPr>
              <a:spcBef>
                <a:spcPts val="400"/>
              </a:spcBef>
              <a:defRPr sz="750" b="1">
                <a:solidFill>
                  <a:srgbClr val="0F172A"/>
                </a:solidFill>
              </a:defRPr>
            </a:pPr>
            <a:r>
              <a:t>SECTION 5: PROCESS &amp; TECHNICAL ASSETS</a:t>
            </a:r>
          </a:p>
          <a:p>
            <a:pPr>
              <a:spcBef>
                <a:spcPts val="150"/>
              </a:spcBef>
              <a:defRPr sz="700">
                <a:solidFill>
                  <a:srgbClr val="64748B"/>
                </a:solidFill>
              </a:defRPr>
            </a:pPr>
            <a:r>
              <a:t>☐ Q5.1: Exactly who maintains the Excel backlog sheet today, and how many weekly hours are spent?</a:t>
            </a:r>
          </a:p>
          <a:p>
            <a:pPr>
              <a:spcBef>
                <a:spcPts val="150"/>
              </a:spcBef>
              <a:defRPr sz="700">
                <a:solidFill>
                  <a:srgbClr val="64748B"/>
                </a:solidFill>
              </a:defRPr>
            </a:pPr>
            <a:r>
              <a:t>☐ Q5.2: Are routing plans (PLKO) and work center capacities (CRHD) updated and accurate in SAP?</a:t>
            </a:r>
          </a:p>
          <a:p>
            <a:pPr>
              <a:spcBef>
                <a:spcPts val="150"/>
              </a:spcBef>
              <a:defRPr sz="700">
                <a:solidFill>
                  <a:srgbClr val="64748B"/>
                </a:solidFill>
              </a:defRPr>
            </a:pPr>
            <a:r>
              <a:t>☐ Q5.3: What is the preferred deployment format (Tableau Server, Cloud, or SAP Analytics Cloud)?</a:t>
            </a:r>
          </a:p>
          <a:p>
            <a:pPr>
              <a:spcBef>
                <a:spcPts val="400"/>
              </a:spcBef>
              <a:defRPr sz="750" b="1">
                <a:solidFill>
                  <a:srgbClr val="0F172A"/>
                </a:solidFill>
              </a:defRPr>
            </a:pPr>
            <a:r>
              <a:t>SECTION 6: PROJECT GOVERNANCE &amp; TIMELINE</a:t>
            </a:r>
          </a:p>
          <a:p>
            <a:pPr>
              <a:spcBef>
                <a:spcPts val="150"/>
              </a:spcBef>
              <a:defRPr sz="700">
                <a:solidFill>
                  <a:srgbClr val="64748B"/>
                </a:solidFill>
              </a:defRPr>
            </a:pPr>
            <a:r>
              <a:t>☐ Q6.1: Who will serve as executive sponsor and business system owner post go-live?</a:t>
            </a:r>
          </a:p>
          <a:p>
            <a:pPr>
              <a:spcBef>
                <a:spcPts val="150"/>
              </a:spcBef>
              <a:defRPr sz="700">
                <a:solidFill>
                  <a:srgbClr val="64748B"/>
                </a:solidFill>
              </a:defRPr>
            </a:pPr>
            <a:r>
              <a:t>☐ Q6.2: Is leadership aligned on committing 3–4 staff champions at 40% time for 12 weeks?</a:t>
            </a:r>
          </a:p>
        </p:txBody>
      </p:sp>
      <p:sp>
        <p:nvSpPr>
          <p:cNvPr id="8" name="Rounded Rectangle 7"/>
          <p:cNvSpPr/>
          <p:nvPr/>
        </p:nvSpPr>
        <p:spPr>
          <a:xfrm>
            <a:off x="731520" y="5394960"/>
            <a:ext cx="10728655" cy="8686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800" b="1">
                <a:solidFill>
                  <a:srgbClr val="0066CC"/>
                </a:solidFill>
              </a:defRPr>
            </a:pPr>
            <a:r>
              <a:t>DISCOVERY PRIORITIZATION: TOP 3 QUESTIONS TO RESOLVE FIRST</a:t>
            </a:r>
          </a:p>
          <a:p>
            <a:pPr>
              <a:spcBef>
                <a:spcPts val="200"/>
              </a:spcBef>
              <a:defRPr sz="750">
                <a:solidFill>
                  <a:srgbClr val="0F172A"/>
                </a:solidFill>
              </a:defRPr>
            </a:pPr>
            <a:r>
              <a:t>1. Q1.1 (Backlog Definition): Directly determines data extraction scope and filter parameters for SAP HANA.</a:t>
            </a:r>
            <a:br/>
            <a:r>
              <a:t>2. Q2.1 (Bottleneck Work Centers): Identifies which shop floor machines require capacity modeling and alerting.</a:t>
            </a:r>
            <a:br/>
            <a:r>
              <a:t>3. Q4.4 (Cost of 1-Day Delay): Supplies the baseline economic equation that powers our ROI and what-if simulation engine.</a:t>
            </a:r>
          </a:p>
        </p:txBody>
      </p:sp>
      <p:sp>
        <p:nvSpPr>
          <p:cNvPr id="9" name="Rectangle 8"/>
          <p:cNvSpPr/>
          <p:nvPr/>
        </p:nvSpPr>
        <p:spPr>
          <a:xfrm>
            <a:off x="731520" y="6400800"/>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7772400" cy="274320"/>
          </a:xfrm>
          <a:prstGeom prst="rect">
            <a:avLst/>
          </a:prstGeom>
          <a:noFill/>
        </p:spPr>
        <p:txBody>
          <a:bodyPr wrap="square" lIns="0" tIns="0">
            <a:spAutoFit/>
          </a:bodyPr>
          <a:lstStyle/>
          <a:p>
            <a:pPr>
              <a:defRPr sz="850">
                <a:solidFill>
                  <a:srgbClr val="64748B"/>
                </a:solidFill>
                <a:latin typeface="Arial"/>
              </a:defRPr>
            </a:pPr>
            <a:r>
              <a:t>Lumbini Elite Solutions  |  HICAL Technologies Strategic Roadmap  |  Confidential</a:t>
            </a:r>
          </a:p>
        </p:txBody>
      </p:sp>
      <p:sp>
        <p:nvSpPr>
          <p:cNvPr id="11" name="TextBox 10"/>
          <p:cNvSpPr txBox="1"/>
          <p:nvPr/>
        </p:nvSpPr>
        <p:spPr>
          <a:xfrm>
            <a:off x="10545775" y="6446520"/>
            <a:ext cx="914400" cy="274320"/>
          </a:xfrm>
          <a:prstGeom prst="rect">
            <a:avLst/>
          </a:prstGeom>
          <a:noFill/>
        </p:spPr>
        <p:txBody>
          <a:bodyPr wrap="square" rIns="0" tIns="0">
            <a:spAutoFit/>
          </a:bodyPr>
          <a:lstStyle/>
          <a:p>
            <a:pPr algn="r">
              <a:defRPr sz="850" b="1">
                <a:solidFill>
                  <a:srgbClr val="0066CC"/>
                </a:solidFill>
                <a:latin typeface="Arial"/>
              </a:defRPr>
            </a:pPr>
            <a: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3474720" cy="237744"/>
          </a:xfrm>
          <a:prstGeom prst="roundRect">
            <a:avLst/>
          </a:prstGeom>
          <a:solidFill>
            <a:srgbClr val="151F3C"/>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tIns="18288"/>
          <a:lstStyle/>
          <a:p>
            <a:pPr algn="ctr">
              <a:defRPr sz="850" b="1">
                <a:solidFill>
                  <a:srgbClr val="00B4D8"/>
                </a:solidFill>
                <a:latin typeface="Arial"/>
              </a:defRPr>
            </a:pPr>
            <a:r>
              <a:t>EXECUTIVE CLOSING &amp; ACTION PLAN</a:t>
            </a:r>
          </a:p>
        </p:txBody>
      </p:sp>
      <p:sp>
        <p:nvSpPr>
          <p:cNvPr id="5" name="TextBox 4"/>
          <p:cNvSpPr txBox="1"/>
          <p:nvPr/>
        </p:nvSpPr>
        <p:spPr>
          <a:xfrm>
            <a:off x="731520" y="603504"/>
            <a:ext cx="10728655" cy="384048"/>
          </a:xfrm>
          <a:prstGeom prst="rect">
            <a:avLst/>
          </a:prstGeom>
          <a:noFill/>
        </p:spPr>
        <p:txBody>
          <a:bodyPr wrap="square" lIns="0" tIns="0" rIns="0" bIns="0">
            <a:spAutoFit/>
          </a:bodyPr>
          <a:lstStyle/>
          <a:p>
            <a:pPr>
              <a:defRPr sz="1900" b="1">
                <a:solidFill>
                  <a:srgbClr val="F8FAFC"/>
                </a:solidFill>
                <a:latin typeface="Arial"/>
              </a:defRPr>
            </a:pPr>
            <a:r>
              <a:t>Next Steps: Your Path to Capacity Intelligence</a:t>
            </a:r>
          </a:p>
        </p:txBody>
      </p:sp>
      <p:sp>
        <p:nvSpPr>
          <p:cNvPr id="6" name="TextBox 5"/>
          <p:cNvSpPr txBox="1"/>
          <p:nvPr/>
        </p:nvSpPr>
        <p:spPr>
          <a:xfrm>
            <a:off x="731520" y="987552"/>
            <a:ext cx="10728655" cy="256032"/>
          </a:xfrm>
          <a:prstGeom prst="rect">
            <a:avLst/>
          </a:prstGeom>
          <a:noFill/>
        </p:spPr>
        <p:txBody>
          <a:bodyPr wrap="square" lIns="0" tIns="0" rIns="0" bIns="0">
            <a:spAutoFit/>
          </a:bodyPr>
          <a:lstStyle/>
          <a:p>
            <a:pPr>
              <a:defRPr sz="1050" i="1">
                <a:solidFill>
                  <a:srgbClr val="94A3B8"/>
                </a:solidFill>
                <a:latin typeface="Arial"/>
              </a:defRPr>
            </a:pPr>
            <a:r>
              <a:t>Partnering with Lumbini Elite Solutions to Transform Aerospace Manufacturing Performance</a:t>
            </a:r>
          </a:p>
        </p:txBody>
      </p:sp>
      <p:sp>
        <p:nvSpPr>
          <p:cNvPr id="7" name="Rounded Rectangle 6"/>
          <p:cNvSpPr/>
          <p:nvPr/>
        </p:nvSpPr>
        <p:spPr>
          <a:xfrm>
            <a:off x="731520" y="1371600"/>
            <a:ext cx="3429000" cy="3657600"/>
          </a:xfrm>
          <a:prstGeom prst="roundRect">
            <a:avLst/>
          </a:prstGeom>
          <a:solidFill>
            <a:srgbClr val="151F3C"/>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950" b="1">
                <a:solidFill>
                  <a:srgbClr val="00B4D8"/>
                </a:solidFill>
                <a:latin typeface="Arial"/>
              </a:defRPr>
            </a:pPr>
            <a:r>
              <a:t>PHASED DELIVERY MILESTONES</a:t>
            </a:r>
          </a:p>
          <a:p>
            <a:pPr>
              <a:spcBef>
                <a:spcPts val="500"/>
              </a:spcBef>
            </a:pPr>
            <a:r>
              <a:rPr b="1" sz="800">
                <a:solidFill>
                  <a:srgbClr val="F8FAFC"/>
                </a:solidFill>
              </a:rPr>
              <a:t>• Weeks 1–2: Structured Discovery
</a:t>
            </a:r>
            <a:r>
              <a:rPr b="0" sz="750">
                <a:solidFill>
                  <a:srgbClr val="94A3B8"/>
                </a:solidFill>
              </a:rPr>
              <a:t>Execute 4–6 hrs of focused discovery workshops using our 30-question workbook.</a:t>
            </a:r>
          </a:p>
          <a:p>
            <a:pPr>
              <a:spcBef>
                <a:spcPts val="500"/>
              </a:spcBef>
            </a:pPr>
            <a:r>
              <a:rPr b="1" sz="800">
                <a:solidFill>
                  <a:srgbClr val="F8FAFC"/>
                </a:solidFill>
              </a:rPr>
              <a:t>• Weeks 3–4: Architecture &amp; UI Sign-off
</a:t>
            </a:r>
            <a:r>
              <a:rPr b="0" sz="750">
                <a:solidFill>
                  <a:srgbClr val="94A3B8"/>
                </a:solidFill>
              </a:rPr>
              <a:t>Review Tableau wireframes, SAP connection scripts, and risk scoring logic.</a:t>
            </a:r>
          </a:p>
          <a:p>
            <a:pPr>
              <a:spcBef>
                <a:spcPts val="500"/>
              </a:spcBef>
            </a:pPr>
            <a:r>
              <a:rPr b="1" sz="800">
                <a:solidFill>
                  <a:srgbClr val="F8FAFC"/>
                </a:solidFill>
              </a:rPr>
              <a:t>• Weeks 5–7: Automated Pipeline Build
</a:t>
            </a:r>
            <a:r>
              <a:rPr b="0" sz="750">
                <a:solidFill>
                  <a:srgbClr val="94A3B8"/>
                </a:solidFill>
              </a:rPr>
              <a:t>Deploy SAP HANA queries and build the core Backlog &amp; Costing reports.</a:t>
            </a:r>
          </a:p>
          <a:p>
            <a:pPr>
              <a:spcBef>
                <a:spcPts val="500"/>
              </a:spcBef>
            </a:pPr>
            <a:r>
              <a:rPr b="1" sz="800">
                <a:solidFill>
                  <a:srgbClr val="F8FAFC"/>
                </a:solidFill>
              </a:rPr>
              <a:t>• Weeks 8–10: Rigorous UAT Testing
</a:t>
            </a:r>
            <a:r>
              <a:rPr b="0" sz="750">
                <a:solidFill>
                  <a:srgbClr val="94A3B8"/>
                </a:solidFill>
              </a:rPr>
              <a:t>Reconcile live data against legacy spreadsheets with shop planners.</a:t>
            </a:r>
          </a:p>
          <a:p>
            <a:pPr>
              <a:spcBef>
                <a:spcPts val="500"/>
              </a:spcBef>
            </a:pPr>
            <a:r>
              <a:rPr b="1" sz="800">
                <a:solidFill>
                  <a:srgbClr val="F8FAFC"/>
                </a:solidFill>
              </a:rPr>
              <a:t>• Weeks 11–12: Production Go-Live
</a:t>
            </a:r>
            <a:r>
              <a:rPr b="0" sz="750">
                <a:solidFill>
                  <a:srgbClr val="94A3B8"/>
                </a:solidFill>
              </a:rPr>
              <a:t>Roll out Tableau cockpit across 50+ users and retire manual Excel spreadsheets.</a:t>
            </a:r>
          </a:p>
        </p:txBody>
      </p:sp>
      <p:sp>
        <p:nvSpPr>
          <p:cNvPr id="8" name="Rounded Rectangle 7"/>
          <p:cNvSpPr/>
          <p:nvPr/>
        </p:nvSpPr>
        <p:spPr>
          <a:xfrm>
            <a:off x="4379976" y="1371600"/>
            <a:ext cx="3429000" cy="3657600"/>
          </a:xfrm>
          <a:prstGeom prst="roundRect">
            <a:avLst/>
          </a:prstGeom>
          <a:solidFill>
            <a:srgbClr val="151F3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950" b="1">
                <a:solidFill>
                  <a:srgbClr val="D97706"/>
                </a:solidFill>
                <a:latin typeface="Arial"/>
              </a:defRPr>
            </a:pPr>
            <a:r>
              <a:t>COMMERCIALS &amp; GOVERNANCE</a:t>
            </a:r>
          </a:p>
          <a:p>
            <a:pPr>
              <a:spcBef>
                <a:spcPts val="500"/>
              </a:spcBef>
            </a:pPr>
            <a:r>
              <a:rPr b="1" sz="800">
                <a:solidFill>
                  <a:srgbClr val="F8FAFC"/>
                </a:solidFill>
              </a:rPr>
              <a:t>• Phase 1 Investment: $60K–$85K
</a:t>
            </a:r>
            <a:r>
              <a:rPr b="0" sz="750">
                <a:solidFill>
                  <a:srgbClr val="94A3B8"/>
                </a:solidFill>
              </a:rPr>
              <a:t>Comprehensive fixed-scope delivery covering discovery, SAP integration, Tableau modeling, UAT, and enablement.</a:t>
            </a:r>
          </a:p>
          <a:p>
            <a:pPr>
              <a:spcBef>
                <a:spcPts val="500"/>
              </a:spcBef>
            </a:pPr>
            <a:r>
              <a:rPr b="1" sz="800">
                <a:solidFill>
                  <a:srgbClr val="F8FAFC"/>
                </a:solidFill>
              </a:rPr>
              <a:t>• Expected First-Year ROI: $180K–$400K
</a:t>
            </a:r>
            <a:r>
              <a:rPr b="0" sz="750">
                <a:solidFill>
                  <a:srgbClr val="94A3B8"/>
                </a:solidFill>
              </a:rPr>
              <a:t>Recovers emergency overtime, minimizes delivery penalty drag, and reclaims planning hours.</a:t>
            </a:r>
          </a:p>
          <a:p>
            <a:pPr>
              <a:spcBef>
                <a:spcPts val="500"/>
              </a:spcBef>
            </a:pPr>
            <a:r>
              <a:rPr b="1" sz="800">
                <a:solidFill>
                  <a:srgbClr val="F8FAFC"/>
                </a:solidFill>
              </a:rPr>
              <a:t>• Payback Period: 4–6 Months
</a:t>
            </a:r>
            <a:r>
              <a:rPr b="0" sz="750">
                <a:solidFill>
                  <a:srgbClr val="94A3B8"/>
                </a:solidFill>
              </a:rPr>
              <a:t>High-velocity return on investment that directly self-funds subsequent Phase 2 cockpit enhancements.</a:t>
            </a:r>
          </a:p>
          <a:p>
            <a:pPr>
              <a:spcBef>
                <a:spcPts val="500"/>
              </a:spcBef>
            </a:pPr>
            <a:r>
              <a:rPr b="1" sz="800">
                <a:solidFill>
                  <a:srgbClr val="F8FAFC"/>
                </a:solidFill>
              </a:rPr>
              <a:t>• Team Commitment Required
</a:t>
            </a:r>
            <a:r>
              <a:rPr b="0" sz="750">
                <a:solidFill>
                  <a:srgbClr val="94A3B8"/>
                </a:solidFill>
              </a:rPr>
              <a:t>3–4 HICAL champions allocated at 40% time for 12 weeks to guide requirements, UAT, and adoption.</a:t>
            </a:r>
          </a:p>
        </p:txBody>
      </p:sp>
      <p:sp>
        <p:nvSpPr>
          <p:cNvPr id="9" name="Rounded Rectangle 8"/>
          <p:cNvSpPr/>
          <p:nvPr/>
        </p:nvSpPr>
        <p:spPr>
          <a:xfrm>
            <a:off x="8028431" y="1371600"/>
            <a:ext cx="3429000" cy="3657600"/>
          </a:xfrm>
          <a:prstGeom prst="roundRect">
            <a:avLst/>
          </a:prstGeom>
          <a:solidFill>
            <a:srgbClr val="151F3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950" b="1">
                <a:solidFill>
                  <a:srgbClr val="10B981"/>
                </a:solidFill>
                <a:latin typeface="Arial"/>
              </a:defRPr>
            </a:pPr>
            <a:r>
              <a:t>IMMEDIATE ACTION PLAN (NEXT 14 DAYS)</a:t>
            </a:r>
          </a:p>
          <a:p>
            <a:pPr>
              <a:spcBef>
                <a:spcPts val="500"/>
              </a:spcBef>
            </a:pPr>
            <a:r>
              <a:rPr b="1" sz="800">
                <a:solidFill>
                  <a:srgbClr val="00B4D8"/>
                </a:solidFill>
              </a:rPr>
              <a:t>✓ Step 1: Workbook Distribution
</a:t>
            </a:r>
            <a:r>
              <a:rPr b="0" sz="750">
                <a:solidFill>
                  <a:srgbClr val="94A3B8"/>
                </a:solidFill>
              </a:rPr>
              <a:t>Lumbini transmits the 30-question Discovery Workbook to HICAL project leads.</a:t>
            </a:r>
          </a:p>
          <a:p>
            <a:pPr>
              <a:spcBef>
                <a:spcPts val="500"/>
              </a:spcBef>
            </a:pPr>
            <a:r>
              <a:rPr b="1" sz="800">
                <a:solidFill>
                  <a:srgbClr val="00B4D8"/>
                </a:solidFill>
              </a:rPr>
              <a:t>✓ Step 2: Schedule Discovery Sessions
</a:t>
            </a:r>
            <a:r>
              <a:rPr b="0" sz="750">
                <a:solidFill>
                  <a:srgbClr val="94A3B8"/>
                </a:solidFill>
              </a:rPr>
              <a:t>Lock two 2-hour technical discovery workshops across Planning, SAP IT, and Finance.</a:t>
            </a:r>
          </a:p>
          <a:p>
            <a:pPr>
              <a:spcBef>
                <a:spcPts val="500"/>
              </a:spcBef>
            </a:pPr>
            <a:r>
              <a:rPr b="1" sz="800">
                <a:solidFill>
                  <a:srgbClr val="00B4D8"/>
                </a:solidFill>
              </a:rPr>
              <a:t>✓ Step 3: SAP Read Access Setup
</a:t>
            </a:r>
            <a:r>
              <a:rPr b="0" sz="750">
                <a:solidFill>
                  <a:srgbClr val="94A3B8"/>
                </a:solidFill>
              </a:rPr>
              <a:t>Coordinate IT provisioning of read-only access to VBAK, RESB, and CRHD.</a:t>
            </a:r>
          </a:p>
          <a:p>
            <a:pPr>
              <a:spcBef>
                <a:spcPts val="500"/>
              </a:spcBef>
            </a:pPr>
            <a:r>
              <a:rPr b="1" sz="800">
                <a:solidFill>
                  <a:srgbClr val="00B4D8"/>
                </a:solidFill>
              </a:rPr>
              <a:t>✓ Step 4: Scope &amp; Statement of Work
</a:t>
            </a:r>
            <a:r>
              <a:rPr b="0" sz="750">
                <a:solidFill>
                  <a:srgbClr val="94A3B8"/>
                </a:solidFill>
              </a:rPr>
              <a:t>Lumbini submits the finalized Phase 1 Statement of Work for formal sign-off.</a:t>
            </a:r>
          </a:p>
          <a:p>
            <a:pPr>
              <a:spcBef>
                <a:spcPts val="500"/>
              </a:spcBef>
            </a:pPr>
            <a:r>
              <a:rPr b="1" sz="800">
                <a:solidFill>
                  <a:srgbClr val="00B4D8"/>
                </a:solidFill>
              </a:rPr>
              <a:t>✓ Target Go-Live: End of Q2 2026
</a:t>
            </a:r>
            <a:r>
              <a:rPr b="0" sz="750">
                <a:solidFill>
                  <a:srgbClr val="94A3B8"/>
                </a:solidFill>
              </a:rPr>
              <a:t>Positioning HICAL for measurable manufacturing excellence and capacity intelligence.</a:t>
            </a:r>
          </a:p>
        </p:txBody>
      </p:sp>
      <p:sp>
        <p:nvSpPr>
          <p:cNvPr id="10" name="Rounded Rectangle 9"/>
          <p:cNvSpPr/>
          <p:nvPr/>
        </p:nvSpPr>
        <p:spPr>
          <a:xfrm>
            <a:off x="731520" y="5166360"/>
            <a:ext cx="10728655" cy="1051560"/>
          </a:xfrm>
          <a:prstGeom prst="roundRect">
            <a:avLst/>
          </a:prstGeom>
          <a:solidFill>
            <a:srgbClr val="0F1E3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900" b="1">
                <a:solidFill>
                  <a:srgbClr val="D97706"/>
                </a:solidFill>
                <a:latin typeface="Arial"/>
              </a:defRPr>
            </a:pPr>
            <a:r>
              <a:t>EXECUTIVE SUMMARY STATEMENT</a:t>
            </a:r>
          </a:p>
          <a:p>
            <a:pPr>
              <a:spcBef>
                <a:spcPts val="300"/>
              </a:spcBef>
              <a:defRPr sz="900" i="1">
                <a:solidFill>
                  <a:srgbClr val="F8FAFC"/>
                </a:solidFill>
                <a:latin typeface="Arial"/>
              </a:defRPr>
            </a:pPr>
            <a:r>
              <a:t>"HICAL has an immediate opportunity to move from reactive firefighting to proactive capacity intelligence. The technical foundation is already in place with SAP HANA and Tableau. The ROI is compelling with a 4–6 month payback. Lumbini Elite Solutions is ready to partner with you to turn this roadmap into reality. Are you ready to take the next step?"</a:t>
            </a:r>
          </a:p>
        </p:txBody>
      </p:sp>
      <p:sp>
        <p:nvSpPr>
          <p:cNvPr id="11" name="Rectangle 10"/>
          <p:cNvSpPr/>
          <p:nvPr/>
        </p:nvSpPr>
        <p:spPr>
          <a:xfrm>
            <a:off x="731520" y="6400800"/>
            <a:ext cx="10728655" cy="9144"/>
          </a:xfrm>
          <a:prstGeom prst="rect">
            <a:avLst/>
          </a:prstGeom>
          <a:solidFill>
            <a:srgbClr val="283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7772400" cy="274320"/>
          </a:xfrm>
          <a:prstGeom prst="rect">
            <a:avLst/>
          </a:prstGeom>
          <a:noFill/>
        </p:spPr>
        <p:txBody>
          <a:bodyPr wrap="square" lIns="0" tIns="0">
            <a:spAutoFit/>
          </a:bodyPr>
          <a:lstStyle/>
          <a:p>
            <a:pPr>
              <a:defRPr sz="850">
                <a:solidFill>
                  <a:srgbClr val="94A3B8"/>
                </a:solidFill>
                <a:latin typeface="Arial"/>
              </a:defRPr>
            </a:pPr>
            <a:r>
              <a:t>Lumbini Elite Solutions  |  HICAL Technologies Strategic Roadmap  |  Confidential</a:t>
            </a:r>
          </a:p>
        </p:txBody>
      </p:sp>
      <p:sp>
        <p:nvSpPr>
          <p:cNvPr id="13" name="TextBox 12"/>
          <p:cNvSpPr txBox="1"/>
          <p:nvPr/>
        </p:nvSpPr>
        <p:spPr>
          <a:xfrm>
            <a:off x="10545775" y="6446520"/>
            <a:ext cx="914400" cy="274320"/>
          </a:xfrm>
          <a:prstGeom prst="rect">
            <a:avLst/>
          </a:prstGeom>
          <a:noFill/>
        </p:spPr>
        <p:txBody>
          <a:bodyPr wrap="square" rIns="0" tIns="0">
            <a:spAutoFit/>
          </a:bodyPr>
          <a:lstStyle/>
          <a:p>
            <a:pPr algn="r">
              <a:defRPr sz="850" b="1">
                <a:solidFill>
                  <a:srgbClr val="00B4D8"/>
                </a:solidFill>
                <a:latin typeface="Arial"/>
              </a:defRPr>
            </a:pPr>
            <a: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