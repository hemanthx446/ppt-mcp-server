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011680" cy="237744"/>
          </a:xfrm>
          <a:prstGeom prst="rect">
            <a:avLst/>
          </a:prstGeom>
          <a:solidFill>
            <a:srgbClr val="1C3159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EXECUTIVE MANDATE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F8FAFC"/>
                </a:solidFill>
                <a:latin typeface="Inter"/>
              </a:rPr>
              <a:t>Strategic Architecture Mandate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B4D8"/>
                </a:solidFill>
                <a:latin typeface="Inter"/>
              </a:rPr>
              <a:t>Decoupled edge telemetry for Lumbini Elite Solutions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26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94A3B8"/>
                </a:solidFill>
                <a:latin typeface="Inter"/>
              </a:rPr>
              <a:t>Lumbini Elite Solutions • SAP S/4HANA &amp; MES Integration • Enterprise Architecture Advisory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B4D8"/>
                </a:solidFill>
                <a:latin typeface="Inter"/>
              </a:rPr>
              <a:t>01 / 02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10728655" cy="4782312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51560" y="1801368"/>
            <a:ext cx="54864" cy="1645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1801368"/>
            <a:ext cx="98142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 i="0">
                <a:solidFill>
                  <a:srgbClr val="F8FAFC"/>
                </a:solidFill>
                <a:latin typeface="Inter"/>
              </a:rPr>
              <a:t>"Real-time edge telemetry protects the S/4HANA core."</a:t>
            </a:r>
          </a:p>
          <a:p>
            <a:r>
              <a:rPr sz="1050" b="1" i="0">
                <a:solidFill>
                  <a:srgbClr val="00B4D8"/>
                </a:solidFill>
                <a:latin typeface="Inter"/>
              </a:rPr>
              <a:t>— Chief Architect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1560" y="3675887"/>
            <a:ext cx="4929987" cy="2404871"/>
          </a:xfrm>
          <a:prstGeom prst="rect">
            <a:avLst/>
          </a:prstGeom>
          <a:solidFill>
            <a:srgbClr val="1C3159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128016"/>
          <a:lstStyle/>
          <a:p>
            <a:pPr algn="ctr">
              <a:spcAft>
                <a:spcPts val="6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Core Ring-Fence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Zero direct writes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0147" y="3675887"/>
            <a:ext cx="4929987" cy="2404871"/>
          </a:xfrm>
          <a:prstGeom prst="rect">
            <a:avLst/>
          </a:prstGeom>
          <a:solidFill>
            <a:srgbClr val="1C3159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128016"/>
          <a:lstStyle/>
          <a:p>
            <a:pPr algn="ctr">
              <a:spcAft>
                <a:spcPts val="6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Deterministic Edge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100% uptime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011680" cy="237744"/>
          </a:xfrm>
          <a:prstGeom prst="rect">
            <a:avLst/>
          </a:prstGeom>
          <a:solidFill>
            <a:srgbClr val="1C3159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ARCHITECTURE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F8FAFC"/>
                </a:solidFill>
                <a:latin typeface="Inter"/>
              </a:rPr>
              <a:t>Target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B4D8"/>
                </a:solidFill>
                <a:latin typeface="Inter"/>
              </a:rPr>
              <a:t>3-Tier Decoupled Operational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26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94A3B8"/>
                </a:solidFill>
                <a:latin typeface="Inter"/>
              </a:rPr>
              <a:t>Lumbini Elite Solutions • SAP S/4HANA &amp; MES Integration • Enterprise Architecture Advisory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B4D8"/>
                </a:solidFill>
                <a:latin typeface="Inter"/>
              </a:rPr>
              <a:t>02 / 02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3240938" cy="4782312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81328"/>
            <a:ext cx="3240938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627632"/>
            <a:ext cx="2948330" cy="44897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TIER 1: S/4HANA CORE</a:t>
            </a:r>
          </a:p>
          <a:p>
            <a:pPr>
              <a:spcAft>
                <a:spcPts val="10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ERP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ECC FI/CO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MM/PP Orders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063898" y="3735323"/>
            <a:ext cx="320040" cy="256032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63898" y="3534155"/>
            <a:ext cx="685800" cy="20116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19" b="1" i="0">
                <a:solidFill>
                  <a:srgbClr val="00B4D8"/>
                </a:solidFill>
                <a:latin typeface="Inter"/>
              </a:rPr>
              <a:t>RFC / IDOC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75378" y="1481328"/>
            <a:ext cx="3240938" cy="4782312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75378" y="1481328"/>
            <a:ext cx="3240938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1682" y="1627632"/>
            <a:ext cx="2948330" cy="44897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TIER 2: EVENT MESH</a:t>
            </a:r>
          </a:p>
          <a:p>
            <a:pPr>
              <a:spcAft>
                <a:spcPts val="10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BTP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Kafka Broker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State Ring-Fence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807756" y="3735323"/>
            <a:ext cx="320040" cy="256032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07756" y="3534155"/>
            <a:ext cx="685800" cy="20116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19" b="1" i="0">
                <a:solidFill>
                  <a:srgbClr val="00B4D8"/>
                </a:solidFill>
                <a:latin typeface="Inter"/>
              </a:rPr>
              <a:t>HTTPS / mTLS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19236" y="1481328"/>
            <a:ext cx="3240938" cy="4782312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19236" y="1481328"/>
            <a:ext cx="3240938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5540" y="1627632"/>
            <a:ext cx="2948330" cy="44897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TIER 3: OT EDGE</a:t>
            </a:r>
          </a:p>
          <a:p>
            <a:pPr>
              <a:spcAft>
                <a:spcPts val="10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Edge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OPC-UA Collector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SCADA Line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