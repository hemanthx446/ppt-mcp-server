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 Performance</c:v>
                </c:pt>
              </c:strCache>
            </c:strRef>
          </c:tx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Q1 2025</c:v>
                </c:pt>
                <c:pt idx="1">
                  <c:v>Q2 2025</c:v>
                </c:pt>
                <c:pt idx="2">
                  <c:v>Q3 2025</c:v>
                </c:pt>
                <c:pt idx="3">
                  <c:v>Q4 2025</c:v>
                </c:pt>
                <c:pt idx="4">
                  <c:v>Q1 2026</c:v>
                </c:pt>
                <c:pt idx="5">
                  <c:v>Q2 2026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81.2</c:v>
                </c:pt>
                <c:pt idx="1">
                  <c:v>83.5</c:v>
                </c:pt>
                <c:pt idx="2">
                  <c:v>86.1</c:v>
                </c:pt>
                <c:pt idx="3">
                  <c:v>88.4</c:v>
                </c:pt>
                <c:pt idx="4">
                  <c:v>90.2</c:v>
                </c:pt>
                <c:pt idx="5">
                  <c:v>91.4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 Benchmark</c:v>
                </c:pt>
              </c:strCache>
            </c:strRef>
          </c:tx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Q1 2025</c:v>
                </c:pt>
                <c:pt idx="1">
                  <c:v>Q2 2025</c:v>
                </c:pt>
                <c:pt idx="2">
                  <c:v>Q3 2025</c:v>
                </c:pt>
                <c:pt idx="3">
                  <c:v>Q4 2025</c:v>
                </c:pt>
                <c:pt idx="4">
                  <c:v>Q1 2026</c:v>
                </c:pt>
                <c:pt idx="5">
                  <c:v>Q2 2026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85.0</c:v>
                </c:pt>
                <c:pt idx="1">
                  <c:v>85.0</c:v>
                </c:pt>
                <c:pt idx="2">
                  <c:v>88.0</c:v>
                </c:pt>
                <c:pt idx="3">
                  <c:v>88.0</c:v>
                </c:pt>
                <c:pt idx="4">
                  <c:v>90.0</c:v>
                </c:pt>
                <c:pt idx="5">
                  <c:v>90.0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t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2011680" cy="237744"/>
          </a:xfrm>
          <a:prstGeom prst="rect">
            <a:avLst/>
          </a:prstGeom>
          <a:solidFill>
            <a:srgbClr val="1C3159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>
              <a:spcAft>
                <a:spcPts val="200"/>
              </a:spcAft>
              <a:defRPr/>
            </a:pPr>
            <a:r>
              <a:rPr sz="850" b="1" i="0">
                <a:solidFill>
                  <a:srgbClr val="00B4D8"/>
                </a:solidFill>
                <a:latin typeface="Inter"/>
              </a:rPr>
              <a:t>1. EXECUTIVE SCORECARD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03504"/>
            <a:ext cx="10728655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900" b="1" i="0">
                <a:solidFill>
                  <a:srgbClr val="F8FAFC"/>
                </a:solidFill>
                <a:latin typeface="Inter"/>
              </a:rPr>
              <a:t>Executive KPI Metric Strip: CXO manufacturing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72865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 i="1">
                <a:solidFill>
                  <a:srgbClr val="00B4D8"/>
                </a:solidFill>
                <a:latin typeface="Inter"/>
              </a:rPr>
              <a:t>DECISION INTENT: EXECUTIVE SCORECARD mapped for Hitachi Energy Global Operations operational architecture.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481328"/>
            <a:ext cx="2545003" cy="4782312"/>
          </a:xfrm>
          <a:prstGeom prst="rect">
            <a:avLst/>
          </a:prstGeom>
          <a:solidFill>
            <a:srgbClr val="132240"/>
          </a:solidFill>
          <a:ln w="12700"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1591056"/>
            <a:ext cx="2288971" cy="4562855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200"/>
              </a:spcAft>
            </a:pPr>
            <a:r>
              <a:rPr sz="2400" b="1" i="0">
                <a:solidFill>
                  <a:srgbClr val="10B981"/>
                </a:solidFill>
                <a:latin typeface="Inter"/>
              </a:rPr>
              <a:t>91.4%</a:t>
            </a:r>
          </a:p>
          <a:p>
            <a:pPr>
              <a:spcAft>
                <a:spcPts val="400"/>
              </a:spcAft>
            </a:pPr>
            <a:r>
              <a:rPr sz="900" b="1" i="0">
                <a:solidFill>
                  <a:srgbClr val="F8FAFC"/>
                </a:solidFill>
                <a:latin typeface="Inter"/>
              </a:rPr>
              <a:t>Overall Equipment Effectiveness (OEE)</a:t>
            </a:r>
          </a:p>
          <a:p>
            <a:r>
              <a:rPr sz="750" b="0" i="1">
                <a:solidFill>
                  <a:srgbClr val="94A3B8"/>
                </a:solidFill>
                <a:latin typeface="Inter"/>
              </a:rPr>
              <a:t>+4.8% vs Target | Plant Benchmark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59403" y="1481328"/>
            <a:ext cx="2545003" cy="4782312"/>
          </a:xfrm>
          <a:prstGeom prst="rect">
            <a:avLst/>
          </a:prstGeom>
          <a:solidFill>
            <a:srgbClr val="132240"/>
          </a:solidFill>
          <a:ln w="12700"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87419" y="1591056"/>
            <a:ext cx="2288971" cy="4562855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200"/>
              </a:spcAft>
            </a:pPr>
            <a:r>
              <a:rPr sz="2400" b="1" i="0">
                <a:solidFill>
                  <a:srgbClr val="10B981"/>
                </a:solidFill>
                <a:latin typeface="Inter"/>
              </a:rPr>
              <a:t>99.4%</a:t>
            </a:r>
          </a:p>
          <a:p>
            <a:pPr>
              <a:spcAft>
                <a:spcPts val="400"/>
              </a:spcAft>
            </a:pPr>
            <a:r>
              <a:rPr sz="900" b="1" i="0">
                <a:solidFill>
                  <a:srgbClr val="F8FAFC"/>
                </a:solidFill>
                <a:latin typeface="Inter"/>
              </a:rPr>
              <a:t>On-Time In-Full Delivery (OTIF)</a:t>
            </a:r>
          </a:p>
          <a:p>
            <a:r>
              <a:rPr sz="750" b="0" i="1">
                <a:solidFill>
                  <a:srgbClr val="94A3B8"/>
                </a:solidFill>
                <a:latin typeface="Inter"/>
              </a:rPr>
              <a:t>+1.2% Improvement | Customer SLA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87287" y="1481328"/>
            <a:ext cx="2545003" cy="4782312"/>
          </a:xfrm>
          <a:prstGeom prst="rect">
            <a:avLst/>
          </a:prstGeom>
          <a:solidFill>
            <a:srgbClr val="132240"/>
          </a:solidFill>
          <a:ln w="12700"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15303" y="1591056"/>
            <a:ext cx="2288971" cy="4562855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200"/>
              </a:spcAft>
            </a:pPr>
            <a:r>
              <a:rPr sz="2400" b="1" i="0">
                <a:solidFill>
                  <a:srgbClr val="10B981"/>
                </a:solidFill>
                <a:latin typeface="Inter"/>
              </a:rPr>
              <a:t>1.4%</a:t>
            </a:r>
          </a:p>
          <a:p>
            <a:pPr>
              <a:spcAft>
                <a:spcPts val="400"/>
              </a:spcAft>
            </a:pPr>
            <a:r>
              <a:rPr sz="900" b="1" i="0">
                <a:solidFill>
                  <a:srgbClr val="F8FAFC"/>
                </a:solidFill>
                <a:latin typeface="Inter"/>
              </a:rPr>
              <a:t>Scrap &amp; Non-Conformance Rate</a:t>
            </a:r>
          </a:p>
          <a:p>
            <a:r>
              <a:rPr sz="750" b="0" i="1">
                <a:solidFill>
                  <a:srgbClr val="94A3B8"/>
                </a:solidFill>
                <a:latin typeface="Inter"/>
              </a:rPr>
              <a:t>-42% Reduction | Quality Gate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15171" y="1481328"/>
            <a:ext cx="2545003" cy="4782312"/>
          </a:xfrm>
          <a:prstGeom prst="rect">
            <a:avLst/>
          </a:prstGeom>
          <a:solidFill>
            <a:srgbClr val="132240"/>
          </a:solidFill>
          <a:ln w="12700"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43187" y="1591056"/>
            <a:ext cx="2288971" cy="4562855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200"/>
              </a:spcAft>
            </a:pPr>
            <a:r>
              <a:rPr sz="2400" b="1" i="0">
                <a:solidFill>
                  <a:srgbClr val="10B981"/>
                </a:solidFill>
                <a:latin typeface="Inter"/>
              </a:rPr>
              <a:t>240ms</a:t>
            </a:r>
          </a:p>
          <a:p>
            <a:pPr>
              <a:spcAft>
                <a:spcPts val="400"/>
              </a:spcAft>
            </a:pPr>
            <a:r>
              <a:rPr sz="900" b="1" i="0">
                <a:solidFill>
                  <a:srgbClr val="F8FAFC"/>
                </a:solidFill>
                <a:latin typeface="Inter"/>
              </a:rPr>
              <a:t>Shop-Floor to ERP Sync Latency</a:t>
            </a:r>
          </a:p>
          <a:p>
            <a:r>
              <a:rPr sz="750" b="0" i="1">
                <a:solidFill>
                  <a:srgbClr val="94A3B8"/>
                </a:solidFill>
                <a:latin typeface="Inter"/>
              </a:rPr>
              <a:t>Sub-Second Verified | BTP SLA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731520" y="2194560"/>
          <a:ext cx="10728655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2163"/>
                <a:gridCol w="2682163"/>
                <a:gridCol w="2682163"/>
                <a:gridCol w="2682166"/>
              </a:tblGrid>
              <a:tr h="86868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60A5FA"/>
                          </a:solidFill>
                          <a:latin typeface="Inter"/>
                        </a:defRPr>
                      </a:pPr>
                      <a:r>
                        <a:t>Architecture Dimension</a:t>
                      </a:r>
                    </a:p>
                  </a:txBody>
                  <a:tcPr>
                    <a:solidFill>
                      <a:srgbClr val="0F1E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60A5FA"/>
                          </a:solidFill>
                          <a:latin typeface="Inter"/>
                        </a:defRPr>
                      </a:pPr>
                      <a:r>
                        <a:t>Current State (Legacy)</a:t>
                      </a:r>
                    </a:p>
                  </a:txBody>
                  <a:tcPr>
                    <a:solidFill>
                      <a:srgbClr val="0F1E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60A5FA"/>
                          </a:solidFill>
                          <a:latin typeface="Inter"/>
                        </a:defRPr>
                      </a:pPr>
                      <a:r>
                        <a:t>Target State (Clean Core)</a:t>
                      </a:r>
                    </a:p>
                  </a:txBody>
                  <a:tcPr>
                    <a:solidFill>
                      <a:srgbClr val="0F1E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60A5FA"/>
                          </a:solidFill>
                          <a:latin typeface="Inter"/>
                        </a:defRPr>
                      </a:pPr>
                      <a:r>
                        <a:t>Operational Impact</a:t>
                      </a:r>
                    </a:p>
                  </a:txBody>
                  <a:tcPr>
                    <a:solidFill>
                      <a:srgbClr val="0F1E3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DCE6F5"/>
                          </a:solidFill>
                          <a:latin typeface="Inter"/>
                        </a:defRPr>
                      </a:pPr>
                      <a:r>
                        <a:t>Integration Coupling</a:t>
                      </a:r>
                    </a:p>
                  </a:txBody>
                  <a:tcPr>
                    <a:solidFill>
                      <a:srgbClr val="1423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DCE6F5"/>
                          </a:solidFill>
                          <a:latin typeface="Inter"/>
                        </a:defRPr>
                      </a:pPr>
                      <a:r>
                        <a:t>Point-to-point RFC / batch files</a:t>
                      </a:r>
                    </a:p>
                  </a:txBody>
                  <a:tcPr>
                    <a:solidFill>
                      <a:srgbClr val="1423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DCE6F5"/>
                          </a:solidFill>
                          <a:latin typeface="Inter"/>
                        </a:defRPr>
                      </a:pPr>
                      <a:r>
                        <a:t>Event-driven REST/OData APIs via BTP</a:t>
                      </a:r>
                    </a:p>
                  </a:txBody>
                  <a:tcPr>
                    <a:solidFill>
                      <a:srgbClr val="1423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DCE6F5"/>
                          </a:solidFill>
                          <a:latin typeface="Inter"/>
                        </a:defRPr>
                      </a:pPr>
                      <a:r>
                        <a:t>90% latency reduction</a:t>
                      </a:r>
                    </a:p>
                  </a:txBody>
                  <a:tcPr>
                    <a:solidFill>
                      <a:srgbClr val="14233C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DCE6F5"/>
                          </a:solidFill>
                          <a:latin typeface="Inter"/>
                        </a:defRPr>
                      </a:pPr>
                      <a:r>
                        <a:t>Execution Traceability</a:t>
                      </a:r>
                    </a:p>
                  </a:txBody>
                  <a:tcPr>
                    <a:solidFill>
                      <a:srgbClr val="0F1E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DCE6F5"/>
                          </a:solidFill>
                          <a:latin typeface="Inter"/>
                        </a:defRPr>
                      </a:pPr>
                      <a:r>
                        <a:t>Manual paper travel sheets</a:t>
                      </a:r>
                    </a:p>
                  </a:txBody>
                  <a:tcPr>
                    <a:solidFill>
                      <a:srgbClr val="0F1E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DCE6F5"/>
                          </a:solidFill>
                          <a:latin typeface="Inter"/>
                        </a:defRPr>
                      </a:pPr>
                      <a:r>
                        <a:t>Automated unit &amp; serial genealogy in MES</a:t>
                      </a:r>
                    </a:p>
                  </a:txBody>
                  <a:tcPr>
                    <a:solidFill>
                      <a:srgbClr val="0F1E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DCE6F5"/>
                          </a:solidFill>
                          <a:latin typeface="Inter"/>
                        </a:defRPr>
                      </a:pPr>
                      <a:r>
                        <a:t>100% compliance auditability</a:t>
                      </a:r>
                    </a:p>
                  </a:txBody>
                  <a:tcPr>
                    <a:solidFill>
                      <a:srgbClr val="0F1E3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DCE6F5"/>
                          </a:solidFill>
                          <a:latin typeface="Inter"/>
                        </a:defRPr>
                      </a:pPr>
                      <a:r>
                        <a:t>ERP Core Cleanliness</a:t>
                      </a:r>
                    </a:p>
                  </a:txBody>
                  <a:tcPr>
                    <a:solidFill>
                      <a:srgbClr val="1423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DCE6F5"/>
                          </a:solidFill>
                          <a:latin typeface="Inter"/>
                        </a:defRPr>
                      </a:pPr>
                      <a:r>
                        <a:t>Heavy custom ABAP modifications</a:t>
                      </a:r>
                    </a:p>
                  </a:txBody>
                  <a:tcPr>
                    <a:solidFill>
                      <a:srgbClr val="1423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DCE6F5"/>
                          </a:solidFill>
                          <a:latin typeface="Inter"/>
                        </a:defRPr>
                      </a:pPr>
                      <a:r>
                        <a:t>Standard extension tier / side-by-side</a:t>
                      </a:r>
                    </a:p>
                  </a:txBody>
                  <a:tcPr>
                    <a:solidFill>
                      <a:srgbClr val="1423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DCE6F5"/>
                          </a:solidFill>
                          <a:latin typeface="Inter"/>
                        </a:defRPr>
                      </a:pPr>
                      <a:r>
                        <a:t>Zero-friction cloud upgrades</a:t>
                      </a:r>
                    </a:p>
                  </a:txBody>
                  <a:tcPr>
                    <a:solidFill>
                      <a:srgbClr val="14233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2217420" cy="237744"/>
          </a:xfrm>
          <a:prstGeom prst="rect">
            <a:avLst/>
          </a:prstGeom>
          <a:solidFill>
            <a:srgbClr val="1C3159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>
              <a:spcAft>
                <a:spcPts val="200"/>
              </a:spcAft>
              <a:defRPr/>
            </a:pPr>
            <a:r>
              <a:rPr sz="850" b="1" i="0">
                <a:solidFill>
                  <a:srgbClr val="00B4D8"/>
                </a:solidFill>
                <a:latin typeface="Inter"/>
              </a:rPr>
              <a:t>2. PERFORMANCE TRAJECTORY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03504"/>
            <a:ext cx="10728655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900" b="1" i="0">
                <a:solidFill>
                  <a:srgbClr val="F8FAFC"/>
                </a:solidFill>
                <a:latin typeface="Inter"/>
              </a:rPr>
              <a:t>Operational Performance Trend Chart: CXO manufacturing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72865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 i="1">
                <a:solidFill>
                  <a:srgbClr val="00B4D8"/>
                </a:solidFill>
                <a:latin typeface="Inter"/>
              </a:rPr>
              <a:t>DECISION INTENT: PERFORMANCE TRAJECTORY mapped for Hitachi Energy Global Operations operational architecture.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55080"/>
            <a:ext cx="10728655" cy="9144"/>
          </a:xfrm>
          <a:prstGeom prst="rect">
            <a:avLst/>
          </a:prstGeom>
          <a:solidFill>
            <a:srgbClr val="26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19088"/>
            <a:ext cx="7772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 b="0" i="0">
                <a:solidFill>
                  <a:srgbClr val="94A3B8"/>
                </a:solidFill>
                <a:latin typeface="Inter"/>
              </a:rPr>
              <a:t>Hitachi Energy Global Operations • CXO Manufacturing Dashboard • Enterprise Architecture Advisory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419088"/>
            <a:ext cx="109728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 b="1" i="0">
                <a:solidFill>
                  <a:srgbClr val="00B4D8"/>
                </a:solidFill>
                <a:latin typeface="Inter"/>
              </a:rPr>
              <a:t>02 / 05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731520" y="1481328"/>
          <a:ext cx="10728655" cy="478231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2011680" cy="237744"/>
          </a:xfrm>
          <a:prstGeom prst="rect">
            <a:avLst/>
          </a:prstGeom>
          <a:solidFill>
            <a:srgbClr val="EEF2FF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>
              <a:spcAft>
                <a:spcPts val="200"/>
              </a:spcAft>
              <a:defRPr/>
            </a:pPr>
            <a:r>
              <a:rPr sz="850" b="1" i="0">
                <a:solidFill>
                  <a:srgbClr val="0066CC"/>
                </a:solidFill>
                <a:latin typeface="Inter"/>
              </a:rPr>
              <a:t>3. BOTTLENECK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03504"/>
            <a:ext cx="10728655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900" b="1" i="0">
                <a:solidFill>
                  <a:srgbClr val="0F172A"/>
                </a:solidFill>
                <a:latin typeface="Inter"/>
              </a:rPr>
              <a:t>Work-Center Bottleneck &amp; Capacity Loading: CXO manufacturing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72865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 i="1">
                <a:solidFill>
                  <a:srgbClr val="0066CC"/>
                </a:solidFill>
                <a:latin typeface="Inter"/>
              </a:rPr>
              <a:t>DECISION INTENT: BOTTLENECK ANALYSIS mapped for Hitachi Energy Global Operations operational architecture.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55080"/>
            <a:ext cx="10728655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19088"/>
            <a:ext cx="7772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 b="0" i="0">
                <a:solidFill>
                  <a:srgbClr val="64748B"/>
                </a:solidFill>
                <a:latin typeface="Inter"/>
              </a:rPr>
              <a:t>Hitachi Energy Global Operations • CXO Manufacturing Dashboard • Enterprise Architecture Advisory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419088"/>
            <a:ext cx="109728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 b="1" i="0">
                <a:solidFill>
                  <a:srgbClr val="0066CC"/>
                </a:solidFill>
                <a:latin typeface="Inter"/>
              </a:rPr>
              <a:t>03 / 05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481328"/>
            <a:ext cx="10728655" cy="47823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400" y="3381873"/>
            <a:ext cx="1104103" cy="2424566"/>
          </a:xfrm>
          <a:prstGeom prst="rect">
            <a:avLst/>
          </a:prstGeom>
          <a:solidFill>
            <a:srgbClr val="EEF2FF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141181" y="3004718"/>
            <a:ext cx="1104103" cy="2801721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1618488"/>
            <a:ext cx="2453563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</a:pPr>
            <a:r>
              <a:rPr sz="850" b="1" i="0">
                <a:solidFill>
                  <a:srgbClr val="DC2626"/>
                </a:solidFill>
                <a:latin typeface="Inter"/>
              </a:rPr>
              <a:t>116% UTIL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852159"/>
            <a:ext cx="2453563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0" i="1">
                <a:solidFill>
                  <a:srgbClr val="64748B"/>
                </a:solidFill>
                <a:latin typeface="Inter"/>
              </a:rPr>
              <a:t>WC-101 CNC Machining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50843" y="3651269"/>
            <a:ext cx="1104103" cy="2155170"/>
          </a:xfrm>
          <a:prstGeom prst="rect">
            <a:avLst/>
          </a:prstGeom>
          <a:solidFill>
            <a:srgbClr val="EEF2FF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777625" y="3812907"/>
            <a:ext cx="1104103" cy="199353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50843" y="1618488"/>
            <a:ext cx="2453563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</a:pPr>
            <a:r>
              <a:rPr sz="850" b="1" i="0">
                <a:solidFill>
                  <a:srgbClr val="0066CC"/>
                </a:solidFill>
                <a:latin typeface="Inter"/>
              </a:rPr>
              <a:t>92% UTIL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50843" y="5852159"/>
            <a:ext cx="2453563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0" i="1">
                <a:solidFill>
                  <a:srgbClr val="64748B"/>
                </a:solidFill>
                <a:latin typeface="Inter"/>
              </a:rPr>
              <a:t>WC-204 Robotic Welding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87287" y="3112476"/>
            <a:ext cx="1104103" cy="2693963"/>
          </a:xfrm>
          <a:prstGeom prst="rect">
            <a:avLst/>
          </a:prstGeom>
          <a:solidFill>
            <a:srgbClr val="EEF2FF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14069" y="3435752"/>
            <a:ext cx="1104103" cy="2370687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87287" y="1618488"/>
            <a:ext cx="2453563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</a:pPr>
            <a:r>
              <a:rPr sz="850" b="1" i="0">
                <a:solidFill>
                  <a:srgbClr val="0066CC"/>
                </a:solidFill>
                <a:latin typeface="Inter"/>
              </a:rPr>
              <a:t>88% UTIL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87287" y="5852159"/>
            <a:ext cx="2453563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0" i="1">
                <a:solidFill>
                  <a:srgbClr val="64748B"/>
                </a:solidFill>
                <a:latin typeface="Inter"/>
              </a:rPr>
              <a:t>WC-305 Final Assembly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823731" y="4190062"/>
            <a:ext cx="1104103" cy="1616377"/>
          </a:xfrm>
          <a:prstGeom prst="rect">
            <a:avLst/>
          </a:prstGeom>
          <a:solidFill>
            <a:srgbClr val="EEF2FF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050513" y="3866786"/>
            <a:ext cx="1104103" cy="1939653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23731" y="1618488"/>
            <a:ext cx="2453563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</a:pPr>
            <a:r>
              <a:rPr sz="850" b="1" i="0">
                <a:solidFill>
                  <a:srgbClr val="DC2626"/>
                </a:solidFill>
                <a:latin typeface="Inter"/>
              </a:rPr>
              <a:t>120% UTIL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23731" y="5852159"/>
            <a:ext cx="2453563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0" i="1">
                <a:solidFill>
                  <a:srgbClr val="64748B"/>
                </a:solidFill>
                <a:latin typeface="Inter"/>
              </a:rPr>
              <a:t>WC-408 Quality Inspection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2139696" cy="237744"/>
          </a:xfrm>
          <a:prstGeom prst="rect">
            <a:avLst/>
          </a:prstGeom>
          <a:solidFill>
            <a:srgbClr val="1C3159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>
              <a:spcAft>
                <a:spcPts val="200"/>
              </a:spcAft>
              <a:defRPr/>
            </a:pPr>
            <a:r>
              <a:rPr sz="850" b="1" i="0">
                <a:solidFill>
                  <a:srgbClr val="00B4D8"/>
                </a:solidFill>
                <a:latin typeface="Inter"/>
              </a:rPr>
              <a:t>4. QUALITY CONCENTRATION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03504"/>
            <a:ext cx="10728655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900" b="1" i="0">
                <a:solidFill>
                  <a:srgbClr val="F8FAFC"/>
                </a:solidFill>
                <a:latin typeface="Inter"/>
              </a:rPr>
              <a:t>Pareto 80/20 Root-Cause Defect Concentration: CXO manufacturing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72865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 i="1">
                <a:solidFill>
                  <a:srgbClr val="00B4D8"/>
                </a:solidFill>
                <a:latin typeface="Inter"/>
              </a:rPr>
              <a:t>DECISION INTENT: QUALITY CONCENTRATION mapped for Hitachi Energy Global Operations operational architecture.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55080"/>
            <a:ext cx="10728655" cy="9144"/>
          </a:xfrm>
          <a:prstGeom prst="rect">
            <a:avLst/>
          </a:prstGeom>
          <a:solidFill>
            <a:srgbClr val="26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19088"/>
            <a:ext cx="7772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 b="0" i="0">
                <a:solidFill>
                  <a:srgbClr val="94A3B8"/>
                </a:solidFill>
                <a:latin typeface="Inter"/>
              </a:rPr>
              <a:t>Hitachi Energy Global Operations • CXO Manufacturing Dashboard • Enterprise Architecture Advisory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419088"/>
            <a:ext cx="109728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 b="1" i="0">
                <a:solidFill>
                  <a:srgbClr val="00B4D8"/>
                </a:solidFill>
                <a:latin typeface="Inter"/>
              </a:rPr>
              <a:t>04 / 05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481328"/>
            <a:ext cx="10728655" cy="4782312"/>
          </a:xfrm>
          <a:prstGeom prst="rect">
            <a:avLst/>
          </a:prstGeom>
          <a:solidFill>
            <a:srgbClr val="132240"/>
          </a:solidFill>
          <a:ln w="12700"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481328"/>
            <a:ext cx="10728655" cy="365760"/>
          </a:xfrm>
          <a:prstGeom prst="rect">
            <a:avLst/>
          </a:prstGeom>
          <a:solidFill>
            <a:srgbClr val="1C3159"/>
          </a:solidFill>
          <a:ln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200"/>
              </a:spcAft>
            </a:pPr>
            <a:r>
              <a:rPr sz="850" b="1" i="0">
                <a:solidFill>
                  <a:srgbClr val="00B4D8"/>
                </a:solidFill>
                <a:latin typeface="Inter"/>
              </a:rPr>
              <a:t>PARETO 80/20 ROOT CAUSE CONCENTRATION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3816522"/>
            <a:ext cx="1962851" cy="1989917"/>
          </a:xfrm>
          <a:prstGeom prst="rect">
            <a:avLst/>
          </a:prstGeom>
          <a:solidFill>
            <a:srgbClr val="00B4D8"/>
          </a:solidFill>
          <a:ln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1920240"/>
            <a:ext cx="1962851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19" b="1" i="0">
                <a:solidFill>
                  <a:srgbClr val="F59E0B"/>
                </a:solidFill>
                <a:latin typeface="Inter"/>
              </a:rPr>
              <a:t>54%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852159"/>
            <a:ext cx="1962851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0" i="1">
                <a:solidFill>
                  <a:srgbClr val="94A3B8"/>
                </a:solidFill>
                <a:latin typeface="Inter"/>
              </a:rPr>
              <a:t>Torque Calibration Drift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4411" y="4848331"/>
            <a:ext cx="1962851" cy="958108"/>
          </a:xfrm>
          <a:prstGeom prst="rect">
            <a:avLst/>
          </a:prstGeom>
          <a:solidFill>
            <a:srgbClr val="00B4D8"/>
          </a:solidFill>
          <a:ln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14411" y="1920240"/>
            <a:ext cx="1962851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19" b="1" i="0">
                <a:solidFill>
                  <a:srgbClr val="F59E0B"/>
                </a:solidFill>
                <a:latin typeface="Inter"/>
              </a:rPr>
              <a:t>80%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4411" y="5852159"/>
            <a:ext cx="1962851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0" i="1">
                <a:solidFill>
                  <a:srgbClr val="94A3B8"/>
                </a:solidFill>
                <a:latin typeface="Inter"/>
              </a:rPr>
              <a:t>Material Kitting Shortage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14422" y="5364236"/>
            <a:ext cx="1962851" cy="442203"/>
          </a:xfrm>
          <a:prstGeom prst="rect">
            <a:avLst/>
          </a:prstGeom>
          <a:solidFill>
            <a:srgbClr val="16284B"/>
          </a:solidFill>
          <a:ln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14422" y="1920240"/>
            <a:ext cx="1962851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19" b="1" i="0">
                <a:solidFill>
                  <a:srgbClr val="F59E0B"/>
                </a:solidFill>
                <a:latin typeface="Inter"/>
              </a:rPr>
              <a:t>92%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14422" y="5852159"/>
            <a:ext cx="1962851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0" i="1">
                <a:solidFill>
                  <a:srgbClr val="94A3B8"/>
                </a:solidFill>
                <a:latin typeface="Inter"/>
              </a:rPr>
              <a:t>Barcode Read Error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214433" y="5622188"/>
            <a:ext cx="1962851" cy="184251"/>
          </a:xfrm>
          <a:prstGeom prst="rect">
            <a:avLst/>
          </a:prstGeom>
          <a:solidFill>
            <a:srgbClr val="16284B"/>
          </a:solidFill>
          <a:ln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14433" y="1920240"/>
            <a:ext cx="1962851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19" b="1" i="0">
                <a:solidFill>
                  <a:srgbClr val="F59E0B"/>
                </a:solidFill>
                <a:latin typeface="Inter"/>
              </a:rPr>
              <a:t>97%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14433" y="5852159"/>
            <a:ext cx="1962851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0" i="1">
                <a:solidFill>
                  <a:srgbClr val="94A3B8"/>
                </a:solidFill>
                <a:latin typeface="Inter"/>
              </a:rPr>
              <a:t>Operator Travel Delay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314444" y="5695889"/>
            <a:ext cx="1962851" cy="110550"/>
          </a:xfrm>
          <a:prstGeom prst="rect">
            <a:avLst/>
          </a:prstGeom>
          <a:solidFill>
            <a:srgbClr val="16284B"/>
          </a:solidFill>
          <a:ln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14444" y="1920240"/>
            <a:ext cx="1962851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19" b="1" i="0">
                <a:solidFill>
                  <a:srgbClr val="F59E0B"/>
                </a:solidFill>
                <a:latin typeface="Inter"/>
              </a:rPr>
              <a:t>100%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14444" y="5852159"/>
            <a:ext cx="1962851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0" i="1">
                <a:solidFill>
                  <a:srgbClr val="94A3B8"/>
                </a:solidFill>
                <a:latin typeface="Inter"/>
              </a:rPr>
              <a:t>Other Minor Exceptions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2011680" cy="237744"/>
          </a:xfrm>
          <a:prstGeom prst="rect">
            <a:avLst/>
          </a:prstGeom>
          <a:solidFill>
            <a:srgbClr val="1C3159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>
              <a:spcAft>
                <a:spcPts val="200"/>
              </a:spcAft>
              <a:defRPr/>
            </a:pPr>
            <a:r>
              <a:rPr sz="850" b="1" i="0">
                <a:solidFill>
                  <a:srgbClr val="00B4D8"/>
                </a:solidFill>
                <a:latin typeface="Inter"/>
              </a:rPr>
              <a:t>5. CORRECTIVE 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03504"/>
            <a:ext cx="10728655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900" b="1" i="0">
                <a:solidFill>
                  <a:srgbClr val="F8FAFC"/>
                </a:solidFill>
                <a:latin typeface="Inter"/>
              </a:rPr>
              <a:t>Action-Oriented Exception Register: CXO manufacturing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72865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 i="1">
                <a:solidFill>
                  <a:srgbClr val="00B4D8"/>
                </a:solidFill>
                <a:latin typeface="Inter"/>
              </a:rPr>
              <a:t>DECISION INTENT: CORRECTIVE ACTIONS mapped for Hitachi Energy Global Operations operational architecture.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55080"/>
            <a:ext cx="10728655" cy="9144"/>
          </a:xfrm>
          <a:prstGeom prst="rect">
            <a:avLst/>
          </a:prstGeom>
          <a:solidFill>
            <a:srgbClr val="26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19088"/>
            <a:ext cx="7772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 b="0" i="0">
                <a:solidFill>
                  <a:srgbClr val="94A3B8"/>
                </a:solidFill>
                <a:latin typeface="Inter"/>
              </a:rPr>
              <a:t>Hitachi Energy Global Operations • CXO Manufacturing Dashboard • Enterprise Architecture Advisory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419088"/>
            <a:ext cx="109728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 b="1" i="0">
                <a:solidFill>
                  <a:srgbClr val="00B4D8"/>
                </a:solidFill>
                <a:latin typeface="Inter"/>
              </a:rPr>
              <a:t>05 / 05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31520" y="1481328"/>
          <a:ext cx="10728652" cy="4782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0640"/>
                <a:gridCol w="3395144"/>
                <a:gridCol w="1493863"/>
                <a:gridCol w="1086446"/>
                <a:gridCol w="1358057"/>
                <a:gridCol w="1222251"/>
                <a:gridCol w="1222251"/>
              </a:tblGrid>
              <a:tr h="956462"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850" b="1" i="0">
                          <a:solidFill>
                            <a:srgbClr val="00B4D8"/>
                          </a:solidFill>
                          <a:latin typeface="Inter"/>
                        </a:rPr>
                        <a:t>ID</a:t>
                      </a:r>
                    </a:p>
                  </a:txBody>
                  <a:tcPr>
                    <a:solidFill>
                      <a:srgbClr val="1C315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850" b="1" i="0">
                          <a:solidFill>
                            <a:srgbClr val="00B4D8"/>
                          </a:solidFill>
                          <a:latin typeface="Inter"/>
                        </a:rPr>
                        <a:t>ACTION ITEM DESCRIPTION</a:t>
                      </a:r>
                    </a:p>
                  </a:txBody>
                  <a:tcPr>
                    <a:solidFill>
                      <a:srgbClr val="1C315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850" b="1" i="0">
                          <a:solidFill>
                            <a:srgbClr val="00B4D8"/>
                          </a:solidFill>
                          <a:latin typeface="Inter"/>
                        </a:rPr>
                        <a:t>WORKSTREAM</a:t>
                      </a:r>
                    </a:p>
                  </a:txBody>
                  <a:tcPr>
                    <a:solidFill>
                      <a:srgbClr val="1C315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850" b="1" i="0">
                          <a:solidFill>
                            <a:srgbClr val="00B4D8"/>
                          </a:solidFill>
                          <a:latin typeface="Inter"/>
                        </a:rPr>
                        <a:t>PRIORITY</a:t>
                      </a:r>
                    </a:p>
                  </a:txBody>
                  <a:tcPr>
                    <a:solidFill>
                      <a:srgbClr val="1C315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850" b="1" i="0">
                          <a:solidFill>
                            <a:srgbClr val="00B4D8"/>
                          </a:solidFill>
                          <a:latin typeface="Inter"/>
                        </a:rPr>
                        <a:t>OWNER</a:t>
                      </a:r>
                    </a:p>
                  </a:txBody>
                  <a:tcPr>
                    <a:solidFill>
                      <a:srgbClr val="1C315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850" b="1" i="0">
                          <a:solidFill>
                            <a:srgbClr val="00B4D8"/>
                          </a:solidFill>
                          <a:latin typeface="Inter"/>
                        </a:rPr>
                        <a:t>DUE DATE</a:t>
                      </a:r>
                    </a:p>
                  </a:txBody>
                  <a:tcPr>
                    <a:solidFill>
                      <a:srgbClr val="1C315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850" b="1" i="0">
                          <a:solidFill>
                            <a:srgbClr val="00B4D8"/>
                          </a:solidFill>
                          <a:latin typeface="Inter"/>
                        </a:rPr>
                        <a:t>STATUS</a:t>
                      </a:r>
                    </a:p>
                  </a:txBody>
                  <a:tcPr>
                    <a:solidFill>
                      <a:srgbClr val="1C3159"/>
                    </a:solidFill>
                  </a:tcPr>
                </a:tc>
              </a:tr>
              <a:tr h="956462"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F8FAFC"/>
                          </a:solidFill>
                          <a:latin typeface="Inter"/>
                        </a:rPr>
                        <a:t>ACT-01</a:t>
                      </a:r>
                    </a:p>
                  </a:txBody>
                  <a:tcPr>
                    <a:solidFill>
                      <a:srgbClr val="16284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F8FAFC"/>
                          </a:solidFill>
                          <a:latin typeface="Inter"/>
                        </a:rPr>
                        <a:t>Recalibrate torque load cells on Station 20</a:t>
                      </a:r>
                    </a:p>
                  </a:txBody>
                  <a:tcPr>
                    <a:solidFill>
                      <a:srgbClr val="16284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F8FAFC"/>
                          </a:solidFill>
                          <a:latin typeface="Inter"/>
                        </a:rPr>
                        <a:t>Maintenance</a:t>
                      </a:r>
                    </a:p>
                  </a:txBody>
                  <a:tcPr>
                    <a:solidFill>
                      <a:srgbClr val="1628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EF4444"/>
                          </a:solidFill>
                          <a:latin typeface="Inter"/>
                        </a:rPr>
                        <a:t>HIGH</a:t>
                      </a:r>
                    </a:p>
                  </a:txBody>
                  <a:tcPr>
                    <a:solidFill>
                      <a:srgbClr val="16284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F8FAFC"/>
                          </a:solidFill>
                          <a:latin typeface="Inter"/>
                        </a:rPr>
                        <a:t>Lead Tech</a:t>
                      </a:r>
                    </a:p>
                  </a:txBody>
                  <a:tcPr>
                    <a:solidFill>
                      <a:srgbClr val="1628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F8FAFC"/>
                          </a:solidFill>
                          <a:latin typeface="Inter"/>
                        </a:rPr>
                        <a:t>Week 2</a:t>
                      </a:r>
                    </a:p>
                  </a:txBody>
                  <a:tcPr>
                    <a:solidFill>
                      <a:srgbClr val="1628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00B4D8"/>
                          </a:solidFill>
                          <a:latin typeface="Inter"/>
                        </a:rPr>
                        <a:t>IN PROGRESS</a:t>
                      </a:r>
                    </a:p>
                  </a:txBody>
                  <a:tcPr>
                    <a:solidFill>
                      <a:srgbClr val="16284B"/>
                    </a:solidFill>
                  </a:tcPr>
                </a:tc>
              </a:tr>
              <a:tr h="956462"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F8FAFC"/>
                          </a:solidFill>
                          <a:latin typeface="Inter"/>
                        </a:rPr>
                        <a:t>ACT-02</a:t>
                      </a:r>
                    </a:p>
                  </a:txBody>
                  <a:tcPr>
                    <a:solidFill>
                      <a:srgbClr val="13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F8FAFC"/>
                          </a:solidFill>
                          <a:latin typeface="Inter"/>
                        </a:rPr>
                        <a:t>Implement automated ASN barcode validation in ERP</a:t>
                      </a:r>
                    </a:p>
                  </a:txBody>
                  <a:tcPr>
                    <a:solidFill>
                      <a:srgbClr val="13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F8FAFC"/>
                          </a:solidFill>
                          <a:latin typeface="Inter"/>
                        </a:rPr>
                        <a:t>Integration</a:t>
                      </a:r>
                    </a:p>
                  </a:txBody>
                  <a:tcPr>
                    <a:solidFill>
                      <a:srgbClr val="13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EF4444"/>
                          </a:solidFill>
                          <a:latin typeface="Inter"/>
                        </a:rPr>
                        <a:t>HIGH</a:t>
                      </a:r>
                    </a:p>
                  </a:txBody>
                  <a:tcPr>
                    <a:solidFill>
                      <a:srgbClr val="13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F8FAFC"/>
                          </a:solidFill>
                          <a:latin typeface="Inter"/>
                        </a:rPr>
                        <a:t>BTP Lead</a:t>
                      </a:r>
                    </a:p>
                  </a:txBody>
                  <a:tcPr>
                    <a:solidFill>
                      <a:srgbClr val="13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F8FAFC"/>
                          </a:solidFill>
                          <a:latin typeface="Inter"/>
                        </a:rPr>
                        <a:t>Week 3</a:t>
                      </a:r>
                    </a:p>
                  </a:txBody>
                  <a:tcPr>
                    <a:solidFill>
                      <a:srgbClr val="13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F59E0B"/>
                          </a:solidFill>
                          <a:latin typeface="Inter"/>
                        </a:rPr>
                        <a:t>OPEN</a:t>
                      </a:r>
                    </a:p>
                  </a:txBody>
                  <a:tcPr>
                    <a:solidFill>
                      <a:srgbClr val="132240"/>
                    </a:solidFill>
                  </a:tcPr>
                </a:tc>
              </a:tr>
              <a:tr h="956462"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F8FAFC"/>
                          </a:solidFill>
                          <a:latin typeface="Inter"/>
                        </a:rPr>
                        <a:t>ACT-03</a:t>
                      </a:r>
                    </a:p>
                  </a:txBody>
                  <a:tcPr>
                    <a:solidFill>
                      <a:srgbClr val="16284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F8FAFC"/>
                          </a:solidFill>
                          <a:latin typeface="Inter"/>
                        </a:rPr>
                        <a:t>Conduct operator Poka-Yoke ergonomics review</a:t>
                      </a:r>
                    </a:p>
                  </a:txBody>
                  <a:tcPr>
                    <a:solidFill>
                      <a:srgbClr val="16284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F8FAFC"/>
                          </a:solidFill>
                          <a:latin typeface="Inter"/>
                        </a:rPr>
                        <a:t>Plant Ops</a:t>
                      </a:r>
                    </a:p>
                  </a:txBody>
                  <a:tcPr>
                    <a:solidFill>
                      <a:srgbClr val="1628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59E0B"/>
                          </a:solidFill>
                          <a:latin typeface="Inter"/>
                        </a:rPr>
                        <a:t>MED</a:t>
                      </a:r>
                    </a:p>
                  </a:txBody>
                  <a:tcPr>
                    <a:solidFill>
                      <a:srgbClr val="16284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F8FAFC"/>
                          </a:solidFill>
                          <a:latin typeface="Inter"/>
                        </a:rPr>
                        <a:t>Supervisor</a:t>
                      </a:r>
                    </a:p>
                  </a:txBody>
                  <a:tcPr>
                    <a:solidFill>
                      <a:srgbClr val="1628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F8FAFC"/>
                          </a:solidFill>
                          <a:latin typeface="Inter"/>
                        </a:rPr>
                        <a:t>Week 4</a:t>
                      </a:r>
                    </a:p>
                  </a:txBody>
                  <a:tcPr>
                    <a:solidFill>
                      <a:srgbClr val="1628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F59E0B"/>
                          </a:solidFill>
                          <a:latin typeface="Inter"/>
                        </a:rPr>
                        <a:t>OPEN</a:t>
                      </a:r>
                    </a:p>
                  </a:txBody>
                  <a:tcPr>
                    <a:solidFill>
                      <a:srgbClr val="16284B"/>
                    </a:solidFill>
                  </a:tcPr>
                </a:tc>
              </a:tr>
              <a:tr h="956464"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F8FAFC"/>
                          </a:solidFill>
                          <a:latin typeface="Inter"/>
                        </a:rPr>
                        <a:t>ACT-04</a:t>
                      </a:r>
                    </a:p>
                  </a:txBody>
                  <a:tcPr>
                    <a:solidFill>
                      <a:srgbClr val="13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F8FAFC"/>
                          </a:solidFill>
                          <a:latin typeface="Inter"/>
                        </a:rPr>
                        <a:t>Publish updated First Pass Yield dashboard to CXO</a:t>
                      </a:r>
                    </a:p>
                  </a:txBody>
                  <a:tcPr>
                    <a:solidFill>
                      <a:srgbClr val="13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F8FAFC"/>
                          </a:solidFill>
                          <a:latin typeface="Inter"/>
                        </a:rPr>
                        <a:t>Analytics</a:t>
                      </a:r>
                    </a:p>
                  </a:txBody>
                  <a:tcPr>
                    <a:solidFill>
                      <a:srgbClr val="13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59E0B"/>
                          </a:solidFill>
                          <a:latin typeface="Inter"/>
                        </a:rPr>
                        <a:t>MED</a:t>
                      </a:r>
                    </a:p>
                  </a:txBody>
                  <a:tcPr>
                    <a:solidFill>
                      <a:srgbClr val="13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F8FAFC"/>
                          </a:solidFill>
                          <a:latin typeface="Inter"/>
                        </a:rPr>
                        <a:t>Data Arch</a:t>
                      </a:r>
                    </a:p>
                  </a:txBody>
                  <a:tcPr>
                    <a:solidFill>
                      <a:srgbClr val="13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F8FAFC"/>
                          </a:solidFill>
                          <a:latin typeface="Inter"/>
                        </a:rPr>
                        <a:t>Week 1</a:t>
                      </a:r>
                    </a:p>
                  </a:txBody>
                  <a:tcPr>
                    <a:solidFill>
                      <a:srgbClr val="13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F59E0B"/>
                          </a:solidFill>
                          <a:latin typeface="Inter"/>
                        </a:rPr>
                        <a:t>COMPLETED</a:t>
                      </a:r>
                    </a:p>
                  </a:txBody>
                  <a:tcPr>
                    <a:solidFill>
                      <a:srgbClr val="13224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