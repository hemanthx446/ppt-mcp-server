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47472"/>
            <a:ext cx="2372868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1. CLOSED-LOOP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Physical-to-Digital Closed-Loop Cyber-Physical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Continuous cyber-physical feedback from machine sensors through S/4HANA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Honeywell Aerospace • Closed-Loop Manufacturing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01 /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728655" cy="4782312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10728655" cy="384048"/>
          </a:xfrm>
          <a:prstGeom prst="rect">
            <a:avLst/>
          </a:prstGeom>
          <a:solidFill>
            <a:srgbClr val="1C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CLOSED-LOOP CYBER-PHYSICAL ARCHITECTURE: AUTONOMOUS CYBER-PHYSICAL PRODUCTION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029968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029968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1: PHYSICAL 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322576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CNC Machine • Operator Tooling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Vibration &amp; Current, Spindle Speed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46778" y="2537460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1098" y="2029968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1098" y="2029968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2: DIGITAL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250" y="2322576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Edge Industrial Gateway • OPC UA Collector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Raw Telemetry Stream, Time-Series Logs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16316" y="2537460"/>
            <a:ext cx="228600" cy="219456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90636" y="2029968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0636" y="2029968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3: CONTEXTUALIZATION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3788" y="2322576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MES MOM Engine • Unit Genealogy Traveler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Order #100482 Context, Lot &amp; Serial Binding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455658" y="3310128"/>
            <a:ext cx="219456" cy="1170431"/>
          </a:xfrm>
          <a:prstGeom prst="down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90636" y="4617720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0636" y="4617720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4: ENTERPRISE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3788" y="4910328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SAP S/4HANA • Predictive AI / SPC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ACDOCA Ledger Postings, Deviation Anomaly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7716316" y="5125212"/>
            <a:ext cx="228600" cy="219456"/>
          </a:xfrm>
          <a:prstGeom prst="lef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1098" y="4617720"/>
            <a:ext cx="3149498" cy="12344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26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1098" y="4617720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5: DECISION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4250" y="4910328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Autonomous Control Logic • Supervisor Approval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Tool Offset Adjustment, Hold/Release Clearance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4246778" y="5125212"/>
            <a:ext cx="228600" cy="219456"/>
          </a:xfrm>
          <a:prstGeom prst="lef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1560" y="4617720"/>
            <a:ext cx="3149498" cy="1234440"/>
          </a:xfrm>
          <a:prstGeom prst="roundRect">
            <a:avLst/>
          </a:prstGeom>
          <a:solidFill>
            <a:srgbClr val="1C315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1560" y="4617720"/>
            <a:ext cx="3149498" cy="256032"/>
          </a:xfrm>
          <a:prstGeom prst="rect">
            <a:avLst/>
          </a:prstGeom>
          <a:solidFill>
            <a:srgbClr val="16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STAGE 6: DIRECTED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4910328"/>
            <a:ext cx="300319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F8FAFC"/>
                </a:solidFill>
                <a:latin typeface="Inter"/>
              </a:rPr>
              <a:t>PLC Actuator • Operator Terminal</a:t>
            </a:r>
          </a:p>
          <a:p>
            <a:r>
              <a:rPr sz="750" b="0" i="1">
                <a:solidFill>
                  <a:srgbClr val="94A3B8"/>
                </a:solidFill>
                <a:latin typeface="Inter"/>
              </a:rPr>
              <a:t>Data: Automated Parameter Update, Closed-Loop Physical Execution</a:t>
            </a:r>
          </a:p>
        </p:txBody>
      </p:sp>
      <p:sp>
        <p:nvSpPr>
          <p:cNvPr id="33" name="Up Arrow 32"/>
          <p:cNvSpPr/>
          <p:nvPr/>
        </p:nvSpPr>
        <p:spPr>
          <a:xfrm>
            <a:off x="2516581" y="3310128"/>
            <a:ext cx="219456" cy="1170431"/>
          </a:xfrm>
          <a:prstGeom prst="up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91839" y="3355848"/>
            <a:ext cx="5608015" cy="1078991"/>
          </a:xfrm>
          <a:prstGeom prst="roundRect">
            <a:avLst/>
          </a:prstGeom>
          <a:solidFill>
            <a:srgbClr val="1C3159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00B4D8"/>
                </a:solidFill>
                <a:latin typeface="Inter"/>
              </a:rPr>
              <a:t>AUTONOMOUS FEEDBACK CONTROL LOOP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F8FAFC"/>
                </a:solidFill>
                <a:latin typeface="Inter"/>
              </a:rPr>
              <a:t>Sub-second closed-loop telemetry updates machine tool offsets directly before tolerance drift causes non-conformance.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