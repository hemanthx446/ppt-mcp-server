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WIP Actual ($M)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May</c:v>
                </c:pt>
                <c:pt idx="1">
                  <c:v>Jun</c:v>
                </c:pt>
                <c:pt idx="2">
                  <c:v>Jul</c:v>
                </c:pt>
                <c:pt idx="3">
                  <c:v>Aug</c:v>
                </c:pt>
                <c:pt idx="4">
                  <c:v>Sep</c:v>
                </c:pt>
                <c:pt idx="5">
                  <c:v>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11.2</c:v>
                </c:pt>
                <c:pt idx="1">
                  <c:v>11.8</c:v>
                </c:pt>
                <c:pt idx="2">
                  <c:v>12.4</c:v>
                </c:pt>
                <c:pt idx="3">
                  <c:v>13.1</c:v>
                </c:pt>
                <c:pt idx="4">
                  <c:v>13.8</c:v>
                </c:pt>
                <c:pt idx="5">
                  <c:v>14.2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WIP Target ($M)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May</c:v>
                </c:pt>
                <c:pt idx="1">
                  <c:v>Jun</c:v>
                </c:pt>
                <c:pt idx="2">
                  <c:v>Jul</c:v>
                </c:pt>
                <c:pt idx="3">
                  <c:v>Aug</c:v>
                </c:pt>
                <c:pt idx="4">
                  <c:v>Sep</c:v>
                </c:pt>
                <c:pt idx="5">
                  <c:v>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11.0</c:v>
                </c:pt>
                <c:pt idx="1">
                  <c:v>11.0</c:v>
                </c:pt>
                <c:pt idx="2">
                  <c:v>11.0</c:v>
                </c:pt>
                <c:pt idx="3">
                  <c:v>11.0</c:v>
                </c:pt>
                <c:pt idx="4">
                  <c:v>11.0</c:v>
                </c:pt>
                <c:pt idx="5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502920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1. PRIDE &amp; PURPOSE • STRATEGIC MANDATE • LOCKHEED MARTIN AEROSPACE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Lockheed Martin Aerospace • Strategic Mandate • Intentional Whitespace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01 /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9265615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200" b="1" i="0">
                <a:solidFill>
                  <a:srgbClr val="F8FAFC"/>
                </a:solidFill>
                <a:latin typeface="Inter"/>
              </a:rPr>
              <a:t>"Zero defect tolerance, sub-second latency, unified truth."</a:t>
            </a:r>
          </a:p>
          <a:p>
            <a:pPr>
              <a:spcAft>
                <a:spcPts val="1400"/>
              </a:spcAft>
            </a:pPr>
            <a:r>
              <a:rPr sz="1050" b="1" i="0">
                <a:solidFill>
                  <a:srgbClr val="CBD5E1"/>
                </a:solidFill>
                <a:latin typeface="Inter"/>
              </a:rPr>
              <a:t>Unifying ERP planning with plant floor execution elevates plant competitiveness.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502920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2. CURRENT REALITY • BASELINE ASSESSMENT • LOCKHEED MARTIN AEROSPACE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Average WIP Buffer Latency Across 3 Core Plants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Lockheed Martin Aerospace • Key Impact Telemetry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01 /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41148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6400" b="1" i="0">
                <a:solidFill>
                  <a:srgbClr val="0066CC"/>
                </a:solidFill>
                <a:latin typeface="Inter"/>
              </a:rPr>
              <a:t>4.8 Days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AVERAGE WIP BUFFER LATENCY ACROSS 3 CORE PLANTS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194560"/>
            <a:ext cx="548640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Excess buffer stock masks machine dispatch bottlenecks and paper tracking.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502920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3. OPERATIONAL PAIN • COST OF FRICTION • OPERATIONAL &amp; FINANCIAL PAIN: COMPOUNDING FRICTION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Operational &amp; Financial Pain: Compounding Friction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ACTION SUMMARY: Trapped working capital and scrap penalties erode $4.2M in annual EBITDA.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Lockheed Martin Aerospace • Operational Decision Cockpit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01 / 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243584"/>
            <a:ext cx="2545003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353312"/>
            <a:ext cx="2288971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Inter"/>
              </a:rPr>
              <a:t>$14.2M</a:t>
            </a:r>
          </a:p>
          <a:p>
            <a:pPr>
              <a:spcAft>
                <a:spcPts val="400"/>
              </a:spcAft>
            </a:pPr>
            <a:r>
              <a:rPr sz="900" b="1" i="0">
                <a:solidFill>
                  <a:srgbClr val="0F172A"/>
                </a:solidFill>
                <a:latin typeface="Inter"/>
              </a:rPr>
              <a:t>Total Plant WIP Value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+$2.4M vs Target | ACDOCA Material Ledger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9403" y="1243584"/>
            <a:ext cx="2545003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7419" y="1353312"/>
            <a:ext cx="2288971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Inter"/>
              </a:rPr>
              <a:t>42 Days</a:t>
            </a:r>
          </a:p>
          <a:p>
            <a:pPr>
              <a:spcAft>
                <a:spcPts val="400"/>
              </a:spcAft>
            </a:pPr>
            <a:r>
              <a:rPr sz="900" b="1" i="0">
                <a:solidFill>
                  <a:srgbClr val="0F172A"/>
                </a:solidFill>
                <a:latin typeface="Inter"/>
              </a:rPr>
              <a:t>Days of Inventory Supply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+9 Days Unfavorable | Average DSI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1243584"/>
            <a:ext cx="2545003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5303" y="1353312"/>
            <a:ext cx="2288971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Inter"/>
              </a:rPr>
              <a:t>$4.8M</a:t>
            </a:r>
          </a:p>
          <a:p>
            <a:pPr>
              <a:spcAft>
                <a:spcPts val="400"/>
              </a:spcAft>
            </a:pPr>
            <a:r>
              <a:rPr sz="900" b="1" i="0">
                <a:solidFill>
                  <a:srgbClr val="0F172A"/>
                </a:solidFill>
                <a:latin typeface="Inter"/>
              </a:rPr>
              <a:t>Aging WIP (&gt;60 Days)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34% of Total WIP | Sub-Assembly Quarantine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171" y="1243584"/>
            <a:ext cx="2545003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43187" y="1353312"/>
            <a:ext cx="2288971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Inter"/>
              </a:rPr>
              <a:t>18.2%</a:t>
            </a:r>
          </a:p>
          <a:p>
            <a:pPr>
              <a:spcAft>
                <a:spcPts val="400"/>
              </a:spcAft>
            </a:pPr>
            <a:r>
              <a:rPr sz="900" b="1" i="0">
                <a:solidFill>
                  <a:srgbClr val="0F172A"/>
                </a:solidFill>
                <a:latin typeface="Inter"/>
              </a:rPr>
              <a:t>WIP Holding Cost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$2.58M/Yr Cost | Annualized Cost of Capital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22576"/>
            <a:ext cx="530352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2. WHY DOES IT MATTER? (MONTHLY WORKING CAPITAL IN WIP ($ MILLIONS))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731520" y="2523744"/>
          <a:ext cx="5250027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210147" y="2322576"/>
            <a:ext cx="530352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3. WHERE IS THE PROBLEM? (WIP AGING BUCKETS ANALYSIS)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0147" y="2523744"/>
            <a:ext cx="1141056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3299" y="2633472"/>
            <a:ext cx="994752" cy="2020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E2E8F0"/>
                </a:solidFill>
                <a:latin typeface="Inter"/>
              </a:rPr>
              <a:t>&lt; 30 DAYS</a:t>
            </a:r>
          </a:p>
          <a:p>
            <a:pPr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Inter"/>
              </a:rPr>
              <a:t>$6.4M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68 Batch Lots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79804" y="2523744"/>
            <a:ext cx="1141056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52956" y="2633472"/>
            <a:ext cx="994752" cy="2020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D97706"/>
                </a:solidFill>
                <a:latin typeface="Inter"/>
              </a:rPr>
              <a:t>31 - 60 DAYS</a:t>
            </a:r>
          </a:p>
          <a:p>
            <a:pPr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Inter"/>
              </a:rPr>
              <a:t>$3.0M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24 Batch Lots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49461" y="2523744"/>
            <a:ext cx="1141056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22613" y="2633472"/>
            <a:ext cx="994752" cy="2020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E2E8F0"/>
                </a:solidFill>
                <a:latin typeface="Inter"/>
              </a:rPr>
              <a:t>61 - 90 DAYS</a:t>
            </a:r>
          </a:p>
          <a:p>
            <a:pPr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Inter"/>
              </a:rPr>
              <a:t>$2.8M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18 Batch Lots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19118" y="2523744"/>
            <a:ext cx="1141056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92270" y="2633472"/>
            <a:ext cx="994752" cy="2020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E2E8F0"/>
                </a:solidFill>
                <a:latin typeface="Inter"/>
              </a:rPr>
              <a:t>&gt; 90 DAYS</a:t>
            </a:r>
          </a:p>
          <a:p>
            <a:pPr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Inter"/>
              </a:rPr>
              <a:t>$2.0M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11 Batch Lots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55464"/>
            <a:ext cx="530352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4. WHAT SHOULD WE ACT ON? (TOP TRAPPED INVENTORY LOTS &amp; LIQUIDATION PLAN)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31520" y="5056632"/>
          <a:ext cx="10728651" cy="12984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8414"/>
                <a:gridCol w="2271950"/>
                <a:gridCol w="1009755"/>
                <a:gridCol w="1262194"/>
                <a:gridCol w="1262194"/>
                <a:gridCol w="2019511"/>
                <a:gridCol w="1514633"/>
              </a:tblGrid>
              <a:tr h="259689"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MATERIAL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PART DESCRIPTION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AGING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TRAPPED VALUE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LOT STATUS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BLOCKING REASON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LIQUIDATION ACTION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59689"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MAT-9021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Turbine Actuator Sub-Assy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104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$1,450,000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Quarantined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Missing optical chip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Spot purchase broker 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9689"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MAT-8840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Sensor Circuit Boards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88 Days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$980,000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QA Rework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Solder rework backlog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Authorize weekend shift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59689"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MAT-7721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Titanium Cast Housings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74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$820,000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Engineering ECN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Release revised BOM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9691"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MAT-6610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High-Pressure Valves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92 Days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$650,000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Quarantined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Batch certification hold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Expedite lab cert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299466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4. MATURITY / GAP • BENCHMARK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Transformation Maturity Assessment &amp; Structural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Current maturity scored at 2.4/5.0; execution and data layers require priority uplift.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Lockheed Martin Aerospace • Maturity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04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47548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554480"/>
            <a:ext cx="670529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DIGITAL TRANSFORMATION MATURITY ASSESSMENT: TRANSFORMATION MATURITY ASSESSMENT &amp; STRUCTURAL GAPS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31375" y="1554480"/>
            <a:ext cx="1645920" cy="32918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TARGET: 4.2 / 5.0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11335" y="1627632"/>
            <a:ext cx="228600" cy="182880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28255" y="1554480"/>
            <a:ext cx="1691640" cy="329184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CURRENT: 2.4 / 5.0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2066544"/>
            <a:ext cx="4720608" cy="412394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2139696"/>
            <a:ext cx="4501152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5-LEVEL DIGITAL MATURITY STAIRCASE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" y="5347411"/>
            <a:ext cx="1964413" cy="669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0F172A"/>
                </a:solidFill>
                <a:latin typeface="Inter"/>
              </a:rPr>
              <a:t>1. Fragmented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7552" y="4641494"/>
            <a:ext cx="2589454" cy="6693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D97706"/>
                </a:solidFill>
                <a:latin typeface="Inter"/>
              </a:rPr>
              <a:t>2. Standardized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 [CURRENT POSITION]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" y="3935577"/>
            <a:ext cx="3214494" cy="669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0F172A"/>
                </a:solidFill>
                <a:latin typeface="Inter"/>
              </a:rPr>
              <a:t>3. Integrated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" y="3229660"/>
            <a:ext cx="3839535" cy="6693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10B981"/>
                </a:solidFill>
                <a:latin typeface="Inter"/>
              </a:rPr>
              <a:t>4. Intelligent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 [TARGET HORIZON]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" y="2523744"/>
            <a:ext cx="4464576" cy="669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0F172A"/>
                </a:solidFill>
                <a:latin typeface="Inter"/>
              </a:rPr>
              <a:t>5. Autonomous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16720" y="2066544"/>
            <a:ext cx="5686187" cy="41239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16720" y="2066544"/>
            <a:ext cx="5686187" cy="329184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GAP AUDIT &amp; PRIORITY INTERVENTIONS (SCORE -&gt; GAP -&gt; ACTION)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08160" y="2505456"/>
            <a:ext cx="5503307" cy="6565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6448" y="2523744"/>
            <a:ext cx="73152" cy="619963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4464" y="2523744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Process &amp; Execution   [P1]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2.1 / 5.0   ➔   Target: 4.3 / 5.0  (Gap: +2.2)</a:t>
            </a:r>
          </a:p>
          <a:p>
            <a:r>
              <a:rPr sz="819" b="1" i="0">
                <a:solidFill>
                  <a:srgbClr val="DC2626"/>
                </a:solidFill>
                <a:latin typeface="Inter"/>
              </a:rPr>
              <a:t>▸ Gap: Paper travel cards &amp; manual dispatch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Deploy MES automated dispatch &amp; digital traveler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08160" y="3235147"/>
            <a:ext cx="5503307" cy="65653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726448" y="3253435"/>
            <a:ext cx="73152" cy="619963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4464" y="3253435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Data &amp; Genealogy   [P1]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2.3 / 5.0   ➔   Target: 4.5 / 5.0  (Gap: +2.2)</a:t>
            </a:r>
          </a:p>
          <a:p>
            <a:r>
              <a:rPr sz="819" b="1" i="0">
                <a:solidFill>
                  <a:srgbClr val="DC2626"/>
                </a:solidFill>
                <a:latin typeface="Inter"/>
              </a:rPr>
              <a:t>▸ Gap: Missing component-to-serial batch linkage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Automated barcode &amp; OPC-UA genealogy binding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08160" y="3964838"/>
            <a:ext cx="5503307" cy="656539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26448" y="3983126"/>
            <a:ext cx="73152" cy="619963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4464" y="3983126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SAP Clean Core   [P2]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2.6 / 5.0   ➔   Target: 4.2 / 5.0  (Gap: +1.6)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▸ Gap: Excess custom Z-tables blocking cloud upgrade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Migrate custom code to BTP event mesh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08160" y="4694529"/>
            <a:ext cx="5503307" cy="65653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26448" y="4712817"/>
            <a:ext cx="73152" cy="619963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4464" y="4712817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Quality &amp; Rework   [P1]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2.2 / 5.0   ➔   Target: 4.0 / 5.0  (Gap: +1.8)</a:t>
            </a:r>
          </a:p>
          <a:p>
            <a:r>
              <a:rPr sz="819" b="1" i="0">
                <a:solidFill>
                  <a:srgbClr val="DC2626"/>
                </a:solidFill>
                <a:latin typeface="Inter"/>
              </a:rPr>
              <a:t>▸ Gap: Delayed defect logging &amp; missing CAPA loops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Closed-loop digital inspection interlocks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08160" y="5424220"/>
            <a:ext cx="5503307" cy="656539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726448" y="5442508"/>
            <a:ext cx="73152" cy="619963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54464" y="5442508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Governance &amp; RACI   [P2]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2.8 / 5.0   ➔   Target: 4.0 / 5.0  (Gap: +1.2)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▸ Gap: Ambiguous IT/OT boundary ownership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Formalize unified IT/OT operating charter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5015484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5. OPPORTUNITY • STRATEGIC VISION • LOCKHEED MARTIN AEROSPACE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Lockheed Martin Aerospace • Strategic Mandate • Intentional Whitespace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01 /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9265615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200" b="1" i="0">
                <a:solidFill>
                  <a:srgbClr val="F8FAFC"/>
                </a:solidFill>
                <a:latin typeface="Inter"/>
              </a:rPr>
              <a:t>"From reactive firefighting to autonomous closed-loop execution."</a:t>
            </a:r>
          </a:p>
          <a:p>
            <a:pPr>
              <a:spcAft>
                <a:spcPts val="1400"/>
              </a:spcAft>
            </a:pPr>
            <a:r>
              <a:rPr sz="1050" b="1" i="0">
                <a:solidFill>
                  <a:srgbClr val="CBD5E1"/>
                </a:solidFill>
                <a:latin typeface="Inter"/>
              </a:rPr>
              <a:t>When every machine operation updates the enterprise ledger in real time, predictability becomes standard.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3150108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6. TRANSFORMATION DESIGN • THE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Enterprise Transformation Blueprint: Current to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A disciplined intervention bridge modernizing operations across 12–18 months.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Lockheed Martin Aerospace • Enterprise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06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34747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ENTERPRISE TRANSFORMATION BLUEPRINT: ENTERPRISE TRANSFORMATION BLUEPRINT: CURRENT TO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1920240"/>
            <a:ext cx="3218596" cy="379475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1920240"/>
            <a:ext cx="3218596" cy="31089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DC2626"/>
                </a:solidFill>
                <a:latin typeface="Inter"/>
              </a:rPr>
              <a:t>CURRENT STATE (BASELINE)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67712"/>
            <a:ext cx="2999140" cy="2377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Operational Constraints &amp; Friction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DC2626"/>
                </a:solidFill>
                <a:latin typeface="Inter"/>
              </a:rPr>
              <a:t>✗  Fragmented master data &amp; BOM mismatches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DC2626"/>
                </a:solidFill>
                <a:latin typeface="Inter"/>
              </a:rPr>
              <a:t>✗  Manual paper travelers &amp; dispatch clipboards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DC2626"/>
                </a:solidFill>
                <a:latin typeface="Inter"/>
              </a:rPr>
              <a:t>✗  Disconnected quality logs in Excel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DC2626"/>
                </a:solidFill>
                <a:latin typeface="Inter"/>
              </a:rPr>
              <a:t>✗  Delayed inventory confirmation (2-3 day lag)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389120"/>
            <a:ext cx="3035716" cy="12344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443983"/>
            <a:ext cx="2925988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64748B"/>
                </a:solidFill>
                <a:latin typeface="Inter"/>
              </a:rPr>
              <a:t>BASELINE FRICTION METRICS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DC2626"/>
                </a:solidFill>
                <a:latin typeface="Inter"/>
              </a:rPr>
              <a:t>• WIP Latency: 4.8 Days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DC2626"/>
                </a:solidFill>
                <a:latin typeface="Inter"/>
              </a:rPr>
              <a:t>• Scrap Rate: 4.2%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DC2626"/>
                </a:solidFill>
                <a:latin typeface="Inter"/>
              </a:rPr>
              <a:t>• OTIF Delivery: 81.4%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96420" y="3680459"/>
            <a:ext cx="248707" cy="27432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1704" y="1920240"/>
            <a:ext cx="3647742" cy="3794759"/>
          </a:xfrm>
          <a:prstGeom prst="roundRect">
            <a:avLst/>
          </a:prstGeom>
          <a:solidFill>
            <a:srgbClr val="EEF2FF"/>
          </a:solidFill>
          <a:ln w="1778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1704" y="1920240"/>
            <a:ext cx="3647742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TRANSFORMATION ENABLERS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1432" y="2267712"/>
            <a:ext cx="3428286" cy="2377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Strategic Initiatives &amp; Technology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0F172A"/>
                </a:solidFill>
                <a:latin typeface="Inter"/>
              </a:rPr>
              <a:t>⚙  SAP S/4HANA Clean-Core Integration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0F172A"/>
                </a:solidFill>
                <a:latin typeface="Inter"/>
              </a:rPr>
              <a:t>⚙  MES Digital Dispatch &amp; Real-Time Tracking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0F172A"/>
                </a:solidFill>
                <a:latin typeface="Inter"/>
              </a:rPr>
              <a:t>⚙  Automated Closed-Loop Quality Interlocks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0F172A"/>
                </a:solidFill>
                <a:latin typeface="Inter"/>
              </a:rPr>
              <a:t>⚙  Unified Industrial Data Fabric &amp; BTP Mesh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3144" y="4389120"/>
            <a:ext cx="346486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8008" y="4443983"/>
            <a:ext cx="3355134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CORE ARCHITECTURAL ENABLERS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✔ Air-gapped edge buffering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✔ Deterministic PLC connectors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✔ Zero custom Z-tables in ERP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066022" y="3680459"/>
            <a:ext cx="248707" cy="27432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51306" y="1920240"/>
            <a:ext cx="3218596" cy="379475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51306" y="1920240"/>
            <a:ext cx="3218596" cy="31089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10B981"/>
                </a:solidFill>
                <a:latin typeface="Inter"/>
              </a:rPr>
              <a:t>FUTURE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1034" y="2267712"/>
            <a:ext cx="2999140" cy="2377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Transformed Capabilities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10B981"/>
                </a:solidFill>
                <a:latin typeface="Inter"/>
              </a:rPr>
              <a:t>✔  Synchronized MRP-to-machine dispatch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10B981"/>
                </a:solidFill>
                <a:latin typeface="Inter"/>
              </a:rPr>
              <a:t>✔  Full serial &amp; batch genealogy trace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10B981"/>
                </a:solidFill>
                <a:latin typeface="Inter"/>
              </a:rPr>
              <a:t>✔  Predictive quality interlocks at station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10B981"/>
                </a:solidFill>
                <a:latin typeface="Inter"/>
              </a:rPr>
              <a:t>✔  Sub-second financial ledger postings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42746" y="4389120"/>
            <a:ext cx="3035716" cy="1234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97610" y="4443983"/>
            <a:ext cx="2925988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0B981"/>
                </a:solidFill>
                <a:latin typeface="Inter"/>
              </a:rPr>
              <a:t>AUDITED VALUE OUTCOMES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★ WIP Latency: 1.2 Days (-75%)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★ Scrap Rate: 0.8% (-81%)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★ OTIF Delivery: 97.5% (+16 pts)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" y="5788152"/>
            <a:ext cx="10509199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HORIZON: 12–18 MONTH EXECUTION HORIZON</a:t>
            </a:r>
          </a:p>
          <a:p>
            <a:r>
              <a:rPr sz="819" b="1" i="0">
                <a:solidFill>
                  <a:srgbClr val="0F172A"/>
                </a:solidFill>
                <a:latin typeface="Inter"/>
              </a:rPr>
              <a:t>Phase 1: S/4HANA Core &amp; Clean Master Data  ➔  Phase 2: MES MOM Dispatch &amp; Traceability  ➔  Phase 3: Closed-Loop Analytics &amp; Autonomous Control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33832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7. PROCESS CHANGE • OPERATIONAL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Process Execution Architecture &amp; Closed-Loop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Order-to-confirmation digital execution with automated rework and clearance loops.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Lockheed Martin Aerospace • Operational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07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36576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PROCESS ARCHITECTURE: SAP S/4HANA TO MES PRODUCTION EXECUTION &amp; QUALITY CLEARANCE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1: CUSTOMER / SAP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Demand &amp; Sales Order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[S/4HANA SD]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282473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456209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6209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2: SAP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9361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Production Order &amp; MRP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[PP Order 100482]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778562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952298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52298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3: MES 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5450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MES Dispatch &amp; Setup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[Digital Dispatch]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274651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48387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48387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4: SHOP FLOOR 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1539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Machine Execution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[CNC Work Center]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770740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6944476" y="1984248"/>
            <a:ext cx="1489159" cy="1188720"/>
          </a:xfrm>
          <a:prstGeom prst="diamond">
            <a:avLst/>
          </a:prstGeom>
          <a:solidFill>
            <a:srgbClr val="EEF2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GATE</a:t>
            </a:r>
          </a:p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F172A"/>
                </a:solidFill>
                <a:latin typeface="Inter"/>
              </a:rPr>
              <a:t>QUALITY GATE
&amp; SPC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470211" y="2468879"/>
            <a:ext cx="54864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06787" y="2304288"/>
            <a:ext cx="475488" cy="20116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PASS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5427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55427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6: SAP 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8579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Confirmation &amp; Ledger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[CO11N / 101 GR]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0377780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551516" y="1984248"/>
            <a:ext cx="1294921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551516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7: LOGISTICS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24668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Finished Goods Dispatch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[Outbound Delivery]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579327" y="3218687"/>
            <a:ext cx="219456" cy="1673351"/>
          </a:xfrm>
          <a:prstGeom prst="down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835359" y="3310127"/>
            <a:ext cx="1005840" cy="21945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REWORK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78716" y="4937759"/>
            <a:ext cx="1569241" cy="11887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78716" y="4937759"/>
            <a:ext cx="156924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EXCEPTION PATH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51868" y="5230368"/>
            <a:ext cx="142293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Rework Operation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[MES Non-Conformance]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Quarantine &amp; Root Cause Correction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LOCK: Defect Logged in S/4HANA QM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76557" y="4937759"/>
            <a:ext cx="1614961" cy="11887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376557" y="4937759"/>
            <a:ext cx="161496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CLEARANCE GATE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49709" y="5230368"/>
            <a:ext cx="146865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Re-Inspection &amp; Verification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[Digital Traveler]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Tolerance Validation &amp; Clearance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LOCK: Serial Unlocked Only on Clearance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8184533" y="5422392"/>
            <a:ext cx="155448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10064670" y="4434840"/>
            <a:ext cx="219456" cy="502920"/>
          </a:xfrm>
          <a:prstGeom prst="up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320702" y="4507992"/>
            <a:ext cx="1234440" cy="38404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19" b="1" i="0">
                <a:solidFill>
                  <a:srgbClr val="D97706"/>
                </a:solidFill>
                <a:latin typeface="Inter"/>
              </a:rPr>
              <a:t>↺ RE-ENTRY LOOP
Cleared for Confirmation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502920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8. TECHNOLOGY • ARCHITECTURE BLUEPRINT • LOCKHEED MARTIN AEROSPACE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Decoupled Clean-Core Integration &amp; Edge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Preserving ERP ledger integrity via BTP event mesh and edge execution nodes.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Lockheed Martin Aerospace • Enterprise Architecture Blueprint • Systems-Thinking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01 / 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ISA-95 LEVEL 4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ENTERPRISE / ERP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Corporate Cloud (AWS/GCP)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9776" y="1188720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89504" y="1261872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9504" y="1261872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1335024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SAP S/4HANA Core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Financial &amp; Order Ledger</a:t>
            </a:r>
          </a:p>
          <a:p>
            <a:pPr>
              <a:spcBef>
                <a:spcPts val="200"/>
              </a:spcBef>
            </a:pPr>
            <a:r>
              <a:rPr sz="819" b="1" i="0">
                <a:solidFill>
                  <a:srgbClr val="00B4D8"/>
                </a:solidFill>
                <a:latin typeface="Inter"/>
              </a:rPr>
              <a:t>Production Orders • BOM / Routing</a:t>
            </a:r>
          </a:p>
        </p:txBody>
      </p:sp>
      <p:sp>
        <p:nvSpPr>
          <p:cNvPr id="14" name="Can 13"/>
          <p:cNvSpPr/>
          <p:nvPr/>
        </p:nvSpPr>
        <p:spPr>
          <a:xfrm>
            <a:off x="4767200" y="1261872"/>
            <a:ext cx="1713104" cy="623620"/>
          </a:xfrm>
          <a:prstGeom prst="can">
            <a:avLst/>
          </a:prstGeom>
          <a:solidFill>
            <a:srgbClr val="16284B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8640" y="1408176"/>
            <a:ext cx="1530224" cy="4224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DATA STORE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SAP HANA Cloud DB</a:t>
            </a:r>
          </a:p>
          <a:p>
            <a:pPr algn="ctr"/>
            <a:r>
              <a:rPr sz="750" b="0" i="1">
                <a:solidFill>
                  <a:srgbClr val="94A3B8"/>
                </a:solidFill>
                <a:latin typeface="Inter"/>
              </a:rPr>
              <a:t>HANA Columnar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4896" y="1261872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44896" y="1261872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72912" y="1335024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Enterprise PLM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Engineering Master Data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4206240" y="1986076"/>
            <a:ext cx="292608" cy="274320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0" y="1995220"/>
            <a:ext cx="22402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19" b="1" i="0">
                <a:solidFill>
                  <a:srgbClr val="00B4D8"/>
                </a:solidFill>
                <a:latin typeface="Inter"/>
              </a:rPr>
              <a:t>INTERFACE: OData v4 &amp; SAP Event Mesh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1995220"/>
            <a:ext cx="30544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F8FAFC"/>
                </a:solidFill>
                <a:latin typeface="Inter"/>
              </a:rPr>
              <a:t>[TLS 1.3 Async] PAYLOAD: ProductionOrder_v2, MaterialMaster (MARA)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287828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BTP INTEGRATION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INTEGRATION MIDDLEWARE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Cloud DMZ / Proxy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79776" y="2287828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9504" y="2360980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9504" y="2360980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2434132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SAP BTP Integration Suite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API Mediation &amp; Policy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67200" y="2360980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67200" y="2360980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95216" y="2434132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Enterprise Event Mesh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Pub/Sub Event Broker</a:t>
            </a:r>
          </a:p>
          <a:p>
            <a:pPr>
              <a:spcBef>
                <a:spcPts val="200"/>
              </a:spcBef>
            </a:pPr>
            <a:r>
              <a:rPr sz="819" b="1" i="0">
                <a:solidFill>
                  <a:srgbClr val="00B4D8"/>
                </a:solidFill>
                <a:latin typeface="Inter"/>
              </a:rPr>
              <a:t>GoodsIssue Event • OrderStatus</a:t>
            </a:r>
          </a:p>
        </p:txBody>
      </p:sp>
      <p:sp>
        <p:nvSpPr>
          <p:cNvPr id="30" name="Hexagon 29"/>
          <p:cNvSpPr/>
          <p:nvPr/>
        </p:nvSpPr>
        <p:spPr>
          <a:xfrm>
            <a:off x="6644896" y="2360980"/>
            <a:ext cx="1713104" cy="623620"/>
          </a:xfrm>
          <a:prstGeom prst="hexagon">
            <a:avLst/>
          </a:prstGeom>
          <a:solidFill>
            <a:srgbClr val="132240"/>
          </a:solidFill>
          <a:ln w="1778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2056" y="2434132"/>
            <a:ext cx="1438784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API / ENDPOINT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API Gateway &amp; Security</a:t>
            </a:r>
          </a:p>
        </p:txBody>
      </p:sp>
      <p:sp>
        <p:nvSpPr>
          <p:cNvPr id="32" name="Up-Down Arrow 31"/>
          <p:cNvSpPr/>
          <p:nvPr/>
        </p:nvSpPr>
        <p:spPr>
          <a:xfrm>
            <a:off x="4206240" y="3085185"/>
            <a:ext cx="292608" cy="274320"/>
          </a:xfrm>
          <a:prstGeom prst="up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0" y="3094329"/>
            <a:ext cx="22402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19" b="1" i="0">
                <a:solidFill>
                  <a:srgbClr val="00B4D8"/>
                </a:solidFill>
                <a:latin typeface="Inter"/>
              </a:rPr>
              <a:t>INTERFACE: HTTPS / REST &amp; WebSocket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6008" y="3094329"/>
            <a:ext cx="30544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F8FAFC"/>
                </a:solidFill>
                <a:latin typeface="Inter"/>
              </a:rPr>
              <a:t>[Bi-Directional Sync] PAYLOAD: DispatchOrderPayload, OperationStepList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386937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ISA-95 LEVEL 3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MANUFACTURING MOM / MES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Plant Local LAN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79776" y="3386937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9504" y="3460089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9504" y="3460089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17520" y="3533241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SAP Digital Manufacturing (DMC)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Work Order Dispatcher &amp; POD</a:t>
            </a:r>
          </a:p>
          <a:p>
            <a:pPr>
              <a:spcBef>
                <a:spcPts val="200"/>
              </a:spcBef>
            </a:pPr>
            <a:r>
              <a:rPr sz="819" b="1" i="0">
                <a:solidFill>
                  <a:srgbClr val="00B4D8"/>
                </a:solidFill>
                <a:latin typeface="Inter"/>
              </a:rPr>
              <a:t>WIP Tracking • Non-Conformance</a:t>
            </a:r>
          </a:p>
        </p:txBody>
      </p:sp>
      <p:sp>
        <p:nvSpPr>
          <p:cNvPr id="40" name="Can 39"/>
          <p:cNvSpPr/>
          <p:nvPr/>
        </p:nvSpPr>
        <p:spPr>
          <a:xfrm>
            <a:off x="4767200" y="3460089"/>
            <a:ext cx="1713104" cy="623620"/>
          </a:xfrm>
          <a:prstGeom prst="can">
            <a:avLst/>
          </a:prstGeom>
          <a:solidFill>
            <a:srgbClr val="16284B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58640" y="3606393"/>
            <a:ext cx="1530224" cy="4224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DATA STORE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Plant Operational DB</a:t>
            </a:r>
          </a:p>
          <a:p>
            <a:pPr algn="ctr"/>
            <a:r>
              <a:rPr sz="750" b="0" i="1">
                <a:solidFill>
                  <a:srgbClr val="94A3B8"/>
                </a:solidFill>
                <a:latin typeface="Inter"/>
              </a:rPr>
              <a:t>PostgreSQL Timescale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44896" y="3460089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644896" y="3460089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72912" y="3533241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Quality &amp; Yield Engine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SPC &amp; Tolerance Limits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4206240" y="4184294"/>
            <a:ext cx="292608" cy="274320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828800" y="4193438"/>
            <a:ext cx="22402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19" b="1" i="0">
                <a:solidFill>
                  <a:srgbClr val="00B4D8"/>
                </a:solidFill>
                <a:latin typeface="Inter"/>
              </a:rPr>
              <a:t>INTERFACE: OPC UA (Binary) &amp; MQTT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36008" y="4193438"/>
            <a:ext cx="30544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F8FAFC"/>
                </a:solidFill>
                <a:latin typeface="Inter"/>
              </a:rPr>
              <a:t>[Air-Gapped Gateway] PAYLOAD: WorkCenterDispatch, ToolParameters, BatchID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4486046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ISA-95 LEVEL 2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INDUSTRIAL EDGE &amp; CONNECTIVITY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Industrial Edge IPC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9776" y="4486046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9504" y="4559198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89504" y="4559198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0" y="4632350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Edge Runtime Gateway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Local Buffer &amp; Protocol Conv</a:t>
            </a:r>
          </a:p>
          <a:p>
            <a:pPr>
              <a:spcBef>
                <a:spcPts val="200"/>
              </a:spcBef>
            </a:pPr>
            <a:r>
              <a:rPr sz="819" b="1" i="0">
                <a:solidFill>
                  <a:srgbClr val="00B4D8"/>
                </a:solidFill>
                <a:latin typeface="Inter"/>
              </a:rPr>
              <a:t>48h Offline Buffer</a:t>
            </a:r>
          </a:p>
        </p:txBody>
      </p:sp>
      <p:sp>
        <p:nvSpPr>
          <p:cNvPr id="53" name="Hexagon 52"/>
          <p:cNvSpPr/>
          <p:nvPr/>
        </p:nvSpPr>
        <p:spPr>
          <a:xfrm>
            <a:off x="4767200" y="4559198"/>
            <a:ext cx="1713104" cy="623620"/>
          </a:xfrm>
          <a:prstGeom prst="hexagon">
            <a:avLst/>
          </a:prstGeom>
          <a:solidFill>
            <a:srgbClr val="132240"/>
          </a:solidFill>
          <a:ln w="1778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04360" y="4632350"/>
            <a:ext cx="1438784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API / ENDPOINT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Kepware / OPC UA Server</a:t>
            </a:r>
          </a:p>
        </p:txBody>
      </p:sp>
      <p:sp>
        <p:nvSpPr>
          <p:cNvPr id="55" name="Can 54"/>
          <p:cNvSpPr/>
          <p:nvPr/>
        </p:nvSpPr>
        <p:spPr>
          <a:xfrm>
            <a:off x="6644896" y="4559198"/>
            <a:ext cx="1713104" cy="623620"/>
          </a:xfrm>
          <a:prstGeom prst="can">
            <a:avLst/>
          </a:prstGeom>
          <a:solidFill>
            <a:srgbClr val="16284B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36336" y="4705502"/>
            <a:ext cx="1530224" cy="4224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DATA STORE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Edge Cache DB</a:t>
            </a:r>
          </a:p>
          <a:p>
            <a:pPr algn="ctr"/>
            <a:r>
              <a:rPr sz="750" b="0" i="1">
                <a:solidFill>
                  <a:srgbClr val="94A3B8"/>
                </a:solidFill>
                <a:latin typeface="Inter"/>
              </a:rPr>
              <a:t>SQLite / Edge Disk</a:t>
            </a:r>
          </a:p>
        </p:txBody>
      </p:sp>
      <p:sp>
        <p:nvSpPr>
          <p:cNvPr id="57" name="Up-Down Arrow 56"/>
          <p:cNvSpPr/>
          <p:nvPr/>
        </p:nvSpPr>
        <p:spPr>
          <a:xfrm>
            <a:off x="4206240" y="5283403"/>
            <a:ext cx="292608" cy="274320"/>
          </a:xfrm>
          <a:prstGeom prst="up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828800" y="5292547"/>
            <a:ext cx="22402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19" b="1" i="0">
                <a:solidFill>
                  <a:srgbClr val="00B4D8"/>
                </a:solidFill>
                <a:latin typeface="Inter"/>
              </a:rPr>
              <a:t>INTERFACE: PROFINET &amp; Fieldbus I/O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36008" y="5292547"/>
            <a:ext cx="30544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F8FAFC"/>
                </a:solidFill>
                <a:latin typeface="Inter"/>
              </a:rPr>
              <a:t>[Sub-100ms Deterministic] PAYLOAD: MachineSpeed, SpindleTemp, CycleCount, InterlockSignal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20" y="5585155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ISA-95 LEVEL 1 / 0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SHOP FLOOR EXECUTION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Isolated OT Machine Subnet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79776" y="5585155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889504" y="5658307"/>
            <a:ext cx="1243680" cy="623620"/>
          </a:xfrm>
          <a:prstGeom prst="roundRect">
            <a:avLst/>
          </a:prstGeom>
          <a:solidFill>
            <a:srgbClr val="1C3159"/>
          </a:solidFill>
          <a:ln w="1524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80944" y="5731459"/>
            <a:ext cx="1060800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DEVICE / OT</a:t>
            </a:r>
          </a:p>
          <a:p>
            <a:r>
              <a:rPr sz="1050" b="1" i="0">
                <a:solidFill>
                  <a:srgbClr val="F8FAFC"/>
                </a:solidFill>
                <a:latin typeface="Inter"/>
              </a:rPr>
              <a:t>Siemens S7-1500 PLC</a:t>
            </a:r>
          </a:p>
          <a:p>
            <a:r>
              <a:rPr sz="750" b="0" i="1">
                <a:solidFill>
                  <a:srgbClr val="CBD5E1"/>
                </a:solidFill>
                <a:latin typeface="Inter"/>
              </a:rPr>
              <a:t>Cell Automation &amp; Interlocks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97776" y="5658307"/>
            <a:ext cx="1243680" cy="623620"/>
          </a:xfrm>
          <a:prstGeom prst="roundRect">
            <a:avLst/>
          </a:prstGeom>
          <a:solidFill>
            <a:srgbClr val="1C3159"/>
          </a:solidFill>
          <a:ln w="1524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89216" y="5731459"/>
            <a:ext cx="1060800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DEVICE / OT</a:t>
            </a:r>
          </a:p>
          <a:p>
            <a:r>
              <a:rPr sz="1050" b="1" i="0">
                <a:solidFill>
                  <a:srgbClr val="F8FAFC"/>
                </a:solidFill>
                <a:latin typeface="Inter"/>
              </a:rPr>
              <a:t>DMG 5-Axis CNC Spindle</a:t>
            </a:r>
          </a:p>
          <a:p>
            <a:r>
              <a:rPr sz="750" b="0" i="1">
                <a:solidFill>
                  <a:srgbClr val="CBD5E1"/>
                </a:solidFill>
                <a:latin typeface="Inter"/>
              </a:rPr>
              <a:t>Precision Machining Center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706048" y="5658307"/>
            <a:ext cx="1243680" cy="623620"/>
          </a:xfrm>
          <a:prstGeom prst="roundRect">
            <a:avLst/>
          </a:prstGeom>
          <a:solidFill>
            <a:srgbClr val="1C3159"/>
          </a:solidFill>
          <a:ln w="1524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97488" y="5731459"/>
            <a:ext cx="1060800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DEVICE / OT</a:t>
            </a:r>
          </a:p>
          <a:p>
            <a:r>
              <a:rPr sz="1050" b="1" i="0">
                <a:solidFill>
                  <a:srgbClr val="F8FAFC"/>
                </a:solidFill>
                <a:latin typeface="Inter"/>
              </a:rPr>
              <a:t>Cognex Vision Camera</a:t>
            </a:r>
          </a:p>
          <a:p>
            <a:r>
              <a:rPr sz="750" b="0" i="1">
                <a:solidFill>
                  <a:srgbClr val="CBD5E1"/>
                </a:solidFill>
                <a:latin typeface="Inter"/>
              </a:rPr>
              <a:t>Automated Optical Inspection</a:t>
            </a:r>
          </a:p>
        </p:txBody>
      </p:sp>
      <p:sp>
        <p:nvSpPr>
          <p:cNvPr id="68" name="Oval 67"/>
          <p:cNvSpPr/>
          <p:nvPr/>
        </p:nvSpPr>
        <p:spPr>
          <a:xfrm>
            <a:off x="7114320" y="5658307"/>
            <a:ext cx="1243680" cy="623620"/>
          </a:xfrm>
          <a:prstGeom prst="ellipse">
            <a:avLst/>
          </a:prstGeom>
          <a:solidFill>
            <a:srgbClr val="16284B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87472" y="5749747"/>
            <a:ext cx="1097376" cy="440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OPERATOR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Line Assembly Operator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742048" y="1188720"/>
            <a:ext cx="2718127" cy="5166360"/>
          </a:xfrm>
          <a:prstGeom prst="rect">
            <a:avLst/>
          </a:prstGeom>
          <a:solidFill>
            <a:srgbClr val="13224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742048" y="1188720"/>
            <a:ext cx="2718127" cy="347472"/>
          </a:xfrm>
          <a:prstGeom prst="rect">
            <a:avLst/>
          </a:prstGeom>
          <a:solidFill>
            <a:srgbClr val="1C3159"/>
          </a:solidFill>
          <a:ln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ARCHITECTURAL GUARANTEES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70064" y="1627632"/>
            <a:ext cx="2462095" cy="10629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• SINGLE FINANCIAL LEDGER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0" i="0">
                <a:solidFill>
                  <a:srgbClr val="CBD5E1"/>
                </a:solidFill>
                <a:latin typeface="Inter"/>
              </a:rPr>
              <a:t>S/4HANA ACDOCA remains the sole financial source of truth. MES never replicates general ledger postings.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70064" y="2782062"/>
            <a:ext cx="2462095" cy="10629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• AIR-GAPPED PLANT RESILIENCE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0" i="0">
                <a:solidFill>
                  <a:srgbClr val="CBD5E1"/>
                </a:solidFill>
                <a:latin typeface="Inter"/>
              </a:rPr>
              <a:t>Edge gateways buffer 48 hours of telemetry and execution confirmations during WAN network disconnects.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70064" y="3936492"/>
            <a:ext cx="2462095" cy="10629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• CLEAN-CORE DECOUPLING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0" i="0">
                <a:solidFill>
                  <a:srgbClr val="CBD5E1"/>
                </a:solidFill>
                <a:latin typeface="Inter"/>
              </a:rPr>
              <a:t>Zero custom ABAP modifications in S/4HANA core. All MES orchestrations leverage standard OData v4 and Event Mesh.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70064" y="5090922"/>
            <a:ext cx="2462095" cy="10629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• DETERMINISTIC MACHINE INTERLOCK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0" i="0">
                <a:solidFill>
                  <a:srgbClr val="CBD5E1"/>
                </a:solidFill>
                <a:latin typeface="Inter"/>
              </a:rPr>
              <a:t>Sub-100ms machine safety and cycle interlocks run exclusively at Level 1/2 PLC layer, immune to cloud latency.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502920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9. IMPLEMENTATION • PHASED ROADMAP • LOCKHEED MARTIN AEROSPACE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18-Month Phased Rollout &amp; Migration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Low-risk, phased cutover delivering production capability pilot by Month 4.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Lockheed Martin Aerospace • Structured Architecture Specification • Strict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01 / 01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188720"/>
          <a:ext cx="1072865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3678396"/>
                <a:gridCol w="2758797"/>
                <a:gridCol w="2145731"/>
              </a:tblGrid>
              <a:tr h="73152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WORKSTREAM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IN-SCOPE CORE CAPABILITIES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EXCLUSIONS &amp; BOUNDARIES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PREREQUISITE DELIVERABLES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731520">
                <a:tc gridSpan="4">
                  <a:txBody>
                    <a:bodyPr wrap="square" tIns="36576" bIns="36576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• 1. CORE SAP S/4HANA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73152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Clean-Core ERP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Standard OData v4 APIs, Event Mesh triggers, Confirmation BAPIs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No custom ABAP core mods; no custom Z-tables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S/4HANA 2023 Sandbox Access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 gridSpan="4">
                  <a:txBody>
                    <a:bodyPr wrap="square" tIns="36576" bIns="36576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• 2. MANUFACTURING MES (DMC)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73152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Shop Floor Execution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Work order dispatch, Operator POD, Serial genealogy, Scrap posting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Excluded: Automated warehouse AS/RS robotics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Master BOM / Routing Sign-Off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 gridSpan="4">
                  <a:txBody>
                    <a:bodyPr wrap="square" tIns="36576" bIns="36576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• 3. INDUSTRIAL EDGE &amp; OT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73152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Machine Connectivity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Kepware OPC UA, 14 machine telemetry connectors, 48h buffer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Excluded: Physical machine re-wiring / PLC code rewrite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Plant Network VLAN Isolation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502920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10. OPERATING MODEL • GOVERNANCE RACI • LOCKHEED MARTIN AEROSPACE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Transformed Operating Model &amp; RACI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Unified IT/OT accountability across plant operations, corporate IT, and vendors.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Lockheed Martin Aerospace • Structured Architecture Specification • Strict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01 / 01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188720"/>
          <a:ext cx="10728653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245"/>
                <a:gridCol w="1676352"/>
                <a:gridCol w="1676352"/>
                <a:gridCol w="1676352"/>
                <a:gridCol w="1676352"/>
              </a:tblGrid>
              <a:tr h="79248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DELIVERY DOMAIN / KEY DECISION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CLIENT CXO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LEAD ARCHITECT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SYSTEMS INTEGRATOR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PLANT OPERATIONS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79248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Target Architecture &amp; Clean-Core Sign-Off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BTP Integration Suite Configuration &amp; Tests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Shop Floor POD Usability &amp; Operator Feedback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Machine PLC Tag Mapping &amp; Safety Clearance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Cutover Authorization &amp; Go-Live Go/No-Go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066CC"/>
                          </a:solidFill>
                          <a:latin typeface="Inter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31520" y="6053328"/>
            <a:ext cx="10728655" cy="292608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ARCHITECTURAL GOVERNANCE NOTE:  R = Responsible (Doer), A = Accountable (Final Decision), C = Consulted (Input), I = Informed.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502920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11. MEASURABLE OUTCOME • VALUE SCORECARD • LOCKHEED MARTIN AEROSPACE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Audited Value Realization &amp; Commercial Payback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$3.11M annualized recurring EBITDA gain delivering payback in 3.3 months.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Lockheed Martin Aerospace • Structured Architecture Specification • Strict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01 / 01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188720"/>
          <a:ext cx="10728652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664"/>
                <a:gridCol w="3065330"/>
                <a:gridCol w="1253998"/>
                <a:gridCol w="1253998"/>
                <a:gridCol w="1950664"/>
                <a:gridCol w="1253998"/>
              </a:tblGrid>
              <a:tr h="853440"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VALUE AREA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OPERATIONAL EFFICIENCY LEVER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BASELINE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TARGET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ANNUAL EBITDA IMPACT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PAYBACK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853440"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Scrap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Automated vision inspection stops defective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2.84% Scrap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1.10% Scrap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$1,240,000 / 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4.2 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OEE Throughput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Eliminates paper work orders &amp; setup wait time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71.4% OEE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84.5% OEE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$920,000 / Yr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5.8 Mos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53440"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WIP 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Real-time dispatch eliminates bottleneck queues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42 Days DSI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28 Days DSI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$640,000 / 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6.5 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Quality Labor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Automated digital genealogy replaces manual audits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4,200 Hrs/Yr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650 Hrs/Yr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$310,000 / Yr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8.0 Mos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53440"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TOTAL BENEFIT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Composite Financial Value Acceleration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$3,110,000 / 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3.3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