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WIP Actual ($M)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11.2</c:v>
                </c:pt>
                <c:pt idx="1">
                  <c:v>11.8</c:v>
                </c:pt>
                <c:pt idx="2">
                  <c:v>12.4</c:v>
                </c:pt>
                <c:pt idx="3">
                  <c:v>13.1</c:v>
                </c:pt>
                <c:pt idx="4">
                  <c:v>13.8</c:v>
                </c:pt>
                <c:pt idx="5">
                  <c:v>14.2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WIP Target ($M)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11.0</c:v>
                </c:pt>
                <c:pt idx="1">
                  <c:v>11.0</c:v>
                </c:pt>
                <c:pt idx="2">
                  <c:v>11.0</c:v>
                </c:pt>
                <c:pt idx="3">
                  <c:v>11.0</c:v>
                </c:pt>
                <c:pt idx="4">
                  <c:v>11.0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PRIDE &amp; PURPOSE • STRATEGIC MANDATE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Strategic Mandate • Intentional Whitespace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26561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F8FAFC"/>
                </a:solidFill>
                <a:latin typeface="Inter"/>
              </a:rPr>
              <a:t>"Zero defect tolerance, sub-second latency, unified truth."</a:t>
            </a:r>
          </a:p>
          <a:p>
            <a:pPr>
              <a:spcAft>
                <a:spcPts val="1400"/>
              </a:spcAft>
            </a:pPr>
            <a:r>
              <a:rPr sz="1050" b="1" i="0">
                <a:solidFill>
                  <a:srgbClr val="CBD5E1"/>
                </a:solidFill>
                <a:latin typeface="Inter"/>
              </a:rPr>
              <a:t>Unifying ERP planning with plant floor execution elevates plant competitiveness.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CURRENT REALITY • BASELINE ASSESSMENT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Average WIP Buffer Latency Across 3 Core Plants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Key Impact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114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400" b="1" i="0">
                <a:solidFill>
                  <a:srgbClr val="0066CC"/>
                </a:solidFill>
                <a:latin typeface="Inter"/>
              </a:rPr>
              <a:t>4.8 Days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AVERAGE WIP BUFFER LATENCY ACROSS 3 CORE PLANTS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9456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Excess buffer stock masks machine dispatch bottlenecks and paper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OPERATIONAL PAIN • COST OF FRICTION • OPERATIONAL &amp; FINANCIAL PAIN: COMPOUNDING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Operational &amp; Financial Pain: Compounding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ACTION SUMMARY: Trapped working capital and scrap penalties erode $4.2M in annual EBITDA.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Operational Decision Cockpit •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87552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1. WHAT CHANGED? (EXECUTIVE KPI TRAJECTORY)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254500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298448"/>
            <a:ext cx="2288971" cy="83210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D97706"/>
                </a:solidFill>
                <a:latin typeface="Inter"/>
              </a:rPr>
              <a:t>$14.2M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Total Plant WIP Value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+$2.4M vs Target | ACDOCA Material Ledger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9403" y="1188720"/>
            <a:ext cx="254500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7419" y="1298448"/>
            <a:ext cx="2288971" cy="83210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D97706"/>
                </a:solidFill>
                <a:latin typeface="Inter"/>
              </a:rPr>
              <a:t>42 Days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Days of Inventory Supply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+9 Days Unfavorable | Average DSI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188720"/>
            <a:ext cx="254500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303" y="1298448"/>
            <a:ext cx="2288971" cy="83210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D97706"/>
                </a:solidFill>
                <a:latin typeface="Inter"/>
              </a:rPr>
              <a:t>$4.8M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Aging WIP (&gt;60 Days)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34% of Total WIP | Sub-Assembly Quarantine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171" y="1188720"/>
            <a:ext cx="254500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187" y="1298448"/>
            <a:ext cx="2288971" cy="83210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D97706"/>
                </a:solidFill>
                <a:latin typeface="Inter"/>
              </a:rPr>
              <a:t>18.2%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0F172A"/>
                </a:solidFill>
                <a:latin typeface="Inter"/>
              </a:rPr>
              <a:t>WIP Holding Cost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$2.58M/Yr Cost | Annualized Cost of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31720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2. WHY DOES IT MATTER? (MONTHLY WORKING CAPITAL IN WIP ($ MILLIONS))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31520" y="2532888"/>
          <a:ext cx="5250027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10147" y="2331720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3. WHERE IS THE PROBLEM? (WIP AGING BUCKETS ANALYSIS)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7" y="2532888"/>
            <a:ext cx="114105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8163" y="2660904"/>
            <a:ext cx="88502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E2E8F0"/>
                </a:solidFill>
                <a:latin typeface="Inter"/>
              </a:rPr>
              <a:t>&lt; 30 DAYS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Inter"/>
              </a:rPr>
              <a:t>$6.4M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68 Batch Lots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9804" y="2532888"/>
            <a:ext cx="114105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7820" y="2660904"/>
            <a:ext cx="88502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97706"/>
                </a:solidFill>
                <a:latin typeface="Inter"/>
              </a:rPr>
              <a:t>31 - 60 DAYS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Inter"/>
              </a:rPr>
              <a:t>$3.0M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24 Batch 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9461" y="2532888"/>
            <a:ext cx="114105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7477" y="2660904"/>
            <a:ext cx="88502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E2E8F0"/>
                </a:solidFill>
                <a:latin typeface="Inter"/>
              </a:rPr>
              <a:t>61 - 90 DAYS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Inter"/>
              </a:rPr>
              <a:t>$2.8M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18 Batch Lots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19118" y="2532888"/>
            <a:ext cx="114105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7134" y="2660904"/>
            <a:ext cx="88502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E2E8F0"/>
                </a:solidFill>
                <a:latin typeface="Inter"/>
              </a:rPr>
              <a:t>&gt; 90 DAYS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Inter"/>
              </a:rPr>
              <a:t>$2.0M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11 Batch 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64608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4. WHAT SHOULD WE ACT ON? (TOP TRAPPED INVENTORY LOTS &amp; LIQUIDATION PLAN)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5065776"/>
          <a:ext cx="10728651" cy="128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14"/>
                <a:gridCol w="2271950"/>
                <a:gridCol w="1009755"/>
                <a:gridCol w="1262194"/>
                <a:gridCol w="1262194"/>
                <a:gridCol w="2019511"/>
                <a:gridCol w="1514633"/>
              </a:tblGrid>
              <a:tr h="257860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MATERIAL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PART DESCRIPTION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AGING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TRAPPED VALUE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LOT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BLOCKING REASON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LIQUIDATION 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7860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MAT-9021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Turbine Actuator Sub-Assy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104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$1,450,000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Quarantined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Missing optical chip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Spot purchase broker 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860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MAT-8840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Sensor Circuit Boards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88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$980,000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QA Rework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Solder rework backlog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Authorize weekend shift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7860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MAT-7721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Titanium Cast Housings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74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$820,000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Engineering ECN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Release revised 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863"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MAT-6610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High-Pressure Valves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92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$650,000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Quarantined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Batch certification hold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Expedite lab cert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99466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MATURITY / GAP • BENCHMARK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Transformation Maturity Assessment &amp; Structural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Current maturity scored at 2.4/5.0; execution and data layers require priority uplift.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Maturity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DIGITAL TRANSFORMATION MATURITY ASSESSMENT: TRANSFORMATION MATURITY ASSESSMENT &amp; STRUCTURAL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31375" y="1554480"/>
            <a:ext cx="16459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TARGET: 4.2 / 5.0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11335" y="1627632"/>
            <a:ext cx="22860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28255" y="1554480"/>
            <a:ext cx="169164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CURRENT: 2.4 / 5.0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066544"/>
            <a:ext cx="4720608" cy="412394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39696"/>
            <a:ext cx="4501152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5-LEVEL DIGITAL MATURITY STAIRCASE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5347411"/>
            <a:ext cx="89291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1. Fragmented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641494"/>
            <a:ext cx="1785830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D97706"/>
                </a:solidFill>
                <a:latin typeface="Inter"/>
              </a:rPr>
              <a:t>2. Standardized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 [CURRENT POSITION]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935577"/>
            <a:ext cx="2678745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3. Integrated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229660"/>
            <a:ext cx="3571661" cy="6693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10B981"/>
                </a:solidFill>
                <a:latin typeface="Inter"/>
              </a:rPr>
              <a:t>4. Intelligent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 [TARGET HORIZON]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2523744"/>
            <a:ext cx="4464576" cy="669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5. Autonomous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6720" y="2066544"/>
            <a:ext cx="5686187" cy="41239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16720" y="2066544"/>
            <a:ext cx="5686187" cy="32918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GAP AUDIT &amp; PRIORITY INTERVENTIONS (SCORE -&gt; GAP -&gt; ACTION)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8160" y="2505456"/>
            <a:ext cx="5503307" cy="6565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3024" y="2523744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Process &amp; Execution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2.1 / 5.0  ➔  Target: 4.3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Paper travel cards &amp; manual dispatch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Deploy MES automated dispatch &amp; digital traveler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8160" y="3235147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3024" y="3253435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Data &amp; Genealogy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2.3 / 5.0  ➔  Target: 4.5 / 5.0 (Gap: +2.2)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Missing component-to-serial batch linkage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Automated barcode &amp; OPC-UA genealogy binding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8160" y="3964838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3024" y="3983126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SAP Clean Core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2.6 / 5.0  ➔  Target: 4.2 / 5.0 (Gap: +1.6)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Excess custom Z-tables blocking cloud upgrade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Migrate custom code to BTP event mesh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8160" y="4694529"/>
            <a:ext cx="5503307" cy="6565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3024" y="4712817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Quality &amp; Rework  [P1]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2.2 / 5.0  ➔  Target: 4.0 / 5.0 (Gap: +1.8)</a:t>
            </a:r>
          </a:p>
          <a:p>
            <a:r>
              <a:rPr sz="819" b="1" i="0">
                <a:solidFill>
                  <a:srgbClr val="DC2626"/>
                </a:solidFill>
                <a:latin typeface="Inter"/>
              </a:rPr>
              <a:t>Gap: Delayed defect logging &amp; missing CAPA loops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Closed-loop digital inspection interlocks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8160" y="5424220"/>
            <a:ext cx="5503307" cy="6565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3024" y="5442508"/>
            <a:ext cx="5393579" cy="619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Governance &amp; RACI  [P2]</a:t>
            </a:r>
          </a:p>
          <a:p>
            <a:r>
              <a:rPr sz="750" b="0" i="1">
                <a:solidFill>
                  <a:srgbClr val="0066CC"/>
                </a:solidFill>
                <a:latin typeface="Inter"/>
              </a:rPr>
              <a:t>Current: 2.8 / 5.0  ➔  Target: 4.0 / 5.0 (Gap: +1.2)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Gap: Ambiguous IT/OT boundary ownership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Intervention: Formalize unified IT/OT operating charter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15484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5. OPPORTUNITY • STRATEGIC VISION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Strategic Mandate • Intentional Whitespace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26561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F8FAFC"/>
                </a:solidFill>
                <a:latin typeface="Inter"/>
              </a:rPr>
              <a:t>"From reactive firefighting to autonomous closed-loop execution."</a:t>
            </a:r>
          </a:p>
          <a:p>
            <a:pPr>
              <a:spcAft>
                <a:spcPts val="1400"/>
              </a:spcAft>
            </a:pPr>
            <a:r>
              <a:rPr sz="1050" b="1" i="0">
                <a:solidFill>
                  <a:srgbClr val="CBD5E1"/>
                </a:solidFill>
                <a:latin typeface="Inter"/>
              </a:rPr>
              <a:t>When every machine operation updates the enterprise ledger in real time, predictability becomes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31501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6. TRANSFORMATION DESIGN •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Enterprise Transformation Blueprint: Current to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A disciplined intervention bridge modernizing operations across 12–18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Enterprise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ENTERPRISE TRANSFORMATION BLUEPRINT: ENTERPRISE TRANSFORMATION BLUEPRINT: CURRENT TO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CURRENT STATE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Operational Constraints &amp; Friction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Fragmented master data &amp; BOM mismatches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Manual paper travelers &amp; dispatch clipboards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Disconnected quality logs in Excel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DC2626"/>
                </a:solidFill>
                <a:latin typeface="Inter"/>
              </a:rPr>
              <a:t>✗  Delayed inventory confirmation (2-3 day lag)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BASELINE METRICS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WIP Latency: 4.8 Days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Scrap Rate: 4.2%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• OTIF Delivery: 81.4%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420" y="3680459"/>
            <a:ext cx="248707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1704" y="1920240"/>
            <a:ext cx="3647742" cy="3794759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704" y="1920240"/>
            <a:ext cx="364774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TRANSFORMATION ENABLERS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432" y="2267712"/>
            <a:ext cx="3428286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Strategic Initiatives &amp; Technology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SAP S/4HANA Clean-Core Integration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MES Digital Dispatch &amp; Real-Time Tracking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Automated Closed-Loop Quality Interlocks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0F172A"/>
                </a:solidFill>
                <a:latin typeface="Inter"/>
              </a:rPr>
              <a:t>⚙  Unified Industrial Data Fabric &amp; BTP Mesh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ENABLERS &amp; ARCHITECTURE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Air-gapped edge buffering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Deterministic PLC connectors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64748B"/>
                </a:solidFill>
                <a:latin typeface="Inter"/>
              </a:rPr>
              <a:t>✔ Zero custom Z-tables in ERP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6022" y="3680459"/>
            <a:ext cx="248707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1306" y="1920240"/>
            <a:ext cx="3218596" cy="37947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1306" y="1920240"/>
            <a:ext cx="3218596" cy="3108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FUTURE OPERATING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1034" y="2267712"/>
            <a:ext cx="2999140" cy="3392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Transformed Capabilities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Synchronized MRP-to-machine dispatch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Full serial &amp; batch genealogy trace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Predictive quality interlocks at station</a:t>
            </a:r>
          </a:p>
          <a:p>
            <a:pPr>
              <a:spcAft>
                <a:spcPts val="300"/>
              </a:spcAft>
            </a:pPr>
            <a:r>
              <a:rPr sz="750" b="0" i="1">
                <a:solidFill>
                  <a:srgbClr val="10B981"/>
                </a:solidFill>
                <a:latin typeface="Inter"/>
              </a:rPr>
              <a:t>✔  Sub-second financial ledger postings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MEASURABLE OUTCOMES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WIP Latency: 1.2 Days (-75%)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Scrap Rate: 0.8% (-81%)</a:t>
            </a:r>
          </a:p>
          <a:p>
            <a:pPr>
              <a:spcAft>
                <a:spcPts val="200"/>
              </a:spcAft>
            </a:pPr>
            <a:r>
              <a:rPr sz="819" b="1" i="0">
                <a:solidFill>
                  <a:srgbClr val="0F172A"/>
                </a:solidFill>
                <a:latin typeface="Inter"/>
              </a:rPr>
              <a:t>★ OTIF Delivery: 97.5% (+16 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788152"/>
            <a:ext cx="10509199" cy="40233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HORIZON: 12–18 MONTH EXECUTION HORIZON</a:t>
            </a:r>
          </a:p>
          <a:p>
            <a:r>
              <a:rPr sz="819" b="1" i="0">
                <a:solidFill>
                  <a:srgbClr val="0F172A"/>
                </a:solidFill>
                <a:latin typeface="Inter"/>
              </a:rPr>
              <a:t>Phase 1: S/4HANA Core &amp; Clean Master Data  ➔  Phase 2: MES MOM Dispatch &amp; Traceability  ➔  Phase 3: Closed-Loop Analytics &amp; Autonomous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33832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7. PROCESS CHANGE • 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Process Execution Architecture &amp; Closed-Loop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Order-to-confirmation digital execution with automated rework and clearance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Operational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PROCESS ARCHITECTURE: SAP S/4HANA TO MES PRODUCTION EXECUTION &amp; QUALITY CLEARANCE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1: CUSTOMER / 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Demand &amp; Sales Order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[S/4HANA SD]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2473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6209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6209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2: SAP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9361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Production Order &amp; MRP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[PP Order 100482]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78562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2298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2298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3: MES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5450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MES Dispatch &amp; Setup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Dispatch]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4651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8387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8387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4: SHOP FLOOR 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1539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Machine Execution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[CNC Work Center]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70740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6944476" y="1984248"/>
            <a:ext cx="1294921" cy="1188720"/>
          </a:xfrm>
          <a:prstGeom prst="diamond">
            <a:avLst/>
          </a:prstGeom>
          <a:solidFill>
            <a:srgbClr val="EEF2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DECISION GATE</a:t>
            </a:r>
          </a:p>
          <a:p>
            <a:pPr algn="ctr"/>
            <a:r>
              <a:rPr sz="1050" b="1" i="0">
                <a:solidFill>
                  <a:srgbClr val="0F172A"/>
                </a:solidFill>
                <a:latin typeface="Inter"/>
              </a:rPr>
              <a:t>Quality Gate &amp; SPC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66829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5389" y="2057400"/>
            <a:ext cx="548640" cy="2194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0565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0565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6: SAP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717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[CO11N / 101 GR]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2918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6654" y="1984248"/>
            <a:ext cx="1294921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36654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7: 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9806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Finished Goods Dispatch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[Outbound Delivery]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482208" y="3218687"/>
            <a:ext cx="219456" cy="1673351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38240" y="3310127"/>
            <a:ext cx="100584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REWORK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8716" y="4937759"/>
            <a:ext cx="1569241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78716" y="4937759"/>
            <a:ext cx="156924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EXCEPTION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1868" y="5230368"/>
            <a:ext cx="142293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Rework Operation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[MES Non-Conformance]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Quarantine &amp; Root Cause Correction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Defect Logged in S/4HANA QM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6557" y="4937759"/>
            <a:ext cx="1614961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6557" y="4937759"/>
            <a:ext cx="161496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709" y="5230368"/>
            <a:ext cx="146865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Re-Inspection &amp; Verification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Traveler]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Tolerance Validation &amp; Clearance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Serial Unlocked Only on Clearance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184533" y="5422392"/>
            <a:ext cx="155448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0064670" y="4617720"/>
            <a:ext cx="219456" cy="320040"/>
          </a:xfrm>
          <a:prstGeom prst="up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2414" y="4526279"/>
            <a:ext cx="1029745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9" b="1" i="0">
                <a:solidFill>
                  <a:srgbClr val="D97706"/>
                </a:solidFill>
                <a:latin typeface="Inter"/>
              </a:rPr>
              <a:t>CLOSED-LOOP RE-ENTRY
Cleared for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8. TECHNOLOGY • ARCHITECTURE BLUEPRINT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Decoupled Clean-Core Integration &amp; Edge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Preserving ERP ledger integrity via BTP event mesh and edge execution nodes.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Aerospace • Enterprise Architecture Blueprint • Systems-Thinking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4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ENTERPRISE / ERP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Corporate Cloud (AWS/GCP)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188720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4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9504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S/4HANA Core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Financial &amp; Order Ledger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Production Orders • BOM / Routing</a:t>
            </a:r>
          </a:p>
        </p:txBody>
      </p:sp>
      <p:sp>
        <p:nvSpPr>
          <p:cNvPr id="14" name="Can 13"/>
          <p:cNvSpPr/>
          <p:nvPr/>
        </p:nvSpPr>
        <p:spPr>
          <a:xfrm>
            <a:off x="4767200" y="1261872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8640" y="1408176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SAP HANA Cloud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HANA Columnar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4896" y="1261872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4896" y="1261872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2912" y="1335024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PLM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Engineering Master Data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06240" y="1986076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995220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OData v4 &amp; SAP Event 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1995220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[TLS 1.3 Async] PAYLOAD: ProductionOrder_v2, MaterialMaster (MARA)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87828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BTP INTEGRATION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INTEGRATION MIDDLEWARE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Cloud DMZ /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9776" y="2287828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9504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9504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BTP Integration Suite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API Mediation &amp;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200" y="2360980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7200" y="2360980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5216" y="2434132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Enterprise Event Mesh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Pub/Sub Event Broker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GoodsIssue Event • OrderStatus</a:t>
            </a:r>
          </a:p>
        </p:txBody>
      </p:sp>
      <p:sp>
        <p:nvSpPr>
          <p:cNvPr id="30" name="Hexagon 29"/>
          <p:cNvSpPr/>
          <p:nvPr/>
        </p:nvSpPr>
        <p:spPr>
          <a:xfrm>
            <a:off x="6644896" y="2360980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2056" y="2434132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API Gateway &amp; Security</a:t>
            </a:r>
          </a:p>
        </p:txBody>
      </p:sp>
      <p:sp>
        <p:nvSpPr>
          <p:cNvPr id="32" name="Up-Down Arrow 31"/>
          <p:cNvSpPr/>
          <p:nvPr/>
        </p:nvSpPr>
        <p:spPr>
          <a:xfrm>
            <a:off x="4206240" y="3085185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094329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HTTPS / REST &amp;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094329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[Bi-Directional Sync] PAYLOAD: DispatchOrderPayload, OperationStepList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86937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3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MANUFACTURING MOM / MES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Plant Local 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3386937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9504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9504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SAP Digital Manufacturing (DMC)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Work Order Dispatcher &amp; POD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WIP Tracking • Non-Conformance</a:t>
            </a:r>
          </a:p>
        </p:txBody>
      </p:sp>
      <p:sp>
        <p:nvSpPr>
          <p:cNvPr id="40" name="Can 39"/>
          <p:cNvSpPr/>
          <p:nvPr/>
        </p:nvSpPr>
        <p:spPr>
          <a:xfrm>
            <a:off x="4767200" y="3460089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8640" y="3606393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Plant Operational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PostgreSQL Timescale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44896" y="3460089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44896" y="3460089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2912" y="3533241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Quality &amp; Yield Engine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SPC &amp; Tolerance Limits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4206240" y="4184294"/>
            <a:ext cx="292608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193438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OPC UA (Binary) &amp; MQTT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8" y="4193438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[Air-Gapped Gateway] PAYLOAD: WorkCenterDispatch, ToolParameters, BatchID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486046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2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INDUSTRIAL EDGE &amp; CONNECTIVITY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Industrial Edge IPC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79776" y="4486046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9504" y="4559198"/>
            <a:ext cx="1713104" cy="623620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9504" y="4559198"/>
            <a:ext cx="54864" cy="6236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4632350"/>
            <a:ext cx="1493648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Edge Runtime Gateway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Local Buffer &amp; Protocol Conv</a:t>
            </a:r>
          </a:p>
          <a:p>
            <a:pPr>
              <a:spcBef>
                <a:spcPts val="200"/>
              </a:spcBef>
            </a:pPr>
            <a:r>
              <a:rPr sz="819" b="1" i="0">
                <a:solidFill>
                  <a:srgbClr val="00B4D8"/>
                </a:solidFill>
                <a:latin typeface="Inter"/>
              </a:rPr>
              <a:t>48h Offline Buffer</a:t>
            </a:r>
          </a:p>
        </p:txBody>
      </p:sp>
      <p:sp>
        <p:nvSpPr>
          <p:cNvPr id="53" name="Hexagon 52"/>
          <p:cNvSpPr/>
          <p:nvPr/>
        </p:nvSpPr>
        <p:spPr>
          <a:xfrm>
            <a:off x="4767200" y="4559198"/>
            <a:ext cx="1713104" cy="623620"/>
          </a:xfrm>
          <a:prstGeom prst="hexagon">
            <a:avLst/>
          </a:prstGeom>
          <a:solidFill>
            <a:srgbClr val="132240"/>
          </a:solidFill>
          <a:ln w="1778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04360" y="4632350"/>
            <a:ext cx="1438784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API / ENDPOINT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Kepware / OPC UA Server</a:t>
            </a:r>
          </a:p>
        </p:txBody>
      </p:sp>
      <p:sp>
        <p:nvSpPr>
          <p:cNvPr id="55" name="Can 54"/>
          <p:cNvSpPr/>
          <p:nvPr/>
        </p:nvSpPr>
        <p:spPr>
          <a:xfrm>
            <a:off x="6644896" y="4559198"/>
            <a:ext cx="1713104" cy="623620"/>
          </a:xfrm>
          <a:prstGeom prst="can">
            <a:avLst/>
          </a:prstGeom>
          <a:solidFill>
            <a:srgbClr val="16284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36336" y="4705502"/>
            <a:ext cx="1530224" cy="422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DATA STORE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Edge Cache DB</a:t>
            </a:r>
          </a:p>
          <a:p>
            <a:pPr algn="ctr"/>
            <a:r>
              <a:rPr sz="750" b="0" i="1">
                <a:solidFill>
                  <a:srgbClr val="94A3B8"/>
                </a:solidFill>
                <a:latin typeface="Inter"/>
              </a:rPr>
              <a:t>SQLite / Edge Disk</a:t>
            </a:r>
          </a:p>
        </p:txBody>
      </p:sp>
      <p:sp>
        <p:nvSpPr>
          <p:cNvPr id="57" name="Up-Down Arrow 56"/>
          <p:cNvSpPr/>
          <p:nvPr/>
        </p:nvSpPr>
        <p:spPr>
          <a:xfrm>
            <a:off x="4206240" y="5283403"/>
            <a:ext cx="292608" cy="274320"/>
          </a:xfrm>
          <a:prstGeom prst="up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5292547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19" b="1" i="0">
                <a:solidFill>
                  <a:srgbClr val="00B4D8"/>
                </a:solidFill>
                <a:latin typeface="Inter"/>
              </a:rPr>
              <a:t>INTERFACE: PROFINET &amp; Fieldbus I/O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36008" y="5292547"/>
            <a:ext cx="3054480" cy="256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F8FAFC"/>
                </a:solidFill>
                <a:latin typeface="Inter"/>
              </a:rPr>
              <a:t>[Sub-100ms Deterministic] PAYLOAD: MachineSpeed, SpindleTemp, CycleCount, InterlockSignal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585155"/>
            <a:ext cx="1920240" cy="769924"/>
          </a:xfrm>
          <a:prstGeom prst="rect">
            <a:avLst/>
          </a:prstGeom>
          <a:solidFill>
            <a:srgbClr val="1C3159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ISA-95 LEVEL 1 / 0</a:t>
            </a:r>
          </a:p>
          <a:p>
            <a:pPr>
              <a:spcAft>
                <a:spcPts val="200"/>
              </a:spcAft>
            </a:pPr>
            <a:r>
              <a:rPr sz="850" b="1" i="0">
                <a:solidFill>
                  <a:srgbClr val="F8FAFC"/>
                </a:solidFill>
                <a:latin typeface="Inter"/>
              </a:rPr>
              <a:t>SHOP FLOOR EXECUTION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ZONE: Isolated OT Machine Subnet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79776" y="5585155"/>
            <a:ext cx="5687952" cy="769924"/>
          </a:xfrm>
          <a:prstGeom prst="rect">
            <a:avLst/>
          </a:prstGeom>
          <a:solidFill>
            <a:srgbClr val="0E1B33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889504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80944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Siemens S7-1500 PLC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Cell Automation &amp; Interlocks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7776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216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DMG 5-Axis CNC Spindle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Precision Machining Center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06048" y="5658307"/>
            <a:ext cx="1243680" cy="62362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488" y="5731459"/>
            <a:ext cx="1060800" cy="477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DEVICE / OT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Cognex Vision Camera</a:t>
            </a:r>
          </a:p>
          <a:p>
            <a:r>
              <a:rPr sz="750" b="0" i="1">
                <a:solidFill>
                  <a:srgbClr val="CBD5E1"/>
                </a:solidFill>
                <a:latin typeface="Inter"/>
              </a:rPr>
              <a:t>Automated Optical Inspection</a:t>
            </a:r>
          </a:p>
        </p:txBody>
      </p:sp>
      <p:sp>
        <p:nvSpPr>
          <p:cNvPr id="68" name="Oval 67"/>
          <p:cNvSpPr/>
          <p:nvPr/>
        </p:nvSpPr>
        <p:spPr>
          <a:xfrm>
            <a:off x="7114320" y="5658307"/>
            <a:ext cx="1243680" cy="623620"/>
          </a:xfrm>
          <a:prstGeom prst="ellipse">
            <a:avLst/>
          </a:prstGeom>
          <a:solidFill>
            <a:srgbClr val="16284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87472" y="5749747"/>
            <a:ext cx="1097376" cy="440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00B4D8"/>
                </a:solidFill>
                <a:latin typeface="Inter"/>
              </a:rPr>
              <a:t>OPERATOR</a:t>
            </a:r>
          </a:p>
          <a:p>
            <a:pPr algn="ctr"/>
            <a:r>
              <a:rPr sz="1050" b="1" i="0">
                <a:solidFill>
                  <a:srgbClr val="F8FAFC"/>
                </a:solidFill>
                <a:latin typeface="Inter"/>
              </a:rPr>
              <a:t>Line Assembly Operator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42048" y="1188720"/>
            <a:ext cx="2718127" cy="516636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42048" y="1188720"/>
            <a:ext cx="2718127" cy="347472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ARCHITECTURAL GUARANTEES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70064" y="162763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SINGLE FINANCIAL LEDGER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S/4HANA ACDOCA remains the sole financial source of truth. MES never replicates general ledger postings.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70064" y="278206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AIR-GAPPED PLANT RESILIENCE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Edge gateways buffer 48 hours of telemetry and execution confirmations during WAN network disconnects.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70064" y="393649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CLEAN-CORE DECOUPLING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Zero custom ABAP modifications in S/4HANA core. All MES orchestrations leverage standard OData v4 and Event Mesh.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70064" y="5090922"/>
            <a:ext cx="2462095" cy="106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• DETERMINISTIC MACHINE INTERLOCK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CBD5E1"/>
                </a:solidFill>
                <a:latin typeface="Inter"/>
              </a:rPr>
              <a:t>Sub-100ms machine safety and cycle interlocks run exclusively at Level 1/2 PLC layer, immune to cloud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9. IMPLEMENTATION • PHASED ROADMAP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18-Month Phased Rollout &amp; Migration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Low-risk, phased cutover delivering production capability pilot by Month 4.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Structured Architecture Specification • Strict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3678396"/>
                <a:gridCol w="2758797"/>
                <a:gridCol w="2145731"/>
              </a:tblGrid>
              <a:tr h="731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WORKSTREAM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IN-SCOPE CORE CAPABILITIES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EXCLUSIONS &amp; BOUNDARIES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PREREQUISITE DELIVERABLES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31520">
                <a:tc gridSpan="4">
                  <a:txBody>
                    <a:bodyPr wrap="square" tIns="36576" bIns="36576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• 1. CORE SAP S/4HANA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Clean-Core ERP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Standard OData v4 APIs, Event Mesh triggers, Confirmation BAPIs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No custom ABAP core mods; no custom Z-tables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S/4HANA 2023 Sandbox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 gridSpan="4">
                  <a:txBody>
                    <a:bodyPr wrap="square" tIns="36576" bIns="36576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• 2. MANUFACTURING MES (DMC)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Shop Floor Execution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Work order dispatch, Operator POD, Serial genealogy, Scrap posting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Excluded: Automated warehouse AS/RS robotics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Master BOM / Routing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 gridSpan="4">
                  <a:txBody>
                    <a:bodyPr wrap="square" tIns="36576" bIns="36576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• 3. INDUSTRIAL EDGE &amp; 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Machine Connectivity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Kepware OPC UA, 14 machine telemetry connectors, 48h buffer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Excluded: Physical machine re-wiring / PLC code rewrite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Plant Network VLAN Isolation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10. OPERATING MODEL • GOVERNANCE RACI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Transformed Operating Model &amp; RACI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Unified IT/OT accountability across plant operations, corporate IT, and vendors.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Structured Architecture Specification • Strict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10728653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245"/>
                <a:gridCol w="1676352"/>
                <a:gridCol w="1676352"/>
                <a:gridCol w="1676352"/>
                <a:gridCol w="1676352"/>
              </a:tblGrid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DELIVERY DOMAIN / KEY DECISION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CLIENT CXO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LEAD ARCHITECT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SYSTEMS INTEGRATOR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PLANT OPERATIONS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Target Architecture &amp; Clean-Core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BTP Integration Suite Configuration &amp;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Shop Floor POD Usability &amp; Operator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Machine PLC Tag Mapping &amp; Safety Clearance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Cutover Authorization &amp; Go-Live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066CC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6053328"/>
            <a:ext cx="10728655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ARCHITECTURAL GOVERNANCE NOTE:  R = Responsible (Doer), A = Accountable (Final Decision), C = Consulted (Input), I = Informed.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502920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11. MEASURABLE OUTCOME • VALUE SCORECARD • LOCKHEED MARTIN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Audited Value Realization &amp; Commercial Payback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$3.11M annualized recurring EBITDA gain delivering payback in 3.3 months.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Aerospace • Structured Architecture Specification • Strict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107286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64"/>
                <a:gridCol w="3065330"/>
                <a:gridCol w="1253998"/>
                <a:gridCol w="1253998"/>
                <a:gridCol w="1950664"/>
                <a:gridCol w="1253998"/>
              </a:tblGrid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VALUE AREA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OPERATIONAL EFFICIENCY LEVER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BASELINE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ANNUAL EBITDA IMPACT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PAYBACK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Scrap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Automated vision inspection stops defective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2.84% Scrap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1.10% Scrap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$1,240,000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4.2 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OEE Throughput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Eliminates paper work orders &amp; setup wait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71.4% OEE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84.5% OEE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$920,000 /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5.8 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WIP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Real-time dispatch eliminates bottleneck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42 Days DSI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28 Days DSI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$640,000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6.5 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Quality Labor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Automated digital genealogy replaces manual audits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4,200 Hrs/Yr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650 Hrs/Yr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$310,000 /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8.0 Mos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3440"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0F172A"/>
                          </a:solidFill>
                          <a:latin typeface="Inter"/>
                        </a:rPr>
                        <a:t>TOTAL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Composite Financial Value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$3,110,000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3.3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