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STRATEGIC ARCHITECTURE &amp;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Ecosystem Alignment &amp; Collaborative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15568"/>
            <a:ext cx="10728655" cy="548640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300" b="1">
                <a:solidFill>
                  <a:srgbClr val="00B4D8"/>
                </a:solidFill>
                <a:latin typeface="Arial"/>
              </a:defRPr>
            </a:pPr>
            <a:r>
              <a:t>“BTP does not replace the SAP core — it connects, extends and innovates around it.”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5212080" cy="10515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MANUFACTURING PLANTS &amp; SHOP FLOOR (OPERATIONAL EDGE)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Multi-Plant Discrete Operations  |  MES  |  PLC / SCADA  |  Quality Stations  |  PLM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874519"/>
            <a:ext cx="5212080" cy="10515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182880"/>
          <a:lstStyle/>
          <a:p>
            <a:pPr algn="ctr">
              <a:defRPr sz="1000" b="1">
                <a:solidFill>
                  <a:srgbClr val="F8FAFC"/>
                </a:solidFill>
                <a:latin typeface="Arial"/>
              </a:defRPr>
            </a:pPr>
            <a:r>
              <a:t>BUSINESS ECOSYSTEM &amp; EXTERNAL TOUCHPOINTS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B2B Dealers  |  Tier-1 OEMs  |  Supply Chain Vendors  |  Field Service  |  Customers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54680"/>
            <a:ext cx="10728655" cy="1097280"/>
          </a:xfrm>
          <a:prstGeom prst="roundRect">
            <a:avLst/>
          </a:prstGeom>
          <a:solidFill>
            <a:srgbClr val="101C3A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28600"/>
          <a:lstStyle/>
          <a:p>
            <a:pPr algn="ctr">
              <a:defRPr sz="1100" b="1">
                <a:solidFill>
                  <a:srgbClr val="00B4D8"/>
                </a:solidFill>
                <a:latin typeface="Arial"/>
              </a:defRPr>
            </a:pPr>
            <a:r>
              <a:t>EXISTING ENTERPRISE CORE: SAP S/4HANA &amp; SAP ECC (SYSTEMS OF RECORD)</a:t>
            </a:r>
          </a:p>
          <a:p>
            <a:pPr>
              <a:defRPr sz="950">
                <a:solidFill>
                  <a:srgbClr val="F8FAFC"/>
                </a:solidFill>
                <a:latin typeface="Calibri"/>
              </a:defRPr>
            </a:pPr>
            <a:r>
              <a:t>Mission-Critical Ledger  |  Standard Sales &amp; Distribution (SD)  |  Materials Management (MM)  |  Production Planning (PP)  |  Quality (QM)  |  Controlling (CO)</a:t>
            </a:r>
            <a:br/>
            <a:r>
              <a:t>Kept Stable, Governed, and Unaltered — Zero Replacement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62272"/>
            <a:ext cx="10728655" cy="1691640"/>
          </a:xfrm>
          <a:prstGeom prst="roundRect">
            <a:avLst/>
          </a:prstGeom>
          <a:solidFill>
            <a:srgbClr val="151F3C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 lIns="228600"/>
          <a:lstStyle/>
          <a:p>
            <a:pPr algn="ctr">
              <a:defRPr sz="1150" b="1">
                <a:solidFill>
                  <a:srgbClr val="F8FAFC"/>
                </a:solidFill>
                <a:latin typeface="Arial"/>
              </a:defRPr>
            </a:pPr>
            <a:r>
              <a:t>SAP BUSINESS TECHNOLOGY PLATFORM (SAP BTP) — COLLABORATIVE INNOVATION FABRIC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846320"/>
            <a:ext cx="1920240" cy="1143000"/>
          </a:xfrm>
          <a:prstGeom prst="roundRect">
            <a:avLst/>
          </a:prstGeom>
          <a:solidFill>
            <a:srgbClr val="101930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INTEGRATION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SAP Integration Suite</a:t>
            </a:r>
            <a:br/>
            <a:r>
              <a:t>Event Mesh &amp; B2B/EDI</a:t>
            </a:r>
            <a:br/>
            <a:r>
              <a:t>API Lifecycle Gateway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17520" y="4846320"/>
            <a:ext cx="1920240" cy="1143000"/>
          </a:xfrm>
          <a:prstGeom prst="roundRect">
            <a:avLst/>
          </a:prstGeom>
          <a:solidFill>
            <a:srgbClr val="101930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DATA FABRIC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SAP Datasphere</a:t>
            </a:r>
            <a:br/>
            <a:r>
              <a:t>HANA Cloud &amp; BW</a:t>
            </a:r>
            <a:br/>
            <a:r>
              <a:t>Unified Semantics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4846320"/>
            <a:ext cx="1920240" cy="1143000"/>
          </a:xfrm>
          <a:prstGeom prst="roundRect">
            <a:avLst/>
          </a:prstGeom>
          <a:solidFill>
            <a:srgbClr val="101930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BUSINESS AI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SAP Joule &amp; Copilots</a:t>
            </a:r>
            <a:br/>
            <a:r>
              <a:t>Agentic Workflows</a:t>
            </a:r>
            <a:br/>
            <a:r>
              <a:t>Contextual LLMs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0" y="4846320"/>
            <a:ext cx="1920240" cy="1143000"/>
          </a:xfrm>
          <a:prstGeom prst="roundRect">
            <a:avLst/>
          </a:prstGeom>
          <a:solidFill>
            <a:srgbClr val="101930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AUTOMATION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SAP Build Process</a:t>
            </a:r>
            <a:br/>
            <a:r>
              <a:t>Dynamic Rules Engine</a:t>
            </a:r>
            <a:br/>
            <a:r>
              <a:t>Central Task Center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4846320"/>
            <a:ext cx="1920240" cy="1143000"/>
          </a:xfrm>
          <a:prstGeom prst="roundRect">
            <a:avLst/>
          </a:prstGeom>
          <a:solidFill>
            <a:srgbClr val="101930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950" b="1">
                <a:solidFill>
                  <a:srgbClr val="00B4D8"/>
                </a:solidFill>
                <a:latin typeface="Arial"/>
              </a:defRPr>
            </a:pPr>
            <a:r>
              <a:t>APP EXTENSION</a:t>
            </a:r>
          </a:p>
          <a:p>
            <a:pPr algn="ctr">
              <a:defRPr sz="850">
                <a:solidFill>
                  <a:srgbClr val="94A3B8"/>
                </a:solidFill>
                <a:latin typeface="Calibri"/>
              </a:defRPr>
            </a:pPr>
            <a:r>
              <a:t>SAP CAP (Cloud Foundry)</a:t>
            </a:r>
            <a:br/>
            <a:r>
              <a:t>SAP RAP (ABAP Cloud)</a:t>
            </a:r>
            <a:br/>
            <a:r>
              <a:t>Fiori Portals &amp; Mobile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01 / 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FOUNDATIONAL ARCHITECTURE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Modernizing the Enterprise: Clean Core &amp; AI-Ready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371600"/>
            <a:ext cx="3657600" cy="256032"/>
          </a:xfrm>
          <a:prstGeom prst="round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THE CLEAN CORE EXTENSION PHILOSOPHY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19072"/>
            <a:ext cx="475488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A285F"/>
                </a:solidFill>
                <a:latin typeface="Arial"/>
              </a:defRPr>
            </a:pPr>
            <a:r>
              <a:t>System of Record vs. System of Innovation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SAP S/4HANA &amp; ECC as System of Record: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Preserve standard transactional logic, financial ledgers, and inventory integrity without custom modifications inside the core.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SAP BTP as Innovation Platform: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Provide the dedicated side-by-side runtime for integration, custom portals, automations, and intelligent services.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Minimize Inside-the-Core Customization: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Eliminate new user-exits, implicit enhancements, and non-standard Z-tables in core transactions.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Standard APIs &amp; Event-Driven Decoupling: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Communicate exclusively via standard SAP OData/REST APIs and asynchronous business events.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Reduced Upgrade &amp; Patch Impact: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Allow S/4HANA release updates and patches to execute predictably without breaking custom business apps.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- Enterprise Service Reusability: </a:t>
            </a:r>
          </a:p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Build reusable microservices and workflows accessible across both S/4HANA and ECC environments.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0E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76695" y="1371600"/>
            <a:ext cx="3931920" cy="256032"/>
          </a:xfrm>
          <a:prstGeom prst="round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THE AI-READY ENTERPRISE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6695" y="1719072"/>
            <a:ext cx="4754880" cy="4206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7C3AED"/>
                </a:solidFill>
                <a:latin typeface="Arial"/>
              </a:defRPr>
            </a:pPr>
            <a:r>
              <a:t>Business AI Powered by Trusted Context &amp; Governance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Enterprise AI succeeds only when grounded in operational truth. SAP BTP serves as the enabling technological foundation connecting data, processes, and AI models: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6695" y="2651760"/>
            <a:ext cx="4754880" cy="621792"/>
          </a:xfrm>
          <a:prstGeom prst="roundRect">
            <a:avLst/>
          </a:prstGeom>
          <a:solidFill>
            <a:srgbClr val="F1F5F9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sz="950" b="1">
                <a:solidFill>
                  <a:srgbClr val="0A285F"/>
                </a:solidFill>
                <a:latin typeface="Arial"/>
              </a:defRPr>
            </a:pPr>
            <a:r>
              <a:t>Step 1: BUSINESS DATA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Clean master data, transactional records, and telemetry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6695" y="3383280"/>
            <a:ext cx="4754880" cy="621792"/>
          </a:xfrm>
          <a:prstGeom prst="roundRect">
            <a:avLst/>
          </a:prstGeom>
          <a:solidFill>
            <a:srgbClr val="F1F5F9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sz="950" b="1">
                <a:solidFill>
                  <a:srgbClr val="0A285F"/>
                </a:solidFill>
                <a:latin typeface="Arial"/>
              </a:defRPr>
            </a:pPr>
            <a:r>
              <a:t>Step 2: BUSINESS CONTEXT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Process rules, semantic models, and organization hierarchies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6695" y="4114800"/>
            <a:ext cx="4754880" cy="621792"/>
          </a:xfrm>
          <a:prstGeom prst="roundRect">
            <a:avLst/>
          </a:prstGeom>
          <a:solidFill>
            <a:srgbClr val="F1F5F9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Step 3: ENTERPRISE AI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Joule assistants, generative models, and agentic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6695" y="4846320"/>
            <a:ext cx="4754880" cy="621792"/>
          </a:xfrm>
          <a:prstGeom prst="roundRect">
            <a:avLst/>
          </a:prstGeom>
          <a:solidFill>
            <a:srgbClr val="F1F5F9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37160"/>
          <a:lstStyle/>
          <a:p>
            <a:pPr algn="ctr">
              <a:defRPr sz="950" b="1">
                <a:solidFill>
                  <a:srgbClr val="7C3AED"/>
                </a:solidFill>
                <a:latin typeface="Arial"/>
              </a:defRPr>
            </a:pPr>
            <a:r>
              <a:t>Step 4: DECISIVE ACTION</a:t>
            </a:r>
          </a:p>
          <a:p>
            <a:pPr>
              <a:defRPr sz="850">
                <a:solidFill>
                  <a:srgbClr val="0F172A"/>
                </a:solidFill>
                <a:latin typeface="Calibri"/>
              </a:defRPr>
            </a:pPr>
            <a:r>
              <a:t>Automated ERP transactions, recommendations, and execution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02 / 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USE CASE 1: SAP BUSINESS DATA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From Fragmented Data to Trusted Enterprise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10728655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sz="900" b="1">
                <a:solidFill>
                  <a:srgbClr val="0A285F"/>
                </a:solidFill>
                <a:latin typeface="Arial"/>
              </a:defRPr>
            </a:pPr>
            <a:r>
              <a:t>INTEGRATED ENTERPRISE DATA ARCHITECTURE FLOW</a:t>
            </a:r>
          </a:p>
          <a:p>
            <a:pPr>
              <a:defRPr sz="1000" b="1">
                <a:solidFill>
                  <a:srgbClr val="0066CC"/>
                </a:solidFill>
                <a:latin typeface="Calibri"/>
              </a:defRPr>
            </a:pPr>
            <a:r>
              <a:t>SAP S/4HANA &amp; ECC + MES / Shop Floor + External Systems  —►  SAP Business Data Cloud (Federation &amp; Governance)  —►  Trusted Semantics  —►  SAP Analytics Cloud &amp; Executive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84632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A285F"/>
                </a:solidFill>
                <a:latin typeface="Arial"/>
              </a:defRPr>
            </a:pPr>
            <a:r>
              <a:t>Five Core Data Pillars</a:t>
            </a:r>
          </a:p>
          <a:p>
            <a:pPr>
              <a:defRPr sz="900" b="1">
                <a:solidFill>
                  <a:srgbClr val="0066CC"/>
                </a:solidFill>
                <a:latin typeface="Arial"/>
              </a:defRPr>
            </a:pPr>
            <a:r>
              <a:t>- DATA FOUNDATION [SAP HANA Cloud &amp; SAP Datasphere]: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In-memory multi-model engine and business data fabric connecting distributed manufacturing data without replication.</a:t>
            </a:r>
          </a:p>
          <a:p>
            <a:pPr>
              <a:defRPr sz="900" b="1">
                <a:solidFill>
                  <a:srgbClr val="0066CC"/>
                </a:solidFill>
                <a:latin typeface="Arial"/>
              </a:defRPr>
            </a:pPr>
            <a:r>
              <a:t>- ANALYTICS &amp; PLANNING [SAP Analytics Cloud (SAC)]: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Unified BI, predictive forecasting, agentic analytics, and enterprise planning across finance and plant operations.</a:t>
            </a:r>
          </a:p>
          <a:p>
            <a:pPr>
              <a:defRPr sz="900" b="1">
                <a:solidFill>
                  <a:srgbClr val="0066CC"/>
                </a:solidFill>
                <a:latin typeface="Arial"/>
              </a:defRPr>
            </a:pPr>
            <a:r>
              <a:t>- DATA WAREHOUSING [SAP Business Warehouse (BW / BW/4HANA)]: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Proven enterprise data consolidation model preserving historic manufacturing trends and statutory reporting.</a:t>
            </a:r>
          </a:p>
          <a:p>
            <a:pPr>
              <a:defRPr sz="900" b="1">
                <a:solidFill>
                  <a:srgbClr val="0066CC"/>
                </a:solidFill>
                <a:latin typeface="Arial"/>
              </a:defRPr>
            </a:pPr>
            <a:r>
              <a:t>- AI / DATA SCIENCE [SAP Databricks Open Data Ecosystem]: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Zero-copy bi-directional data sharing between SAP Datasphere and Databricks lakehouse for advanced industrial ML.</a:t>
            </a:r>
          </a:p>
          <a:p>
            <a:pPr>
              <a:defRPr sz="900" b="1">
                <a:solidFill>
                  <a:srgbClr val="0066CC"/>
                </a:solidFill>
                <a:latin typeface="Arial"/>
              </a:defRPr>
            </a:pPr>
            <a:r>
              <a:t>- DATA GOVERNANCE [SAP Master Data Governance (MDG)]: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Centralized governance, duplicate detection, and golden-record stewardship for materials, BOMs, and vendor entities.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96596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03120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8463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rial"/>
              </a:defRPr>
            </a:pPr>
            <a:r>
              <a:t>Healthium Medtech Pvt. Ltd.</a:t>
            </a:r>
          </a:p>
          <a:p>
            <a:pPr>
              <a:defRPr sz="900">
                <a:solidFill>
                  <a:srgbClr val="0066CC"/>
                </a:solidFill>
                <a:latin typeface="Calibri"/>
              </a:defRPr>
            </a:pPr>
            <a:r>
              <a:t>Domain Context: Enterprise data integration, analytics, and multi-hub manufacturing reporting.</a:t>
            </a:r>
            <a:br/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Illustrative BTP Application Scenario:</a:t>
            </a:r>
            <a:br/>
            <a:r>
              <a:t>Consolidating disparate operational data sources into a unified reporting layer to provide management with reliable visibility across plant operations, production output, and commercial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60520"/>
            <a:ext cx="521208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4297680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572000"/>
            <a:ext cx="484632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rial"/>
              </a:defRPr>
            </a:pPr>
            <a:r>
              <a:t>Hical Technologies Private Limited</a:t>
            </a:r>
          </a:p>
          <a:p>
            <a:pPr>
              <a:defRPr sz="900">
                <a:solidFill>
                  <a:srgbClr val="0066CC"/>
                </a:solidFill>
                <a:latin typeface="Calibri"/>
              </a:defRPr>
            </a:pPr>
            <a:r>
              <a:t>Domain Context: Master data governance, reporting accuracy, and enterprise visibility.</a:t>
            </a:r>
            <a:br/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Illustrative BTP Application Scenario:</a:t>
            </a:r>
            <a:br/>
            <a:r>
              <a:t>Addressing material and supplier master data inconsistencies across multi-plant manufacturing units, establishing verified data quality to accelerate executive decision-making.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03 / 09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USE CASE 2: SAP BUSINESS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From Information Access to Intelligent Business Assistance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10728655" cy="6858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82880"/>
          <a:lstStyle/>
          <a:p>
            <a:pPr algn="ctr">
              <a:defRPr sz="850" b="1">
                <a:solidFill>
                  <a:srgbClr val="7C3AED"/>
                </a:solidFill>
                <a:latin typeface="Arial"/>
              </a:defRPr>
            </a:pPr>
            <a:r>
              <a:t>THE ENTERPRISE AI ENGAGEMENT CYCLE</a:t>
            </a:r>
          </a:p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User Asks  —►  AI Understands Business Context  —►  AI Retrieves Enterprise Information  —►  AI Recommends / Assists  —►  Business Executes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2120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84632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7C3AED"/>
                </a:solidFill>
                <a:latin typeface="Arial"/>
              </a:defRPr>
            </a:pPr>
            <a:r>
              <a:t>SAP Joule Suite &amp; Practical Scenarios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Joule Core &amp; Joule Work: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Contextual conversational copilot built directly into SAP applications for natural language queries and transactional navigation.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Joule Assistants &amp; Specialized Agents: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Autonomous agents that monitor production schedules, flag component delays, and recommend rescheduling actions.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Joule Studio: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Low-code environment to fine-tune enterprise models, create custom business prompts, and ground generative AI in specific manufacturing context.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Joule for Consultants &amp; Developers: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AI-assisted code development, automated test generation, and BTP API discovery to accelerate project execution.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Practical Enterprise Use Scenarios: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Manufacturing plant insights, procurement assistance, sales order exception analysis, warranty claims adjudication, and technical knowledge retrieval.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920240"/>
            <a:ext cx="5212080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057400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31720"/>
            <a:ext cx="484632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rial"/>
              </a:defRPr>
            </a:pPr>
            <a:r>
              <a:t>Steel Authority of India Limited (SAIL)</a:t>
            </a:r>
          </a:p>
          <a:p>
            <a:pPr>
              <a:defRPr sz="900">
                <a:solidFill>
                  <a:srgbClr val="7C3AED"/>
                </a:solidFill>
                <a:latin typeface="Calibri"/>
              </a:defRPr>
            </a:pPr>
            <a:r>
              <a:t>Domain Context: Heavy-industry manufacturing providing relevant context for operational insights and enterprise decision support.</a:t>
            </a:r>
            <a:br/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Illustrative AI Opportunity Scenario:</a:t>
            </a:r>
            <a:br/>
            <a:r>
              <a:t>Equipping engineering and operations teams with intelligent query interfaces that synthesize complex plant telemetry, maintenance history, and operational parameters to resolve bottlenecks rapidly.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4133087"/>
            <a:ext cx="5212080" cy="2084831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4270248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544568"/>
            <a:ext cx="484632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Arial"/>
              </a:defRPr>
            </a:pPr>
            <a:r>
              <a:t>Taurani Holdings</a:t>
            </a:r>
          </a:p>
          <a:p>
            <a:pPr>
              <a:defRPr sz="900">
                <a:solidFill>
                  <a:srgbClr val="7C3AED"/>
                </a:solidFill>
                <a:latin typeface="Calibri"/>
              </a:defRPr>
            </a:pPr>
            <a:r>
              <a:t>Domain Context: Multi-division enterprise context applicable to intelligent analytics and commercial decision support.</a:t>
            </a:r>
            <a:br/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Illustrative AI Opportunity Scenario:</a:t>
            </a:r>
            <a:br/>
            <a:r>
              <a:t>Applying predictive modeling and automated variance detection to highlight commodity and component cost trends, giving commercial leaders early warning to adjust procurement and pricing strategies.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04 / 09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USE CASE 3: SAP INTEGRATION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Connect Every Plant, Application, Partner and Process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371600"/>
            <a:ext cx="3657600" cy="237744"/>
          </a:xfrm>
          <a:prstGeom prst="roundRect">
            <a:avLst/>
          </a:prstGeom>
          <a:solidFill>
            <a:srgbClr val="EEF2FF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0066CC"/>
                </a:solidFill>
                <a:latin typeface="Arial"/>
              </a:defRPr>
            </a:pPr>
            <a:r>
              <a:t>ENTERPRISE CONNECTIVITY CAPABILITIES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54880" cy="42976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A285F"/>
                </a:solidFill>
                <a:latin typeface="Arial"/>
              </a:defRPr>
            </a:pPr>
            <a:r>
              <a:t>From Point-to-Point to Governed Fabric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Application Integration: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Connect heterogeneous SAP and non-SAP enterprise systems using pre-built integration adapters and packaged content.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API Lifecycle Management: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Design, govern, secure, and monitor enterprise APIs with rate limiting, OAuth authentication, and catalog discoverability.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Event-Driven Architecture: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Leverage SAP Event Mesh to decouple transactional events (e.g. goods receipt, quality check) asynchronously without burdening the core.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B2B &amp; Partner Integration: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Standardize electronic communication with suppliers, Tier-1 automotive OEMs, and distributor networks across EDI and modern REST protocols.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Enterprise Integration Strategy: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Migrate away from fragile point-to-point custom integrations toward a centralized, governed, and highly observable integration backbone.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Agentic AI Integration: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Provide secure, governed API access layers enabling intelligent agents to interact with transactional ERP systems safely.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188720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325880"/>
            <a:ext cx="2926080" cy="219456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PROVEN EXPERIENCE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TATA Electronics Pvt. Ltd. (TEPL)</a:t>
            </a:r>
          </a:p>
          <a:p>
            <a:pPr>
              <a:defRPr sz="900" b="1">
                <a:solidFill>
                  <a:srgbClr val="0066CC"/>
                </a:solidFill>
                <a:latin typeface="Calibri"/>
              </a:defRPr>
            </a:pPr>
            <a:r>
              <a:t>Verified Context: SAP / MES Integration + Manufacturing Data + Analytics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Architectural Flow Demonstrated:</a:t>
            </a:r>
            <a:br/>
            <a:r>
              <a:t>MES / Manufacturing Systems  —►  Integration Layer  —►  SAP S/4HANA &amp; ECC  —►  Business Analytics (HANA / Tableau)</a:t>
            </a:r>
            <a:br/>
            <a:br/>
            <a:r>
              <a:t>Relevance to Target Enterprise: Demonstrates concrete Lumbini capability in bridging plant-floor execution systems to enterprise ERP for unified production and yield visibility.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749039"/>
            <a:ext cx="52120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3886200"/>
            <a:ext cx="2926080" cy="219456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PROVEN EXPERIENCE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160520"/>
            <a:ext cx="4846320" cy="19202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Tata Semiconductor Assembly &amp; Test (TSAT)</a:t>
            </a:r>
          </a:p>
          <a:p>
            <a:pPr>
              <a:defRPr sz="900" b="1">
                <a:solidFill>
                  <a:srgbClr val="0066CC"/>
                </a:solidFill>
                <a:latin typeface="Calibri"/>
              </a:defRPr>
            </a:pPr>
            <a:r>
              <a:t>Verified Context: Manufacturing-System Connectivity &amp; Enterprise Integration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Architectural Flow Demonstrated:</a:t>
            </a:r>
            <a:br/>
            <a:r>
              <a:t>Plant Systems  —►  Secure Integration Gateway  —►  SAP Core  —►  Operational Analytics</a:t>
            </a:r>
            <a:br/>
            <a:br/>
            <a:r>
              <a:t>Relevance to Target Enterprise: Demonstrates hands-on capability in architecting high-reliability, secure data exchanges between plant-floor environments and central ERP.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05 / 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USE CASE 4: WORKFLOW, AUTOMATION &amp; SIGNAVIO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Automate the Work Around SAP — Not Just the Transaction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10728655" cy="7315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 lIns="182880"/>
          <a:lstStyle/>
          <a:p>
            <a:pPr algn="ctr">
              <a:defRPr sz="850" b="1">
                <a:solidFill>
                  <a:srgbClr val="0A285F"/>
                </a:solidFill>
                <a:latin typeface="Arial"/>
              </a:defRPr>
            </a:pPr>
            <a:r>
              <a:t>TYPICAL MANUFACTURING AUTOMATION FLOW ON SAP BTP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Trigger (Plant / Sensor / Order)  —►  Business Rule Evaluated  —►  Orchestrated Workflow  —►  Human Approval (Mobile/Task Center)  —►  SAP Core Posting  —►  Audit Trail &amp; Notification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4754880" cy="40233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A285F"/>
                </a:solidFill>
                <a:latin typeface="Arial"/>
              </a:defRPr>
            </a:pPr>
            <a:r>
              <a:t>Automation &amp; Process Intelligence Suite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SAP Build Process Automation: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Unified low-code/no-code environment combining workflow orchestration, business rules, form builders, and robotic process automation (RPA).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Dynamic Business Rules Engine: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Decouples decision logic (discount thresholds, engineering tolerance checks, warranty validation) from core ABAP code, editable directly by process owners.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SAP Central Task Center: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Consolidates approval inboxes across SAP S/4HANA, ECC, Ariba, and custom applications into one unified mobile and desktop inbox.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SAP Signavio Process Intelligence: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Continuously mines operational event logs to reveal hidden bottlenecks, rework loops in manufacturing, and process deviations before automating.</a:t>
            </a:r>
          </a:p>
          <a:p>
            <a:pPr>
              <a:defRPr sz="900" b="1">
                <a:solidFill>
                  <a:srgbClr val="0F172A"/>
                </a:solidFill>
                <a:latin typeface="Arial"/>
              </a:defRPr>
            </a:pPr>
            <a:r>
              <a:t>- Audit-Ready Traceability: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Ensures end-to-end electronic records, digital signatures, and immutable logging across plant and supply chain processes.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965960"/>
            <a:ext cx="521208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2148840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468880"/>
            <a:ext cx="4846320" cy="35661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Arial"/>
              </a:defRPr>
            </a:pPr>
            <a:r>
              <a:t>Dr. Reddy's Laboratories Ltd.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Domain Context: Relevant regulated-industry experience providing a strong reference point for workflow, approval, compliance, and process automation opportunities.</a:t>
            </a:r>
            <a:br/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Illustrative BTP Application Opportunities in Discrete Manufacturing:</a:t>
            </a:r>
          </a:p>
          <a:p>
            <a:pPr>
              <a:defRPr sz="880" b="1">
                <a:solidFill>
                  <a:srgbClr val="0A285F"/>
                </a:solidFill>
                <a:latin typeface="Arial"/>
              </a:defRPr>
            </a:pPr>
            <a:r>
              <a:t>* Multi-Tier Plant Approvals: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Managing complex delegation of authority and multi-stage sign-offs across distributed manufacturing sites without manual delays.</a:t>
            </a:r>
          </a:p>
          <a:p>
            <a:pPr>
              <a:defRPr sz="880" b="1">
                <a:solidFill>
                  <a:srgbClr val="0A285F"/>
                </a:solidFill>
                <a:latin typeface="Arial"/>
              </a:defRPr>
            </a:pPr>
            <a:r>
              <a:t>* Compliance &amp; Traceability: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Replacing paper-based checklists and manual logs with automated, audit-ready digital workflows integrated into ERP.</a:t>
            </a:r>
          </a:p>
          <a:p>
            <a:pPr>
              <a:defRPr sz="880" b="1">
                <a:solidFill>
                  <a:srgbClr val="0A285F"/>
                </a:solidFill>
                <a:latin typeface="Arial"/>
              </a:defRPr>
            </a:pPr>
            <a:r>
              <a:t>* Exception Routing: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Automatically detecting and routing quality holds, material variance alerts, and non-conformance records to authorized specialists.</a:t>
            </a:r>
          </a:p>
          <a:p>
            <a:pPr>
              <a:defRPr sz="880" b="1">
                <a:solidFill>
                  <a:srgbClr val="0A285F"/>
                </a:solidFill>
                <a:latin typeface="Arial"/>
              </a:defRPr>
            </a:pPr>
            <a:r>
              <a:t>* Cross-Functional Coordination: 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Synchronizing handoffs between production, quality assurance, regulatory affairs, and inventory teams seamlessly.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06 / 09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USE CASE 5: CUSTOM APP DEVELOPMENT (CAP VS. RAP)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Build New Business Experiences Without Overloading the SAP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285F"/>
                </a:solidFill>
                <a:latin typeface="Arial"/>
              </a:defRPr>
            </a:pPr>
            <a:r>
              <a:t>Extension Architecture Frameworks: CAP vs. RAP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783080"/>
          <a:ext cx="48463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/>
                <a:gridCol w="2423160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SAP CAP (Cloud-Native)</a:t>
                      </a:r>
                    </a:p>
                  </a:txBody>
                  <a:tcPr>
                    <a:solidFill>
                      <a:srgbClr val="0A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SAP RAP (ABAP-Centric)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A285F"/>
                          </a:solidFill>
                          <a:latin typeface="Arial"/>
                        </a:defRPr>
                      </a:pPr>
                      <a:r>
                        <a:t>Technology Stack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Node.js / Java on Cloud Foundry &amp; Kyma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Technology Stack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ABAP Cloud / RESTful ABAP on S/4HANA &amp; BTP ABAP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A285F"/>
                          </a:solidFill>
                          <a:latin typeface="Arial"/>
                        </a:defRPr>
                      </a:pPr>
                      <a:r>
                        <a:t>Architectural Model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Side-by-side, fully decoupled cloud extensions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Architectural Model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In-app extensions &amp; tightly coupled ledger logic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A285F"/>
                          </a:solidFill>
                          <a:latin typeface="Arial"/>
                        </a:defRPr>
                      </a:pPr>
                      <a:r>
                        <a:t>Runtime Environment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BTP Cloud Foundry / Kubernetes (Kyma)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Runtime Environment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S/4HANA Cloud / BTP ABAP Environment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A285F"/>
                          </a:solidFill>
                          <a:latin typeface="Arial"/>
                        </a:defRPr>
                      </a:pPr>
                      <a:r>
                        <a:t>Primary Use Cases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Dealer portals, customer mobile apps, multi-tenant SaaS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Primary Use Cases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Transactional business objects, core extensions, heavy calculations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A285F"/>
                          </a:solidFill>
                          <a:latin typeface="Arial"/>
                        </a:defRPr>
                      </a:pPr>
                      <a:r>
                        <a:t>Core Benefit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Zero ERP release lock-in; open web developer ecosystem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C3AED"/>
                          </a:solidFill>
                          <a:latin typeface="Arial"/>
                        </a:defRPr>
                      </a:pPr>
                      <a:r>
                        <a:t>Core Benefit</a:t>
                      </a:r>
                      <a:br/>
                    </a:p>
                    <a:p>
                      <a:pPr>
                        <a:defRPr sz="8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Direct CDS data model reuse &amp; native ABAP 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248095" y="1188720"/>
            <a:ext cx="52120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325880"/>
            <a:ext cx="2926080" cy="219456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PROVEN ENTERPRISE PROOF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600200"/>
            <a:ext cx="4846320" cy="2148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L&amp;T Construction &amp; Mining Machinery: DEMANS</a:t>
            </a:r>
          </a:p>
          <a:p>
            <a:pPr>
              <a:defRPr sz="900" b="1">
                <a:solidFill>
                  <a:srgbClr val="0066CC"/>
                </a:solidFill>
                <a:latin typeface="Calibri"/>
              </a:defRPr>
            </a:pPr>
            <a:r>
              <a:t>Dealer Management System (DEMANS) — Custom Application Development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Architectural Flow:</a:t>
            </a:r>
            <a:br/>
            <a:r>
              <a:t>Dealer  —►  DEMANS Custom Portal  —►  Integration Layer  —►  SAP Core  —►  Sales / Inventory / Orders / Business Processes</a:t>
            </a:r>
            <a:br/>
            <a:br/>
            <a:r>
              <a:t>Lumbini Value Demonstrated:</a:t>
            </a:r>
            <a:br/>
            <a:r>
              <a:t>Architected an enterprise-grade dealer management application that unifies dealer spare parts ordering, inventory visibility, and sales workflows connected directly to SAP backend without customizing standard core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095" y="3977639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46520" y="4114800"/>
            <a:ext cx="2926080" cy="219456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F172A"/>
                </a:solidFill>
                <a:latin typeface="Arial"/>
              </a:defRPr>
            </a:pPr>
            <a:r>
              <a:t>RELEVANT EXPERIENCE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370832"/>
            <a:ext cx="4846320" cy="16916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200" b="1">
                <a:solidFill>
                  <a:srgbClr val="0F172A"/>
                </a:solidFill>
                <a:latin typeface="Arial"/>
              </a:defRPr>
            </a:pPr>
            <a:r>
              <a:t>Indian Agro &amp; Food Industries Limited (IB Group)</a:t>
            </a:r>
          </a:p>
          <a:p>
            <a:pPr>
              <a:defRPr sz="900" b="1">
                <a:solidFill>
                  <a:srgbClr val="0066CC"/>
                </a:solidFill>
                <a:latin typeface="Calibri"/>
              </a:defRPr>
            </a:pPr>
            <a:r>
              <a:t>Domain Context: Multi-plant agro/food industry experience applicable to enterprise process digitization, operational visibility, and business integration.</a:t>
            </a:r>
          </a:p>
          <a:p>
            <a:pPr>
              <a:defRPr sz="850">
                <a:solidFill>
                  <a:srgbClr val="64748B"/>
                </a:solidFill>
                <a:latin typeface="Calibri"/>
              </a:defRPr>
            </a:pPr>
            <a:r>
              <a:t>Illustrative BTP Opportunity Scenario:</a:t>
            </a:r>
            <a:br/>
            <a:r>
              <a:t>Extending ERP with responsive, side-by-side web and mobile apps to handle multi-plant batch tracking, dispatch schedules, and inventory transfers across geographically dispersed sites.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07 / 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66CC"/>
                </a:solidFill>
                <a:latin typeface="Arial"/>
              </a:defRPr>
            </a:pPr>
            <a:r>
              <a:t>PROPRIETARY ENTERPRISE MICROSERVICES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Arial"/>
              </a:defRPr>
            </a:pPr>
            <a:r>
              <a:t>Beyond Standard SAP: Lumbini Elitia Accelerators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15568"/>
            <a:ext cx="10728655" cy="65836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 lIns="182880"/>
          <a:lstStyle/>
          <a:p>
            <a:pPr algn="ctr">
              <a:defRPr sz="850" b="1">
                <a:solidFill>
                  <a:srgbClr val="0A285F"/>
                </a:solidFill>
                <a:latin typeface="Arial"/>
              </a:defRPr>
            </a:pPr>
            <a:r>
              <a:t>COMPLEMENTING SAP — NOT REPLACING IT</a:t>
            </a:r>
          </a:p>
          <a:p>
            <a:pPr>
              <a:defRPr sz="950" b="1">
                <a:solidFill>
                  <a:srgbClr val="0066CC"/>
                </a:solidFill>
                <a:latin typeface="Calibri"/>
              </a:defRPr>
            </a:pPr>
            <a:r>
              <a:t>A portfolio of proprietary enterprise microservices and digital accelerators designed to complement SAP landscapes.</a:t>
            </a:r>
            <a:br/>
            <a:r>
              <a:t>Architecture: Elitia Microservices  ↕  APIs / Integration  ↕  SAP BTP Integration Layer  ↕  SAP S/4HANA &amp; ECC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17373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2176272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0B4D8"/>
                </a:solidFill>
                <a:latin typeface="Arial"/>
              </a:defRPr>
            </a:pPr>
            <a:r>
              <a:t>ACCELERATOR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87168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Supplier Collaboration Portal</a:t>
            </a:r>
          </a:p>
          <a:p>
            <a:br/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Digital vendor onboarding, purchase order acknowledgment, advance shipment notices (ASN), digital gate passes, and delivery scheduling.</a:t>
            </a:r>
          </a:p>
          <a:p>
            <a:br/>
            <a:pPr>
              <a:defRPr sz="800" b="1">
                <a:solidFill>
                  <a:srgbClr val="00B4D8"/>
                </a:solidFill>
                <a:latin typeface="Arial"/>
              </a:defRPr>
            </a:pPr>
            <a:r>
              <a:t>Integration Layer:</a:t>
            </a:r>
            <a:br/>
            <a:r>
              <a:t>SAP MM / S/4HANA Sourcing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1874519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044952" y="2011680"/>
            <a:ext cx="1737360" cy="54864"/>
          </a:xfrm>
          <a:prstGeom prst="rect">
            <a:avLst/>
          </a:prstGeom>
          <a:solidFill>
            <a:srgbClr val="0A2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044952" y="2176272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0A285F"/>
                </a:solidFill>
                <a:latin typeface="Arial"/>
              </a:defRPr>
            </a:pPr>
            <a:r>
              <a:t>ACCELERATOR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487168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Data Governance Suite</a:t>
            </a:r>
          </a:p>
          <a:p>
            <a:br/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Enterprise-wide data quality management, cross-plant deduplication rules, automated approval workflows, and audit-ready data tracking.</a:t>
            </a:r>
          </a:p>
          <a:p>
            <a:br/>
            <a:pPr>
              <a:defRPr sz="800" b="1">
                <a:solidFill>
                  <a:srgbClr val="0A285F"/>
                </a:solidFill>
                <a:latin typeface="Arial"/>
              </a:defRPr>
            </a:pPr>
            <a:r>
              <a:t>Integration Layer:</a:t>
            </a:r>
            <a:br/>
            <a:r>
              <a:t>SAP MDG / Datasphere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4064" y="1874519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221224" y="2011680"/>
            <a:ext cx="173736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221224" y="2176272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7C3AED"/>
                </a:solidFill>
                <a:latin typeface="Arial"/>
              </a:defRPr>
            </a:pPr>
            <a:r>
              <a:t>ACCELERATOR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2487168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Master Data Validator</a:t>
            </a:r>
          </a:p>
          <a:p>
            <a:br/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Automated pre-posting validation engine that checks material specs, customer records, and tax configurations against business rules before ERP posting.</a:t>
            </a:r>
          </a:p>
          <a:p>
            <a:br/>
            <a:pPr>
              <a:defRPr sz="800" b="1">
                <a:solidFill>
                  <a:srgbClr val="7C3AED"/>
                </a:solidFill>
                <a:latin typeface="Arial"/>
              </a:defRPr>
            </a:pPr>
            <a:r>
              <a:t>Integration Layer:</a:t>
            </a:r>
            <a:br/>
            <a:r>
              <a:t>Pre-Posting Rule Engine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0336" y="1874519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97496" y="2011680"/>
            <a:ext cx="17373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97496" y="2176272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10B981"/>
                </a:solidFill>
                <a:latin typeface="Arial"/>
              </a:defRPr>
            </a:pPr>
            <a:r>
              <a:t>ACCELERATOR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7496" y="2487168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Customer Experience Portal</a:t>
            </a:r>
          </a:p>
          <a:p>
            <a:br/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Modern B2B/B2C self-service portal for dealers and end-customers providing real-time order status, pricing, catalog search, and warranty registration.</a:t>
            </a:r>
          </a:p>
          <a:p>
            <a:br/>
            <a:pPr>
              <a:defRPr sz="800" b="1">
                <a:solidFill>
                  <a:srgbClr val="10B981"/>
                </a:solidFill>
                <a:latin typeface="Arial"/>
              </a:defRPr>
            </a:pPr>
            <a:r>
              <a:t>Integration Layer:</a:t>
            </a:r>
            <a:br/>
            <a:r>
              <a:t>SAP SD / Digital Commerce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36608" y="1874519"/>
            <a:ext cx="20116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73768" y="2011680"/>
            <a:ext cx="17373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73768" y="2176272"/>
            <a:ext cx="1737360" cy="219456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50" b="1">
                <a:solidFill>
                  <a:srgbClr val="D97706"/>
                </a:solidFill>
                <a:latin typeface="Arial"/>
              </a:defRPr>
            </a:pPr>
            <a:r>
              <a:t>ACCELERATOR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73768" y="2487168"/>
            <a:ext cx="1737360" cy="34747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50" b="1">
                <a:solidFill>
                  <a:srgbClr val="0F172A"/>
                </a:solidFill>
                <a:latin typeface="Arial"/>
              </a:defRPr>
            </a:pPr>
            <a:r>
              <a:t>Workforce Safety Management</a:t>
            </a:r>
          </a:p>
          <a:p>
            <a:br/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Comprehensive plant safety management covering incident logging, hazardous work permits, EHS compliance tracking, and safety training audits.</a:t>
            </a:r>
          </a:p>
          <a:p>
            <a:br/>
            <a:pPr>
              <a:defRPr sz="800" b="1">
                <a:solidFill>
                  <a:srgbClr val="D97706"/>
                </a:solidFill>
                <a:latin typeface="Arial"/>
              </a:defRPr>
            </a:pPr>
            <a:r>
              <a:t>Integration Layer:</a:t>
            </a:r>
            <a:br/>
            <a:r>
              <a:t>SAP EHS / Plant Maintenance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64748B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66CC"/>
                </a:solidFill>
                <a:latin typeface="Arial"/>
              </a:defRPr>
            </a:pPr>
            <a: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237744"/>
          </a:xfrm>
          <a:prstGeom prst="roundRect">
            <a:avLst/>
          </a:prstGeom>
          <a:solidFill>
            <a:srgbClr val="151F3C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18288"/>
          <a:lstStyle/>
          <a:p>
            <a:pPr algn="ctr">
              <a:defRPr sz="850" b="1">
                <a:solidFill>
                  <a:srgbClr val="00B4D8"/>
                </a:solidFill>
                <a:latin typeface="Arial"/>
              </a:defRPr>
            </a:pPr>
            <a:r>
              <a:t>DELIVERY METHODOLOGY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"/>
            <a:ext cx="10728655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Arial"/>
              </a:defRPr>
            </a:pPr>
            <a:r>
              <a:t>Clean Core. Connected Enterprise. Accelerated Innovation.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2560320" cy="17373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80160"/>
            <a:ext cx="22860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01 — DISCOVER</a:t>
            </a:r>
          </a:p>
          <a:p>
            <a:pPr>
              <a:defRPr sz="900" b="1">
                <a:solidFill>
                  <a:srgbClr val="F8FAFC"/>
                </a:solidFill>
                <a:latin typeface="Arial"/>
              </a:defRPr>
            </a:pPr>
            <a:r>
              <a:t>Identify Landscape Friction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Analyze core customizations, point-to-point integration pain points, data fragmentation, and manual plant approval processes.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188720"/>
            <a:ext cx="2560320" cy="17373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280160"/>
            <a:ext cx="22860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02 — PRIORITIZE</a:t>
            </a:r>
          </a:p>
          <a:p>
            <a:pPr>
              <a:defRPr sz="900" b="1">
                <a:solidFill>
                  <a:srgbClr val="F8FAFC"/>
                </a:solidFill>
                <a:latin typeface="Arial"/>
              </a:defRPr>
            </a:pPr>
            <a:r>
              <a:t>Strategic Value Matrix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Evaluate candidate opportunities based on:</a:t>
            </a:r>
            <a:br/>
            <a:r>
              <a:t>Business Value × Complexity × Reusability × Time-to-Value.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188720"/>
            <a:ext cx="2560320" cy="17373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280160"/>
            <a:ext cx="22860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03 — PILOT</a:t>
            </a:r>
          </a:p>
          <a:p>
            <a:pPr>
              <a:defRPr sz="900" b="1">
                <a:solidFill>
                  <a:srgbClr val="F8FAFC"/>
                </a:solidFill>
                <a:latin typeface="Arial"/>
              </a:defRPr>
            </a:pPr>
            <a:r>
              <a:t>Single High-Impact Use Case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Implement one focused lighthouse pilot (e.g. process automation, dealer portal, unified data view) to validate value rapidly.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188720"/>
            <a:ext cx="2560320" cy="1737360"/>
          </a:xfrm>
          <a:prstGeom prst="roundRect">
            <a:avLst/>
          </a:prstGeom>
          <a:solidFill>
            <a:srgbClr val="151F3C"/>
          </a:solidFill>
          <a:ln>
            <a:solidFill>
              <a:srgbClr val="28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280160"/>
            <a:ext cx="2286000" cy="1554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04 — SCALE</a:t>
            </a:r>
          </a:p>
          <a:p>
            <a:pPr>
              <a:defRPr sz="900" b="1">
                <a:solidFill>
                  <a:srgbClr val="F8FAFC"/>
                </a:solidFill>
                <a:latin typeface="Arial"/>
              </a:defRPr>
            </a:pPr>
            <a:r>
              <a:t>Reusable Foundation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Standardize enterprise APIs, integration patterns, semantic data models, and deploy relevant Elitia accelerators across divisions.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63240"/>
            <a:ext cx="2560320" cy="1188720"/>
          </a:xfrm>
          <a:prstGeom prst="roundRect">
            <a:avLst/>
          </a:prstGeom>
          <a:solidFill>
            <a:srgbClr val="101930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5468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066CC"/>
                </a:solidFill>
                <a:latin typeface="Arial"/>
              </a:defRPr>
            </a:pPr>
            <a:r>
              <a:t>SAP EXPERTISE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Deep architectural mastery across S/4HANA, ECC, and SAP BTP.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3063240"/>
            <a:ext cx="2560320" cy="1188720"/>
          </a:xfrm>
          <a:prstGeom prst="roundRect">
            <a:avLst/>
          </a:prstGeom>
          <a:solidFill>
            <a:srgbClr val="101930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315468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00B4D8"/>
                </a:solidFill>
                <a:latin typeface="Arial"/>
              </a:defRPr>
            </a:pPr>
            <a:r>
              <a:t>MANUFACTURING FOCUS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Extensive experience across plants, MES, quality, supply chain, and dealers.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3063240"/>
            <a:ext cx="2560320" cy="1188720"/>
          </a:xfrm>
          <a:prstGeom prst="roundRect">
            <a:avLst/>
          </a:prstGeom>
          <a:solidFill>
            <a:srgbClr val="101930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315468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7C3AED"/>
                </a:solidFill>
                <a:latin typeface="Arial"/>
              </a:defRPr>
            </a:pPr>
            <a:r>
              <a:t>DIGITAL ENGINEERING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Modern cloud-native engineering across APIs, integrations, data, and analytics.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3063240"/>
            <a:ext cx="2560320" cy="1188720"/>
          </a:xfrm>
          <a:prstGeom prst="roundRect">
            <a:avLst/>
          </a:prstGeom>
          <a:solidFill>
            <a:srgbClr val="10193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3154680"/>
            <a:ext cx="2286000" cy="1005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950" b="1">
                <a:solidFill>
                  <a:srgbClr val="10B981"/>
                </a:solidFill>
                <a:latin typeface="Arial"/>
              </a:defRPr>
            </a:pPr>
            <a:r>
              <a:t>PROPRIETARY ACCELERATORS</a:t>
            </a:r>
          </a:p>
          <a:p>
            <a:pPr>
              <a:defRPr sz="850">
                <a:solidFill>
                  <a:srgbClr val="94A3B8"/>
                </a:solidFill>
                <a:latin typeface="Calibri"/>
              </a:defRPr>
            </a:pPr>
            <a:r>
              <a:t>Proven Elitia microservices and pre-built connectors to shorten time-to-value.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10728655" cy="1783080"/>
          </a:xfrm>
          <a:prstGeom prst="roundRect">
            <a:avLst/>
          </a:prstGeom>
          <a:solidFill>
            <a:srgbClr val="102044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98848"/>
            <a:ext cx="10241280" cy="16002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100" b="1">
                <a:solidFill>
                  <a:srgbClr val="00B4D8"/>
                </a:solidFill>
                <a:latin typeface="Arial"/>
              </a:defRPr>
            </a:pPr>
            <a:r>
              <a:t>PROPOSED IMMEDIATE NEXT STEP: 2-WEEK JOINT DISCOVERY WORKSHOP</a:t>
            </a:r>
          </a:p>
          <a:p>
            <a:pPr>
              <a:defRPr sz="1050" b="1">
                <a:solidFill>
                  <a:srgbClr val="F8FAFC"/>
                </a:solidFill>
                <a:latin typeface="Arial"/>
              </a:defRPr>
            </a:pPr>
            <a:r>
              <a:t>“Let's identify the first three BTP opportunities where the enterprise can create measurable business value without disrupting the SAP core.”</a:t>
            </a:r>
          </a:p>
          <a:p>
            <a:pPr>
              <a:defRPr sz="900">
                <a:solidFill>
                  <a:srgbClr val="94A3B8"/>
                </a:solidFill>
                <a:latin typeface="Calibri"/>
              </a:defRPr>
            </a:pPr>
            <a:r>
              <a:t>• Week 1 (Discover → Assess → Map): Review existing customization hotspots, plant connectivity bottlenecks, and dealer integration flows.</a:t>
            </a:r>
            <a:br/>
            <a:r>
              <a:t>• Week 2 (Prioritize → Design → Recommend): Formulate the BTP target architecture, evaluate business impact, and deliver a concrete Pilot Implementation Roadmap.</a:t>
            </a:r>
            <a:br/>
            <a:r>
              <a:t>Deliverable: BTP Opportunity Roadmap + Priority Use Cases + Target Architecture + Pilot Recommendation.</a:t>
            </a:r>
          </a:p>
          <a:p>
            <a:br/>
            <a:pPr>
              <a:defRPr sz="1000" b="1">
                <a:solidFill>
                  <a:srgbClr val="00B4D8"/>
                </a:solidFill>
                <a:latin typeface="Arial"/>
              </a:defRPr>
            </a:pPr>
            <a:r>
              <a:t>“Keep the Core Clean. Connect the Enterprise. Empower the Business. Build for Continuous Innovation.”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327648"/>
            <a:ext cx="10728655" cy="9144"/>
          </a:xfrm>
          <a:prstGeom prst="rect">
            <a:avLst/>
          </a:prstGeom>
          <a:solidFill>
            <a:srgbClr val="2838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382512"/>
            <a:ext cx="86868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850">
                <a:solidFill>
                  <a:srgbClr val="94A3B8"/>
                </a:solidFill>
                <a:latin typeface="Arial"/>
              </a:defRPr>
            </a:pPr>
            <a:r>
              <a:t>Lumbini Elite Solutions &amp; Services  |  Strategic SAP BTP Architecture &amp; Transformation  |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45775" y="6382512"/>
            <a:ext cx="91440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850" b="1">
                <a:solidFill>
                  <a:srgbClr val="00B4D8"/>
                </a:solidFill>
                <a:latin typeface="Arial"/>
              </a:defRPr>
            </a:pPr>
            <a: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