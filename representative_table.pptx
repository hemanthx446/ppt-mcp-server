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1. SCOPE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Turnkey Implementation Scope &amp; Boundary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Clear demarcations of advisory deliverables vs. client prerequisites.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Siemens Energy • Enterprise Structured Tables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01 / 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3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2384145"/>
                <a:gridCol w="2384145"/>
                <a:gridCol w="2384145"/>
              </a:tblGrid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EVALUATION CRITERIA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F172A"/>
                          </a:solidFill>
                          <a:latin typeface="Inter"/>
                        </a:rPr>
                        <a:t>In-Scope (Turnkey)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F172A"/>
                          </a:solidFill>
                          <a:latin typeface="Inter"/>
                        </a:rPr>
                        <a:t>Client Responsibility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F172A"/>
                          </a:solidFill>
                          <a:latin typeface="Inter"/>
                        </a:rPr>
                        <a:t>Out-of-Scope (Phase 2)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SAP BTP Event Mesh Setup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FULL (Turnkey)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PARTIAL (Access)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OPC-UA Machine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FULL (Turnkey)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PARTIAL (Network)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5646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Electronic Batch Records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FULL (Turnkey)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97706"/>
                          </a:solidFill>
                          <a:latin typeface="Inter"/>
                        </a:rPr>
                        <a:t>PARTIAL (SOP Sign-off)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56464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Multi-Site Cloud Rollout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RECOMMENDED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1C3159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B4D8"/>
                </a:solidFill>
                <a:latin typeface="Inter"/>
              </a:rPr>
              <a:t>2. COMMERCIAL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F8FAFC"/>
                </a:solidFill>
                <a:latin typeface="Inter"/>
              </a:rPr>
              <a:t>Milestone Invoicing Schedule &amp; Payment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B4D8"/>
                </a:solidFill>
                <a:latin typeface="Inter"/>
              </a:rPr>
              <a:t>Fixed-price engagement with payments tied strictly to certified deliverables.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26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94A3B8"/>
                </a:solidFill>
                <a:latin typeface="Inter"/>
              </a:rPr>
              <a:t>Siemens Energy • Enterprise Structured Tables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B4D8"/>
                </a:solidFill>
                <a:latin typeface="Inter"/>
              </a:rPr>
              <a:t>02 / 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2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6513"/>
                <a:gridCol w="4153027"/>
                <a:gridCol w="1557385"/>
                <a:gridCol w="1211299"/>
                <a:gridCol w="1730428"/>
              </a:tblGrid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PHASE / MILESTONE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KEY DELIVERABLE &amp; ACCEPTANCE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TIMELINE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BILLING %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B4D8"/>
                          </a:solidFill>
                          <a:latin typeface="Inter"/>
                        </a:rPr>
                        <a:t>INVESTMENT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Phase 1: Architecture Blueprint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Architecture blueprint &amp; security sign-off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Weeks 1-3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25%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$85,000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Phase 2: Pilot Implementation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Pilot line integration &amp; telemetry validation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Weeks 4-8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35%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$119,000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Phase 3: Plant Rollout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Full plant cutover &amp; operator enablement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Weeks 9-14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30%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$102,000</a:t>
                      </a:r>
                    </a:p>
                  </a:txBody>
                  <a:tcPr>
                    <a:solidFill>
                      <a:srgbClr val="16284B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Phase 4: Final Acceptance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30-day hypercare completion &amp; ledger audit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Weeks 15-16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10%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F8FAFC"/>
                          </a:solidFill>
                          <a:latin typeface="Inter"/>
                        </a:rPr>
                        <a:t>$34,000</a:t>
                      </a:r>
                    </a:p>
                  </a:txBody>
                  <a:tcPr>
                    <a:solidFill>
                      <a:srgbClr val="132240"/>
                    </a:solidFill>
                  </a:tcPr>
                </a:tc>
              </a:tr>
              <a:tr h="7970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TOTAL ENGAGEMENT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00B4D8"/>
                          </a:solidFill>
                          <a:latin typeface="Inter"/>
                        </a:rPr>
                        <a:t>100%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$340,000 Turnkey Fixed Investment</a:t>
                      </a:r>
                    </a:p>
                  </a:txBody>
                  <a:tcPr>
                    <a:solidFill>
                      <a:srgbClr val="1C315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2011680" cy="237744"/>
          </a:xfrm>
          <a:prstGeom prst="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200"/>
              </a:spcAft>
              <a:defRPr/>
            </a:pPr>
            <a:r>
              <a:rPr sz="850" b="1" i="0">
                <a:solidFill>
                  <a:srgbClr val="0066CC"/>
                </a:solidFill>
                <a:latin typeface="Inter"/>
              </a:rPr>
              <a:t>3. 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"/>
            <a:ext cx="1072865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0F172A"/>
                </a:solidFill>
                <a:latin typeface="Inter"/>
              </a:rPr>
              <a:t>Enterprise Risk Mitigation &amp; Contingency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1">
                <a:solidFill>
                  <a:srgbClr val="0066CC"/>
                </a:solidFill>
                <a:latin typeface="Inter"/>
              </a:rPr>
              <a:t>Quantified severity and pre-engineered hedging strategies.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5508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 b="0" i="0">
                <a:solidFill>
                  <a:srgbClr val="64748B"/>
                </a:solidFill>
                <a:latin typeface="Inter"/>
              </a:rPr>
              <a:t>Siemens Energy • Enterprise Structured Tables • Enterprise Architecture Advisory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19088"/>
            <a:ext cx="109728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 b="1" i="0">
                <a:solidFill>
                  <a:srgbClr val="0066CC"/>
                </a:solidFill>
                <a:latin typeface="Inter"/>
              </a:rPr>
              <a:t>03 / 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81328"/>
          <a:ext cx="10728653" cy="4782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826"/>
                <a:gridCol w="2973000"/>
                <a:gridCol w="1034087"/>
                <a:gridCol w="1034087"/>
                <a:gridCol w="904826"/>
                <a:gridCol w="2714479"/>
                <a:gridCol w="1163348"/>
              </a:tblGrid>
              <a:tr h="1195578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ID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RISK EVENT / VULNERABILITY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SEVERITY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LIKELIHOOD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SCORE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MITIGATION STRATEGY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50" b="1" i="0">
                          <a:solidFill>
                            <a:srgbClr val="0066CC"/>
                          </a:solidFill>
                          <a:latin typeface="Inter"/>
                        </a:rPr>
                        <a:t>OWNER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1195578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RSK-01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F172A"/>
                          </a:solidFill>
                          <a:latin typeface="Inter"/>
                        </a:rPr>
                        <a:t>OT firewall change freeze delays pilot line connect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MED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DC2626"/>
                          </a:solidFill>
                          <a:latin typeface="Inter"/>
                        </a:rPr>
                        <a:t>CRITICAL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Pre-authorize security exceptions via ARB charter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CISO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195578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RSK-02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F172A"/>
                          </a:solidFill>
                          <a:latin typeface="Inter"/>
                        </a:rPr>
                        <a:t>Legacy PLC firmware incompatible with OPC-UA daemon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Deploy industrial edge protocol translation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OT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95578"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RSK-03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0F172A"/>
                          </a:solidFill>
                          <a:latin typeface="Inter"/>
                        </a:rPr>
                        <a:t>Operator pushback against biometric sign-off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MED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0B981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Provide RFID badge tap alternative with supervisor PIN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800" b="0" i="0">
                          <a:solidFill>
                            <a:srgbClr val="0F172A"/>
                          </a:solidFill>
                          <a:latin typeface="Inter"/>
                        </a:rPr>
                        <a:t>HR Lead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