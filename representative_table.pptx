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Rectangle 2"/>
          <p:cNvSpPr/>
          <p:nvPr/>
        </p:nvSpPr>
        <p:spPr>
          <a:xfrm>
            <a:off x="731520" y="347472"/>
            <a:ext cx="2011680" cy="237744"/>
          </a:xfrm>
          <a:prstGeom prst="rect">
            <a:avLst/>
          </a:prstGeom>
          <a:solidFill>
            <a:srgbClr val="EEF2FF"/>
          </a:solidFill>
          <a:ln w="1270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>
              <a:spcAft>
                <a:spcPts val="200"/>
              </a:spcAft>
              <a:defRPr/>
            </a:pPr>
            <a:r>
              <a:rPr sz="850" b="1" i="0">
                <a:solidFill>
                  <a:srgbClr val="0066CC"/>
                </a:solidFill>
                <a:latin typeface="Inter"/>
              </a:rPr>
              <a:t>1. SCOPE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03504"/>
            <a:ext cx="10728655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900" b="1" i="0">
                <a:solidFill>
                  <a:srgbClr val="0F172A"/>
                </a:solidFill>
                <a:latin typeface="Inter"/>
              </a:rPr>
              <a:t>Turnkey Implementation Scope &amp; Boundary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05840"/>
            <a:ext cx="1072865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0" i="1">
                <a:solidFill>
                  <a:srgbClr val="0066CC"/>
                </a:solidFill>
                <a:latin typeface="Inter"/>
              </a:rPr>
              <a:t>Clear demarcations of advisory deliverables vs. client prerequisites.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355080"/>
            <a:ext cx="10728655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19088"/>
            <a:ext cx="77724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00" b="0" i="0">
                <a:solidFill>
                  <a:srgbClr val="64748B"/>
                </a:solidFill>
                <a:latin typeface="Inter"/>
              </a:rPr>
              <a:t>Siemens Energy • Enterprise Structured Tables • Enterprise Architecture Advisory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2895" y="6419088"/>
            <a:ext cx="1097280" cy="274320"/>
          </a:xfrm>
          <a:prstGeom prst="rect">
            <a:avLst/>
          </a:prstGeom>
          <a:noFill/>
        </p:spPr>
        <p:txBody>
          <a:bodyPr wrap="none" rIns="0" tIns="0">
            <a:spAutoFit/>
          </a:bodyPr>
          <a:lstStyle/>
          <a:p>
            <a:pPr algn="r"/>
            <a:r>
              <a:rPr sz="800" b="1" i="0">
                <a:solidFill>
                  <a:srgbClr val="0066CC"/>
                </a:solidFill>
                <a:latin typeface="Inter"/>
              </a:rPr>
              <a:t>01 / 03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" y="1481328"/>
          <a:ext cx="10728653" cy="4782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6218"/>
                <a:gridCol w="2384145"/>
                <a:gridCol w="2384145"/>
                <a:gridCol w="2384145"/>
              </a:tblGrid>
              <a:tr h="956462">
                <a:tc>
                  <a:txBody>
                    <a:bodyPr wrap="square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0066CC"/>
                          </a:solidFill>
                          <a:latin typeface="Inter"/>
                        </a:rPr>
                        <a:t>EVALUATION CRITERIA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0F172A"/>
                          </a:solidFill>
                          <a:latin typeface="Inter"/>
                        </a:rPr>
                        <a:t>In-Scope (Turnkey)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0F172A"/>
                          </a:solidFill>
                          <a:latin typeface="Inter"/>
                        </a:rPr>
                        <a:t>Client Responsibility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0F172A"/>
                          </a:solidFill>
                          <a:latin typeface="Inter"/>
                        </a:rPr>
                        <a:t>Out-of-Scope (Phase 2)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</a:tr>
              <a:tr h="956462">
                <a:tc>
                  <a:txBody>
                    <a:bodyPr wrap="square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SAP BTP Event Mesh Setup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10B981"/>
                          </a:solidFill>
                          <a:latin typeface="Inter"/>
                        </a:rPr>
                        <a:t>FULL (Turnkey)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D97706"/>
                          </a:solidFill>
                          <a:latin typeface="Inter"/>
                        </a:rPr>
                        <a:t>PARTIAL (Access)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DC2626"/>
                          </a:solidFill>
                          <a:latin typeface="Inter"/>
                        </a:rPr>
                        <a:t>NO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956462">
                <a:tc>
                  <a:txBody>
                    <a:bodyPr wrap="square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OPC-UA Machine Telemetry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10B981"/>
                          </a:solidFill>
                          <a:latin typeface="Inter"/>
                        </a:rPr>
                        <a:t>FULL (Turnkey)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D97706"/>
                          </a:solidFill>
                          <a:latin typeface="Inter"/>
                        </a:rPr>
                        <a:t>PARTIAL (Network)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DC2626"/>
                          </a:solidFill>
                          <a:latin typeface="Inter"/>
                        </a:rP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56462">
                <a:tc>
                  <a:txBody>
                    <a:bodyPr wrap="square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Electronic Batch Records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10B981"/>
                          </a:solidFill>
                          <a:latin typeface="Inter"/>
                        </a:rPr>
                        <a:t>FULL (Turnkey)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D97706"/>
                          </a:solidFill>
                          <a:latin typeface="Inter"/>
                        </a:rPr>
                        <a:t>PARTIAL (SOP Sign-off)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DC2626"/>
                          </a:solidFill>
                          <a:latin typeface="Inter"/>
                        </a:rPr>
                        <a:t>NO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956464">
                <a:tc>
                  <a:txBody>
                    <a:bodyPr wrap="square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Multi-Site Cloud Rollout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DC2626"/>
                          </a:solidFill>
                          <a:latin typeface="Inter"/>
                        </a:rP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DC2626"/>
                          </a:solidFill>
                          <a:latin typeface="Inter"/>
                        </a:rP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10B981"/>
                          </a:solidFill>
                          <a:latin typeface="Inter"/>
                        </a:rPr>
                        <a:t>RECOMMENDED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Rectangle 2"/>
          <p:cNvSpPr/>
          <p:nvPr/>
        </p:nvSpPr>
        <p:spPr>
          <a:xfrm>
            <a:off x="731520" y="347472"/>
            <a:ext cx="2011680" cy="237744"/>
          </a:xfrm>
          <a:prstGeom prst="rect">
            <a:avLst/>
          </a:prstGeom>
          <a:solidFill>
            <a:srgbClr val="1C3159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>
              <a:spcAft>
                <a:spcPts val="200"/>
              </a:spcAft>
              <a:defRPr/>
            </a:pPr>
            <a:r>
              <a:rPr sz="850" b="1" i="0">
                <a:solidFill>
                  <a:srgbClr val="00B4D8"/>
                </a:solidFill>
                <a:latin typeface="Inter"/>
              </a:rPr>
              <a:t>2. COMMERCIAL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03504"/>
            <a:ext cx="10728655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900" b="1" i="0">
                <a:solidFill>
                  <a:srgbClr val="F8FAFC"/>
                </a:solidFill>
                <a:latin typeface="Inter"/>
              </a:rPr>
              <a:t>Milestone Invoicing Schedule &amp; Payment Gates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05840"/>
            <a:ext cx="1072865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0" i="1">
                <a:solidFill>
                  <a:srgbClr val="00B4D8"/>
                </a:solidFill>
                <a:latin typeface="Inter"/>
              </a:rPr>
              <a:t>Fixed-price engagement with payments tied strictly to certified deliverables.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355080"/>
            <a:ext cx="10728655" cy="9144"/>
          </a:xfrm>
          <a:prstGeom prst="rect">
            <a:avLst/>
          </a:prstGeom>
          <a:solidFill>
            <a:srgbClr val="26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19088"/>
            <a:ext cx="77724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00" b="0" i="0">
                <a:solidFill>
                  <a:srgbClr val="94A3B8"/>
                </a:solidFill>
                <a:latin typeface="Inter"/>
              </a:rPr>
              <a:t>Siemens Energy • Enterprise Structured Tables • Enterprise Architecture Advisory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2895" y="6419088"/>
            <a:ext cx="1097280" cy="274320"/>
          </a:xfrm>
          <a:prstGeom prst="rect">
            <a:avLst/>
          </a:prstGeom>
          <a:noFill/>
        </p:spPr>
        <p:txBody>
          <a:bodyPr wrap="none" rIns="0" tIns="0">
            <a:spAutoFit/>
          </a:bodyPr>
          <a:lstStyle/>
          <a:p>
            <a:pPr algn="r"/>
            <a:r>
              <a:rPr sz="800" b="1" i="0">
                <a:solidFill>
                  <a:srgbClr val="00B4D8"/>
                </a:solidFill>
                <a:latin typeface="Inter"/>
              </a:rPr>
              <a:t>02 / 03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" y="1481328"/>
          <a:ext cx="10728652" cy="4782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76513"/>
                <a:gridCol w="4153027"/>
                <a:gridCol w="1557385"/>
                <a:gridCol w="1211299"/>
                <a:gridCol w="1730428"/>
              </a:tblGrid>
              <a:tr h="797052">
                <a:tc>
                  <a:txBody>
                    <a:bodyPr wrap="square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00B4D8"/>
                          </a:solidFill>
                          <a:latin typeface="Inter"/>
                        </a:rPr>
                        <a:t>PHASE / MILESTONE</a:t>
                      </a:r>
                    </a:p>
                  </a:txBody>
                  <a:tcPr>
                    <a:solidFill>
                      <a:srgbClr val="1C315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00B4D8"/>
                          </a:solidFill>
                          <a:latin typeface="Inter"/>
                        </a:rPr>
                        <a:t>KEY DELIVERABLE &amp; ACCEPTANCE</a:t>
                      </a:r>
                    </a:p>
                  </a:txBody>
                  <a:tcPr>
                    <a:solidFill>
                      <a:srgbClr val="1C315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00B4D8"/>
                          </a:solidFill>
                          <a:latin typeface="Inter"/>
                        </a:rPr>
                        <a:t>TIMELINE</a:t>
                      </a:r>
                    </a:p>
                  </a:txBody>
                  <a:tcPr>
                    <a:solidFill>
                      <a:srgbClr val="1C315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00B4D8"/>
                          </a:solidFill>
                          <a:latin typeface="Inter"/>
                        </a:rPr>
                        <a:t>BILLING %</a:t>
                      </a:r>
                    </a:p>
                  </a:txBody>
                  <a:tcPr>
                    <a:solidFill>
                      <a:srgbClr val="1C315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00B4D8"/>
                          </a:solidFill>
                          <a:latin typeface="Inter"/>
                        </a:rPr>
                        <a:t>INVESTMENT</a:t>
                      </a:r>
                    </a:p>
                  </a:txBody>
                  <a:tcPr>
                    <a:solidFill>
                      <a:srgbClr val="1C3159"/>
                    </a:solidFill>
                  </a:tcPr>
                </a:tc>
              </a:tr>
              <a:tr h="797052">
                <a:tc>
                  <a:txBody>
                    <a:bodyPr wrap="square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F8FAFC"/>
                          </a:solidFill>
                          <a:latin typeface="Inter"/>
                        </a:rPr>
                        <a:t>Phase 1: Architecture Blueprint</a:t>
                      </a:r>
                    </a:p>
                  </a:txBody>
                  <a:tcPr>
                    <a:solidFill>
                      <a:srgbClr val="16284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F8FAFC"/>
                          </a:solidFill>
                          <a:latin typeface="Inter"/>
                        </a:rPr>
                        <a:t>Architecture blueprint &amp; security sign-off</a:t>
                      </a:r>
                    </a:p>
                  </a:txBody>
                  <a:tcPr>
                    <a:solidFill>
                      <a:srgbClr val="1628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F8FAFC"/>
                          </a:solidFill>
                          <a:latin typeface="Inter"/>
                        </a:rPr>
                        <a:t>Weeks 1-3</a:t>
                      </a:r>
                    </a:p>
                  </a:txBody>
                  <a:tcPr>
                    <a:solidFill>
                      <a:srgbClr val="1628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F8FAFC"/>
                          </a:solidFill>
                          <a:latin typeface="Inter"/>
                        </a:rPr>
                        <a:t>25%</a:t>
                      </a:r>
                    </a:p>
                  </a:txBody>
                  <a:tcPr>
                    <a:solidFill>
                      <a:srgbClr val="1628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F8FAFC"/>
                          </a:solidFill>
                          <a:latin typeface="Inter"/>
                        </a:rPr>
                        <a:t>$85,000</a:t>
                      </a:r>
                    </a:p>
                  </a:txBody>
                  <a:tcPr>
                    <a:solidFill>
                      <a:srgbClr val="16284B"/>
                    </a:solidFill>
                  </a:tcPr>
                </a:tc>
              </a:tr>
              <a:tr h="797052">
                <a:tc>
                  <a:txBody>
                    <a:bodyPr wrap="square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F8FAFC"/>
                          </a:solidFill>
                          <a:latin typeface="Inter"/>
                        </a:rPr>
                        <a:t>Phase 2: Pilot Implementation</a:t>
                      </a:r>
                    </a:p>
                  </a:txBody>
                  <a:tcPr>
                    <a:solidFill>
                      <a:srgbClr val="13224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F8FAFC"/>
                          </a:solidFill>
                          <a:latin typeface="Inter"/>
                        </a:rPr>
                        <a:t>Pilot line integration &amp; telemetry validation</a:t>
                      </a:r>
                    </a:p>
                  </a:txBody>
                  <a:tcPr>
                    <a:solidFill>
                      <a:srgbClr val="1322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F8FAFC"/>
                          </a:solidFill>
                          <a:latin typeface="Inter"/>
                        </a:rPr>
                        <a:t>Weeks 4-8</a:t>
                      </a:r>
                    </a:p>
                  </a:txBody>
                  <a:tcPr>
                    <a:solidFill>
                      <a:srgbClr val="1322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F8FAFC"/>
                          </a:solidFill>
                          <a:latin typeface="Inter"/>
                        </a:rPr>
                        <a:t>35%</a:t>
                      </a:r>
                    </a:p>
                  </a:txBody>
                  <a:tcPr>
                    <a:solidFill>
                      <a:srgbClr val="1322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F8FAFC"/>
                          </a:solidFill>
                          <a:latin typeface="Inter"/>
                        </a:rPr>
                        <a:t>$119,000</a:t>
                      </a:r>
                    </a:p>
                  </a:txBody>
                  <a:tcPr>
                    <a:solidFill>
                      <a:srgbClr val="132240"/>
                    </a:solidFill>
                  </a:tcPr>
                </a:tc>
              </a:tr>
              <a:tr h="797052">
                <a:tc>
                  <a:txBody>
                    <a:bodyPr wrap="square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F8FAFC"/>
                          </a:solidFill>
                          <a:latin typeface="Inter"/>
                        </a:rPr>
                        <a:t>Phase 3: Plant Rollout</a:t>
                      </a:r>
                    </a:p>
                  </a:txBody>
                  <a:tcPr>
                    <a:solidFill>
                      <a:srgbClr val="16284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F8FAFC"/>
                          </a:solidFill>
                          <a:latin typeface="Inter"/>
                        </a:rPr>
                        <a:t>Full plant cutover &amp; operator enablement</a:t>
                      </a:r>
                    </a:p>
                  </a:txBody>
                  <a:tcPr>
                    <a:solidFill>
                      <a:srgbClr val="1628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F8FAFC"/>
                          </a:solidFill>
                          <a:latin typeface="Inter"/>
                        </a:rPr>
                        <a:t>Weeks 9-14</a:t>
                      </a:r>
                    </a:p>
                  </a:txBody>
                  <a:tcPr>
                    <a:solidFill>
                      <a:srgbClr val="1628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F8FAFC"/>
                          </a:solidFill>
                          <a:latin typeface="Inter"/>
                        </a:rPr>
                        <a:t>30%</a:t>
                      </a:r>
                    </a:p>
                  </a:txBody>
                  <a:tcPr>
                    <a:solidFill>
                      <a:srgbClr val="1628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F8FAFC"/>
                          </a:solidFill>
                          <a:latin typeface="Inter"/>
                        </a:rPr>
                        <a:t>$102,000</a:t>
                      </a:r>
                    </a:p>
                  </a:txBody>
                  <a:tcPr>
                    <a:solidFill>
                      <a:srgbClr val="16284B"/>
                    </a:solidFill>
                  </a:tcPr>
                </a:tc>
              </a:tr>
              <a:tr h="797052">
                <a:tc>
                  <a:txBody>
                    <a:bodyPr wrap="square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F8FAFC"/>
                          </a:solidFill>
                          <a:latin typeface="Inter"/>
                        </a:rPr>
                        <a:t>Phase 4: Final Acceptance</a:t>
                      </a:r>
                    </a:p>
                  </a:txBody>
                  <a:tcPr>
                    <a:solidFill>
                      <a:srgbClr val="13224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F8FAFC"/>
                          </a:solidFill>
                          <a:latin typeface="Inter"/>
                        </a:rPr>
                        <a:t>30-day hypercare completion &amp; ledger audit</a:t>
                      </a:r>
                    </a:p>
                  </a:txBody>
                  <a:tcPr>
                    <a:solidFill>
                      <a:srgbClr val="1322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F8FAFC"/>
                          </a:solidFill>
                          <a:latin typeface="Inter"/>
                        </a:rPr>
                        <a:t>Weeks 15-16</a:t>
                      </a:r>
                    </a:p>
                  </a:txBody>
                  <a:tcPr>
                    <a:solidFill>
                      <a:srgbClr val="1322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F8FAFC"/>
                          </a:solidFill>
                          <a:latin typeface="Inter"/>
                        </a:rPr>
                        <a:t>10%</a:t>
                      </a:r>
                    </a:p>
                  </a:txBody>
                  <a:tcPr>
                    <a:solidFill>
                      <a:srgbClr val="1322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F8FAFC"/>
                          </a:solidFill>
                          <a:latin typeface="Inter"/>
                        </a:rPr>
                        <a:t>$34,000</a:t>
                      </a:r>
                    </a:p>
                  </a:txBody>
                  <a:tcPr>
                    <a:solidFill>
                      <a:srgbClr val="132240"/>
                    </a:solidFill>
                  </a:tcPr>
                </a:tc>
              </a:tr>
              <a:tr h="797052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00B4D8"/>
                          </a:solidFill>
                          <a:latin typeface="Inter"/>
                        </a:rPr>
                        <a:t>TOTAL ENGAGEMENT</a:t>
                      </a:r>
                    </a:p>
                  </a:txBody>
                  <a:tcPr>
                    <a:solidFill>
                      <a:srgbClr val="1C3159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>
                    <a:solidFill>
                      <a:srgbClr val="1C3159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>
                    <a:solidFill>
                      <a:srgbClr val="1C315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 i="0">
                          <a:solidFill>
                            <a:srgbClr val="00B4D8"/>
                          </a:solidFill>
                          <a:latin typeface="Inter"/>
                        </a:rPr>
                        <a:t>100%</a:t>
                      </a:r>
                    </a:p>
                  </a:txBody>
                  <a:tcPr>
                    <a:solidFill>
                      <a:srgbClr val="1C315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 i="0">
                          <a:solidFill>
                            <a:srgbClr val="10B981"/>
                          </a:solidFill>
                          <a:latin typeface="Inter"/>
                        </a:rPr>
                        <a:t>$340,000 Turnkey Fixed Investment</a:t>
                      </a:r>
                    </a:p>
                  </a:txBody>
                  <a:tcPr>
                    <a:solidFill>
                      <a:srgbClr val="1C315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Rectangle 2"/>
          <p:cNvSpPr/>
          <p:nvPr/>
        </p:nvSpPr>
        <p:spPr>
          <a:xfrm>
            <a:off x="731520" y="347472"/>
            <a:ext cx="2011680" cy="237744"/>
          </a:xfrm>
          <a:prstGeom prst="rect">
            <a:avLst/>
          </a:prstGeom>
          <a:solidFill>
            <a:srgbClr val="EEF2FF"/>
          </a:solidFill>
          <a:ln w="1270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>
              <a:spcAft>
                <a:spcPts val="200"/>
              </a:spcAft>
              <a:defRPr/>
            </a:pPr>
            <a:r>
              <a:rPr sz="850" b="1" i="0">
                <a:solidFill>
                  <a:srgbClr val="0066CC"/>
                </a:solidFill>
                <a:latin typeface="Inter"/>
              </a:rPr>
              <a:t>3. RISK REGISTER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03504"/>
            <a:ext cx="10728655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900" b="1" i="0">
                <a:solidFill>
                  <a:srgbClr val="0F172A"/>
                </a:solidFill>
                <a:latin typeface="Inter"/>
              </a:rPr>
              <a:t>Enterprise Risk Mitigation &amp; Contingency Radar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05840"/>
            <a:ext cx="1072865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0" i="1">
                <a:solidFill>
                  <a:srgbClr val="0066CC"/>
                </a:solidFill>
                <a:latin typeface="Inter"/>
              </a:rPr>
              <a:t>Quantified severity and pre-engineered hedging strategies.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355080"/>
            <a:ext cx="10728655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19088"/>
            <a:ext cx="77724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00" b="0" i="0">
                <a:solidFill>
                  <a:srgbClr val="64748B"/>
                </a:solidFill>
                <a:latin typeface="Inter"/>
              </a:rPr>
              <a:t>Siemens Energy • Enterprise Structured Tables • Enterprise Architecture Advisory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2895" y="6419088"/>
            <a:ext cx="1097280" cy="274320"/>
          </a:xfrm>
          <a:prstGeom prst="rect">
            <a:avLst/>
          </a:prstGeom>
          <a:noFill/>
        </p:spPr>
        <p:txBody>
          <a:bodyPr wrap="none" rIns="0" tIns="0">
            <a:spAutoFit/>
          </a:bodyPr>
          <a:lstStyle/>
          <a:p>
            <a:pPr algn="r"/>
            <a:r>
              <a:rPr sz="800" b="1" i="0">
                <a:solidFill>
                  <a:srgbClr val="0066CC"/>
                </a:solidFill>
                <a:latin typeface="Inter"/>
              </a:rPr>
              <a:t>03 / 03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" y="1481328"/>
          <a:ext cx="10728653" cy="4782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4826"/>
                <a:gridCol w="2973000"/>
                <a:gridCol w="1034087"/>
                <a:gridCol w="1034087"/>
                <a:gridCol w="904826"/>
                <a:gridCol w="2714479"/>
                <a:gridCol w="1163348"/>
              </a:tblGrid>
              <a:tr h="1195578">
                <a:tc>
                  <a:txBody>
                    <a:bodyPr wrap="square"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0066CC"/>
                          </a:solidFill>
                          <a:latin typeface="Inter"/>
                        </a:rPr>
                        <a:t>ID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0066CC"/>
                          </a:solidFill>
                          <a:latin typeface="Inter"/>
                        </a:rPr>
                        <a:t>RISK EVENT / VULNERABILITY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0066CC"/>
                          </a:solidFill>
                          <a:latin typeface="Inter"/>
                        </a:rPr>
                        <a:t>SEVERITY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0066CC"/>
                          </a:solidFill>
                          <a:latin typeface="Inter"/>
                        </a:rPr>
                        <a:t>LIKELIHOOD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0066CC"/>
                          </a:solidFill>
                          <a:latin typeface="Inter"/>
                        </a:rPr>
                        <a:t>SCORE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0066CC"/>
                          </a:solidFill>
                          <a:latin typeface="Inter"/>
                        </a:rPr>
                        <a:t>MITIGATION STRATEGY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0066CC"/>
                          </a:solidFill>
                          <a:latin typeface="Inter"/>
                        </a:rPr>
                        <a:t>OWNER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</a:tr>
              <a:tr h="1195578">
                <a:tc>
                  <a:txBody>
                    <a:bodyPr wrap="square"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RSK-01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0F172A"/>
                          </a:solidFill>
                          <a:latin typeface="Inter"/>
                        </a:rPr>
                        <a:t>OT firewall change freeze delays pilot line connect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HIGH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MED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DC2626"/>
                          </a:solidFill>
                          <a:latin typeface="Inter"/>
                        </a:rPr>
                        <a:t>CRITICAL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Pre-authorize security exceptions via ARB charter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CISO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1195578">
                <a:tc>
                  <a:txBody>
                    <a:bodyPr wrap="square"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RSK-02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0F172A"/>
                          </a:solidFill>
                          <a:latin typeface="Inter"/>
                        </a:rPr>
                        <a:t>Legacy PLC firmware incompatible with OPC-UA daemon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MED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10B981"/>
                          </a:solidFill>
                          <a:latin typeface="Inter"/>
                        </a:rPr>
                        <a:t>MODERATE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Deploy industrial edge protocol translation gateway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OT Lead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95578">
                <a:tc>
                  <a:txBody>
                    <a:bodyPr wrap="square"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RSK-03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0F172A"/>
                          </a:solidFill>
                          <a:latin typeface="Inter"/>
                        </a:rPr>
                        <a:t>Operator pushback against biometric sign-off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LOW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MED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10B981"/>
                          </a:solidFill>
                          <a:latin typeface="Inter"/>
                        </a:rPr>
                        <a:t>LOW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Provide RFID badge tap alternative with supervisor PIN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HR Lead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