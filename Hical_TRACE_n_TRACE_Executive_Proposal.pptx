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5120640" cy="310896"/>
          </a:xfrm>
          <a:prstGeom prst="roundRect">
            <a:avLst/>
          </a:prstGeom>
          <a:solidFill>
            <a:srgbClr val="151F3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00B4D8"/>
                </a:solidFill>
                <a:latin typeface="Arial"/>
              </a:defRPr>
            </a:pPr>
            <a:r>
              <a:t>AEROSPACE &amp; DEFENCE SHOP-FLOOR DIGITALIZATION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TRACE n TRACE</a:t>
            </a:r>
            <a:br/>
            <a:r>
              <a:t>Digital Execution &amp; Genealogy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4A3B8"/>
                </a:solidFill>
                <a:latin typeface="Arial"/>
              </a:defRPr>
            </a:pPr>
            <a:r>
              <a:t>Non-Invasive Shop-Floor Execution, Hardware Poka-Yoke &amp; End-to-End Traceability without SAP Licensing Overheads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6858000" cy="219456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Client:</a:t>
            </a:r>
            <a:r>
              <a:rPr b="0" sz="950">
                <a:solidFill>
                  <a:srgbClr val="F8FAFC"/>
                </a:solidFill>
              </a:rPr>
              <a:t> Hical Technologies Private Limited (Aerospace, Defence &amp; Electromechanical)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Strategic Objective:</a:t>
            </a:r>
            <a:r>
              <a:rPr b="0" sz="950">
                <a:solidFill>
                  <a:srgbClr val="F8FAFC"/>
                </a:solidFill>
              </a:rPr>
              <a:t> Digitize physical shop-floor travelers and enforce zero-defect quality gates.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Architecture Integrity:</a:t>
            </a:r>
            <a:r>
              <a:rPr b="0" sz="950">
                <a:solidFill>
                  <a:srgbClr val="F8FAFC"/>
                </a:solidFill>
              </a:rPr>
              <a:t> 100% Non-Invasive Read-Only Interface — Zero database write risks to SAP.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Licensing Advantage:</a:t>
            </a:r>
            <a:r>
              <a:rPr b="0" sz="950">
                <a:solidFill>
                  <a:srgbClr val="F8FAFC"/>
                </a:solidFill>
              </a:rPr>
              <a:t> Zero Named SAP Fiori/Professional User Licenses required for shop-floor operators.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Turnkey Commitment:</a:t>
            </a:r>
            <a:r>
              <a:rPr b="0" sz="950">
                <a:solidFill>
                  <a:srgbClr val="F8FAFC"/>
                </a:solidFill>
              </a:rPr>
              <a:t> 90-Day Production Go-Live backed by 60 Days of Dedicated Hypercare.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474720" cy="475488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B4D8"/>
                </a:solidFill>
                <a:latin typeface="Arial"/>
              </a:defRPr>
            </a:pPr>
            <a:r>
              <a:t>THE THREE STRATEGIC PILLARS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0066CC"/>
                </a:solidFill>
              </a:defRPr>
            </a:pPr>
            <a:r>
              <a:t>1. ZERO-RISK ARCHITECTURE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100% Read-Only data extraction. Live SAP database remains completely untampered, with zero table 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4612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10B981"/>
                </a:solidFill>
              </a:defRPr>
            </a:pPr>
            <a:r>
              <a:t>2. HARDWARE POKA-YOKE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Zebra/Honeywell barcode scanning stops incorrect lots, expired batches, and outdated drawings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57200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D97706"/>
                </a:solidFill>
              </a:defRPr>
            </a:pPr>
            <a:r>
              <a:t>3. AIR-GAPPED APPROVAL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Two-tier digital sign-off (Supervisor + QC) producing pre-verified Ready-to-Post slips for SAP GUI entry.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PROBLEM CONTEXT &amp; OPERATIONAL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The Aerospace Shop-Floor Reality: 3 Operating Disconnects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Why high-reliability discrete manufacturing struggles with paper job cards and conventional ERP extensions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1. Paper Traveler Friction &amp; Data Latency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Laminated Paper Routing:
</a:t>
            </a:r>
            <a:r>
              <a:rPr b="0" sz="850">
                <a:solidFill>
                  <a:srgbClr val="64748B"/>
                </a:solidFill>
              </a:rPr>
              <a:t>Job cards physically wander through 8 to 15 manufacturing and testing bays.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Shift-End Backlog:
</a:t>
            </a:r>
            <a:r>
              <a:rPr b="0" sz="850">
                <a:solidFill>
                  <a:srgbClr val="64748B"/>
                </a:solidFill>
              </a:rPr>
              <a:t>Actual labor hours, batch consumption, and inspection results are logged into SAP 24–48 hours late.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Audit Exposure:
</a:t>
            </a:r>
            <a:r>
              <a:rPr b="0" sz="850">
                <a:solidFill>
                  <a:srgbClr val="64748B"/>
                </a:solidFill>
              </a:rPr>
              <a:t>Lost, stained, or illegible paper signatures create severe AS9100 customer audit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2. The SAP Licensing Cost Barrier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Named User Overhead:
</a:t>
            </a:r>
            <a:r>
              <a:rPr b="0" sz="850">
                <a:solidFill>
                  <a:srgbClr val="64748B"/>
                </a:solidFill>
              </a:rPr>
              <a:t>Extending SAP Fiori to 150–300 shop-floor operators costs ₹80L–₹1.5Cr+ in recurring software licensing.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Administrative Complexity:
</a:t>
            </a:r>
            <a:r>
              <a:rPr b="0" sz="850">
                <a:solidFill>
                  <a:srgbClr val="64748B"/>
                </a:solidFill>
              </a:rPr>
              <a:t>Managing ERP credentials and access profiles for shop-floor operators is impractical.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Infeasible Business Case:
</a:t>
            </a:r>
            <a:r>
              <a:rPr b="0" sz="850">
                <a:solidFill>
                  <a:srgbClr val="64748B"/>
                </a:solidFill>
              </a:rPr>
              <a:t>Direct SAP licensing for assembly-line data capture is economically unviable.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3. Human Error &amp; Live ERP Risk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Missing Physical Poka-Yoke:
</a:t>
            </a:r>
            <a:r>
              <a:rPr b="0" sz="850">
                <a:solidFill>
                  <a:srgbClr val="64748B"/>
                </a:solidFill>
              </a:rPr>
              <a:t>Visual checks under pressure fail to block assembling incorrect component batches or expired resins.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Drawing Revision Mismatches:
</a:t>
            </a:r>
            <a:r>
              <a:rPr b="0" sz="850">
                <a:solidFill>
                  <a:srgbClr val="64748B"/>
                </a:solidFill>
              </a:rPr>
              <a:t>Components assembled against obsolete engineering revisions trigger costly scrap.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Database Lock Concerns:
</a:t>
            </a:r>
            <a:r>
              <a:rPr b="0" sz="850">
                <a:solidFill>
                  <a:srgbClr val="64748B"/>
                </a:solidFill>
              </a:rPr>
              <a:t>Direct concurrent write-calls from hundreds of devices threaten SAP database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TRACE n TRACE Strategic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Delivering shop-floor digital execution and error-proofing while keeping the SAP core completely untouched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B4D8"/>
                </a:solidFill>
                <a:latin typeface="Arial"/>
              </a:defRPr>
            </a:pPr>
            <a:r>
              <a:t>1. Non-Invasive by Design</a:t>
            </a:r>
          </a:p>
          <a:p>
            <a:pPr>
              <a:spcAft>
                <a:spcPts val="1400"/>
              </a:spcAft>
              <a:defRPr sz="850" i="1">
                <a:solidFill>
                  <a:srgbClr val="94A3B8"/>
                </a:solidFill>
              </a:defRPr>
            </a:pPr>
            <a:r>
              <a:t>Protecting the SAP Core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Zero Direct Write Calls:
</a:t>
            </a:r>
            <a:r>
              <a:rPr b="0" sz="850">
                <a:solidFill>
                  <a:srgbClr val="94A3B8"/>
                </a:solidFill>
              </a:rPr>
              <a:t>Standard read-only OData communication. Your live SAP database remains untampered.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Zero Table Lock Risk:
</a:t>
            </a:r>
            <a:r>
              <a:rPr b="0" sz="850">
                <a:solidFill>
                  <a:srgbClr val="94A3B8"/>
                </a:solidFill>
              </a:rPr>
              <a:t>No database deadlocks or performance degradation for enterprise users.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Air-Gapped Execution:
</a:t>
            </a:r>
            <a:r>
              <a:rPr b="0" sz="850">
                <a:solidFill>
                  <a:srgbClr val="94A3B8"/>
                </a:solidFill>
              </a:rPr>
              <a:t>Shop floor operates on high-speed modern web and edge technology.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2. Zero Added SAP Licenses</a:t>
            </a:r>
          </a:p>
          <a:p>
            <a:pPr>
              <a:spcAft>
                <a:spcPts val="1400"/>
              </a:spcAft>
              <a:defRPr sz="850" i="1">
                <a:solidFill>
                  <a:srgbClr val="94A3B8"/>
                </a:solidFill>
              </a:defRPr>
            </a:pPr>
            <a:r>
              <a:t>Massive OpEx Cost Avoidance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No Named Fiori Licenses:
</a:t>
            </a:r>
            <a:r>
              <a:rPr b="0" sz="850">
                <a:solidFill>
                  <a:srgbClr val="94A3B8"/>
                </a:solidFill>
              </a:rPr>
              <a:t>Operators use open-standard rugged handheld terminals without SAP user accounts.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Single Interface User:
</a:t>
            </a:r>
            <a:r>
              <a:rPr b="0" sz="850">
                <a:solidFill>
                  <a:srgbClr val="94A3B8"/>
                </a:solidFill>
              </a:rPr>
              <a:t>Requires only a single technical communication account to read master and order data.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Immediate Payback:
</a:t>
            </a:r>
            <a:r>
              <a:rPr b="0" sz="850">
                <a:solidFill>
                  <a:srgbClr val="94A3B8"/>
                </a:solidFill>
              </a:rPr>
              <a:t>Saves ₹45L–₹75L in software fees, delivering complete payback in 3.5 to 4.5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3. Digital Poka-Yoke &amp; Quality</a:t>
            </a:r>
          </a:p>
          <a:p>
            <a:pPr>
              <a:spcAft>
                <a:spcPts val="1400"/>
              </a:spcAft>
              <a:defRPr sz="850" i="1">
                <a:solidFill>
                  <a:srgbClr val="94A3B8"/>
                </a:solidFill>
              </a:defRPr>
            </a:pPr>
            <a:r>
              <a:t>Zero-Defect Aerospace Manufacturing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Hardware Barcode Enforced:
</a:t>
            </a:r>
            <a:r>
              <a:rPr b="0" sz="850">
                <a:solidFill>
                  <a:srgbClr val="94A3B8"/>
                </a:solidFill>
              </a:rPr>
              <a:t>Scanners immediately lock the terminal if an incorrect or expired component is scanned.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Drawing ECN Enforcer:
</a:t>
            </a:r>
            <a:r>
              <a:rPr b="0" sz="850">
                <a:solidFill>
                  <a:srgbClr val="94A3B8"/>
                </a:solidFill>
              </a:rPr>
              <a:t>Prevents assembly of outdated revision materials against active production orders.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F8FAFC"/>
                </a:solidFill>
              </a:rPr>
              <a:t>15-Second Traceability:
</a:t>
            </a:r>
            <a:r>
              <a:rPr b="0" sz="850">
                <a:solidFill>
                  <a:srgbClr val="94A3B8"/>
                </a:solidFill>
              </a:rPr>
              <a:t>Generates complete 360° genealogy trees for AS9100 customer audits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TECHNICAL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Enterprise Architecture Diagram: The Air-Gapped Operational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Decoupled multi-tier flow isolating SAP from shop-floor transactions while ensuring 100% operational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066CC"/>
                </a:solidFill>
                <a:latin typeface="Arial"/>
              </a:defRPr>
            </a:pPr>
            <a:r>
              <a:t>TIER 1: SAP S/4HANA ENTERPRISE SYSTEM OF RECORD</a:t>
            </a:r>
          </a:p>
          <a:p>
            <a:r>
              <a:rPr sz="850">
                <a:solidFill>
                  <a:srgbClr val="94A3B8"/>
                </a:solidFill>
              </a:rPr>
              <a:t>Exposes standard, certified Read-Only OData Endpoints (Work Orders, BOM Component Reservations, Quality Inspection Plans, Stock Status).
</a:t>
            </a:r>
            <a:r>
              <a:rPr sz="819" b="1">
                <a:solidFill>
                  <a:srgbClr val="10B981"/>
                </a:solidFill>
              </a:rPr>
              <a:t>[ ARCHITECTURAL GUARANTEE: 100% READ-ONLY | ZERO WRITE-CALLS | ZERO DATABASE LOCKS | 100% UNHARMED ]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514600"/>
            <a:ext cx="640080" cy="256032"/>
          </a:xfrm>
          <a:prstGeom prst="down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816352"/>
            <a:ext cx="5943600" cy="137160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00B4D8"/>
                </a:solidFill>
                <a:latin typeface="Arial"/>
              </a:defRPr>
            </a:pPr>
            <a:r>
              <a:t>TIER 2: TRACE n TRACE ENTERPRISE MIDDLEWARE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Secure API Gateway with encrypted communication and token rate-limiting.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Periodic delta synchronization: near-zero CPU load on SAP application server.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Operational PostgreSQL database storing As-Built Genealogy graph and active shop-floor state.</a:t>
            </a:r>
          </a:p>
        </p:txBody>
      </p:sp>
      <p:sp>
        <p:nvSpPr>
          <p:cNvPr id="9" name="Down Arrow 8"/>
          <p:cNvSpPr/>
          <p:nvPr/>
        </p:nvSpPr>
        <p:spPr>
          <a:xfrm>
            <a:off x="3657600" y="4224528"/>
            <a:ext cx="548640" cy="22860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498848"/>
            <a:ext cx="5943600" cy="16916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TIER 3: DIGITAL SHOP-FLOOR EXECUTION (ZEBRA / HONEYWELL HHTs)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Rugged Handheld Scanners &amp; Tablets: Gloved operation, touchless badge labor clocking.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Barcode Poka-Yoke: Instant hardware lockout upon scanning wrong lots or obsolete ECNs.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Offline Edge Buffer: SQLite cache enables 100% uninterrupted scanning in RF-shielded cleanrooms.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Digital Travelers: Step-by-step SOPs, wiring schematics, and live parameter logging.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0840" y="5120640"/>
            <a:ext cx="502920" cy="3657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69480" y="2816352"/>
            <a:ext cx="4190695" cy="3374136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50" b="1">
                <a:solidFill>
                  <a:srgbClr val="D97706"/>
                </a:solidFill>
                <a:latin typeface="Arial"/>
              </a:defRPr>
            </a:pPr>
            <a:r>
              <a:t>TWO-TIER OPERATIONAL APPROVAL DESK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Step 1. Supervisor Review: </a:t>
            </a:r>
            <a:r>
              <a:rPr b="0" sz="800">
                <a:solidFill>
                  <a:srgbClr val="94A3B8"/>
                </a:solidFill>
              </a:rPr>
              <a:t>Shift supervisor validates confirmed labor actuals, cycle times, and operator hours using secure PIN.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Step 2. QC Inspector Stamp: </a:t>
            </a:r>
            <a:r>
              <a:rPr b="0" sz="800">
                <a:solidFill>
                  <a:srgbClr val="94A3B8"/>
                </a:solidFill>
              </a:rPr>
              <a:t>QC gatekeeper validates electrical readings, dimensional tolerances, and affixes digital stamp.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Step 3. 'Ready-to-Post' Slip: </a:t>
            </a:r>
            <a:r>
              <a:rPr b="0" sz="800">
                <a:solidFill>
                  <a:srgbClr val="94A3B8"/>
                </a:solidFill>
              </a:rPr>
              <a:t>Auto-compiles verified operational summaries indexed by SAP Transaction Code: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   • CO11N: </a:t>
            </a:r>
            <a:r>
              <a:rPr b="0" sz="800">
                <a:solidFill>
                  <a:srgbClr val="94A3B8"/>
                </a:solidFill>
              </a:rPr>
              <a:t>Confirmed Order Operations, Scrap &amp; Actual Hours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   • MIGO: </a:t>
            </a:r>
            <a:r>
              <a:rPr b="0" sz="800">
                <a:solidFill>
                  <a:srgbClr val="94A3B8"/>
                </a:solidFill>
              </a:rPr>
              <a:t>Backflush Component Consumption &amp; FG Goods Receipt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   • QE51N: </a:t>
            </a:r>
            <a:r>
              <a:rPr b="0" sz="800">
                <a:solidFill>
                  <a:srgbClr val="94A3B8"/>
                </a:solidFill>
              </a:rPr>
              <a:t>Inspection Lot Results &amp; Qualitative Parameters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F8FAFC"/>
                </a:solidFill>
              </a:rPr>
              <a:t>Step 4. Controlled ERP Inward: </a:t>
            </a:r>
            <a:r>
              <a:rPr b="0" sz="800">
                <a:solidFill>
                  <a:srgbClr val="94A3B8"/>
                </a:solidFill>
              </a:rPr>
              <a:t>Authorized clerk reviews slip and posts to SAP GUI with 100% first-pass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SHOP-FLOOR FUNCTIONAL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Functional Journey 1: Digital Inbound &amp; Kitting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Eliminating missing-part line halts and ensuring 100% verified material staging for production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1. Receiving Dock Verification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Supplier Barcode Scanning:
</a:t>
            </a:r>
            <a:r>
              <a:rPr b="0" sz="850">
                <a:solidFill>
                  <a:srgbClr val="64748B"/>
                </a:solidFill>
              </a:rPr>
              <a:t>Scans 1D/2D barcodes upon arrival, automatically verifying material codes and vendor purchase orders.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Approved Manufacturer Check:
</a:t>
            </a:r>
            <a:r>
              <a:rPr b="0" sz="850">
                <a:solidFill>
                  <a:srgbClr val="64748B"/>
                </a:solidFill>
              </a:rPr>
              <a:t>Validates parts against approved vendor lists and active revision drawings.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Quarantine Segregation:
</a:t>
            </a:r>
            <a:r>
              <a:rPr b="0" sz="850">
                <a:solidFill>
                  <a:srgbClr val="64748B"/>
                </a:solidFill>
              </a:rPr>
              <a:t>Instantly flags lots requiring mandatory first-article or laboratory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2. BOM Kitting Cart Validation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Picking Cart Verification:
</a:t>
            </a:r>
            <a:r>
              <a:rPr b="0" sz="850">
                <a:solidFill>
                  <a:srgbClr val="64748B"/>
                </a:solidFill>
              </a:rPr>
              <a:t>Scanners cross-reference picking bins against the active production order component reservation list.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Batch Integrity Check:
</a:t>
            </a:r>
            <a:r>
              <a:rPr b="0" sz="850">
                <a:solidFill>
                  <a:srgbClr val="64748B"/>
                </a:solidFill>
              </a:rPr>
              <a:t>Ensures only released, fully tested component batches are placed into assembly kits.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Quantity Control:
</a:t>
            </a:r>
            <a:r>
              <a:rPr b="0" sz="850">
                <a:solidFill>
                  <a:srgbClr val="64748B"/>
                </a:solidFill>
              </a:rPr>
              <a:t>Enforces exact pick counts, preventing over-issues and inventory shrinkage.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3. Staging &amp; Shortage Prevention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Shortage Alerts:
</a:t>
            </a:r>
            <a:r>
              <a:rPr b="0" sz="850">
                <a:solidFill>
                  <a:srgbClr val="64748B"/>
                </a:solidFill>
              </a:rPr>
              <a:t>Instantly alerts kitting leads if high-lead aerospace fasteners or connectors are missing.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Zero Line Starvation:
</a:t>
            </a:r>
            <a:r>
              <a:rPr b="0" sz="850">
                <a:solidFill>
                  <a:srgbClr val="64748B"/>
                </a:solidFill>
              </a:rPr>
              <a:t>Kits are released to assembly bays only after 100% completeness certification.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Staging Cart Tracking:
</a:t>
            </a:r>
            <a:r>
              <a:rPr b="0" sz="850">
                <a:solidFill>
                  <a:srgbClr val="64748B"/>
                </a:solidFill>
              </a:rPr>
              <a:t>Tracks kit cart location as it moves from the warehouse to the assembly workstation.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WORKSTATION QUALITY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Functional Journey 2: Operator Digital Traveler &amp; Hardware Poka-Yoke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Replacing paper job cards with touchless digital guidance and automated hardware-level error proofing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OPERATOR DIGITAL TRAVELER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Touchless Labor Tracking:
</a:t>
            </a:r>
            <a:r>
              <a:rPr b="0" sz="850">
                <a:solidFill>
                  <a:srgbClr val="64748B"/>
                </a:solidFill>
              </a:rPr>
              <a:t>Assemblers scan their badge to clock setup and run times, capturing exact labor actuals without clerical overhead.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Visual Work Instructions:
</a:t>
            </a:r>
            <a:r>
              <a:rPr b="0" sz="850">
                <a:solidFill>
                  <a:srgbClr val="64748B"/>
                </a:solidFill>
              </a:rPr>
              <a:t>Renders high-resolution assembly drawings, wiring schematics, and torque specifications on rugged tablets.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Dynamic Parameter Capture:
</a:t>
            </a:r>
            <a:r>
              <a:rPr b="0" sz="850">
                <a:solidFill>
                  <a:srgbClr val="64748B"/>
                </a:solidFill>
              </a:rPr>
              <a:t>Technicians record critical values (winding resistance, curing temperatures, crimp pull-force) with instant tolerance checks.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Paperless Operation:
</a:t>
            </a:r>
            <a:r>
              <a:rPr b="0" sz="850">
                <a:solidFill>
                  <a:srgbClr val="64748B"/>
                </a:solidFill>
              </a:rPr>
              <a:t>Eliminates stained, lost, or illegible paper traveler sheets across all manufacturing bays.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AEROSPACE HARDWARE BARCODE POKA-YOKE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Batch Release Sentinel:
</a:t>
            </a:r>
            <a:r>
              <a:rPr b="0" sz="850">
                <a:solidFill>
                  <a:srgbClr val="64748B"/>
                </a:solidFill>
              </a:rPr>
              <a:t>Scanning an unreleased or quarantined component lot immediately locks the screen with an audible alarm.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ECN Drawing Revision Lockout:
</a:t>
            </a:r>
            <a:r>
              <a:rPr b="0" sz="850">
                <a:solidFill>
                  <a:srgbClr val="64748B"/>
                </a:solidFill>
              </a:rPr>
              <a:t>Compares component drawing revision against the active production order, preventing obsolete parts usage.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Chemical Shelf-Life Enforcer:
</a:t>
            </a:r>
            <a:r>
              <a:rPr b="0" sz="850">
                <a:solidFill>
                  <a:srgbClr val="64748B"/>
                </a:solidFill>
              </a:rPr>
              <a:t>Validates expiration dates on potting resins, epoxies, adhesives, and solder pastes prior to application.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</a:rPr>
              <a:t>Zero-Defect Quality Gate:
</a:t>
            </a:r>
            <a:r>
              <a:rPr b="0" sz="850">
                <a:solidFill>
                  <a:srgbClr val="64748B"/>
                </a:solidFill>
              </a:rPr>
              <a:t>Assembly step cannot proceed until the correct physical barcode is scanned and validated.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OPERATIONAL GOVERNANCE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Functional Journey 3: Two-Tier Operational Approval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Air-gapped dual digital review generating pre-verified Ready-to-Post slips for error-free SAP inward booking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66CC"/>
                </a:solidFill>
                <a:latin typeface="Arial"/>
              </a:defRPr>
            </a:pPr>
            <a:r>
              <a:t>1. Supervisor Verification</a:t>
            </a:r>
          </a:p>
          <a:p>
            <a:pPr>
              <a:spcAft>
                <a:spcPts val="1400"/>
              </a:spcAft>
              <a:defRPr sz="850" i="1">
                <a:solidFill>
                  <a:srgbClr val="64748B"/>
                </a:solidFill>
              </a:defRPr>
            </a:pPr>
            <a:r>
              <a:t>Tier 1: Labor &amp; Output Check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Operational Review:
</a:t>
            </a:r>
            <a:r>
              <a:rPr b="0" sz="850">
                <a:solidFill>
                  <a:srgbClr val="64748B"/>
                </a:solidFill>
              </a:rPr>
              <a:t>Shift supervisor inspects confirmed machine times, labor hours, and piece counts.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Discrepancy Flags:
</a:t>
            </a:r>
            <a:r>
              <a:rPr b="0" sz="850">
                <a:solidFill>
                  <a:srgbClr val="64748B"/>
                </a:solidFill>
              </a:rPr>
              <a:t>System automatically highlights cycle times that deviate significantly from routing standards.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Digital Sign-Off:
</a:t>
            </a:r>
            <a:r>
              <a:rPr b="0" sz="850">
                <a:solidFill>
                  <a:srgbClr val="64748B"/>
                </a:solidFill>
              </a:rPr>
              <a:t>Supervisor authorizes the traveler package via secure digital PIN or smart badge scan.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B4D8"/>
                </a:solidFill>
                <a:latin typeface="Arial"/>
              </a:defRPr>
            </a:pPr>
            <a:r>
              <a:t>2. Quality Gatekeeper (QC)</a:t>
            </a:r>
          </a:p>
          <a:p>
            <a:pPr>
              <a:spcAft>
                <a:spcPts val="1400"/>
              </a:spcAft>
              <a:defRPr sz="850" i="1">
                <a:solidFill>
                  <a:srgbClr val="64748B"/>
                </a:solidFill>
              </a:defRPr>
            </a:pPr>
            <a:r>
              <a:t>Tier 2: Engineering Tolerances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Measurement Audit:
</a:t>
            </a:r>
            <a:r>
              <a:rPr b="0" sz="850">
                <a:solidFill>
                  <a:srgbClr val="64748B"/>
                </a:solidFill>
              </a:rPr>
              <a:t>QC inspector verifies recorded electrical readings, dimensional tolerances, and visual logs.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Instrument Calibration:
</a:t>
            </a:r>
            <a:r>
              <a:rPr b="0" sz="850">
                <a:solidFill>
                  <a:srgbClr val="64748B"/>
                </a:solidFill>
              </a:rPr>
              <a:t>Verifies that testing devices used were within valid calibration periods.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Cryptographic Stamp:
</a:t>
            </a:r>
            <a:r>
              <a:rPr b="0" sz="850">
                <a:solidFill>
                  <a:srgbClr val="64748B"/>
                </a:solidFill>
              </a:rPr>
              <a:t>QC applies digital sign-off, locking the operational record into 'Verified'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3. Ready-to-Post Slips</a:t>
            </a:r>
          </a:p>
          <a:p>
            <a:pPr>
              <a:spcAft>
                <a:spcPts val="1400"/>
              </a:spcAft>
              <a:defRPr sz="850" i="1">
                <a:solidFill>
                  <a:srgbClr val="64748B"/>
                </a:solidFill>
              </a:defRPr>
            </a:pPr>
            <a:r>
              <a:t>Air-Gapped ERP Inward Entry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CO11N Confirmation Slip:
</a:t>
            </a:r>
            <a:r>
              <a:rPr b="0" sz="850">
                <a:solidFill>
                  <a:srgbClr val="64748B"/>
                </a:solidFill>
              </a:rPr>
              <a:t>Pre-formats actual setup, machine hours, and confirmed yields for production orders.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MIGO Goods Movement Slip:
</a:t>
            </a:r>
            <a:r>
              <a:rPr b="0" sz="850">
                <a:solidFill>
                  <a:srgbClr val="64748B"/>
                </a:solidFill>
              </a:rPr>
              <a:t>Pre-verified material backflush (261) and finished assembly receipt (101).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QE51N Quality Slip:
</a:t>
            </a:r>
            <a:r>
              <a:rPr b="0" sz="850">
                <a:solidFill>
                  <a:srgbClr val="64748B"/>
                </a:solidFill>
              </a:rPr>
              <a:t>Compiles inspection lot results for instant first-pass entry into SAP GUI with zero typing errors.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TRACEABILITY &amp; NON-CONFORMANCE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Functional Journey 4: 360° As-Built Genealogy &amp; Defect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Instant aerospace audit defense in &lt;15 seconds and dynamic shop-floor rework branch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360° BI-DIRECTIONAL GENEALOGY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Top-Down Finished Good Search:
</a:t>
            </a:r>
            <a:r>
              <a:rPr b="0" sz="850">
                <a:solidFill>
                  <a:srgbClr val="64748B"/>
                </a:solidFill>
              </a:rPr>
              <a:t>Enter an actuator or motor serial number to instantly generate the complete As-Built hierarchy: every subassembly, internal winding lot, raw wire spool, connector, and operator stamp.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Bottom-Up Raw Batch Traceability:
</a:t>
            </a:r>
            <a:r>
              <a:rPr b="0" sz="850">
                <a:solidFill>
                  <a:srgbClr val="64748B"/>
                </a:solidFill>
              </a:rPr>
              <a:t>Enter a suspect vendor raw material lot (e.g., magnet wire spool) to pinpoint every finished assembly containing that material across active WIP, storage, and customer dispatches in 5 seconds.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AS9100 Audit Defense in &lt;15 Seconds:
</a:t>
            </a:r>
            <a:r>
              <a:rPr b="0" sz="850">
                <a:solidFill>
                  <a:srgbClr val="64748B"/>
                </a:solidFill>
              </a:rPr>
              <a:t>Transforms customer and regulatory traceability audits from days of frantic paper-chasing into a single-click demonstration.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DEFECT &amp; REWORK ROUTING ENGINE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Digital NCR Logging:
</a:t>
            </a:r>
            <a:r>
              <a:rPr b="0" sz="850">
                <a:solidFill>
                  <a:srgbClr val="64748B"/>
                </a:solidFill>
              </a:rPr>
              <a:t>Operators log non-conformance reports on handhelds with photographic evidence and failure category codes.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Dynamic Rework Branching:
</a:t>
            </a:r>
            <a:r>
              <a:rPr b="0" sz="850">
                <a:solidFill>
                  <a:srgbClr val="64748B"/>
                </a:solidFill>
              </a:rPr>
              <a:t>Spawns authorized rework sub-operations (re-winding, touch-up soldering, re-curing) without corrupting the parent production order in SAP.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Mandatory Re-Inspection:
</a:t>
            </a:r>
            <a:r>
              <a:rPr b="0" sz="850">
                <a:solidFill>
                  <a:srgbClr val="64748B"/>
                </a:solidFill>
              </a:rPr>
              <a:t>Enforces mandatory QC re-test and calibration before reworked parts can merge back into the main assembly routing.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Scrap Segregation &amp; Attribution:
</a:t>
            </a:r>
            <a:r>
              <a:rPr b="0" sz="850">
                <a:solidFill>
                  <a:srgbClr val="64748B"/>
                </a:solidFill>
              </a:rPr>
              <a:t>Segregates scrapped parts physically and digitally with automated cost-center and root-cause attribution.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PROJECT PLAN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90-Day Agile Implementation Roadmap &amp; 60-Day Hypercare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Five structured milestone stages ensuring rapid shop-floor deployment and comprehensive AS9100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0066CC"/>
                </a:solidFill>
                <a:latin typeface="Arial"/>
              </a:defRPr>
            </a:pPr>
            <a:r>
              <a:t>PHASE 1: BLUEPRINT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Days 1–15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Shop-Floor Study: </a:t>
            </a:r>
            <a:r>
              <a:rPr b="0" sz="780">
                <a:solidFill>
                  <a:srgbClr val="64748B"/>
                </a:solidFill>
              </a:rPr>
              <a:t>Cell walkthrough across motors &amp; cable assembly bays.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OData Validation: </a:t>
            </a:r>
            <a:r>
              <a:rPr b="0" sz="780">
                <a:solidFill>
                  <a:srgbClr val="64748B"/>
                </a:solidFill>
              </a:rPr>
              <a:t>Testing read endpoints in SAP Sandbox.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Architecture Sign-Off: </a:t>
            </a:r>
            <a:r>
              <a:rPr b="0" sz="780">
                <a:solidFill>
                  <a:srgbClr val="64748B"/>
                </a:solidFill>
              </a:rPr>
              <a:t>Approved FRS &amp; technical blueprint.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0066CC"/>
                </a:solidFill>
              </a:rPr>
              <a:t>Gate 1: Blueprint Sign-Off (20% Milestone)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PHASE 2: CORE APP BUILD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Days 16–45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HHT Client Build: </a:t>
            </a:r>
            <a:r>
              <a:rPr b="0" sz="780">
                <a:solidFill>
                  <a:srgbClr val="64748B"/>
                </a:solidFill>
              </a:rPr>
              <a:t>Zebra/Honeywell scanner application.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Poka-Yoke Rules: </a:t>
            </a:r>
            <a:r>
              <a:rPr b="0" sz="780">
                <a:solidFill>
                  <a:srgbClr val="64748B"/>
                </a:solidFill>
              </a:rPr>
              <a:t>Barcode verification engine.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Edge Offline Cache: </a:t>
            </a:r>
            <a:r>
              <a:rPr b="0" sz="780">
                <a:solidFill>
                  <a:srgbClr val="64748B"/>
                </a:solidFill>
              </a:rPr>
              <a:t>Local SQLite edge buffering.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00B4D8"/>
                </a:solidFill>
              </a:rPr>
              <a:t>Gate 2: App Alpha Complete (30% Milestone)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PHASE 3: INTEGRATION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Days 46–65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OData Pipeline: </a:t>
            </a:r>
            <a:r>
              <a:rPr b="0" sz="780">
                <a:solidFill>
                  <a:srgbClr val="64748B"/>
                </a:solidFill>
              </a:rPr>
              <a:t>Delta synchronization to middleware.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Approval Workbench: </a:t>
            </a:r>
            <a:r>
              <a:rPr b="0" sz="780">
                <a:solidFill>
                  <a:srgbClr val="64748B"/>
                </a:solidFill>
              </a:rPr>
              <a:t>Supervisor &amp; QC review desk.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Slip Compiler: </a:t>
            </a:r>
            <a:r>
              <a:rPr b="0" sz="780">
                <a:solidFill>
                  <a:srgbClr val="64748B"/>
                </a:solidFill>
              </a:rPr>
              <a:t>Ready-to-Post engine (CO11N/MIGO).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7C3AED"/>
                </a:solidFill>
              </a:rPr>
              <a:t>Review: System Integration Walkthrough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F59E0B"/>
                </a:solidFill>
                <a:latin typeface="Arial"/>
              </a:defRPr>
            </a:pPr>
            <a:r>
              <a:t>PHASE 4: DRY-RUNS &amp; UAT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Days 66–80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Pilot Assembly Line: </a:t>
            </a:r>
            <a:r>
              <a:rPr b="0" sz="780">
                <a:solidFill>
                  <a:srgbClr val="64748B"/>
                </a:solidFill>
              </a:rPr>
              <a:t>Dry-run on 2 active production cells.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Scanner Stress Test: </a:t>
            </a:r>
            <a:r>
              <a:rPr b="0" sz="780">
                <a:solidFill>
                  <a:srgbClr val="64748B"/>
                </a:solidFill>
              </a:rPr>
              <a:t>15+ Zebra scanners concurrent run.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AS9100 Audit Dry-Run: </a:t>
            </a:r>
            <a:r>
              <a:rPr b="0" sz="780">
                <a:solidFill>
                  <a:srgbClr val="64748B"/>
                </a:solidFill>
              </a:rPr>
              <a:t>Simulated 15-second genealogy audit.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F59E0B"/>
                </a:solidFill>
              </a:rPr>
              <a:t>Gate 3: Formal Business UAT Sign-Off (30% Milestone)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PHASE 5: CUTOVER &amp; LIVE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Days 81–90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Production Rollout: </a:t>
            </a:r>
            <a:r>
              <a:rPr b="0" sz="780">
                <a:solidFill>
                  <a:srgbClr val="64748B"/>
                </a:solidFill>
              </a:rPr>
              <a:t>Deployment to on-premise server.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Operator Training: </a:t>
            </a:r>
            <a:r>
              <a:rPr b="0" sz="780">
                <a:solidFill>
                  <a:srgbClr val="64748B"/>
                </a:solidFill>
              </a:rPr>
              <a:t>Shift training for 50+ shop-floor users.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SOP &amp; Handover: </a:t>
            </a:r>
            <a:r>
              <a:rPr b="0" sz="780">
                <a:solidFill>
                  <a:srgbClr val="64748B"/>
                </a:solidFill>
              </a:rPr>
              <a:t>Commercial go-live transition.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10B981"/>
                </a:solidFill>
              </a:rPr>
              <a:t>Gate 4: Production Go-Live (20% Milestone)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COMMERCIAL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Turnkey Commercial Investment &amp; Milestone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Turnkey Fixed-Price Implementation backed by 60 Days Hypercare and SLA-driven 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B4D8"/>
                </a:solidFill>
                <a:latin typeface="Arial"/>
              </a:defRPr>
            </a:pPr>
            <a:r>
              <a:t>1. TURNKEY IMPLEMENTATION</a:t>
            </a:r>
          </a:p>
          <a:p>
            <a:pPr>
              <a:spcAft>
                <a:spcPts val="1200"/>
              </a:spcAft>
              <a:defRPr sz="900" i="1">
                <a:solidFill>
                  <a:srgbClr val="94A3B8"/>
                </a:solidFill>
              </a:defRPr>
            </a:pPr>
            <a:r>
              <a:t>₹28,50,000 INR (Excl. Taxes)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A. App &amp; Platform Development:
</a:t>
            </a:r>
            <a:r>
              <a:rPr b="0" sz="819">
                <a:solidFill>
                  <a:srgbClr val="94A3B8"/>
                </a:solidFill>
              </a:rPr>
              <a:t>₹18,50,000
End-to-end TRACE n TRACE software, Zebra/Honeywell scanner app, Two-Tier Approval Desk, SQLite edge cache, and As-Built genealogy engine.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B. SAP Integration &amp; Middleware:
</a:t>
            </a:r>
            <a:r>
              <a:rPr b="0" sz="819">
                <a:solidFill>
                  <a:srgbClr val="94A3B8"/>
                </a:solidFill>
              </a:rPr>
              <a:t>₹10,00,000
Read-only SAP OData configuration, delta sync middleware, Ready-to-Post Slip compiler (CO11N/MIGO/QE51N), AS9100 validation, and UAT.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2. MILESTONE PAYMENT GATES</a:t>
            </a:r>
          </a:p>
          <a:p>
            <a:pPr>
              <a:spcAft>
                <a:spcPts val="1200"/>
              </a:spcAft>
              <a:defRPr sz="900" i="1">
                <a:solidFill>
                  <a:srgbClr val="94A3B8"/>
                </a:solidFill>
              </a:defRPr>
            </a:pPr>
            <a:r>
              <a:t>Deliverable-Linked Billing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Milestone 1 — 20% (₹5,70,000):
</a:t>
            </a:r>
            <a:r>
              <a:rPr b="0" sz="819">
                <a:solidFill>
                  <a:srgbClr val="94A3B8"/>
                </a:solidFill>
              </a:rPr>
              <a:t>Upon Kickoff and approved Architecture Blueprint (Day 15).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Milestone 2 — 30% (₹8,55,000):
</a:t>
            </a:r>
            <a:r>
              <a:rPr b="0" sz="819">
                <a:solidFill>
                  <a:srgbClr val="94A3B8"/>
                </a:solidFill>
              </a:rPr>
              <a:t>Upon Core HHT Scanning App &amp; Poka-Yoke Engine Complete (Day 45).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Milestone 3 — 30% (₹8,55,000):
</a:t>
            </a:r>
            <a:r>
              <a:rPr b="0" sz="819">
                <a:solidFill>
                  <a:srgbClr val="94A3B8"/>
                </a:solidFill>
              </a:rPr>
              <a:t>Upon Middleware Integration &amp; Shop-Floor UAT Sign-Off (Day 80).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Milestone 4 — 20% (₹5,70,000):
</a:t>
            </a:r>
            <a:r>
              <a:rPr b="0" sz="819">
                <a:solidFill>
                  <a:srgbClr val="94A3B8"/>
                </a:solidFill>
              </a:rPr>
              <a:t>Upon Production Go-Live, Training &amp; System Handover (Day 90).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3. POST-GO-LIVE SUPPORT (AMS)</a:t>
            </a:r>
          </a:p>
          <a:p>
            <a:pPr>
              <a:spcAft>
                <a:spcPts val="1200"/>
              </a:spcAft>
              <a:defRPr sz="900" i="1">
                <a:solidFill>
                  <a:srgbClr val="94A3B8"/>
                </a:solidFill>
              </a:defRPr>
            </a:pPr>
            <a:r>
              <a:t>Hypercare + Ongoing Retainer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60-Day Dedicated Hypercare:
</a:t>
            </a:r>
            <a:r>
              <a:rPr b="0" sz="819">
                <a:solidFill>
                  <a:srgbClr val="94A3B8"/>
                </a:solidFill>
              </a:rPr>
              <a:t>INCLUDED at zero extra cost. On-site &amp; remote stabilization, daily standups, and tuning.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Ongoing AMS Support:
</a:t>
            </a:r>
            <a:r>
              <a:rPr b="0" sz="819">
                <a:solidFill>
                  <a:srgbClr val="94A3B8"/>
                </a:solidFill>
              </a:rPr>
              <a:t>Time &amp; Material (T&amp;M) Retainer billed quarterly based on consumed effort hours.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Guaranteed SLA Tiers:
</a:t>
            </a:r>
            <a:r>
              <a:rPr b="0" sz="819">
                <a:solidFill>
                  <a:srgbClr val="94A3B8"/>
                </a:solidFill>
              </a:rPr>
              <a:t>• P1 (Production Halt): 2 Hr Response
• P2 (Feature Degradation): 4 Hr Response
• P3 (General Query): 8 Hr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GOVERNANCE &amp; ENGAGEMENT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Assumptions, Technical Dependencies &amp; Commercial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Clear boundaries, client prerequisites, and contractual governance for predictable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1. Client Dependencies (Hical)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SAP OData Service Exposure: </a:t>
            </a:r>
            <a:r>
              <a:rPr b="0" sz="800">
                <a:solidFill>
                  <a:srgbClr val="64748B"/>
                </a:solidFill>
              </a:rPr>
              <a:t>Hical IT to expose standard read-only OData endpoints with HTTPS network accessibility to middle tier.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Environment &amp; Test Data: </a:t>
            </a:r>
            <a:r>
              <a:rPr b="0" sz="800">
                <a:solidFill>
                  <a:srgbClr val="64748B"/>
                </a:solidFill>
              </a:rPr>
              <a:t>Provisioning of SAP Sandbox/Quality systems with active BOMs and discrete routing master data within 5 days of kickoff.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Rugged HHT Hardware: </a:t>
            </a:r>
            <a:r>
              <a:rPr b="0" sz="800">
                <a:solidFill>
                  <a:srgbClr val="64748B"/>
                </a:solidFill>
              </a:rPr>
              <a:t>Hical to supply required Zebra/Honeywell handheld terminals with barcode wedge drivers and ensure floor Wi-Fi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2. Key Architectural Assumptions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Strictly Non-Invasive: </a:t>
            </a:r>
            <a:r>
              <a:rPr b="0" sz="800">
                <a:solidFill>
                  <a:srgbClr val="64748B"/>
                </a:solidFill>
              </a:rPr>
              <a:t>SAP remains 100% read-only throughout. No custom ABAP write-back tables, direct RFC write destinations, or BAPIs.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Booking Authority Retained: </a:t>
            </a:r>
            <a:r>
              <a:rPr b="0" sz="800">
                <a:solidFill>
                  <a:srgbClr val="64748B"/>
                </a:solidFill>
              </a:rPr>
              <a:t>Physical posting of production confirmations (CO11N) and goods receipts (MIGO) into SAP GUI remains under Hical's authorized personnel.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Source Master Data: </a:t>
            </a:r>
            <a:r>
              <a:rPr b="0" sz="800">
                <a:solidFill>
                  <a:srgbClr val="64748B"/>
                </a:solidFill>
              </a:rPr>
              <a:t>Master data consistency in SAP (material numbers, BOM revisions, vendor info) is maintained by Hical internal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3. Commercial Terms &amp; Conditions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Proposal Validity: </a:t>
            </a:r>
            <a:r>
              <a:rPr b="0" sz="800">
                <a:solidFill>
                  <a:srgbClr val="64748B"/>
                </a:solidFill>
              </a:rPr>
              <a:t>Commercial pricing of ₹28,50,000 INR is valid for 45 calendar days from formal presentation.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Taxation &amp; Payments: </a:t>
            </a:r>
            <a:r>
              <a:rPr b="0" sz="800">
                <a:solidFill>
                  <a:srgbClr val="64748B"/>
                </a:solidFill>
              </a:rPr>
              <a:t>GST @ 18% extra as applicable. Invoices payable within 15 business days of electronic milestone submission.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100% IP Transfer to Hical: </a:t>
            </a:r>
            <a:r>
              <a:rPr b="0" sz="800">
                <a:solidFill>
                  <a:srgbClr val="64748B"/>
                </a:solidFill>
              </a:rPr>
              <a:t>Complete source code, configuration scripts, and documentation transfer exclusively to Hical upon final settlement.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Confidentiality &amp; NDA: </a:t>
            </a:r>
            <a:r>
              <a:rPr b="0" sz="800">
                <a:solidFill>
                  <a:srgbClr val="64748B"/>
                </a:solidFill>
              </a:rPr>
              <a:t>Strict mutual confidentiality protecting Hical's proprietary aerospace BOMs, pricing, and manufacturing parameters.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43891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CLOSING VALUE RECAP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Executive Value Recap: Why TRACE n TRACE for 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Recapping major value drivers and strategic win themes delivering 3.8x to 6.1x First-Year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FOUR STRATEGIC WIN THEMES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F8FAFC"/>
                </a:solidFill>
              </a:rPr>
              <a:t>1. Zero SAP Core Risk:
</a:t>
            </a:r>
            <a:r>
              <a:rPr b="0" sz="819">
                <a:solidFill>
                  <a:srgbClr val="94A3B8"/>
                </a:solidFill>
              </a:rPr>
              <a:t>100% read-only OData architecture ensures zero database deadlocks, table locks, or schema corruption.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F8FAFC"/>
                </a:solidFill>
              </a:rPr>
              <a:t>2. Huge Licensing Savings:
</a:t>
            </a:r>
            <a:r>
              <a:rPr b="0" sz="819">
                <a:solidFill>
                  <a:srgbClr val="94A3B8"/>
                </a:solidFill>
              </a:rPr>
              <a:t>Floor operators use open-standard rugged handheld terminals without needing expensive Named SAP Fiori licenses.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F8FAFC"/>
                </a:solidFill>
              </a:rPr>
              <a:t>3. AS9100 Zero-Defect Enforcement:
</a:t>
            </a:r>
            <a:r>
              <a:rPr b="0" sz="819">
                <a:solidFill>
                  <a:srgbClr val="94A3B8"/>
                </a:solidFill>
              </a:rPr>
              <a:t>Hardware barcode Poka-Yoke halts wrong component batches, unapproved ECN revisions, and expired resins instantly.</a:t>
            </a:r>
          </a:p>
          <a:p>
            <a:pPr>
              <a:spcAft>
                <a:spcPts val="800"/>
              </a:spcAft>
            </a:pPr>
            <a:r>
              <a:rPr b="1" sz="900">
                <a:solidFill>
                  <a:srgbClr val="F8FAFC"/>
                </a:solidFill>
              </a:rPr>
              <a:t>4. Two-Tier Air-Gapped Governance:
</a:t>
            </a:r>
            <a:r>
              <a:rPr b="0" sz="819">
                <a:solidFill>
                  <a:srgbClr val="94A3B8"/>
                </a:solidFill>
              </a:rPr>
              <a:t>Supervisor PIN + QC digital stamp generates pre-verified Ready-to-Post slips (CO11N, MIGO, QE51N), keeping ERP postings 100% error-free.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TANGIBLE ANNUAL VALUE CREATION FOR HICAL</a:t>
            </a:r>
          </a:p>
          <a:p>
            <a:pPr>
              <a:spcAft>
                <a:spcPts val="700"/>
              </a:spcAft>
            </a:pPr>
            <a:r>
              <a:rPr b="0" sz="850">
                <a:solidFill>
                  <a:srgbClr val="F8FAFC"/>
                </a:solidFill>
              </a:rPr>
              <a:t>SAP License Cost Avoidance (150 Floor Users):
</a:t>
            </a:r>
            <a:r>
              <a:rPr b="1" sz="850">
                <a:solidFill>
                  <a:srgbClr val="00B4D8"/>
                </a:solidFill>
              </a:rPr>
              <a:t>₹45,00,000 – ₹75,00,000</a:t>
            </a:r>
          </a:p>
          <a:p>
            <a:pPr>
              <a:spcAft>
                <a:spcPts val="700"/>
              </a:spcAft>
            </a:pPr>
            <a:r>
              <a:rPr b="0" sz="850">
                <a:solidFill>
                  <a:srgbClr val="F8FAFC"/>
                </a:solidFill>
              </a:rPr>
              <a:t>Assembly Rework &amp; Scrap Eradication (Poka-Yoke):
</a:t>
            </a:r>
            <a:r>
              <a:rPr b="1" sz="850">
                <a:solidFill>
                  <a:srgbClr val="00B4D8"/>
                </a:solidFill>
              </a:rPr>
              <a:t>₹28,00,000 – ₹42,00,000</a:t>
            </a:r>
          </a:p>
          <a:p>
            <a:pPr>
              <a:spcAft>
                <a:spcPts val="700"/>
              </a:spcAft>
            </a:pPr>
            <a:r>
              <a:rPr b="0" sz="850">
                <a:solidFill>
                  <a:srgbClr val="F8FAFC"/>
                </a:solidFill>
              </a:rPr>
              <a:t>Paper Traveler Shift-End Labor Recovery:
</a:t>
            </a:r>
            <a:r>
              <a:rPr b="1" sz="850">
                <a:solidFill>
                  <a:srgbClr val="00B4D8"/>
                </a:solidFill>
              </a:rPr>
              <a:t>₹15,00,000 – ₹22,00,000</a:t>
            </a:r>
          </a:p>
          <a:p>
            <a:pPr>
              <a:spcAft>
                <a:spcPts val="700"/>
              </a:spcAft>
            </a:pPr>
            <a:r>
              <a:rPr b="0" sz="850">
                <a:solidFill>
                  <a:srgbClr val="F8FAFC"/>
                </a:solidFill>
              </a:rPr>
              <a:t>AS9100 Audit Defense &amp; Penalty Avoidance:
</a:t>
            </a:r>
            <a:r>
              <a:rPr b="1" sz="850">
                <a:solidFill>
                  <a:srgbClr val="00B4D8"/>
                </a:solidFill>
              </a:rPr>
              <a:t>₹20,00,000 – ₹35,00,000</a:t>
            </a:r>
          </a:p>
          <a:p>
            <a:pPr>
              <a:spcAft>
                <a:spcPts val="700"/>
              </a:spcAft>
            </a:pPr>
            <a:r>
              <a:rPr b="1" sz="850">
                <a:solidFill>
                  <a:srgbClr val="D97706"/>
                </a:solidFill>
              </a:rPr>
              <a:t>TOTAL ESTIMATED ANNUAL VALUE RELEASE:
</a:t>
            </a:r>
            <a:r>
              <a:rPr b="1" sz="950">
                <a:solidFill>
                  <a:srgbClr val="10B981"/>
                </a:solidFill>
              </a:rPr>
              <a:t>₹1,08,00,000 – ₹1,74,00,000</a:t>
            </a:r>
          </a:p>
          <a:p>
            <a:pPr>
              <a:spcAft>
                <a:spcPts val="700"/>
              </a:spcAft>
            </a:pPr>
            <a:r>
              <a:rPr b="1" sz="850">
                <a:solidFill>
                  <a:srgbClr val="D97706"/>
                </a:solidFill>
              </a:rPr>
              <a:t>PROJECT PAYBACK PERIOD:
</a:t>
            </a:r>
            <a:r>
              <a:rPr b="1" sz="950">
                <a:solidFill>
                  <a:srgbClr val="10B981"/>
                </a:solidFill>
              </a:rPr>
              <a:t>3.5 to 4.5 Months (ROI: 3.8x – 6.1x)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— TRACE n TRACE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