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EXECUTIVE VISION &amp; STRATEGIC RESILIENCE</a:t>
            </a:r>
          </a:p>
          <a:p/>
          <a:p>
            <a:r>
              <a:t>Talking Points for Hemanth Kumar (Spoken to CEO):</a:t>
            </a:r>
          </a:p>
          <a:p>
            <a:r>
              <a:t>- Opening Hook: 'As CEO, your imperative is balancing strategic velocity with absolute institutional protection. When undergoing core digital transformation, governance cannot become an operational brake.'</a:t>
            </a:r>
          </a:p>
          <a:p>
            <a:r>
              <a:t>- Core Positioning: 'At Lumbini Elite, we partner with C-suites to turn security and compliance into an architectural accelerator—protecting your multi-billion-dollar ERP assets while de-risking Cloud and AI value realization.'</a:t>
            </a:r>
          </a:p>
          <a:p>
            <a:r>
              <a:t>- Dialogue Focus: 'Today's brief discussion centers on three CEO priorities: quantifiable financial efficiency, total audit predictability, and a seamless growth path into Clean Core and autonomous AI.'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BOTTOM-LINE IMPACT &amp; RISK MITIGATION</a:t>
            </a:r>
          </a:p>
          <a:p/>
          <a:p>
            <a:r>
              <a:t>Talking Points for Hemanth Kumar (Spoken to CEO):</a:t>
            </a:r>
          </a:p>
          <a:p>
            <a:r>
              <a:t>- Operational Efficiency: 'We've proven across 20,000+ global users that rationalizing security architecture drops annual maintenance overhead by 60%. This isn't just an IT metric; it directly recovers millions in wasted engineering hours.'</a:t>
            </a:r>
          </a:p>
          <a:p>
            <a:r>
              <a:t>- Strategic Velocity: 'In fast-moving enterprises, waiting 5 days for critical project or firefighter access stalls commercial initiatives. By compressing SLAs to under 2 hours, your teams operate at full market speed.'</a:t>
            </a:r>
          </a:p>
          <a:p>
            <a:r>
              <a:t>- Audit Assurance: 'Under rigorous SOX, ISO, and IP oversight, our client landscapes hold a 100% first-time audit pass rate. We completely eliminate recurring audit findings and regulatory fines.'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THE STRATEGIC GROWTH PARTNERSHIP</a:t>
            </a:r>
          </a:p>
          <a:p/>
          <a:p>
            <a:r>
              <a:t>Talking Points for Hemanth Kumar (Spoken to CEO):</a:t>
            </a:r>
          </a:p>
          <a:p>
            <a:r>
              <a:t>- Clean Core Agility: 'Digital transformations often fail because legacy ERP systems get bogged down with custom ABAP modifications. We preserve a pure Clean Core on SAP BTP, guaranteeing upgrade agility and business continuity.'</a:t>
            </a:r>
          </a:p>
          <a:p>
            <a:r>
              <a:t>- Accelerated Time-to-Value: 'Migrating to Cloud IAG shouldn't take 12 months of manual triage. Our pre-cloud remediation accelerators clean the slate first, compressing your transition timeline by 40%.'</a:t>
            </a:r>
          </a:p>
          <a:p>
            <a:r>
              <a:t>- The Ask / Next Step: 'We propose a low-risk, 30-day lighthouse pilot on a single critical business unit. We will prove the 40% acceleration and quantifiable cost savings firsthand, giving you concrete data before committing broader enterprise resources.'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51560"/>
            <a:ext cx="3474720" cy="347472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15568"/>
            <a:ext cx="3291840" cy="27432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1000" b="1">
                <a:solidFill>
                  <a:srgbClr val="E30613"/>
                </a:solidFill>
                <a:latin typeface="Arial"/>
              </a:defRPr>
            </a:pPr>
            <a:r>
              <a:t>CEO STRATEGIC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Architecting Enterprise Resilience</a:t>
            </a:r>
          </a:p>
          <a:p>
            <a:pPr>
              <a:defRPr sz="2200" b="1">
                <a:solidFill>
                  <a:srgbClr val="E30613"/>
                </a:solidFill>
                <a:latin typeface="Arial"/>
              </a:defRPr>
            </a:pPr>
            <a:r>
              <a:t>Security, Scale, and Strategic Value Realization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37560"/>
            <a:ext cx="2011680" cy="36576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10332720" cy="896112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675887"/>
            <a:ext cx="9875520" cy="68580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Partnering with Lumbini Elite to protect multi-billion-dollar assets and future-proof digital transformations.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Executive Briefing presented by Hemanth Kumar, Principal Consultant  |  Lumbini Elite Solutions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754880"/>
            <a:ext cx="3246120" cy="128016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92040"/>
            <a:ext cx="2880360" cy="100584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E30613"/>
                </a:solidFill>
                <a:latin typeface="Arial"/>
              </a:defRPr>
            </a:pPr>
            <a:r>
              <a:t>Institutional Protection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Safeguarding core business continuity across multi-billion-dollar operational assets.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7" y="4754880"/>
            <a:ext cx="3246120" cy="128016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4892040"/>
            <a:ext cx="2880360" cy="100584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E30613"/>
                </a:solidFill>
                <a:latin typeface="Arial"/>
              </a:defRPr>
            </a:pPr>
            <a:r>
              <a:t>Transformation Velocity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De-risking Cloud &amp; AI adoption while driving down operational friction and overhead.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5" y="4754880"/>
            <a:ext cx="3246120" cy="128016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5" y="4892040"/>
            <a:ext cx="2880360" cy="100584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E30613"/>
                </a:solidFill>
                <a:latin typeface="Arial"/>
              </a:defRPr>
            </a:pPr>
            <a:r>
              <a:t>Audit Predictability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Guaranteeing zero-defect regulatory governance under continuous global oversight.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Arial"/>
              </a:defRPr>
            </a:pPr>
            <a:r>
              <a:t>Proven Financial and Operational ROI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Calibri"/>
              </a:defRPr>
            </a:pPr>
            <a:r>
              <a:t>Delivering quantifiable business continuity, cost reduction, and compliance certainty across global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37560" cy="73152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2880360" cy="3438144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E30613"/>
                </a:solidFill>
                <a:latin typeface="Arial"/>
              </a:defRPr>
            </a:pPr>
            <a:r>
              <a:t>60%</a:t>
            </a:r>
          </a:p>
          <a:p>
            <a:pPr>
              <a:defRPr sz="1250" b="1">
                <a:solidFill>
                  <a:srgbClr val="1A202C"/>
                </a:solidFill>
                <a:latin typeface="Arial"/>
              </a:defRPr>
            </a:pPr>
            <a:r>
              <a:t>Operational Efficiency</a:t>
            </a:r>
          </a:p>
          <a:p>
            <a:pPr>
              <a:spcAft>
                <a:spcPts val="1000"/>
              </a:spcAft>
              <a:defRPr sz="1000" b="1">
                <a:solidFill>
                  <a:srgbClr val="E30613"/>
                </a:solidFill>
                <a:latin typeface="Calibri"/>
              </a:defRPr>
            </a:pPr>
            <a:r>
              <a:t>Maintenance Overhead Reduction</a:t>
            </a:r>
          </a:p>
          <a:p>
            <a:pPr>
              <a:spcAft>
                <a:spcPts val="12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Slashed recurring administrative overhead across 20,000+ global users via enterprise role rationalization, composite pruning, and automated re-certification.</a:t>
            </a:r>
          </a:p>
          <a:p>
            <a:pPr>
              <a:defRPr sz="950" i="1" b="1">
                <a:solidFill>
                  <a:srgbClr val="E30613"/>
                </a:solidFill>
                <a:latin typeface="Calibri"/>
              </a:defRPr>
            </a:pPr>
            <a:r>
              <a:t>Bottom-Line ROI: Millions saved in recurring support and licensing waste.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337560" cy="73152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618488"/>
            <a:ext cx="2880360" cy="3438144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E30613"/>
                </a:solidFill>
                <a:latin typeface="Arial"/>
              </a:defRPr>
            </a:pPr>
            <a:r>
              <a:t>&lt; 2 Hours</a:t>
            </a:r>
          </a:p>
          <a:p>
            <a:pPr>
              <a:defRPr sz="1250" b="1">
                <a:solidFill>
                  <a:srgbClr val="1A202C"/>
                </a:solidFill>
                <a:latin typeface="Arial"/>
              </a:defRPr>
            </a:pPr>
            <a:r>
              <a:t>Speed-to-Market &amp; Velocity</a:t>
            </a:r>
          </a:p>
          <a:p>
            <a:pPr>
              <a:spcAft>
                <a:spcPts val="1000"/>
              </a:spcAft>
              <a:defRPr sz="1000" b="1">
                <a:solidFill>
                  <a:srgbClr val="E30613"/>
                </a:solidFill>
                <a:latin typeface="Calibri"/>
              </a:defRPr>
            </a:pPr>
            <a:r>
              <a:t>Access &amp; SLA Compression</a:t>
            </a:r>
          </a:p>
          <a:p>
            <a:pPr>
              <a:spcAft>
                <a:spcPts val="12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Compressed critical system access and firefighter elevation provisioning turnaround from 5 business days down to under 2 hours.</a:t>
            </a:r>
          </a:p>
          <a:p>
            <a:pPr>
              <a:defRPr sz="950" i="1" b="1">
                <a:solidFill>
                  <a:srgbClr val="E30613"/>
                </a:solidFill>
                <a:latin typeface="Calibri"/>
              </a:defRPr>
            </a:pPr>
            <a:r>
              <a:t>Operational ROI: Zero commercial project delays or developer idle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17320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1417320"/>
            <a:ext cx="3337560" cy="73152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618488"/>
            <a:ext cx="2880360" cy="3438144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E30613"/>
                </a:solidFill>
                <a:latin typeface="Arial"/>
              </a:defRPr>
            </a:pPr>
            <a:r>
              <a:t>100%</a:t>
            </a:r>
          </a:p>
          <a:p>
            <a:pPr>
              <a:defRPr sz="1250" b="1">
                <a:solidFill>
                  <a:srgbClr val="1A202C"/>
                </a:solidFill>
                <a:latin typeface="Arial"/>
              </a:defRPr>
            </a:pPr>
            <a:r>
              <a:t>Audit Certainty &amp; Risk</a:t>
            </a:r>
          </a:p>
          <a:p>
            <a:pPr>
              <a:spcAft>
                <a:spcPts val="1000"/>
              </a:spcAft>
              <a:defRPr sz="1000" b="1">
                <a:solidFill>
                  <a:srgbClr val="E30613"/>
                </a:solidFill>
                <a:latin typeface="Calibri"/>
              </a:defRPr>
            </a:pPr>
            <a:r>
              <a:t>Compliance &amp; Penalty Elimination</a:t>
            </a:r>
          </a:p>
          <a:p>
            <a:pPr>
              <a:spcAft>
                <a:spcPts val="12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Unblemished 100% compliance pass rate under SOX-404, ISO-27001, and strict international intellectual property export regulations.</a:t>
            </a:r>
          </a:p>
          <a:p>
            <a:pPr>
              <a:defRPr sz="950" i="1" b="1">
                <a:solidFill>
                  <a:srgbClr val="E30613"/>
                </a:solidFill>
                <a:latin typeface="Calibri"/>
              </a:defRPr>
            </a:pPr>
            <a:r>
              <a:t>Governance ROI: Complete mitigation of multi-million-dollar penalty risks.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Arial"/>
              </a:defRPr>
            </a:pPr>
            <a:r>
              <a:t>CEO Value Realization: </a:t>
            </a:r>
            <a:r>
              <a:rPr sz="1050" b="0">
                <a:solidFill>
                  <a:srgbClr val="1A202C"/>
                </a:solidFill>
                <a:latin typeface="Calibri"/>
              </a:rPr>
              <a:t>Every 1% reduction in manual authorization overhead unlocks enterprise agility. We convert regulatory friction into automated operating leverage that flows directly to the bottom 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Lumbini Elite Solutions  |  CEO Strategic Briefing  |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Arial"/>
              </a:defRPr>
            </a:pPr>
            <a:r>
              <a:t>De-Risking the Future: Cloud, IAG, and AI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Calibri"/>
              </a:defRPr>
            </a:pPr>
            <a:r>
              <a:t>Aligning enterprise governance with long-term digital growth and Clean Core agility.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645920"/>
            <a:ext cx="1645920" cy="274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73352"/>
            <a:ext cx="164592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 algn="ctr">
              <a:defRPr sz="850" b="1">
                <a:solidFill>
                  <a:srgbClr val="E30613"/>
                </a:solidFill>
                <a:latin typeface="Arial"/>
              </a:defRPr>
            </a:pPr>
            <a:r>
              <a:t>ASSET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2880360" cy="260604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A202C"/>
                </a:solidFill>
                <a:latin typeface="Arial"/>
              </a:defRPr>
            </a:pPr>
            <a:r>
              <a:t>Clean Core Protection</a:t>
            </a:r>
          </a:p>
          <a:p>
            <a:pPr>
              <a:spcAft>
                <a:spcPts val="1200"/>
              </a:spcAft>
              <a:defRPr sz="1000" b="1">
                <a:solidFill>
                  <a:srgbClr val="E30613"/>
                </a:solidFill>
                <a:latin typeface="Calibri"/>
              </a:defRPr>
            </a:pPr>
            <a:r>
              <a:t>Zero-Modification Standard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-  Zero core ABAP modifications during S/4HANA transitions.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-  Prevents custom code bloat from creating technical debt.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-  Ensures seamless future upgrade cycles without business downtime.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54296" y="1645920"/>
            <a:ext cx="1645920" cy="274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673352"/>
            <a:ext cx="164592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 algn="ctr">
              <a:defRPr sz="850" b="1">
                <a:solidFill>
                  <a:srgbClr val="E30613"/>
                </a:solidFill>
                <a:latin typeface="Arial"/>
              </a:defRPr>
            </a:pPr>
            <a:r>
              <a:t>TIME-TO-VALUE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075688"/>
            <a:ext cx="2880360" cy="260604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A202C"/>
                </a:solidFill>
                <a:latin typeface="Arial"/>
              </a:defRPr>
            </a:pPr>
            <a:r>
              <a:t>Accelerated IAG Onboarding</a:t>
            </a:r>
          </a:p>
          <a:p>
            <a:pPr>
              <a:spcAft>
                <a:spcPts val="1200"/>
              </a:spcAft>
              <a:defRPr sz="1000" b="1">
                <a:solidFill>
                  <a:srgbClr val="E30613"/>
                </a:solidFill>
                <a:latin typeface="Calibri"/>
              </a:defRPr>
            </a:pPr>
            <a:r>
              <a:t>40% Faster Cloud Migration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-  Proprietary pre-cloud remediation toolkits scrub legacy role catalogs.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-  Automates SoD rationalization prior to cloud transition.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-  Cuts customer cloud onboarding and deployment timelines by up to 40%.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41732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48472" y="1645920"/>
            <a:ext cx="1645920" cy="274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73352"/>
            <a:ext cx="164592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 algn="ctr">
              <a:defRPr sz="850" b="1">
                <a:solidFill>
                  <a:srgbClr val="E30613"/>
                </a:solidFill>
                <a:latin typeface="Arial"/>
              </a:defRPr>
            </a:pPr>
            <a:r>
              <a:t>STRATEGIC CALL TO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75688"/>
            <a:ext cx="2880360" cy="260604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A202C"/>
                </a:solidFill>
                <a:latin typeface="Arial"/>
              </a:defRPr>
            </a:pPr>
            <a:r>
              <a:t>Executive Alignment Pilot</a:t>
            </a:r>
          </a:p>
          <a:p>
            <a:pPr>
              <a:spcAft>
                <a:spcPts val="1200"/>
              </a:spcAft>
              <a:defRPr sz="1000" b="1">
                <a:solidFill>
                  <a:srgbClr val="E30613"/>
                </a:solidFill>
                <a:latin typeface="Calibri"/>
              </a:defRPr>
            </a:pPr>
            <a:r>
              <a:t>30-Day Proof of Value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-  Streamlined 30-day executive alignment and targeted lighthouse pilot.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-  Validates quantifiable security and cost benefits with zero risk.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-  Produces a clear Board-ready ROI roadmap for full-scale rollout.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38928"/>
            <a:ext cx="10149840" cy="82296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30613"/>
                </a:solidFill>
                <a:latin typeface="Arial"/>
              </a:defRPr>
            </a:pPr>
            <a:r>
              <a:t>Proposed Executive Next Step: 30-Day Lighthouse Pilot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t>Initiate a low-friction 30-day alignment on a targeted business unit to deploy our pre-cloud remediation toolkits, prove 40% onboarding compression, and present a definitive ROI business case to your executive committee.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Lumbini Elite Solutions  |  CEO Strategic Briefing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