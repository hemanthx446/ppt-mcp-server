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4024" r:id="rId2"/>
    <p:sldId id="4453" r:id="rId3"/>
    <p:sldId id="4037" r:id="rId4"/>
    <p:sldId id="4439" r:id="rId5"/>
    <p:sldId id="4440" r:id="rId6"/>
    <p:sldId id="4441" r:id="rId7"/>
    <p:sldId id="4449" r:id="rId8"/>
    <p:sldId id="315" r:id="rId9"/>
    <p:sldId id="316" r:id="rId10"/>
    <p:sldId id="317" r:id="rId11"/>
    <p:sldId id="349" r:id="rId12"/>
    <p:sldId id="4455" r:id="rId13"/>
    <p:sldId id="266" r:id="rId14"/>
    <p:sldId id="43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5F0D"/>
    <a:srgbClr val="0085A3"/>
    <a:srgbClr val="0081E2"/>
    <a:srgbClr val="0D97FF"/>
    <a:srgbClr val="0072C0"/>
    <a:srgbClr val="008BD4"/>
    <a:srgbClr val="F78B15"/>
    <a:srgbClr val="FFB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85" autoAdjust="0"/>
    <p:restoredTop sz="94474" autoAdjust="0"/>
  </p:normalViewPr>
  <p:slideViewPr>
    <p:cSldViewPr snapToGrid="0" snapToObjects="1">
      <p:cViewPr varScale="1">
        <p:scale>
          <a:sx n="63" d="100"/>
          <a:sy n="63" d="100"/>
        </p:scale>
        <p:origin x="632"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2" d="100"/>
          <a:sy n="72" d="100"/>
        </p:scale>
        <p:origin x="3592"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9DDD0-A44F-E147-BE91-2A693F3EEAB6}" type="datetimeFigureOut">
              <a:rPr lang="en-US" smtClean="0"/>
              <a:pPr/>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F09F84-93B2-F34E-A8F5-F82898239288}" type="slidenum">
              <a:rPr lang="en-US" smtClean="0"/>
              <a:pPr/>
              <a:t>‹#›</a:t>
            </a:fld>
            <a:endParaRPr lang="en-US"/>
          </a:p>
        </p:txBody>
      </p:sp>
    </p:spTree>
    <p:extLst>
      <p:ext uri="{BB962C8B-B14F-4D97-AF65-F5344CB8AC3E}">
        <p14:creationId xmlns:p14="http://schemas.microsoft.com/office/powerpoint/2010/main" val="2033220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EA40A7-3627-0B4A-9209-0DD1058CDE1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354162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A40A7-3627-0B4A-9209-0DD1058CDE1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984870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EA40A7-3627-0B4A-9209-0DD1058CDE1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708899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3EA40A7-3627-0B4A-9209-0DD1058CDE14}"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229177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EA40A7-3627-0B4A-9209-0DD1058CDE14}" type="datetimeFigureOut">
              <a:rPr lang="en-US" smtClean="0"/>
              <a:pPr/>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347660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a:xfrm>
            <a:off x="838200" y="6356350"/>
            <a:ext cx="2743200" cy="365125"/>
          </a:xfrm>
        </p:spPr>
        <p:txBody>
          <a:bodyPr/>
          <a:lstStyle/>
          <a:p>
            <a:fld id="{A3EA40A7-3627-0B4A-9209-0DD1058CDE14}" type="datetimeFigureOut">
              <a:rPr lang="en-US" smtClean="0"/>
              <a:pPr/>
              <a:t>8/17/2026</a:t>
            </a:fld>
            <a:endParaRPr lang="en-US"/>
          </a:p>
        </p:txBody>
      </p:sp>
      <p:sp>
        <p:nvSpPr>
          <p:cNvPr id="8" name="Footer Placeholder 3"/>
          <p:cNvSpPr>
            <a:spLocks noGrp="1"/>
          </p:cNvSpPr>
          <p:nvPr>
            <p:ph type="ftr" sz="quarter" idx="11"/>
          </p:nvPr>
        </p:nvSpPr>
        <p:spPr>
          <a:xfrm>
            <a:off x="4038600" y="6356350"/>
            <a:ext cx="4114800" cy="365125"/>
          </a:xfrm>
        </p:spPr>
        <p:txBody>
          <a:bodyPr/>
          <a:lstStyle/>
          <a:p>
            <a:endParaRPr lang="en-US"/>
          </a:p>
        </p:txBody>
      </p:sp>
      <p:sp>
        <p:nvSpPr>
          <p:cNvPr id="9" name="Slide Number Placeholder 4"/>
          <p:cNvSpPr>
            <a:spLocks noGrp="1"/>
          </p:cNvSpPr>
          <p:nvPr>
            <p:ph type="sldNum" sz="quarter" idx="12"/>
          </p:nvPr>
        </p:nvSpPr>
        <p:spPr>
          <a:xfrm>
            <a:off x="8610600" y="6356350"/>
            <a:ext cx="2743200" cy="365125"/>
          </a:xfrm>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612620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EA40A7-3627-0B4A-9209-0DD1058CDE14}"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273080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EA40A7-3627-0B4A-9209-0DD1058CDE14}"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29124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EA40A7-3627-0B4A-9209-0DD1058CDE14}"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644142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A40A7-3627-0B4A-9209-0DD1058CDE1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143813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A40A7-3627-0B4A-9209-0DD1058CDE1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9F1A1-2806-C34B-9DF6-9D9B6C2F8DD8}" type="slidenum">
              <a:rPr lang="en-US" smtClean="0"/>
              <a:pPr/>
              <a:t>‹#›</a:t>
            </a:fld>
            <a:endParaRPr lang="en-US"/>
          </a:p>
        </p:txBody>
      </p:sp>
    </p:spTree>
    <p:extLst>
      <p:ext uri="{BB962C8B-B14F-4D97-AF65-F5344CB8AC3E}">
        <p14:creationId xmlns:p14="http://schemas.microsoft.com/office/powerpoint/2010/main" val="866347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D9DD6903-31DD-5348-931E-827644FF87FE}"/>
              </a:ext>
            </a:extLst>
          </p:cNvPr>
          <p:cNvSpPr>
            <a:spLocks noGrp="1"/>
          </p:cNvSpPr>
          <p:nvPr>
            <p:ph type="pic" sz="quarter" idx="14"/>
          </p:nvPr>
        </p:nvSpPr>
        <p:spPr>
          <a:xfrm>
            <a:off x="-155616" y="-164593"/>
            <a:ext cx="12503232" cy="7187185"/>
          </a:xfrm>
          <a:prstGeom prst="rect">
            <a:avLst/>
          </a:prstGeom>
          <a:solidFill>
            <a:schemeClr val="bg1">
              <a:lumMod val="95000"/>
            </a:schemeClr>
          </a:solidFill>
        </p:spPr>
        <p:txBody>
          <a:bodyPr>
            <a:normAutofit/>
          </a:bodyPr>
          <a:lstStyle>
            <a:lvl1pPr>
              <a:defRPr sz="1051"/>
            </a:lvl1pPr>
          </a:lstStyle>
          <a:p>
            <a:endParaRPr lang="en-US"/>
          </a:p>
        </p:txBody>
      </p:sp>
    </p:spTree>
    <p:extLst>
      <p:ext uri="{BB962C8B-B14F-4D97-AF65-F5344CB8AC3E}">
        <p14:creationId xmlns:p14="http://schemas.microsoft.com/office/powerpoint/2010/main" val="2671296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28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EA40A7-3627-0B4A-9209-0DD1058CDE14}" type="datetimeFigureOut">
              <a:rPr lang="en-US" smtClean="0"/>
              <a:pPr/>
              <a:t>8/17/2026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9F1A1-2806-C34B-9DF6-9D9B6C2F8DD8}" type="slidenum">
              <a:rPr lang="en-US" smtClean="0"/>
              <a:pPr/>
              <a:t>‹#›</a:t>
            </a:fld>
            <a:endParaRPr lang="en-US"/>
          </a:p>
        </p:txBody>
      </p:sp>
    </p:spTree>
    <p:extLst>
      <p:ext uri="{BB962C8B-B14F-4D97-AF65-F5344CB8AC3E}">
        <p14:creationId xmlns:p14="http://schemas.microsoft.com/office/powerpoint/2010/main" val="1839886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svg"/><Relationship Id="rId26" Type="http://schemas.openxmlformats.org/officeDocument/2006/relationships/image" Target="../media/image38.png"/><Relationship Id="rId3" Type="http://schemas.openxmlformats.org/officeDocument/2006/relationships/image" Target="../media/image13.sv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7.svg"/><Relationship Id="rId2" Type="http://schemas.openxmlformats.org/officeDocument/2006/relationships/image" Target="../media/image12.png"/><Relationship Id="rId16" Type="http://schemas.openxmlformats.org/officeDocument/2006/relationships/image" Target="../media/image29.png"/><Relationship Id="rId20" Type="http://schemas.openxmlformats.org/officeDocument/2006/relationships/image" Target="../media/image33.png"/><Relationship Id="rId29" Type="http://schemas.openxmlformats.org/officeDocument/2006/relationships/image" Target="../media/image41.png"/><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24.png"/><Relationship Id="rId24" Type="http://schemas.openxmlformats.org/officeDocument/2006/relationships/image" Target="../media/image36.png"/><Relationship Id="rId32" Type="http://schemas.openxmlformats.org/officeDocument/2006/relationships/image" Target="../media/image43.png"/><Relationship Id="rId5" Type="http://schemas.openxmlformats.org/officeDocument/2006/relationships/image" Target="../media/image19.png"/><Relationship Id="rId15" Type="http://schemas.openxmlformats.org/officeDocument/2006/relationships/image" Target="../media/image28.jpg"/><Relationship Id="rId23" Type="http://schemas.microsoft.com/office/2007/relationships/hdphoto" Target="../media/hdphoto2.wdp"/><Relationship Id="rId28" Type="http://schemas.openxmlformats.org/officeDocument/2006/relationships/image" Target="../media/image40.png"/><Relationship Id="rId10" Type="http://schemas.openxmlformats.org/officeDocument/2006/relationships/image" Target="../media/image23.png"/><Relationship Id="rId19" Type="http://schemas.openxmlformats.org/officeDocument/2006/relationships/image" Target="../media/image32.png"/><Relationship Id="rId31" Type="http://schemas.openxmlformats.org/officeDocument/2006/relationships/image" Target="../media/image42.png"/><Relationship Id="rId4" Type="http://schemas.openxmlformats.org/officeDocument/2006/relationships/image" Target="../media/image18.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39.png"/><Relationship Id="rId30" Type="http://schemas.microsoft.com/office/2007/relationships/hdphoto" Target="../media/hdphoto3.wdp"/></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www.lumbinielite.com/" TargetMode="External"/><Relationship Id="rId2" Type="http://schemas.openxmlformats.org/officeDocument/2006/relationships/hyperlink" Target="mailto:info@lumbinielite.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17" name="Delay 16">
            <a:extLst>
              <a:ext uri="{FF2B5EF4-FFF2-40B4-BE49-F238E27FC236}">
                <a16:creationId xmlns:a16="http://schemas.microsoft.com/office/drawing/2014/main" id="{15A49040-304B-E749-86A6-62EEA272A5F5}"/>
              </a:ext>
            </a:extLst>
          </p:cNvPr>
          <p:cNvSpPr/>
          <p:nvPr/>
        </p:nvSpPr>
        <p:spPr>
          <a:xfrm>
            <a:off x="1588" y="1"/>
            <a:ext cx="6858000" cy="6858000"/>
          </a:xfrm>
          <a:prstGeom prst="flowChartDelay">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Delay 51">
            <a:extLst>
              <a:ext uri="{FF2B5EF4-FFF2-40B4-BE49-F238E27FC236}">
                <a16:creationId xmlns:a16="http://schemas.microsoft.com/office/drawing/2014/main" id="{FF23FE83-5151-F44A-A577-0C8BA66D5EB2}"/>
              </a:ext>
            </a:extLst>
          </p:cNvPr>
          <p:cNvSpPr/>
          <p:nvPr/>
        </p:nvSpPr>
        <p:spPr>
          <a:xfrm flipH="1">
            <a:off x="8004175" y="5409570"/>
            <a:ext cx="4187825" cy="1069812"/>
          </a:xfrm>
          <a:custGeom>
            <a:avLst/>
            <a:gdLst>
              <a:gd name="connsiteX0" fmla="*/ 0 w 1619837"/>
              <a:gd name="connsiteY0" fmla="*/ 0 h 1619837"/>
              <a:gd name="connsiteX1" fmla="*/ 809919 w 1619837"/>
              <a:gd name="connsiteY1" fmla="*/ 0 h 1619837"/>
              <a:gd name="connsiteX2" fmla="*/ 1619838 w 1619837"/>
              <a:gd name="connsiteY2" fmla="*/ 809919 h 1619837"/>
              <a:gd name="connsiteX3" fmla="*/ 809919 w 1619837"/>
              <a:gd name="connsiteY3" fmla="*/ 1619838 h 1619837"/>
              <a:gd name="connsiteX4" fmla="*/ 0 w 1619837"/>
              <a:gd name="connsiteY4" fmla="*/ 1619837 h 1619837"/>
              <a:gd name="connsiteX5" fmla="*/ 0 w 1619837"/>
              <a:gd name="connsiteY5" fmla="*/ 0 h 1619837"/>
              <a:gd name="connsiteX0" fmla="*/ 0 w 6336217"/>
              <a:gd name="connsiteY0" fmla="*/ 0 h 1619838"/>
              <a:gd name="connsiteX1" fmla="*/ 5526298 w 6336217"/>
              <a:gd name="connsiteY1" fmla="*/ 0 h 1619838"/>
              <a:gd name="connsiteX2" fmla="*/ 6336217 w 6336217"/>
              <a:gd name="connsiteY2" fmla="*/ 809919 h 1619838"/>
              <a:gd name="connsiteX3" fmla="*/ 5526298 w 6336217"/>
              <a:gd name="connsiteY3" fmla="*/ 1619838 h 1619838"/>
              <a:gd name="connsiteX4" fmla="*/ 4716379 w 6336217"/>
              <a:gd name="connsiteY4" fmla="*/ 1619837 h 1619838"/>
              <a:gd name="connsiteX5" fmla="*/ 0 w 6336217"/>
              <a:gd name="connsiteY5" fmla="*/ 0 h 1619838"/>
              <a:gd name="connsiteX0" fmla="*/ 4708 w 6340925"/>
              <a:gd name="connsiteY0" fmla="*/ 0 h 1619838"/>
              <a:gd name="connsiteX1" fmla="*/ 5531006 w 6340925"/>
              <a:gd name="connsiteY1" fmla="*/ 0 h 1619838"/>
              <a:gd name="connsiteX2" fmla="*/ 6340925 w 6340925"/>
              <a:gd name="connsiteY2" fmla="*/ 809919 h 1619838"/>
              <a:gd name="connsiteX3" fmla="*/ 5531006 w 6340925"/>
              <a:gd name="connsiteY3" fmla="*/ 1619838 h 1619838"/>
              <a:gd name="connsiteX4" fmla="*/ 0 w 6340925"/>
              <a:gd name="connsiteY4" fmla="*/ 1550263 h 1619838"/>
              <a:gd name="connsiteX5" fmla="*/ 4708 w 6340925"/>
              <a:gd name="connsiteY5" fmla="*/ 0 h 1619838"/>
              <a:gd name="connsiteX0" fmla="*/ 4708 w 6340925"/>
              <a:gd name="connsiteY0" fmla="*/ 0 h 1629776"/>
              <a:gd name="connsiteX1" fmla="*/ 5531006 w 6340925"/>
              <a:gd name="connsiteY1" fmla="*/ 0 h 1629776"/>
              <a:gd name="connsiteX2" fmla="*/ 6340925 w 6340925"/>
              <a:gd name="connsiteY2" fmla="*/ 809919 h 1629776"/>
              <a:gd name="connsiteX3" fmla="*/ 5531006 w 6340925"/>
              <a:gd name="connsiteY3" fmla="*/ 1619838 h 1629776"/>
              <a:gd name="connsiteX4" fmla="*/ 0 w 6340925"/>
              <a:gd name="connsiteY4" fmla="*/ 1629776 h 1629776"/>
              <a:gd name="connsiteX5" fmla="*/ 4708 w 6340925"/>
              <a:gd name="connsiteY5" fmla="*/ 0 h 1629776"/>
              <a:gd name="connsiteX0" fmla="*/ 4708 w 6340925"/>
              <a:gd name="connsiteY0" fmla="*/ 0 h 1619838"/>
              <a:gd name="connsiteX1" fmla="*/ 5531006 w 6340925"/>
              <a:gd name="connsiteY1" fmla="*/ 0 h 1619838"/>
              <a:gd name="connsiteX2" fmla="*/ 6340925 w 6340925"/>
              <a:gd name="connsiteY2" fmla="*/ 809919 h 1619838"/>
              <a:gd name="connsiteX3" fmla="*/ 5531006 w 6340925"/>
              <a:gd name="connsiteY3" fmla="*/ 1619838 h 1619838"/>
              <a:gd name="connsiteX4" fmla="*/ 0 w 6340925"/>
              <a:gd name="connsiteY4" fmla="*/ 1577022 h 1619838"/>
              <a:gd name="connsiteX5" fmla="*/ 4708 w 6340925"/>
              <a:gd name="connsiteY5" fmla="*/ 0 h 1619838"/>
              <a:gd name="connsiteX0" fmla="*/ 4708 w 6340925"/>
              <a:gd name="connsiteY0" fmla="*/ 0 h 1619838"/>
              <a:gd name="connsiteX1" fmla="*/ 5531006 w 6340925"/>
              <a:gd name="connsiteY1" fmla="*/ 0 h 1619838"/>
              <a:gd name="connsiteX2" fmla="*/ 6340925 w 6340925"/>
              <a:gd name="connsiteY2" fmla="*/ 809919 h 1619838"/>
              <a:gd name="connsiteX3" fmla="*/ 5531006 w 6340925"/>
              <a:gd name="connsiteY3" fmla="*/ 1619838 h 1619838"/>
              <a:gd name="connsiteX4" fmla="*/ 0 w 6340925"/>
              <a:gd name="connsiteY4" fmla="*/ 1618052 h 1619838"/>
              <a:gd name="connsiteX5" fmla="*/ 4708 w 6340925"/>
              <a:gd name="connsiteY5" fmla="*/ 0 h 161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40925" h="1619838">
                <a:moveTo>
                  <a:pt x="4708" y="0"/>
                </a:moveTo>
                <a:lnTo>
                  <a:pt x="5531006" y="0"/>
                </a:lnTo>
                <a:cubicBezTo>
                  <a:pt x="5978312" y="0"/>
                  <a:pt x="6340925" y="362613"/>
                  <a:pt x="6340925" y="809919"/>
                </a:cubicBezTo>
                <a:cubicBezTo>
                  <a:pt x="6340925" y="1257225"/>
                  <a:pt x="5978312" y="1619838"/>
                  <a:pt x="5531006" y="1619838"/>
                </a:cubicBezTo>
                <a:lnTo>
                  <a:pt x="0" y="1618052"/>
                </a:lnTo>
                <a:cubicBezTo>
                  <a:pt x="1569" y="1101298"/>
                  <a:pt x="3139" y="516754"/>
                  <a:pt x="4708"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TextBox 19">
            <a:extLst>
              <a:ext uri="{FF2B5EF4-FFF2-40B4-BE49-F238E27FC236}">
                <a16:creationId xmlns:a16="http://schemas.microsoft.com/office/drawing/2014/main" id="{681E0CF7-5CDC-2144-A03A-AAC2D1E4CDA0}"/>
              </a:ext>
            </a:extLst>
          </p:cNvPr>
          <p:cNvSpPr txBox="1"/>
          <p:nvPr/>
        </p:nvSpPr>
        <p:spPr>
          <a:xfrm>
            <a:off x="8424087" y="5652089"/>
            <a:ext cx="2841612" cy="584775"/>
          </a:xfrm>
          <a:prstGeom prst="rect">
            <a:avLst/>
          </a:prstGeom>
          <a:noFill/>
        </p:spPr>
        <p:txBody>
          <a:bodyPr wrap="none" rtlCol="0">
            <a:spAutoFit/>
          </a:bodyPr>
          <a:lstStyle/>
          <a:p>
            <a:r>
              <a:rPr lang="en-US" sz="3200" b="1" dirty="0">
                <a:solidFill>
                  <a:schemeClr val="bg1"/>
                </a:solidFill>
                <a:latin typeface="+mj-lt"/>
                <a:ea typeface="Calibri Light" charset="0"/>
                <a:cs typeface="Calibri Light" charset="0"/>
              </a:rPr>
              <a:t>Company Profile</a:t>
            </a:r>
          </a:p>
        </p:txBody>
      </p:sp>
      <p:sp>
        <p:nvSpPr>
          <p:cNvPr id="11" name="TextBox 10">
            <a:extLst>
              <a:ext uri="{FF2B5EF4-FFF2-40B4-BE49-F238E27FC236}">
                <a16:creationId xmlns:a16="http://schemas.microsoft.com/office/drawing/2014/main" id="{9E1F75B6-D703-3640-8F16-8BEC16A819F0}"/>
              </a:ext>
            </a:extLst>
          </p:cNvPr>
          <p:cNvSpPr txBox="1"/>
          <p:nvPr/>
        </p:nvSpPr>
        <p:spPr>
          <a:xfrm>
            <a:off x="490506" y="3327243"/>
            <a:ext cx="5141873" cy="1754326"/>
          </a:xfrm>
          <a:prstGeom prst="rect">
            <a:avLst/>
          </a:prstGeom>
          <a:noFill/>
          <a:ln>
            <a:noFill/>
          </a:ln>
        </p:spPr>
        <p:txBody>
          <a:bodyPr wrap="square" rtlCol="0">
            <a:spAutoFit/>
          </a:bodyPr>
          <a:lstStyle/>
          <a:p>
            <a:r>
              <a:rPr lang="en-US" sz="5400" b="1" dirty="0"/>
              <a:t>Lumbini Elite SAP GRC Solutions</a:t>
            </a:r>
            <a:endParaRPr lang="en-US" sz="5400" b="1" dirty="0">
              <a:solidFill>
                <a:srgbClr val="F78B15"/>
              </a:solidFill>
              <a:latin typeface="+mj-lt"/>
              <a:ea typeface="Calibri Light" charset="0"/>
              <a:cs typeface="Calibri Light" charset="0"/>
            </a:endParaRPr>
          </a:p>
        </p:txBody>
      </p:sp>
      <p:pic>
        <p:nvPicPr>
          <p:cNvPr id="14" name="Graphic 13">
            <a:extLst>
              <a:ext uri="{FF2B5EF4-FFF2-40B4-BE49-F238E27FC236}">
                <a16:creationId xmlns:a16="http://schemas.microsoft.com/office/drawing/2014/main" id="{EA092226-2662-7A3B-C367-4F416FA063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81417" y="214991"/>
            <a:ext cx="2362200" cy="1266825"/>
          </a:xfrm>
          <a:prstGeom prst="rect">
            <a:avLst/>
          </a:prstGeom>
        </p:spPr>
      </p:pic>
      <p:sp>
        <p:nvSpPr>
          <p:cNvPr id="3" name="TextBox 2">
            <a:extLst>
              <a:ext uri="{FF2B5EF4-FFF2-40B4-BE49-F238E27FC236}">
                <a16:creationId xmlns:a16="http://schemas.microsoft.com/office/drawing/2014/main" id="{7D58ADEB-1B18-74C4-CE8C-4A74E15A565B}"/>
              </a:ext>
            </a:extLst>
          </p:cNvPr>
          <p:cNvSpPr txBox="1"/>
          <p:nvPr/>
        </p:nvSpPr>
        <p:spPr>
          <a:xfrm>
            <a:off x="605664" y="5508120"/>
            <a:ext cx="4654705" cy="646331"/>
          </a:xfrm>
          <a:prstGeom prst="rect">
            <a:avLst/>
          </a:prstGeom>
          <a:noFill/>
        </p:spPr>
        <p:txBody>
          <a:bodyPr wrap="square">
            <a:spAutoFit/>
          </a:bodyPr>
          <a:lstStyle/>
          <a:p>
            <a:r>
              <a:rPr lang="en-US" b="1" dirty="0">
                <a:solidFill>
                  <a:schemeClr val="accent5"/>
                </a:solidFill>
              </a:rPr>
              <a:t>Mastering Risk, Compliance, and Governance for Future-Ready Enterprises</a:t>
            </a:r>
            <a:endParaRPr lang="en-IN" b="1" dirty="0">
              <a:solidFill>
                <a:schemeClr val="accent5"/>
              </a:solidFill>
            </a:endParaRPr>
          </a:p>
        </p:txBody>
      </p:sp>
      <p:sp>
        <p:nvSpPr>
          <p:cNvPr id="4" name="Freeform 4912">
            <a:extLst>
              <a:ext uri="{FF2B5EF4-FFF2-40B4-BE49-F238E27FC236}">
                <a16:creationId xmlns:a16="http://schemas.microsoft.com/office/drawing/2014/main" id="{74401847-1570-E9A1-7567-64A804BEFB93}"/>
              </a:ext>
            </a:extLst>
          </p:cNvPr>
          <p:cNvSpPr>
            <a:spLocks noChangeArrowheads="1"/>
          </p:cNvSpPr>
          <p:nvPr/>
        </p:nvSpPr>
        <p:spPr bwMode="auto">
          <a:xfrm>
            <a:off x="605664" y="5409570"/>
            <a:ext cx="4911558" cy="56506"/>
          </a:xfrm>
          <a:custGeom>
            <a:avLst/>
            <a:gdLst>
              <a:gd name="T0" fmla="*/ 616 w 632"/>
              <a:gd name="T1" fmla="*/ 29 h 30"/>
              <a:gd name="T2" fmla="*/ 13 w 632"/>
              <a:gd name="T3" fmla="*/ 29 h 30"/>
              <a:gd name="T4" fmla="*/ 13 w 632"/>
              <a:gd name="T5" fmla="*/ 29 h 30"/>
              <a:gd name="T6" fmla="*/ 0 w 632"/>
              <a:gd name="T7" fmla="*/ 14 h 30"/>
              <a:gd name="T8" fmla="*/ 0 w 632"/>
              <a:gd name="T9" fmla="*/ 14 h 30"/>
              <a:gd name="T10" fmla="*/ 13 w 632"/>
              <a:gd name="T11" fmla="*/ 0 h 30"/>
              <a:gd name="T12" fmla="*/ 616 w 632"/>
              <a:gd name="T13" fmla="*/ 0 h 30"/>
              <a:gd name="T14" fmla="*/ 616 w 632"/>
              <a:gd name="T15" fmla="*/ 0 h 30"/>
              <a:gd name="T16" fmla="*/ 631 w 632"/>
              <a:gd name="T17" fmla="*/ 14 h 30"/>
              <a:gd name="T18" fmla="*/ 631 w 632"/>
              <a:gd name="T19" fmla="*/ 14 h 30"/>
              <a:gd name="T20" fmla="*/ 616 w 632"/>
              <a:gd name="T21"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32" h="30">
                <a:moveTo>
                  <a:pt x="616" y="29"/>
                </a:moveTo>
                <a:lnTo>
                  <a:pt x="13" y="29"/>
                </a:lnTo>
                <a:lnTo>
                  <a:pt x="13" y="29"/>
                </a:lnTo>
                <a:cubicBezTo>
                  <a:pt x="6" y="29"/>
                  <a:pt x="0" y="22"/>
                  <a:pt x="0" y="14"/>
                </a:cubicBezTo>
                <a:lnTo>
                  <a:pt x="0" y="14"/>
                </a:lnTo>
                <a:cubicBezTo>
                  <a:pt x="0" y="6"/>
                  <a:pt x="6" y="0"/>
                  <a:pt x="13" y="0"/>
                </a:cubicBezTo>
                <a:lnTo>
                  <a:pt x="616" y="0"/>
                </a:lnTo>
                <a:lnTo>
                  <a:pt x="616" y="0"/>
                </a:lnTo>
                <a:cubicBezTo>
                  <a:pt x="624" y="0"/>
                  <a:pt x="631" y="6"/>
                  <a:pt x="631" y="14"/>
                </a:cubicBezTo>
                <a:lnTo>
                  <a:pt x="631" y="14"/>
                </a:lnTo>
                <a:cubicBezTo>
                  <a:pt x="631" y="22"/>
                  <a:pt x="624" y="29"/>
                  <a:pt x="616" y="29"/>
                </a:cubicBezTo>
              </a:path>
            </a:pathLst>
          </a:custGeom>
          <a:solidFill>
            <a:srgbClr val="F78B15"/>
          </a:solidFill>
          <a:ln>
            <a:solidFill>
              <a:srgbClr val="F78B15"/>
            </a:solidFill>
          </a:ln>
          <a:effectLst/>
        </p:spPr>
        <p:txBody>
          <a:bodyPr wrap="none" anchor="ctr"/>
          <a:lstStyle/>
          <a:p>
            <a:endParaRPr lang="en-US" sz="900">
              <a:solidFill>
                <a:srgbClr val="F78B15"/>
              </a:solidFill>
            </a:endParaRPr>
          </a:p>
        </p:txBody>
      </p:sp>
    </p:spTree>
    <p:extLst>
      <p:ext uri="{BB962C8B-B14F-4D97-AF65-F5344CB8AC3E}">
        <p14:creationId xmlns:p14="http://schemas.microsoft.com/office/powerpoint/2010/main" val="2743057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513729" cy="6858000"/>
            <a:chOff x="0" y="0"/>
            <a:chExt cx="1783202" cy="2709333"/>
          </a:xfrm>
          <a:gradFill flip="none" rotWithShape="1">
            <a:gsLst>
              <a:gs pos="0">
                <a:srgbClr val="0072C0">
                  <a:shade val="30000"/>
                  <a:satMod val="115000"/>
                </a:srgbClr>
              </a:gs>
              <a:gs pos="50000">
                <a:srgbClr val="0072C0">
                  <a:shade val="67500"/>
                  <a:satMod val="115000"/>
                </a:srgbClr>
              </a:gs>
              <a:gs pos="100000">
                <a:srgbClr val="0072C0">
                  <a:shade val="100000"/>
                  <a:satMod val="115000"/>
                </a:srgbClr>
              </a:gs>
            </a:gsLst>
            <a:lin ang="8100000" scaled="1"/>
            <a:tileRect/>
          </a:gradFill>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grpFill/>
          </p:spPr>
        </p:sp>
        <p:sp>
          <p:nvSpPr>
            <p:cNvPr id="4" name="TextBox 4"/>
            <p:cNvSpPr txBox="1"/>
            <p:nvPr/>
          </p:nvSpPr>
          <p:spPr>
            <a:xfrm>
              <a:off x="0" y="-38100"/>
              <a:ext cx="1783202" cy="2747433"/>
            </a:xfrm>
            <a:prstGeom prst="rect">
              <a:avLst/>
            </a:prstGeom>
            <a:grpFill/>
          </p:spPr>
          <p:txBody>
            <a:bodyPr lIns="33867" tIns="33867" rIns="33867" bIns="33867" rtlCol="0" anchor="ctr"/>
            <a:lstStyle/>
            <a:p>
              <a:pPr algn="ctr">
                <a:lnSpc>
                  <a:spcPts val="1773"/>
                </a:lnSpc>
              </a:pPr>
              <a:endParaRPr sz="1200"/>
            </a:p>
          </p:txBody>
        </p:sp>
      </p:grpSp>
      <p:sp>
        <p:nvSpPr>
          <p:cNvPr id="5" name="AutoShape 5"/>
          <p:cNvSpPr/>
          <p:nvPr/>
        </p:nvSpPr>
        <p:spPr>
          <a:xfrm>
            <a:off x="611084" y="875034"/>
            <a:ext cx="873400" cy="0"/>
          </a:xfrm>
          <a:prstGeom prst="line">
            <a:avLst/>
          </a:prstGeom>
          <a:ln w="95250" cap="flat">
            <a:solidFill>
              <a:srgbClr val="FFFFFF"/>
            </a:solidFill>
            <a:prstDash val="solid"/>
            <a:headEnd type="none" w="sm" len="sm"/>
            <a:tailEnd type="none" w="sm" len="sm"/>
          </a:ln>
        </p:spPr>
        <p:txBody>
          <a:bodyPr/>
          <a:lstStyle/>
          <a:p>
            <a:endParaRPr lang="en-IN" dirty="0"/>
          </a:p>
        </p:txBody>
      </p:sp>
      <p:sp>
        <p:nvSpPr>
          <p:cNvPr id="7" name="TextBox 7"/>
          <p:cNvSpPr txBox="1"/>
          <p:nvPr/>
        </p:nvSpPr>
        <p:spPr>
          <a:xfrm>
            <a:off x="559963" y="162202"/>
            <a:ext cx="3045963" cy="564898"/>
          </a:xfrm>
          <a:prstGeom prst="rect">
            <a:avLst/>
          </a:prstGeom>
        </p:spPr>
        <p:txBody>
          <a:bodyPr lIns="0" tIns="0" rIns="0" bIns="0" rtlCol="0" anchor="t">
            <a:spAutoFit/>
          </a:bodyPr>
          <a:lstStyle/>
          <a:p>
            <a:pPr>
              <a:lnSpc>
                <a:spcPts val="4666"/>
              </a:lnSpc>
            </a:pPr>
            <a:r>
              <a:rPr lang="en-US" sz="3333" b="1" spc="66" dirty="0">
                <a:solidFill>
                  <a:srgbClr val="FFFFFF"/>
                </a:solidFill>
                <a:latin typeface="Garet Bold"/>
                <a:ea typeface="Garet Bold"/>
                <a:cs typeface="Garet Bold"/>
                <a:sym typeface="Garet Bold"/>
              </a:rPr>
              <a:t>Who We Are?</a:t>
            </a:r>
          </a:p>
        </p:txBody>
      </p:sp>
      <p:sp>
        <p:nvSpPr>
          <p:cNvPr id="8" name="TextBox 8"/>
          <p:cNvSpPr txBox="1"/>
          <p:nvPr/>
        </p:nvSpPr>
        <p:spPr>
          <a:xfrm>
            <a:off x="611085" y="1029035"/>
            <a:ext cx="3602013" cy="4964372"/>
          </a:xfrm>
          <a:prstGeom prst="rect">
            <a:avLst/>
          </a:prstGeom>
        </p:spPr>
        <p:txBody>
          <a:bodyPr wrap="square" lIns="0" tIns="0" rIns="0" bIns="0" rtlCol="0" anchor="t">
            <a:spAutoFit/>
          </a:bodyPr>
          <a:lstStyle/>
          <a:p>
            <a:pPr algn="just">
              <a:lnSpc>
                <a:spcPts val="2583"/>
              </a:lnSpc>
            </a:pPr>
            <a:r>
              <a:rPr lang="en-US" sz="1400" dirty="0">
                <a:solidFill>
                  <a:srgbClr val="FFFFFF"/>
                </a:solidFill>
                <a:latin typeface="Open Sans"/>
                <a:ea typeface="Open Sans"/>
                <a:cs typeface="Open Sans"/>
                <a:sym typeface="Open Sans"/>
              </a:rPr>
              <a:t>Lumbini Elite Solutions is positioned at the forefront of digital transformation, providing cutting-edge SAP services that drive innovation, efficiency, and sustainability for global enterprises. </a:t>
            </a:r>
          </a:p>
          <a:p>
            <a:pPr algn="just">
              <a:lnSpc>
                <a:spcPts val="2583"/>
              </a:lnSpc>
            </a:pPr>
            <a:r>
              <a:rPr lang="en-US" sz="1400" dirty="0">
                <a:solidFill>
                  <a:srgbClr val="FFFFFF"/>
                </a:solidFill>
                <a:latin typeface="Open Sans"/>
                <a:ea typeface="Open Sans"/>
                <a:cs typeface="Open Sans"/>
                <a:sym typeface="Open Sans"/>
              </a:rPr>
              <a:t>		Our comprehensive offerings—from S4HANA implementations to advanced cloud platforms like SAP BTP—enable organizations to harness the full potential of Industry 4.0. </a:t>
            </a:r>
          </a:p>
          <a:p>
            <a:pPr algn="just">
              <a:lnSpc>
                <a:spcPts val="2583"/>
              </a:lnSpc>
            </a:pPr>
            <a:r>
              <a:rPr lang="en-US" sz="1400" dirty="0">
                <a:solidFill>
                  <a:srgbClr val="FFFFFF"/>
                </a:solidFill>
                <a:latin typeface="Open Sans"/>
                <a:ea typeface="Open Sans"/>
                <a:cs typeface="Open Sans"/>
                <a:sym typeface="Open Sans"/>
              </a:rPr>
              <a:t>	With a proven track record, scalable solutions, and an experienced leadership team, we’re primed for rapid global expansion and significant revenue growth. </a:t>
            </a:r>
          </a:p>
        </p:txBody>
      </p:sp>
      <p:grpSp>
        <p:nvGrpSpPr>
          <p:cNvPr id="10" name="Group 10"/>
          <p:cNvGrpSpPr/>
          <p:nvPr/>
        </p:nvGrpSpPr>
        <p:grpSpPr>
          <a:xfrm>
            <a:off x="4904892" y="1582797"/>
            <a:ext cx="488225" cy="488225"/>
            <a:chOff x="0" y="0"/>
            <a:chExt cx="812800" cy="812800"/>
          </a:xfrm>
          <a:solidFill>
            <a:srgbClr val="0D97FF"/>
          </a:solidFill>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a:ln cap="sq">
              <a:noFill/>
              <a:prstDash val="solid"/>
              <a:miter/>
            </a:ln>
          </p:spPr>
        </p:sp>
        <p:sp>
          <p:nvSpPr>
            <p:cNvPr id="12" name="TextBox 12"/>
            <p:cNvSpPr txBox="1"/>
            <p:nvPr/>
          </p:nvSpPr>
          <p:spPr>
            <a:xfrm>
              <a:off x="76200" y="47625"/>
              <a:ext cx="660400" cy="688975"/>
            </a:xfrm>
            <a:prstGeom prst="rect">
              <a:avLst/>
            </a:prstGeom>
            <a:grpFill/>
          </p:spPr>
          <p:txBody>
            <a:bodyPr lIns="33867" tIns="33867" rIns="33867" bIns="33867" rtlCol="0" anchor="ctr"/>
            <a:lstStyle/>
            <a:p>
              <a:pPr algn="ctr">
                <a:lnSpc>
                  <a:spcPts val="1773"/>
                </a:lnSpc>
              </a:pPr>
              <a:r>
                <a:rPr lang="en-US" sz="1266" b="1">
                  <a:solidFill>
                    <a:srgbClr val="FFFFFF"/>
                  </a:solidFill>
                  <a:latin typeface="Garet Bold"/>
                  <a:ea typeface="Garet Bold"/>
                  <a:cs typeface="Garet Bold"/>
                  <a:sym typeface="Garet Bold"/>
                </a:rPr>
                <a:t>01</a:t>
              </a:r>
            </a:p>
          </p:txBody>
        </p:sp>
      </p:grpSp>
      <p:sp>
        <p:nvSpPr>
          <p:cNvPr id="13" name="TextBox 13"/>
          <p:cNvSpPr txBox="1"/>
          <p:nvPr/>
        </p:nvSpPr>
        <p:spPr>
          <a:xfrm>
            <a:off x="5518954" y="2020222"/>
            <a:ext cx="6218781" cy="607730"/>
          </a:xfrm>
          <a:prstGeom prst="rect">
            <a:avLst/>
          </a:prstGeom>
        </p:spPr>
        <p:txBody>
          <a:bodyPr lIns="0" tIns="0" rIns="0" bIns="0" rtlCol="0" anchor="t">
            <a:spAutoFit/>
          </a:bodyPr>
          <a:lstStyle/>
          <a:p>
            <a:pPr algn="just">
              <a:lnSpc>
                <a:spcPts val="2480"/>
              </a:lnSpc>
            </a:pPr>
            <a:r>
              <a:rPr lang="en-US" sz="1600" dirty="0">
                <a:solidFill>
                  <a:srgbClr val="000000"/>
                </a:solidFill>
                <a:latin typeface="Helvetica" panose="020B0604020202020204" pitchFamily="34" charset="0"/>
                <a:ea typeface="Open Sans"/>
                <a:cs typeface="Helvetica" panose="020B0604020202020204" pitchFamily="34" charset="0"/>
                <a:sym typeface="Open Sans"/>
              </a:rPr>
              <a:t>To accelerate the digital transformation of global enterprises through innovative SAP services and technologies.</a:t>
            </a:r>
          </a:p>
        </p:txBody>
      </p:sp>
      <p:sp>
        <p:nvSpPr>
          <p:cNvPr id="14" name="TextBox 14"/>
          <p:cNvSpPr txBox="1"/>
          <p:nvPr/>
        </p:nvSpPr>
        <p:spPr>
          <a:xfrm>
            <a:off x="5518954" y="1670276"/>
            <a:ext cx="3669097" cy="269882"/>
          </a:xfrm>
          <a:prstGeom prst="rect">
            <a:avLst/>
          </a:prstGeom>
        </p:spPr>
        <p:txBody>
          <a:bodyPr lIns="0" tIns="0" rIns="0" bIns="0" rtlCol="0" anchor="t">
            <a:spAutoFit/>
          </a:bodyPr>
          <a:lstStyle/>
          <a:p>
            <a:pPr>
              <a:lnSpc>
                <a:spcPts val="2333"/>
              </a:lnSpc>
            </a:pPr>
            <a:r>
              <a:rPr lang="en-US" sz="1666" b="1" dirty="0">
                <a:solidFill>
                  <a:srgbClr val="000000"/>
                </a:solidFill>
                <a:latin typeface="Garet Bold"/>
                <a:ea typeface="Garet Bold"/>
                <a:cs typeface="Garet Bold"/>
                <a:sym typeface="Garet Bold"/>
              </a:rPr>
              <a:t>Mission:</a:t>
            </a:r>
          </a:p>
        </p:txBody>
      </p:sp>
      <p:grpSp>
        <p:nvGrpSpPr>
          <p:cNvPr id="15" name="Group 15"/>
          <p:cNvGrpSpPr/>
          <p:nvPr/>
        </p:nvGrpSpPr>
        <p:grpSpPr>
          <a:xfrm>
            <a:off x="4904892" y="3132161"/>
            <a:ext cx="488225" cy="488225"/>
            <a:chOff x="0" y="0"/>
            <a:chExt cx="812800" cy="812800"/>
          </a:xfrm>
          <a:solidFill>
            <a:srgbClr val="0D97FF"/>
          </a:solidFill>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a:ln cap="sq">
              <a:noFill/>
              <a:prstDash val="solid"/>
              <a:miter/>
            </a:ln>
          </p:spPr>
        </p:sp>
        <p:sp>
          <p:nvSpPr>
            <p:cNvPr id="17" name="TextBox 17"/>
            <p:cNvSpPr txBox="1"/>
            <p:nvPr/>
          </p:nvSpPr>
          <p:spPr>
            <a:xfrm>
              <a:off x="76200" y="47625"/>
              <a:ext cx="660400" cy="688975"/>
            </a:xfrm>
            <a:prstGeom prst="rect">
              <a:avLst/>
            </a:prstGeom>
            <a:grpFill/>
          </p:spPr>
          <p:txBody>
            <a:bodyPr lIns="33867" tIns="33867" rIns="33867" bIns="33867" rtlCol="0" anchor="ctr"/>
            <a:lstStyle/>
            <a:p>
              <a:pPr algn="ctr">
                <a:lnSpc>
                  <a:spcPts val="1773"/>
                </a:lnSpc>
              </a:pPr>
              <a:r>
                <a:rPr lang="en-US" sz="1266" b="1">
                  <a:solidFill>
                    <a:srgbClr val="FFFFFF"/>
                  </a:solidFill>
                  <a:latin typeface="Garet Bold"/>
                  <a:ea typeface="Garet Bold"/>
                  <a:cs typeface="Garet Bold"/>
                  <a:sym typeface="Garet Bold"/>
                </a:rPr>
                <a:t>02</a:t>
              </a:r>
            </a:p>
          </p:txBody>
        </p:sp>
      </p:grpSp>
      <p:sp>
        <p:nvSpPr>
          <p:cNvPr id="18" name="TextBox 18"/>
          <p:cNvSpPr txBox="1"/>
          <p:nvPr/>
        </p:nvSpPr>
        <p:spPr>
          <a:xfrm>
            <a:off x="5518954" y="3569586"/>
            <a:ext cx="6218781" cy="607730"/>
          </a:xfrm>
          <a:prstGeom prst="rect">
            <a:avLst/>
          </a:prstGeom>
        </p:spPr>
        <p:txBody>
          <a:bodyPr lIns="0" tIns="0" rIns="0" bIns="0" rtlCol="0" anchor="t">
            <a:spAutoFit/>
          </a:bodyPr>
          <a:lstStyle/>
          <a:p>
            <a:pPr>
              <a:lnSpc>
                <a:spcPts val="2480"/>
              </a:lnSpc>
            </a:pPr>
            <a:r>
              <a:rPr lang="en-US" sz="1600" dirty="0">
                <a:solidFill>
                  <a:srgbClr val="000000"/>
                </a:solidFill>
                <a:latin typeface="Helvetica" panose="020B0604020202020204" pitchFamily="34" charset="0"/>
                <a:ea typeface="Open Sans"/>
                <a:cs typeface="Helvetica" panose="020B0604020202020204" pitchFamily="34" charset="0"/>
                <a:sym typeface="Open Sans"/>
              </a:rPr>
              <a:t>To be a global leader in delivering cutting-edge technology solutions that enable organizations to achieve excellence.</a:t>
            </a:r>
          </a:p>
        </p:txBody>
      </p:sp>
      <p:sp>
        <p:nvSpPr>
          <p:cNvPr id="19" name="TextBox 19"/>
          <p:cNvSpPr txBox="1"/>
          <p:nvPr/>
        </p:nvSpPr>
        <p:spPr>
          <a:xfrm>
            <a:off x="5518954" y="3219640"/>
            <a:ext cx="3669097" cy="269882"/>
          </a:xfrm>
          <a:prstGeom prst="rect">
            <a:avLst/>
          </a:prstGeom>
        </p:spPr>
        <p:txBody>
          <a:bodyPr lIns="0" tIns="0" rIns="0" bIns="0" rtlCol="0" anchor="t">
            <a:spAutoFit/>
          </a:bodyPr>
          <a:lstStyle/>
          <a:p>
            <a:pPr>
              <a:lnSpc>
                <a:spcPts val="2333"/>
              </a:lnSpc>
            </a:pPr>
            <a:r>
              <a:rPr lang="en-US" sz="1666" b="1" dirty="0">
                <a:solidFill>
                  <a:srgbClr val="000000"/>
                </a:solidFill>
                <a:latin typeface="Garet Bold"/>
                <a:ea typeface="Garet Bold"/>
                <a:cs typeface="Garet Bold"/>
                <a:sym typeface="Garet Bold"/>
              </a:rPr>
              <a:t>Vision:</a:t>
            </a:r>
          </a:p>
        </p:txBody>
      </p:sp>
      <p:grpSp>
        <p:nvGrpSpPr>
          <p:cNvPr id="20" name="Group 20"/>
          <p:cNvGrpSpPr/>
          <p:nvPr/>
        </p:nvGrpSpPr>
        <p:grpSpPr>
          <a:xfrm>
            <a:off x="4904892" y="4681525"/>
            <a:ext cx="488225" cy="488225"/>
            <a:chOff x="0" y="0"/>
            <a:chExt cx="812800" cy="812800"/>
          </a:xfrm>
          <a:solidFill>
            <a:srgbClr val="0D97FF"/>
          </a:solidFill>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a:ln cap="sq">
              <a:noFill/>
              <a:prstDash val="solid"/>
              <a:miter/>
            </a:ln>
          </p:spPr>
        </p:sp>
        <p:sp>
          <p:nvSpPr>
            <p:cNvPr id="22" name="TextBox 22"/>
            <p:cNvSpPr txBox="1"/>
            <p:nvPr/>
          </p:nvSpPr>
          <p:spPr>
            <a:xfrm>
              <a:off x="76200" y="47625"/>
              <a:ext cx="660400" cy="688975"/>
            </a:xfrm>
            <a:prstGeom prst="rect">
              <a:avLst/>
            </a:prstGeom>
            <a:grpFill/>
          </p:spPr>
          <p:txBody>
            <a:bodyPr lIns="33867" tIns="33867" rIns="33867" bIns="33867" rtlCol="0" anchor="ctr"/>
            <a:lstStyle/>
            <a:p>
              <a:pPr algn="ctr">
                <a:lnSpc>
                  <a:spcPts val="1773"/>
                </a:lnSpc>
              </a:pPr>
              <a:r>
                <a:rPr lang="en-US" sz="1266" b="1">
                  <a:solidFill>
                    <a:srgbClr val="FFFFFF"/>
                  </a:solidFill>
                  <a:latin typeface="Garet Bold"/>
                  <a:ea typeface="Garet Bold"/>
                  <a:cs typeface="Garet Bold"/>
                  <a:sym typeface="Garet Bold"/>
                </a:rPr>
                <a:t>03</a:t>
              </a:r>
            </a:p>
          </p:txBody>
        </p:sp>
      </p:grpSp>
      <p:grpSp>
        <p:nvGrpSpPr>
          <p:cNvPr id="23" name="Group 23"/>
          <p:cNvGrpSpPr/>
          <p:nvPr/>
        </p:nvGrpSpPr>
        <p:grpSpPr>
          <a:xfrm>
            <a:off x="10493907" y="4499972"/>
            <a:ext cx="3064215" cy="306421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alpha val="0"/>
              </a:schemeClr>
            </a:solidFill>
            <a:ln w="762000" cap="sq">
              <a:solidFill>
                <a:srgbClr val="F6F6F6"/>
              </a:solidFill>
              <a:prstDash val="solid"/>
              <a:miter/>
            </a:ln>
          </p:spPr>
        </p:sp>
        <p:sp>
          <p:nvSpPr>
            <p:cNvPr id="25" name="TextBox 25"/>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sz="1200"/>
            </a:p>
          </p:txBody>
        </p:sp>
      </p:grpSp>
      <p:sp>
        <p:nvSpPr>
          <p:cNvPr id="26" name="TextBox 26"/>
          <p:cNvSpPr txBox="1"/>
          <p:nvPr/>
        </p:nvSpPr>
        <p:spPr>
          <a:xfrm>
            <a:off x="5518954" y="5187724"/>
            <a:ext cx="6218781" cy="607730"/>
          </a:xfrm>
          <a:prstGeom prst="rect">
            <a:avLst/>
          </a:prstGeom>
        </p:spPr>
        <p:txBody>
          <a:bodyPr lIns="0" tIns="0" rIns="0" bIns="0" rtlCol="0" anchor="t">
            <a:spAutoFit/>
          </a:bodyPr>
          <a:lstStyle/>
          <a:p>
            <a:pPr algn="just">
              <a:lnSpc>
                <a:spcPts val="2480"/>
              </a:lnSpc>
            </a:pPr>
            <a:r>
              <a:rPr lang="en-US" sz="1600" dirty="0">
                <a:solidFill>
                  <a:srgbClr val="000000"/>
                </a:solidFill>
                <a:latin typeface="Helvetica" panose="020B0604020202020204" pitchFamily="34" charset="0"/>
                <a:ea typeface="Open Sans"/>
                <a:cs typeface="Helvetica" panose="020B0604020202020204" pitchFamily="34" charset="0"/>
                <a:sym typeface="Open Sans"/>
              </a:rPr>
              <a:t>Innovation, Integrity, Customer-Centricity, Collaboration, and Continuous Improvement.</a:t>
            </a:r>
          </a:p>
        </p:txBody>
      </p:sp>
      <p:sp>
        <p:nvSpPr>
          <p:cNvPr id="27" name="TextBox 27"/>
          <p:cNvSpPr txBox="1"/>
          <p:nvPr/>
        </p:nvSpPr>
        <p:spPr>
          <a:xfrm>
            <a:off x="5518954" y="4769004"/>
            <a:ext cx="3669097" cy="269882"/>
          </a:xfrm>
          <a:prstGeom prst="rect">
            <a:avLst/>
          </a:prstGeom>
        </p:spPr>
        <p:txBody>
          <a:bodyPr lIns="0" tIns="0" rIns="0" bIns="0" rtlCol="0" anchor="t">
            <a:spAutoFit/>
          </a:bodyPr>
          <a:lstStyle/>
          <a:p>
            <a:pPr>
              <a:lnSpc>
                <a:spcPts val="2333"/>
              </a:lnSpc>
            </a:pPr>
            <a:r>
              <a:rPr lang="en-US" sz="1666" b="1" dirty="0">
                <a:solidFill>
                  <a:srgbClr val="000000"/>
                </a:solidFill>
                <a:latin typeface="Garet Bold"/>
                <a:ea typeface="Garet Bold"/>
                <a:cs typeface="Garet Bold"/>
                <a:sym typeface="Garet Bold"/>
              </a:rPr>
              <a:t>Core Values:</a:t>
            </a:r>
          </a:p>
        </p:txBody>
      </p:sp>
      <p:grpSp>
        <p:nvGrpSpPr>
          <p:cNvPr id="28" name="Group 28"/>
          <p:cNvGrpSpPr/>
          <p:nvPr/>
        </p:nvGrpSpPr>
        <p:grpSpPr>
          <a:xfrm rot="5400000">
            <a:off x="5518954" y="226741"/>
            <a:ext cx="986219" cy="986219"/>
            <a:chOff x="0" y="0"/>
            <a:chExt cx="812800" cy="812800"/>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0800000" scaled="1"/>
            <a:tileRect/>
          </a:gradFill>
        </p:grpSpPr>
        <p:sp>
          <p:nvSpPr>
            <p:cNvPr id="29" name="Freeform 29"/>
            <p:cNvSpPr/>
            <p:nvPr/>
          </p:nvSpPr>
          <p:spPr>
            <a:xfrm>
              <a:off x="0" y="0"/>
              <a:ext cx="812800" cy="812800"/>
            </a:xfrm>
            <a:prstGeom prst="roundRect">
              <a:avLst/>
            </a:prstGeom>
            <a:grpFill/>
          </p:spPr>
        </p:sp>
        <p:sp>
          <p:nvSpPr>
            <p:cNvPr id="30" name="TextBox 30"/>
            <p:cNvSpPr txBox="1"/>
            <p:nvPr/>
          </p:nvSpPr>
          <p:spPr>
            <a:xfrm>
              <a:off x="0" y="-38100"/>
              <a:ext cx="812800" cy="850900"/>
            </a:xfrm>
            <a:prstGeom prst="roundRect">
              <a:avLst/>
            </a:prstGeom>
            <a:grpFill/>
          </p:spPr>
          <p:txBody>
            <a:bodyPr lIns="33867" tIns="33867" rIns="33867" bIns="33867" rtlCol="0" anchor="ctr"/>
            <a:lstStyle/>
            <a:p>
              <a:pPr algn="ctr">
                <a:lnSpc>
                  <a:spcPts val="1773"/>
                </a:lnSpc>
              </a:pPr>
              <a:endParaRPr sz="1200"/>
            </a:p>
          </p:txBody>
        </p:sp>
      </p:grpSp>
      <p:sp>
        <p:nvSpPr>
          <p:cNvPr id="32" name="Freeform 32"/>
          <p:cNvSpPr/>
          <p:nvPr/>
        </p:nvSpPr>
        <p:spPr>
          <a:xfrm rot="5400000">
            <a:off x="6247931" y="875034"/>
            <a:ext cx="514483" cy="51448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a:ln w="47625" cap="sq">
            <a:solidFill>
              <a:schemeClr val="accent2">
                <a:alpha val="40000"/>
              </a:schemeClr>
            </a:solidFill>
            <a:prstDash val="solid"/>
            <a:miter/>
          </a:ln>
        </p:spPr>
      </p:sp>
      <p:grpSp>
        <p:nvGrpSpPr>
          <p:cNvPr id="34" name="Group 34"/>
          <p:cNvGrpSpPr/>
          <p:nvPr/>
        </p:nvGrpSpPr>
        <p:grpSpPr>
          <a:xfrm rot="5400000">
            <a:off x="3549774" y="6032080"/>
            <a:ext cx="397362" cy="39736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36" name="TextBox 36"/>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sz="1200"/>
            </a:p>
          </p:txBody>
        </p:sp>
      </p:grpSp>
      <p:sp>
        <p:nvSpPr>
          <p:cNvPr id="37" name="Freeform 32">
            <a:extLst>
              <a:ext uri="{FF2B5EF4-FFF2-40B4-BE49-F238E27FC236}">
                <a16:creationId xmlns:a16="http://schemas.microsoft.com/office/drawing/2014/main" id="{1A6A9896-3A83-76A3-2C68-8CAE3051C30E}"/>
              </a:ext>
            </a:extLst>
          </p:cNvPr>
          <p:cNvSpPr/>
          <p:nvPr/>
        </p:nvSpPr>
        <p:spPr>
          <a:xfrm rot="5400000">
            <a:off x="6286531" y="909374"/>
            <a:ext cx="437280" cy="43463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bg1"/>
          </a:solidFill>
          <a:ln w="47625" cap="sq">
            <a:solidFill>
              <a:schemeClr val="accent2">
                <a:alpha val="40000"/>
              </a:schemeClr>
            </a:solidFill>
            <a:prstDash val="solid"/>
            <a:miter/>
          </a:ln>
        </p:spPr>
      </p:sp>
      <p:pic>
        <p:nvPicPr>
          <p:cNvPr id="39" name="Graphic 38" descr="Office worker">
            <a:extLst>
              <a:ext uri="{FF2B5EF4-FFF2-40B4-BE49-F238E27FC236}">
                <a16:creationId xmlns:a16="http://schemas.microsoft.com/office/drawing/2014/main" id="{F5115227-A11E-598D-5B82-55AC3E3B7E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90771" y="208797"/>
            <a:ext cx="846794" cy="8467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Freeform 4908">
            <a:extLst>
              <a:ext uri="{FF2B5EF4-FFF2-40B4-BE49-F238E27FC236}">
                <a16:creationId xmlns:a16="http://schemas.microsoft.com/office/drawing/2014/main" id="{E55B376A-6BA4-1FE2-5FBB-25781B568790}"/>
              </a:ext>
            </a:extLst>
          </p:cNvPr>
          <p:cNvSpPr>
            <a:spLocks noChangeArrowheads="1"/>
          </p:cNvSpPr>
          <p:nvPr/>
        </p:nvSpPr>
        <p:spPr bwMode="auto">
          <a:xfrm>
            <a:off x="3760124" y="2543254"/>
            <a:ext cx="1132129" cy="45719"/>
          </a:xfrm>
          <a:custGeom>
            <a:avLst/>
            <a:gdLst>
              <a:gd name="T0" fmla="*/ 617 w 629"/>
              <a:gd name="T1" fmla="*/ 27 h 28"/>
              <a:gd name="T2" fmla="*/ 13 w 629"/>
              <a:gd name="T3" fmla="*/ 27 h 28"/>
              <a:gd name="T4" fmla="*/ 13 w 629"/>
              <a:gd name="T5" fmla="*/ 27 h 28"/>
              <a:gd name="T6" fmla="*/ 0 w 629"/>
              <a:gd name="T7" fmla="*/ 13 h 28"/>
              <a:gd name="T8" fmla="*/ 0 w 629"/>
              <a:gd name="T9" fmla="*/ 13 h 28"/>
              <a:gd name="T10" fmla="*/ 13 w 629"/>
              <a:gd name="T11" fmla="*/ 0 h 28"/>
              <a:gd name="T12" fmla="*/ 617 w 629"/>
              <a:gd name="T13" fmla="*/ 0 h 28"/>
              <a:gd name="T14" fmla="*/ 617 w 629"/>
              <a:gd name="T15" fmla="*/ 0 h 28"/>
              <a:gd name="T16" fmla="*/ 628 w 629"/>
              <a:gd name="T17" fmla="*/ 13 h 28"/>
              <a:gd name="T18" fmla="*/ 628 w 629"/>
              <a:gd name="T19" fmla="*/ 13 h 28"/>
              <a:gd name="T20" fmla="*/ 617 w 6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8">
                <a:moveTo>
                  <a:pt x="617" y="27"/>
                </a:moveTo>
                <a:lnTo>
                  <a:pt x="13" y="27"/>
                </a:lnTo>
                <a:lnTo>
                  <a:pt x="13" y="27"/>
                </a:lnTo>
                <a:cubicBezTo>
                  <a:pt x="6" y="27"/>
                  <a:pt x="0" y="21"/>
                  <a:pt x="0" y="13"/>
                </a:cubicBezTo>
                <a:lnTo>
                  <a:pt x="0" y="13"/>
                </a:lnTo>
                <a:cubicBezTo>
                  <a:pt x="0" y="6"/>
                  <a:pt x="6" y="0"/>
                  <a:pt x="13" y="0"/>
                </a:cubicBezTo>
                <a:lnTo>
                  <a:pt x="617" y="0"/>
                </a:lnTo>
                <a:lnTo>
                  <a:pt x="617" y="0"/>
                </a:lnTo>
                <a:cubicBezTo>
                  <a:pt x="622" y="0"/>
                  <a:pt x="628" y="6"/>
                  <a:pt x="628" y="13"/>
                </a:cubicBezTo>
                <a:lnTo>
                  <a:pt x="628" y="13"/>
                </a:lnTo>
                <a:cubicBezTo>
                  <a:pt x="628" y="21"/>
                  <a:pt x="622" y="27"/>
                  <a:pt x="617" y="27"/>
                </a:cubicBezTo>
              </a:path>
            </a:pathLst>
          </a:custGeom>
          <a:solidFill>
            <a:schemeClr val="accent1"/>
          </a:solidFill>
          <a:ln>
            <a:noFill/>
          </a:ln>
          <a:effectLst/>
        </p:spPr>
        <p:txBody>
          <a:bodyPr wrap="none" anchor="ctr"/>
          <a:lstStyle/>
          <a:p>
            <a:endParaRPr lang="en-US" sz="900"/>
          </a:p>
        </p:txBody>
      </p:sp>
      <p:sp>
        <p:nvSpPr>
          <p:cNvPr id="9" name="TextBox 8">
            <a:extLst>
              <a:ext uri="{FF2B5EF4-FFF2-40B4-BE49-F238E27FC236}">
                <a16:creationId xmlns:a16="http://schemas.microsoft.com/office/drawing/2014/main" id="{10BAB834-84FA-3A4B-9D99-444FCB5FA429}"/>
              </a:ext>
            </a:extLst>
          </p:cNvPr>
          <p:cNvSpPr txBox="1"/>
          <p:nvPr/>
        </p:nvSpPr>
        <p:spPr>
          <a:xfrm>
            <a:off x="2482543" y="697579"/>
            <a:ext cx="7342763" cy="584775"/>
          </a:xfrm>
          <a:prstGeom prst="rect">
            <a:avLst/>
          </a:prstGeom>
          <a:noFill/>
          <a:ln>
            <a:noFill/>
          </a:ln>
        </p:spPr>
        <p:txBody>
          <a:bodyPr wrap="square" rtlCol="0">
            <a:spAutoFit/>
          </a:bodyPr>
          <a:lstStyle/>
          <a:p>
            <a:pPr algn="ctr"/>
            <a:r>
              <a:rPr lang="en-US" sz="3200" dirty="0">
                <a:latin typeface="Poppins Medium" pitchFamily="2" charset="77"/>
                <a:ea typeface="Roboto Medium" panose="02000000000000000000" pitchFamily="2" charset="0"/>
                <a:cs typeface="Poppins Medium" pitchFamily="2" charset="77"/>
              </a:rPr>
              <a:t>Focus Industry Verticals</a:t>
            </a:r>
          </a:p>
        </p:txBody>
      </p:sp>
      <p:grpSp>
        <p:nvGrpSpPr>
          <p:cNvPr id="4" name="Group 3">
            <a:extLst>
              <a:ext uri="{FF2B5EF4-FFF2-40B4-BE49-F238E27FC236}">
                <a16:creationId xmlns:a16="http://schemas.microsoft.com/office/drawing/2014/main" id="{E1539F9B-1DA0-D947-B33E-E3D5CFEEB2E2}"/>
              </a:ext>
            </a:extLst>
          </p:cNvPr>
          <p:cNvGrpSpPr/>
          <p:nvPr/>
        </p:nvGrpSpPr>
        <p:grpSpPr>
          <a:xfrm>
            <a:off x="5732347" y="1362986"/>
            <a:ext cx="727306" cy="94339"/>
            <a:chOff x="10390909" y="2667045"/>
            <a:chExt cx="1922607" cy="249382"/>
          </a:xfrm>
        </p:grpSpPr>
        <p:sp>
          <p:nvSpPr>
            <p:cNvPr id="3" name="Oval 2">
              <a:extLst>
                <a:ext uri="{FF2B5EF4-FFF2-40B4-BE49-F238E27FC236}">
                  <a16:creationId xmlns:a16="http://schemas.microsoft.com/office/drawing/2014/main" id="{4E40AF55-DC50-BB48-B356-CBD164D7C836}"/>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Oval 9">
              <a:extLst>
                <a:ext uri="{FF2B5EF4-FFF2-40B4-BE49-F238E27FC236}">
                  <a16:creationId xmlns:a16="http://schemas.microsoft.com/office/drawing/2014/main" id="{4C0D2C76-CC33-0D47-B37F-E8D20A35DCCD}"/>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A23E0CE4-7559-E443-B915-5D7445062989}"/>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Oval 12">
              <a:extLst>
                <a:ext uri="{FF2B5EF4-FFF2-40B4-BE49-F238E27FC236}">
                  <a16:creationId xmlns:a16="http://schemas.microsoft.com/office/drawing/2014/main" id="{FBF66EB9-19D4-F94E-9DEA-7323CED70B4B}"/>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39" name="Freeform 4900">
            <a:extLst>
              <a:ext uri="{FF2B5EF4-FFF2-40B4-BE49-F238E27FC236}">
                <a16:creationId xmlns:a16="http://schemas.microsoft.com/office/drawing/2014/main" id="{546B03C9-82D4-7E4E-A68D-6C048FF9071D}"/>
              </a:ext>
            </a:extLst>
          </p:cNvPr>
          <p:cNvSpPr>
            <a:spLocks noChangeArrowheads="1"/>
          </p:cNvSpPr>
          <p:nvPr/>
        </p:nvSpPr>
        <p:spPr bwMode="auto">
          <a:xfrm>
            <a:off x="8935069" y="2482600"/>
            <a:ext cx="1552272" cy="54654"/>
          </a:xfrm>
          <a:custGeom>
            <a:avLst/>
            <a:gdLst>
              <a:gd name="T0" fmla="*/ 613 w 626"/>
              <a:gd name="T1" fmla="*/ 23 h 24"/>
              <a:gd name="T2" fmla="*/ 11 w 626"/>
              <a:gd name="T3" fmla="*/ 23 h 24"/>
              <a:gd name="T4" fmla="*/ 11 w 626"/>
              <a:gd name="T5" fmla="*/ 23 h 24"/>
              <a:gd name="T6" fmla="*/ 0 w 626"/>
              <a:gd name="T7" fmla="*/ 12 h 24"/>
              <a:gd name="T8" fmla="*/ 0 w 626"/>
              <a:gd name="T9" fmla="*/ 12 h 24"/>
              <a:gd name="T10" fmla="*/ 11 w 626"/>
              <a:gd name="T11" fmla="*/ 0 h 24"/>
              <a:gd name="T12" fmla="*/ 613 w 626"/>
              <a:gd name="T13" fmla="*/ 0 h 24"/>
              <a:gd name="T14" fmla="*/ 613 w 626"/>
              <a:gd name="T15" fmla="*/ 0 h 24"/>
              <a:gd name="T16" fmla="*/ 625 w 626"/>
              <a:gd name="T17" fmla="*/ 12 h 24"/>
              <a:gd name="T18" fmla="*/ 625 w 626"/>
              <a:gd name="T19" fmla="*/ 12 h 24"/>
              <a:gd name="T20" fmla="*/ 613 w 626"/>
              <a:gd name="T2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6" h="24">
                <a:moveTo>
                  <a:pt x="613" y="23"/>
                </a:moveTo>
                <a:lnTo>
                  <a:pt x="11" y="23"/>
                </a:lnTo>
                <a:lnTo>
                  <a:pt x="11" y="23"/>
                </a:lnTo>
                <a:cubicBezTo>
                  <a:pt x="5" y="23"/>
                  <a:pt x="0" y="19"/>
                  <a:pt x="0" y="12"/>
                </a:cubicBezTo>
                <a:lnTo>
                  <a:pt x="0" y="12"/>
                </a:lnTo>
                <a:cubicBezTo>
                  <a:pt x="0" y="7"/>
                  <a:pt x="5" y="0"/>
                  <a:pt x="11" y="0"/>
                </a:cubicBezTo>
                <a:lnTo>
                  <a:pt x="613" y="0"/>
                </a:lnTo>
                <a:lnTo>
                  <a:pt x="613" y="0"/>
                </a:lnTo>
                <a:cubicBezTo>
                  <a:pt x="620" y="0"/>
                  <a:pt x="625" y="7"/>
                  <a:pt x="625" y="12"/>
                </a:cubicBezTo>
                <a:lnTo>
                  <a:pt x="625" y="12"/>
                </a:lnTo>
                <a:cubicBezTo>
                  <a:pt x="625" y="19"/>
                  <a:pt x="620" y="23"/>
                  <a:pt x="613" y="23"/>
                </a:cubicBezTo>
              </a:path>
            </a:pathLst>
          </a:custGeom>
          <a:solidFill>
            <a:schemeClr val="accent1"/>
          </a:solidFill>
          <a:ln>
            <a:noFill/>
          </a:ln>
          <a:effectLst/>
        </p:spPr>
        <p:txBody>
          <a:bodyPr wrap="none" anchor="ctr"/>
          <a:lstStyle/>
          <a:p>
            <a:endParaRPr lang="en-US" sz="900"/>
          </a:p>
        </p:txBody>
      </p:sp>
      <p:sp>
        <p:nvSpPr>
          <p:cNvPr id="41" name="Freeform 4904">
            <a:extLst>
              <a:ext uri="{FF2B5EF4-FFF2-40B4-BE49-F238E27FC236}">
                <a16:creationId xmlns:a16="http://schemas.microsoft.com/office/drawing/2014/main" id="{C0D2B157-CB48-9941-AB40-CA71DB3650AF}"/>
              </a:ext>
            </a:extLst>
          </p:cNvPr>
          <p:cNvSpPr>
            <a:spLocks noChangeArrowheads="1"/>
          </p:cNvSpPr>
          <p:nvPr/>
        </p:nvSpPr>
        <p:spPr bwMode="auto">
          <a:xfrm>
            <a:off x="6989264" y="2482600"/>
            <a:ext cx="1497611" cy="54654"/>
          </a:xfrm>
          <a:custGeom>
            <a:avLst/>
            <a:gdLst>
              <a:gd name="T0" fmla="*/ 603 w 604"/>
              <a:gd name="T1" fmla="*/ 23 h 24"/>
              <a:gd name="T2" fmla="*/ 0 w 604"/>
              <a:gd name="T3" fmla="*/ 23 h 24"/>
              <a:gd name="T4" fmla="*/ 0 w 604"/>
              <a:gd name="T5" fmla="*/ 0 h 24"/>
              <a:gd name="T6" fmla="*/ 603 w 604"/>
              <a:gd name="T7" fmla="*/ 0 h 24"/>
              <a:gd name="T8" fmla="*/ 603 w 604"/>
              <a:gd name="T9" fmla="*/ 23 h 24"/>
            </a:gdLst>
            <a:ahLst/>
            <a:cxnLst>
              <a:cxn ang="0">
                <a:pos x="T0" y="T1"/>
              </a:cxn>
              <a:cxn ang="0">
                <a:pos x="T2" y="T3"/>
              </a:cxn>
              <a:cxn ang="0">
                <a:pos x="T4" y="T5"/>
              </a:cxn>
              <a:cxn ang="0">
                <a:pos x="T6" y="T7"/>
              </a:cxn>
              <a:cxn ang="0">
                <a:pos x="T8" y="T9"/>
              </a:cxn>
            </a:cxnLst>
            <a:rect l="0" t="0" r="r" b="b"/>
            <a:pathLst>
              <a:path w="604" h="24">
                <a:moveTo>
                  <a:pt x="603" y="23"/>
                </a:moveTo>
                <a:lnTo>
                  <a:pt x="0" y="23"/>
                </a:lnTo>
                <a:lnTo>
                  <a:pt x="0" y="0"/>
                </a:lnTo>
                <a:lnTo>
                  <a:pt x="603" y="0"/>
                </a:lnTo>
                <a:lnTo>
                  <a:pt x="603" y="23"/>
                </a:lnTo>
              </a:path>
            </a:pathLst>
          </a:custGeom>
          <a:solidFill>
            <a:schemeClr val="accent1"/>
          </a:solidFill>
          <a:ln>
            <a:noFill/>
          </a:ln>
          <a:effectLst/>
        </p:spPr>
        <p:txBody>
          <a:bodyPr wrap="none" anchor="ctr"/>
          <a:lstStyle/>
          <a:p>
            <a:endParaRPr lang="en-US" sz="900"/>
          </a:p>
        </p:txBody>
      </p:sp>
      <p:sp>
        <p:nvSpPr>
          <p:cNvPr id="43" name="Freeform 4908">
            <a:extLst>
              <a:ext uri="{FF2B5EF4-FFF2-40B4-BE49-F238E27FC236}">
                <a16:creationId xmlns:a16="http://schemas.microsoft.com/office/drawing/2014/main" id="{11C5FC62-F819-6A41-BCE8-AC5EF6A7FB3F}"/>
              </a:ext>
            </a:extLst>
          </p:cNvPr>
          <p:cNvSpPr>
            <a:spLocks noChangeArrowheads="1"/>
          </p:cNvSpPr>
          <p:nvPr/>
        </p:nvSpPr>
        <p:spPr bwMode="auto">
          <a:xfrm>
            <a:off x="4977870" y="2482600"/>
            <a:ext cx="1563200" cy="65589"/>
          </a:xfrm>
          <a:custGeom>
            <a:avLst/>
            <a:gdLst>
              <a:gd name="T0" fmla="*/ 617 w 629"/>
              <a:gd name="T1" fmla="*/ 27 h 28"/>
              <a:gd name="T2" fmla="*/ 13 w 629"/>
              <a:gd name="T3" fmla="*/ 27 h 28"/>
              <a:gd name="T4" fmla="*/ 13 w 629"/>
              <a:gd name="T5" fmla="*/ 27 h 28"/>
              <a:gd name="T6" fmla="*/ 0 w 629"/>
              <a:gd name="T7" fmla="*/ 13 h 28"/>
              <a:gd name="T8" fmla="*/ 0 w 629"/>
              <a:gd name="T9" fmla="*/ 13 h 28"/>
              <a:gd name="T10" fmla="*/ 13 w 629"/>
              <a:gd name="T11" fmla="*/ 0 h 28"/>
              <a:gd name="T12" fmla="*/ 617 w 629"/>
              <a:gd name="T13" fmla="*/ 0 h 28"/>
              <a:gd name="T14" fmla="*/ 617 w 629"/>
              <a:gd name="T15" fmla="*/ 0 h 28"/>
              <a:gd name="T16" fmla="*/ 628 w 629"/>
              <a:gd name="T17" fmla="*/ 13 h 28"/>
              <a:gd name="T18" fmla="*/ 628 w 629"/>
              <a:gd name="T19" fmla="*/ 13 h 28"/>
              <a:gd name="T20" fmla="*/ 617 w 6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8">
                <a:moveTo>
                  <a:pt x="617" y="27"/>
                </a:moveTo>
                <a:lnTo>
                  <a:pt x="13" y="27"/>
                </a:lnTo>
                <a:lnTo>
                  <a:pt x="13" y="27"/>
                </a:lnTo>
                <a:cubicBezTo>
                  <a:pt x="6" y="27"/>
                  <a:pt x="0" y="21"/>
                  <a:pt x="0" y="13"/>
                </a:cubicBezTo>
                <a:lnTo>
                  <a:pt x="0" y="13"/>
                </a:lnTo>
                <a:cubicBezTo>
                  <a:pt x="0" y="6"/>
                  <a:pt x="6" y="0"/>
                  <a:pt x="13" y="0"/>
                </a:cubicBezTo>
                <a:lnTo>
                  <a:pt x="617" y="0"/>
                </a:lnTo>
                <a:lnTo>
                  <a:pt x="617" y="0"/>
                </a:lnTo>
                <a:cubicBezTo>
                  <a:pt x="622" y="0"/>
                  <a:pt x="628" y="6"/>
                  <a:pt x="628" y="13"/>
                </a:cubicBezTo>
                <a:lnTo>
                  <a:pt x="628" y="13"/>
                </a:lnTo>
                <a:cubicBezTo>
                  <a:pt x="628" y="21"/>
                  <a:pt x="622" y="27"/>
                  <a:pt x="617" y="27"/>
                </a:cubicBezTo>
              </a:path>
            </a:pathLst>
          </a:custGeom>
          <a:solidFill>
            <a:schemeClr val="accent1"/>
          </a:solidFill>
          <a:ln>
            <a:noFill/>
          </a:ln>
          <a:effectLst/>
        </p:spPr>
        <p:txBody>
          <a:bodyPr wrap="none" anchor="ctr"/>
          <a:lstStyle/>
          <a:p>
            <a:endParaRPr lang="en-US" sz="900"/>
          </a:p>
        </p:txBody>
      </p:sp>
      <p:sp>
        <p:nvSpPr>
          <p:cNvPr id="45" name="Freeform 4912">
            <a:extLst>
              <a:ext uri="{FF2B5EF4-FFF2-40B4-BE49-F238E27FC236}">
                <a16:creationId xmlns:a16="http://schemas.microsoft.com/office/drawing/2014/main" id="{5BF22CCA-0350-AA46-86C8-3FC8F975077F}"/>
              </a:ext>
            </a:extLst>
          </p:cNvPr>
          <p:cNvSpPr>
            <a:spLocks noChangeArrowheads="1"/>
          </p:cNvSpPr>
          <p:nvPr/>
        </p:nvSpPr>
        <p:spPr bwMode="auto">
          <a:xfrm>
            <a:off x="2933589" y="3893734"/>
            <a:ext cx="847301" cy="45719"/>
          </a:xfrm>
          <a:custGeom>
            <a:avLst/>
            <a:gdLst>
              <a:gd name="T0" fmla="*/ 616 w 632"/>
              <a:gd name="T1" fmla="*/ 29 h 30"/>
              <a:gd name="T2" fmla="*/ 13 w 632"/>
              <a:gd name="T3" fmla="*/ 29 h 30"/>
              <a:gd name="T4" fmla="*/ 13 w 632"/>
              <a:gd name="T5" fmla="*/ 29 h 30"/>
              <a:gd name="T6" fmla="*/ 0 w 632"/>
              <a:gd name="T7" fmla="*/ 14 h 30"/>
              <a:gd name="T8" fmla="*/ 0 w 632"/>
              <a:gd name="T9" fmla="*/ 14 h 30"/>
              <a:gd name="T10" fmla="*/ 13 w 632"/>
              <a:gd name="T11" fmla="*/ 0 h 30"/>
              <a:gd name="T12" fmla="*/ 616 w 632"/>
              <a:gd name="T13" fmla="*/ 0 h 30"/>
              <a:gd name="T14" fmla="*/ 616 w 632"/>
              <a:gd name="T15" fmla="*/ 0 h 30"/>
              <a:gd name="T16" fmla="*/ 631 w 632"/>
              <a:gd name="T17" fmla="*/ 14 h 30"/>
              <a:gd name="T18" fmla="*/ 631 w 632"/>
              <a:gd name="T19" fmla="*/ 14 h 30"/>
              <a:gd name="T20" fmla="*/ 616 w 632"/>
              <a:gd name="T21"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32" h="30">
                <a:moveTo>
                  <a:pt x="616" y="29"/>
                </a:moveTo>
                <a:lnTo>
                  <a:pt x="13" y="29"/>
                </a:lnTo>
                <a:lnTo>
                  <a:pt x="13" y="29"/>
                </a:lnTo>
                <a:cubicBezTo>
                  <a:pt x="6" y="29"/>
                  <a:pt x="0" y="22"/>
                  <a:pt x="0" y="14"/>
                </a:cubicBezTo>
                <a:lnTo>
                  <a:pt x="0" y="14"/>
                </a:lnTo>
                <a:cubicBezTo>
                  <a:pt x="0" y="6"/>
                  <a:pt x="6" y="0"/>
                  <a:pt x="13" y="0"/>
                </a:cubicBezTo>
                <a:lnTo>
                  <a:pt x="616" y="0"/>
                </a:lnTo>
                <a:lnTo>
                  <a:pt x="616" y="0"/>
                </a:lnTo>
                <a:cubicBezTo>
                  <a:pt x="624" y="0"/>
                  <a:pt x="631" y="6"/>
                  <a:pt x="631" y="14"/>
                </a:cubicBezTo>
                <a:lnTo>
                  <a:pt x="631" y="14"/>
                </a:lnTo>
                <a:cubicBezTo>
                  <a:pt x="631" y="22"/>
                  <a:pt x="624" y="29"/>
                  <a:pt x="616" y="29"/>
                </a:cubicBezTo>
              </a:path>
            </a:pathLst>
          </a:custGeom>
          <a:solidFill>
            <a:schemeClr val="accent1"/>
          </a:solidFill>
          <a:ln>
            <a:noFill/>
          </a:ln>
          <a:effectLst/>
        </p:spPr>
        <p:txBody>
          <a:bodyPr wrap="none" anchor="ctr"/>
          <a:lstStyle/>
          <a:p>
            <a:endParaRPr lang="en-US" sz="900"/>
          </a:p>
        </p:txBody>
      </p:sp>
      <p:sp>
        <p:nvSpPr>
          <p:cNvPr id="49" name="Freeform 4918">
            <a:extLst>
              <a:ext uri="{FF2B5EF4-FFF2-40B4-BE49-F238E27FC236}">
                <a16:creationId xmlns:a16="http://schemas.microsoft.com/office/drawing/2014/main" id="{8F91ADF7-2E05-3A4A-A840-571927B9FC41}"/>
              </a:ext>
            </a:extLst>
          </p:cNvPr>
          <p:cNvSpPr>
            <a:spLocks noChangeArrowheads="1"/>
          </p:cNvSpPr>
          <p:nvPr/>
        </p:nvSpPr>
        <p:spPr bwMode="auto">
          <a:xfrm>
            <a:off x="1543716" y="2554895"/>
            <a:ext cx="1521513" cy="2834186"/>
          </a:xfrm>
          <a:custGeom>
            <a:avLst/>
            <a:gdLst>
              <a:gd name="T0" fmla="*/ 47 w 676"/>
              <a:gd name="T1" fmla="*/ 1257 h 1258"/>
              <a:gd name="T2" fmla="*/ 47 w 676"/>
              <a:gd name="T3" fmla="*/ 1257 h 1258"/>
              <a:gd name="T4" fmla="*/ 0 w 676"/>
              <a:gd name="T5" fmla="*/ 1209 h 1258"/>
              <a:gd name="T6" fmla="*/ 0 w 676"/>
              <a:gd name="T7" fmla="*/ 1209 h 1258"/>
              <a:gd name="T8" fmla="*/ 47 w 676"/>
              <a:gd name="T9" fmla="*/ 1164 h 1258"/>
              <a:gd name="T10" fmla="*/ 47 w 676"/>
              <a:gd name="T11" fmla="*/ 1164 h 1258"/>
              <a:gd name="T12" fmla="*/ 582 w 676"/>
              <a:gd name="T13" fmla="*/ 628 h 1258"/>
              <a:gd name="T14" fmla="*/ 582 w 676"/>
              <a:gd name="T15" fmla="*/ 628 h 1258"/>
              <a:gd name="T16" fmla="*/ 47 w 676"/>
              <a:gd name="T17" fmla="*/ 93 h 1258"/>
              <a:gd name="T18" fmla="*/ 47 w 676"/>
              <a:gd name="T19" fmla="*/ 93 h 1258"/>
              <a:gd name="T20" fmla="*/ 0 w 676"/>
              <a:gd name="T21" fmla="*/ 47 h 1258"/>
              <a:gd name="T22" fmla="*/ 0 w 676"/>
              <a:gd name="T23" fmla="*/ 47 h 1258"/>
              <a:gd name="T24" fmla="*/ 47 w 676"/>
              <a:gd name="T25" fmla="*/ 0 h 1258"/>
              <a:gd name="T26" fmla="*/ 47 w 676"/>
              <a:gd name="T27" fmla="*/ 0 h 1258"/>
              <a:gd name="T28" fmla="*/ 675 w 676"/>
              <a:gd name="T29" fmla="*/ 628 h 1258"/>
              <a:gd name="T30" fmla="*/ 675 w 676"/>
              <a:gd name="T31" fmla="*/ 628 h 1258"/>
              <a:gd name="T32" fmla="*/ 47 w 676"/>
              <a:gd name="T33" fmla="*/ 1257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6" h="1258">
                <a:moveTo>
                  <a:pt x="47" y="1257"/>
                </a:moveTo>
                <a:lnTo>
                  <a:pt x="47" y="1257"/>
                </a:lnTo>
                <a:cubicBezTo>
                  <a:pt x="21" y="1257"/>
                  <a:pt x="0" y="1237"/>
                  <a:pt x="0" y="1209"/>
                </a:cubicBezTo>
                <a:lnTo>
                  <a:pt x="0" y="1209"/>
                </a:lnTo>
                <a:cubicBezTo>
                  <a:pt x="0" y="1184"/>
                  <a:pt x="21" y="1164"/>
                  <a:pt x="47" y="1164"/>
                </a:cubicBezTo>
                <a:lnTo>
                  <a:pt x="47" y="1164"/>
                </a:lnTo>
                <a:cubicBezTo>
                  <a:pt x="342" y="1164"/>
                  <a:pt x="582" y="924"/>
                  <a:pt x="582" y="628"/>
                </a:cubicBezTo>
                <a:lnTo>
                  <a:pt x="582" y="628"/>
                </a:lnTo>
                <a:cubicBezTo>
                  <a:pt x="582" y="333"/>
                  <a:pt x="342" y="93"/>
                  <a:pt x="47" y="93"/>
                </a:cubicBezTo>
                <a:lnTo>
                  <a:pt x="47" y="93"/>
                </a:lnTo>
                <a:cubicBezTo>
                  <a:pt x="21" y="93"/>
                  <a:pt x="0" y="73"/>
                  <a:pt x="0" y="47"/>
                </a:cubicBezTo>
                <a:lnTo>
                  <a:pt x="0" y="47"/>
                </a:lnTo>
                <a:cubicBezTo>
                  <a:pt x="0" y="21"/>
                  <a:pt x="21" y="0"/>
                  <a:pt x="47" y="0"/>
                </a:cubicBezTo>
                <a:lnTo>
                  <a:pt x="47" y="0"/>
                </a:lnTo>
                <a:cubicBezTo>
                  <a:pt x="394" y="0"/>
                  <a:pt x="675" y="281"/>
                  <a:pt x="675" y="628"/>
                </a:cubicBezTo>
                <a:lnTo>
                  <a:pt x="675" y="628"/>
                </a:lnTo>
                <a:cubicBezTo>
                  <a:pt x="675" y="976"/>
                  <a:pt x="394" y="1257"/>
                  <a:pt x="47" y="1257"/>
                </a:cubicBezTo>
              </a:path>
            </a:pathLst>
          </a:custGeom>
          <a:solidFill>
            <a:srgbClr val="FFC000"/>
          </a:solidFill>
          <a:ln>
            <a:noFill/>
          </a:ln>
          <a:effectLst/>
        </p:spPr>
        <p:txBody>
          <a:bodyPr wrap="none" anchor="ctr"/>
          <a:lstStyle/>
          <a:p>
            <a:endParaRPr lang="en-US" sz="900"/>
          </a:p>
        </p:txBody>
      </p:sp>
      <p:sp>
        <p:nvSpPr>
          <p:cNvPr id="40" name="Freeform 4901">
            <a:extLst>
              <a:ext uri="{FF2B5EF4-FFF2-40B4-BE49-F238E27FC236}">
                <a16:creationId xmlns:a16="http://schemas.microsoft.com/office/drawing/2014/main" id="{1D54776A-4F7D-824B-8CC1-AF75A8C1B1F7}"/>
              </a:ext>
            </a:extLst>
          </p:cNvPr>
          <p:cNvSpPr>
            <a:spLocks noChangeArrowheads="1"/>
          </p:cNvSpPr>
          <p:nvPr/>
        </p:nvSpPr>
        <p:spPr bwMode="auto">
          <a:xfrm>
            <a:off x="9907969" y="1968816"/>
            <a:ext cx="1093149" cy="1093149"/>
          </a:xfrm>
          <a:custGeom>
            <a:avLst/>
            <a:gdLst>
              <a:gd name="T0" fmla="*/ 439 w 440"/>
              <a:gd name="T1" fmla="*/ 219 h 440"/>
              <a:gd name="T2" fmla="*/ 439 w 440"/>
              <a:gd name="T3" fmla="*/ 219 h 440"/>
              <a:gd name="T4" fmla="*/ 219 w 440"/>
              <a:gd name="T5" fmla="*/ 439 h 440"/>
              <a:gd name="T6" fmla="*/ 219 w 440"/>
              <a:gd name="T7" fmla="*/ 439 h 440"/>
              <a:gd name="T8" fmla="*/ 0 w 440"/>
              <a:gd name="T9" fmla="*/ 219 h 440"/>
              <a:gd name="T10" fmla="*/ 0 w 440"/>
              <a:gd name="T11" fmla="*/ 219 h 440"/>
              <a:gd name="T12" fmla="*/ 219 w 440"/>
              <a:gd name="T13" fmla="*/ 0 h 440"/>
              <a:gd name="T14" fmla="*/ 219 w 440"/>
              <a:gd name="T15" fmla="*/ 0 h 440"/>
              <a:gd name="T16" fmla="*/ 439 w 440"/>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440">
                <a:moveTo>
                  <a:pt x="439" y="219"/>
                </a:moveTo>
                <a:lnTo>
                  <a:pt x="439" y="219"/>
                </a:lnTo>
                <a:cubicBezTo>
                  <a:pt x="439" y="340"/>
                  <a:pt x="341" y="439"/>
                  <a:pt x="219" y="439"/>
                </a:cubicBezTo>
                <a:lnTo>
                  <a:pt x="219" y="439"/>
                </a:lnTo>
                <a:cubicBezTo>
                  <a:pt x="100" y="439"/>
                  <a:pt x="0" y="340"/>
                  <a:pt x="0" y="219"/>
                </a:cubicBezTo>
                <a:lnTo>
                  <a:pt x="0" y="219"/>
                </a:lnTo>
                <a:cubicBezTo>
                  <a:pt x="0" y="98"/>
                  <a:pt x="100" y="0"/>
                  <a:pt x="219" y="0"/>
                </a:cubicBezTo>
                <a:lnTo>
                  <a:pt x="219" y="0"/>
                </a:lnTo>
                <a:cubicBezTo>
                  <a:pt x="341" y="0"/>
                  <a:pt x="439" y="98"/>
                  <a:pt x="439" y="219"/>
                </a:cubicBezTo>
              </a:path>
            </a:pathLst>
          </a:custGeom>
          <a:solidFill>
            <a:schemeClr val="accent2"/>
          </a:solidFill>
          <a:ln>
            <a:noFill/>
          </a:ln>
          <a:effectLst/>
        </p:spPr>
        <p:txBody>
          <a:bodyPr wrap="none" anchor="ctr"/>
          <a:lstStyle/>
          <a:p>
            <a:endParaRPr lang="en-US" sz="900"/>
          </a:p>
        </p:txBody>
      </p:sp>
      <p:sp>
        <p:nvSpPr>
          <p:cNvPr id="42" name="Freeform 4905">
            <a:extLst>
              <a:ext uri="{FF2B5EF4-FFF2-40B4-BE49-F238E27FC236}">
                <a16:creationId xmlns:a16="http://schemas.microsoft.com/office/drawing/2014/main" id="{CC75E952-FF30-EB42-84DD-BA6C0FAD2166}"/>
              </a:ext>
            </a:extLst>
          </p:cNvPr>
          <p:cNvSpPr>
            <a:spLocks noChangeArrowheads="1"/>
          </p:cNvSpPr>
          <p:nvPr/>
        </p:nvSpPr>
        <p:spPr bwMode="auto">
          <a:xfrm>
            <a:off x="7940300" y="1968816"/>
            <a:ext cx="1082221" cy="1093149"/>
          </a:xfrm>
          <a:custGeom>
            <a:avLst/>
            <a:gdLst>
              <a:gd name="T0" fmla="*/ 437 w 438"/>
              <a:gd name="T1" fmla="*/ 219 h 440"/>
              <a:gd name="T2" fmla="*/ 437 w 438"/>
              <a:gd name="T3" fmla="*/ 219 h 440"/>
              <a:gd name="T4" fmla="*/ 219 w 438"/>
              <a:gd name="T5" fmla="*/ 439 h 440"/>
              <a:gd name="T6" fmla="*/ 219 w 438"/>
              <a:gd name="T7" fmla="*/ 439 h 440"/>
              <a:gd name="T8" fmla="*/ 0 w 438"/>
              <a:gd name="T9" fmla="*/ 219 h 440"/>
              <a:gd name="T10" fmla="*/ 0 w 438"/>
              <a:gd name="T11" fmla="*/ 219 h 440"/>
              <a:gd name="T12" fmla="*/ 219 w 438"/>
              <a:gd name="T13" fmla="*/ 0 h 440"/>
              <a:gd name="T14" fmla="*/ 219 w 438"/>
              <a:gd name="T15" fmla="*/ 0 h 440"/>
              <a:gd name="T16" fmla="*/ 437 w 438"/>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40">
                <a:moveTo>
                  <a:pt x="437" y="219"/>
                </a:moveTo>
                <a:lnTo>
                  <a:pt x="437" y="219"/>
                </a:lnTo>
                <a:cubicBezTo>
                  <a:pt x="437" y="340"/>
                  <a:pt x="339" y="439"/>
                  <a:pt x="219" y="439"/>
                </a:cubicBezTo>
                <a:lnTo>
                  <a:pt x="219" y="439"/>
                </a:lnTo>
                <a:cubicBezTo>
                  <a:pt x="98" y="439"/>
                  <a:pt x="0" y="340"/>
                  <a:pt x="0" y="219"/>
                </a:cubicBezTo>
                <a:lnTo>
                  <a:pt x="0" y="219"/>
                </a:lnTo>
                <a:cubicBezTo>
                  <a:pt x="0" y="98"/>
                  <a:pt x="98" y="0"/>
                  <a:pt x="219" y="0"/>
                </a:cubicBezTo>
                <a:lnTo>
                  <a:pt x="219" y="0"/>
                </a:lnTo>
                <a:cubicBezTo>
                  <a:pt x="339" y="0"/>
                  <a:pt x="437" y="98"/>
                  <a:pt x="437" y="219"/>
                </a:cubicBezTo>
              </a:path>
            </a:pathLst>
          </a:custGeom>
          <a:solidFill>
            <a:schemeClr val="accent2"/>
          </a:solidFill>
          <a:ln>
            <a:noFill/>
          </a:ln>
          <a:effectLst/>
        </p:spPr>
        <p:txBody>
          <a:bodyPr wrap="none" anchor="ctr"/>
          <a:lstStyle/>
          <a:p>
            <a:endParaRPr lang="en-US" sz="900"/>
          </a:p>
        </p:txBody>
      </p:sp>
      <p:sp>
        <p:nvSpPr>
          <p:cNvPr id="44" name="Freeform 4909">
            <a:extLst>
              <a:ext uri="{FF2B5EF4-FFF2-40B4-BE49-F238E27FC236}">
                <a16:creationId xmlns:a16="http://schemas.microsoft.com/office/drawing/2014/main" id="{6BA848AF-F647-064B-AF7C-574FED9F07E4}"/>
              </a:ext>
            </a:extLst>
          </p:cNvPr>
          <p:cNvSpPr>
            <a:spLocks noChangeArrowheads="1"/>
          </p:cNvSpPr>
          <p:nvPr/>
        </p:nvSpPr>
        <p:spPr bwMode="auto">
          <a:xfrm>
            <a:off x="5961704" y="1968816"/>
            <a:ext cx="1082214" cy="1093149"/>
          </a:xfrm>
          <a:custGeom>
            <a:avLst/>
            <a:gdLst>
              <a:gd name="T0" fmla="*/ 436 w 437"/>
              <a:gd name="T1" fmla="*/ 219 h 440"/>
              <a:gd name="T2" fmla="*/ 436 w 437"/>
              <a:gd name="T3" fmla="*/ 219 h 440"/>
              <a:gd name="T4" fmla="*/ 219 w 437"/>
              <a:gd name="T5" fmla="*/ 439 h 440"/>
              <a:gd name="T6" fmla="*/ 219 w 437"/>
              <a:gd name="T7" fmla="*/ 439 h 440"/>
              <a:gd name="T8" fmla="*/ 0 w 437"/>
              <a:gd name="T9" fmla="*/ 219 h 440"/>
              <a:gd name="T10" fmla="*/ 0 w 437"/>
              <a:gd name="T11" fmla="*/ 219 h 440"/>
              <a:gd name="T12" fmla="*/ 219 w 437"/>
              <a:gd name="T13" fmla="*/ 0 h 440"/>
              <a:gd name="T14" fmla="*/ 219 w 437"/>
              <a:gd name="T15" fmla="*/ 0 h 440"/>
              <a:gd name="T16" fmla="*/ 436 w 437"/>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7" h="440">
                <a:moveTo>
                  <a:pt x="436" y="219"/>
                </a:moveTo>
                <a:lnTo>
                  <a:pt x="436" y="219"/>
                </a:lnTo>
                <a:cubicBezTo>
                  <a:pt x="436" y="340"/>
                  <a:pt x="338" y="439"/>
                  <a:pt x="219" y="439"/>
                </a:cubicBezTo>
                <a:lnTo>
                  <a:pt x="219" y="439"/>
                </a:lnTo>
                <a:cubicBezTo>
                  <a:pt x="97" y="439"/>
                  <a:pt x="0" y="340"/>
                  <a:pt x="0" y="219"/>
                </a:cubicBezTo>
                <a:lnTo>
                  <a:pt x="0" y="219"/>
                </a:lnTo>
                <a:cubicBezTo>
                  <a:pt x="0" y="98"/>
                  <a:pt x="97" y="0"/>
                  <a:pt x="219" y="0"/>
                </a:cubicBezTo>
                <a:lnTo>
                  <a:pt x="219" y="0"/>
                </a:lnTo>
                <a:cubicBezTo>
                  <a:pt x="338" y="0"/>
                  <a:pt x="436" y="98"/>
                  <a:pt x="436" y="219"/>
                </a:cubicBezTo>
              </a:path>
            </a:pathLst>
          </a:custGeom>
          <a:solidFill>
            <a:schemeClr val="accent2"/>
          </a:solidFill>
          <a:ln>
            <a:noFill/>
          </a:ln>
          <a:effectLst/>
        </p:spPr>
        <p:txBody>
          <a:bodyPr wrap="none" anchor="ctr"/>
          <a:lstStyle/>
          <a:p>
            <a:endParaRPr lang="en-US" sz="900"/>
          </a:p>
        </p:txBody>
      </p:sp>
      <p:sp>
        <p:nvSpPr>
          <p:cNvPr id="46" name="Freeform 4913">
            <a:extLst>
              <a:ext uri="{FF2B5EF4-FFF2-40B4-BE49-F238E27FC236}">
                <a16:creationId xmlns:a16="http://schemas.microsoft.com/office/drawing/2014/main" id="{081D2E48-5087-BB48-9351-700F73A95FC6}"/>
              </a:ext>
            </a:extLst>
          </p:cNvPr>
          <p:cNvSpPr>
            <a:spLocks noChangeArrowheads="1"/>
          </p:cNvSpPr>
          <p:nvPr/>
        </p:nvSpPr>
        <p:spPr bwMode="auto">
          <a:xfrm>
            <a:off x="4004963" y="1968816"/>
            <a:ext cx="1082221" cy="1093149"/>
          </a:xfrm>
          <a:custGeom>
            <a:avLst/>
            <a:gdLst>
              <a:gd name="T0" fmla="*/ 437 w 438"/>
              <a:gd name="T1" fmla="*/ 219 h 440"/>
              <a:gd name="T2" fmla="*/ 437 w 438"/>
              <a:gd name="T3" fmla="*/ 219 h 440"/>
              <a:gd name="T4" fmla="*/ 218 w 438"/>
              <a:gd name="T5" fmla="*/ 439 h 440"/>
              <a:gd name="T6" fmla="*/ 218 w 438"/>
              <a:gd name="T7" fmla="*/ 439 h 440"/>
              <a:gd name="T8" fmla="*/ 0 w 438"/>
              <a:gd name="T9" fmla="*/ 219 h 440"/>
              <a:gd name="T10" fmla="*/ 0 w 438"/>
              <a:gd name="T11" fmla="*/ 219 h 440"/>
              <a:gd name="T12" fmla="*/ 218 w 438"/>
              <a:gd name="T13" fmla="*/ 0 h 440"/>
              <a:gd name="T14" fmla="*/ 218 w 438"/>
              <a:gd name="T15" fmla="*/ 0 h 440"/>
              <a:gd name="T16" fmla="*/ 437 w 438"/>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40">
                <a:moveTo>
                  <a:pt x="437" y="219"/>
                </a:moveTo>
                <a:lnTo>
                  <a:pt x="437" y="219"/>
                </a:lnTo>
                <a:cubicBezTo>
                  <a:pt x="437" y="340"/>
                  <a:pt x="339" y="439"/>
                  <a:pt x="218" y="439"/>
                </a:cubicBezTo>
                <a:lnTo>
                  <a:pt x="218" y="439"/>
                </a:lnTo>
                <a:cubicBezTo>
                  <a:pt x="98" y="439"/>
                  <a:pt x="0" y="340"/>
                  <a:pt x="0" y="219"/>
                </a:cubicBezTo>
                <a:lnTo>
                  <a:pt x="0" y="219"/>
                </a:lnTo>
                <a:cubicBezTo>
                  <a:pt x="0" y="98"/>
                  <a:pt x="98" y="0"/>
                  <a:pt x="218" y="0"/>
                </a:cubicBezTo>
                <a:lnTo>
                  <a:pt x="218" y="0"/>
                </a:lnTo>
                <a:cubicBezTo>
                  <a:pt x="339" y="0"/>
                  <a:pt x="437" y="98"/>
                  <a:pt x="437" y="219"/>
                </a:cubicBezTo>
              </a:path>
            </a:pathLst>
          </a:custGeom>
          <a:solidFill>
            <a:schemeClr val="accent2"/>
          </a:solidFill>
          <a:ln>
            <a:noFill/>
          </a:ln>
          <a:effectLst/>
        </p:spPr>
        <p:txBody>
          <a:bodyPr wrap="none" anchor="ctr"/>
          <a:lstStyle/>
          <a:p>
            <a:endParaRPr lang="en-US" sz="900"/>
          </a:p>
        </p:txBody>
      </p:sp>
      <p:grpSp>
        <p:nvGrpSpPr>
          <p:cNvPr id="55" name="Group 54">
            <a:extLst>
              <a:ext uri="{FF2B5EF4-FFF2-40B4-BE49-F238E27FC236}">
                <a16:creationId xmlns:a16="http://schemas.microsoft.com/office/drawing/2014/main" id="{B458004B-5459-D240-8F3F-2FA5605715B2}"/>
              </a:ext>
            </a:extLst>
          </p:cNvPr>
          <p:cNvGrpSpPr/>
          <p:nvPr/>
        </p:nvGrpSpPr>
        <p:grpSpPr>
          <a:xfrm>
            <a:off x="3655410" y="2618655"/>
            <a:ext cx="1723591" cy="883175"/>
            <a:chOff x="8079085" y="5397111"/>
            <a:chExt cx="3447182" cy="1766350"/>
          </a:xfrm>
        </p:grpSpPr>
        <p:sp>
          <p:nvSpPr>
            <p:cNvPr id="68" name="Subtitle 2">
              <a:extLst>
                <a:ext uri="{FF2B5EF4-FFF2-40B4-BE49-F238E27FC236}">
                  <a16:creationId xmlns:a16="http://schemas.microsoft.com/office/drawing/2014/main" id="{A9B2671F-BAD3-0444-86CB-3B05C5E7E976}"/>
                </a:ext>
              </a:extLst>
            </p:cNvPr>
            <p:cNvSpPr txBox="1">
              <a:spLocks/>
            </p:cNvSpPr>
            <p:nvPr/>
          </p:nvSpPr>
          <p:spPr>
            <a:xfrm>
              <a:off x="8079085" y="6447099"/>
              <a:ext cx="3447182" cy="716362"/>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100" b="1" spc="80" dirty="0">
                  <a:solidFill>
                    <a:schemeClr val="tx1"/>
                  </a:solidFill>
                  <a:latin typeface="Calibri" charset="0"/>
                  <a:ea typeface="Calibri" charset="0"/>
                  <a:cs typeface="Calibri" charset="0"/>
                </a:rPr>
                <a:t>Utilities</a:t>
              </a: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sp>
          <p:nvSpPr>
            <p:cNvPr id="70" name="TextBox 69">
              <a:extLst>
                <a:ext uri="{FF2B5EF4-FFF2-40B4-BE49-F238E27FC236}">
                  <a16:creationId xmlns:a16="http://schemas.microsoft.com/office/drawing/2014/main" id="{F6176D2B-CD81-194C-A93A-2D763C89A47D}"/>
                </a:ext>
              </a:extLst>
            </p:cNvPr>
            <p:cNvSpPr txBox="1"/>
            <p:nvPr/>
          </p:nvSpPr>
          <p:spPr>
            <a:xfrm>
              <a:off x="9617947" y="5397111"/>
              <a:ext cx="369462" cy="461664"/>
            </a:xfrm>
            <a:prstGeom prst="rect">
              <a:avLst/>
            </a:prstGeom>
            <a:noFill/>
          </p:spPr>
          <p:txBody>
            <a:bodyPr wrap="none" rtlCol="0">
              <a:spAutoFit/>
            </a:bodyPr>
            <a:lstStyle/>
            <a:p>
              <a:pPr algn="ctr"/>
              <a:endParaRPr lang="en-US" sz="900" dirty="0">
                <a:solidFill>
                  <a:schemeClr val="tx2"/>
                </a:solidFill>
                <a:latin typeface="Poppins Medium" pitchFamily="2" charset="77"/>
                <a:ea typeface="Lato" panose="020F0502020204030203" pitchFamily="34" charset="0"/>
                <a:cs typeface="Poppins Medium" pitchFamily="2" charset="77"/>
              </a:endParaRPr>
            </a:p>
          </p:txBody>
        </p:sp>
      </p:grpSp>
      <p:sp>
        <p:nvSpPr>
          <p:cNvPr id="66" name="Subtitle 2">
            <a:extLst>
              <a:ext uri="{FF2B5EF4-FFF2-40B4-BE49-F238E27FC236}">
                <a16:creationId xmlns:a16="http://schemas.microsoft.com/office/drawing/2014/main" id="{CB94894B-10CA-6649-B6E8-FA08346E1950}"/>
              </a:ext>
            </a:extLst>
          </p:cNvPr>
          <p:cNvSpPr txBox="1">
            <a:spLocks/>
          </p:cNvSpPr>
          <p:nvPr/>
        </p:nvSpPr>
        <p:spPr>
          <a:xfrm>
            <a:off x="5633472" y="3202661"/>
            <a:ext cx="1792465" cy="299383"/>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ctr"/>
            <a:r>
              <a:rPr lang="en-US" sz="1100" b="1" spc="80" dirty="0">
                <a:solidFill>
                  <a:schemeClr val="tx1"/>
                </a:solidFill>
                <a:latin typeface="Calibri" charset="0"/>
                <a:ea typeface="Calibri" charset="0"/>
                <a:cs typeface="Calibri" charset="0"/>
              </a:rPr>
              <a:t>Renewable Energy</a:t>
            </a:r>
          </a:p>
        </p:txBody>
      </p:sp>
      <p:sp>
        <p:nvSpPr>
          <p:cNvPr id="64" name="Subtitle 2">
            <a:extLst>
              <a:ext uri="{FF2B5EF4-FFF2-40B4-BE49-F238E27FC236}">
                <a16:creationId xmlns:a16="http://schemas.microsoft.com/office/drawing/2014/main" id="{56AF8B48-98A5-2548-B22C-354A31A79317}"/>
              </a:ext>
            </a:extLst>
          </p:cNvPr>
          <p:cNvSpPr txBox="1">
            <a:spLocks/>
          </p:cNvSpPr>
          <p:nvPr/>
        </p:nvSpPr>
        <p:spPr>
          <a:xfrm>
            <a:off x="7585178" y="3155545"/>
            <a:ext cx="1792465" cy="358181"/>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100" b="1" spc="80" dirty="0">
                <a:solidFill>
                  <a:schemeClr val="tx1"/>
                </a:solidFill>
                <a:latin typeface="Calibri" charset="0"/>
                <a:ea typeface="Calibri" charset="0"/>
                <a:cs typeface="Calibri" charset="0"/>
              </a:rPr>
              <a:t>E-Governance</a:t>
            </a: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sp>
        <p:nvSpPr>
          <p:cNvPr id="59" name="Subtitle 2">
            <a:extLst>
              <a:ext uri="{FF2B5EF4-FFF2-40B4-BE49-F238E27FC236}">
                <a16:creationId xmlns:a16="http://schemas.microsoft.com/office/drawing/2014/main" id="{260E48E2-1642-424D-8329-49C8C6CB9588}"/>
              </a:ext>
            </a:extLst>
          </p:cNvPr>
          <p:cNvSpPr txBox="1">
            <a:spLocks/>
          </p:cNvSpPr>
          <p:nvPr/>
        </p:nvSpPr>
        <p:spPr>
          <a:xfrm>
            <a:off x="9558311" y="3143863"/>
            <a:ext cx="1792465" cy="358181"/>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100" b="1" spc="80" dirty="0">
                <a:solidFill>
                  <a:schemeClr val="tx1"/>
                </a:solidFill>
                <a:latin typeface="Calibri" charset="0"/>
                <a:ea typeface="Calibri" charset="0"/>
                <a:cs typeface="Calibri" charset="0"/>
              </a:rPr>
              <a:t>AFS</a:t>
            </a: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grpSp>
        <p:nvGrpSpPr>
          <p:cNvPr id="93" name="Group 92">
            <a:extLst>
              <a:ext uri="{FF2B5EF4-FFF2-40B4-BE49-F238E27FC236}">
                <a16:creationId xmlns:a16="http://schemas.microsoft.com/office/drawing/2014/main" id="{D37404F8-A356-414C-BC36-E354E703AFD6}"/>
              </a:ext>
            </a:extLst>
          </p:cNvPr>
          <p:cNvGrpSpPr/>
          <p:nvPr/>
        </p:nvGrpSpPr>
        <p:grpSpPr>
          <a:xfrm>
            <a:off x="654939" y="2971886"/>
            <a:ext cx="1967415" cy="1967414"/>
            <a:chOff x="10070275" y="6265440"/>
            <a:chExt cx="4321031" cy="4321031"/>
          </a:xfrm>
        </p:grpSpPr>
        <p:sp>
          <p:nvSpPr>
            <p:cNvPr id="94" name="Oval 93">
              <a:extLst>
                <a:ext uri="{FF2B5EF4-FFF2-40B4-BE49-F238E27FC236}">
                  <a16:creationId xmlns:a16="http://schemas.microsoft.com/office/drawing/2014/main" id="{B809D454-D810-B749-993A-C3E9C4903C34}"/>
                </a:ext>
              </a:extLst>
            </p:cNvPr>
            <p:cNvSpPr/>
            <p:nvPr/>
          </p:nvSpPr>
          <p:spPr>
            <a:xfrm>
              <a:off x="10070275" y="6265440"/>
              <a:ext cx="4321031" cy="4321031"/>
            </a:xfrm>
            <a:prstGeom prst="ellipse">
              <a:avLst/>
            </a:prstGeom>
            <a:solidFill>
              <a:srgbClr val="EFF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95" name="Group 94">
              <a:extLst>
                <a:ext uri="{FF2B5EF4-FFF2-40B4-BE49-F238E27FC236}">
                  <a16:creationId xmlns:a16="http://schemas.microsoft.com/office/drawing/2014/main" id="{1178844F-40B9-0649-BFE1-36C64961832D}"/>
                </a:ext>
              </a:extLst>
            </p:cNvPr>
            <p:cNvGrpSpPr/>
            <p:nvPr/>
          </p:nvGrpSpPr>
          <p:grpSpPr>
            <a:xfrm>
              <a:off x="10280257" y="6279398"/>
              <a:ext cx="4067104" cy="3879610"/>
              <a:chOff x="10280257" y="6279398"/>
              <a:chExt cx="4067104" cy="3879610"/>
            </a:xfrm>
            <a:solidFill>
              <a:schemeClr val="bg1">
                <a:lumMod val="85000"/>
              </a:schemeClr>
            </a:solidFill>
          </p:grpSpPr>
          <p:sp>
            <p:nvSpPr>
              <p:cNvPr id="96" name="Freeform 95">
                <a:extLst>
                  <a:ext uri="{FF2B5EF4-FFF2-40B4-BE49-F238E27FC236}">
                    <a16:creationId xmlns:a16="http://schemas.microsoft.com/office/drawing/2014/main" id="{305C0C0E-AA95-6847-B5FB-C43D3DCB2325}"/>
                  </a:ext>
                </a:extLst>
              </p:cNvPr>
              <p:cNvSpPr/>
              <p:nvPr/>
            </p:nvSpPr>
            <p:spPr>
              <a:xfrm>
                <a:off x="12870008" y="6404379"/>
                <a:ext cx="82492" cy="64994"/>
              </a:xfrm>
              <a:custGeom>
                <a:avLst/>
                <a:gdLst/>
                <a:ahLst/>
                <a:cxnLst>
                  <a:cxn ang="3cd4">
                    <a:pos x="hc" y="t"/>
                  </a:cxn>
                  <a:cxn ang="cd2">
                    <a:pos x="l" y="vc"/>
                  </a:cxn>
                  <a:cxn ang="cd4">
                    <a:pos x="hc" y="b"/>
                  </a:cxn>
                  <a:cxn ang="0">
                    <a:pos x="r" y="vc"/>
                  </a:cxn>
                </a:cxnLst>
                <a:rect l="l" t="t" r="r" b="b"/>
                <a:pathLst>
                  <a:path w="34" h="27">
                    <a:moveTo>
                      <a:pt x="7" y="25"/>
                    </a:moveTo>
                    <a:cubicBezTo>
                      <a:pt x="6" y="25"/>
                      <a:pt x="3" y="25"/>
                      <a:pt x="1" y="24"/>
                    </a:cubicBezTo>
                    <a:cubicBezTo>
                      <a:pt x="0" y="21"/>
                      <a:pt x="0" y="19"/>
                      <a:pt x="0" y="18"/>
                    </a:cubicBezTo>
                    <a:lnTo>
                      <a:pt x="0" y="16"/>
                    </a:lnTo>
                    <a:lnTo>
                      <a:pt x="1" y="0"/>
                    </a:lnTo>
                    <a:lnTo>
                      <a:pt x="26" y="2"/>
                    </a:lnTo>
                    <a:lnTo>
                      <a:pt x="26" y="6"/>
                    </a:lnTo>
                    <a:cubicBezTo>
                      <a:pt x="26" y="7"/>
                      <a:pt x="26" y="9"/>
                      <a:pt x="26" y="9"/>
                    </a:cubicBezTo>
                    <a:cubicBezTo>
                      <a:pt x="28" y="11"/>
                      <a:pt x="28" y="12"/>
                      <a:pt x="28" y="12"/>
                    </a:cubicBezTo>
                    <a:cubicBezTo>
                      <a:pt x="29" y="14"/>
                      <a:pt x="31" y="16"/>
                      <a:pt x="32" y="18"/>
                    </a:cubicBezTo>
                    <a:cubicBezTo>
                      <a:pt x="32" y="19"/>
                      <a:pt x="32" y="19"/>
                      <a:pt x="32" y="21"/>
                    </a:cubicBezTo>
                    <a:lnTo>
                      <a:pt x="34" y="27"/>
                    </a:lnTo>
                    <a:lnTo>
                      <a:pt x="28" y="27"/>
                    </a:ln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99" name="Freeform 98">
                <a:extLst>
                  <a:ext uri="{FF2B5EF4-FFF2-40B4-BE49-F238E27FC236}">
                    <a16:creationId xmlns:a16="http://schemas.microsoft.com/office/drawing/2014/main" id="{107A6CA3-A135-FB4E-866A-46DCCF2E51E9}"/>
                  </a:ext>
                </a:extLst>
              </p:cNvPr>
              <p:cNvSpPr/>
              <p:nvPr/>
            </p:nvSpPr>
            <p:spPr>
              <a:xfrm>
                <a:off x="12867508" y="6444375"/>
                <a:ext cx="177482" cy="179982"/>
              </a:xfrm>
              <a:custGeom>
                <a:avLst/>
                <a:gdLst/>
                <a:ahLst/>
                <a:cxnLst>
                  <a:cxn ang="3cd4">
                    <a:pos x="hc" y="t"/>
                  </a:cxn>
                  <a:cxn ang="cd2">
                    <a:pos x="l" y="vc"/>
                  </a:cxn>
                  <a:cxn ang="cd4">
                    <a:pos x="hc" y="b"/>
                  </a:cxn>
                  <a:cxn ang="0">
                    <a:pos x="r" y="vc"/>
                  </a:cxn>
                </a:cxnLst>
                <a:rect l="l" t="t" r="r" b="b"/>
                <a:pathLst>
                  <a:path w="72" h="73">
                    <a:moveTo>
                      <a:pt x="37" y="73"/>
                    </a:moveTo>
                    <a:cubicBezTo>
                      <a:pt x="35" y="73"/>
                      <a:pt x="32" y="73"/>
                      <a:pt x="30" y="73"/>
                    </a:cubicBezTo>
                    <a:cubicBezTo>
                      <a:pt x="29" y="73"/>
                      <a:pt x="27" y="73"/>
                      <a:pt x="26" y="73"/>
                    </a:cubicBezTo>
                    <a:cubicBezTo>
                      <a:pt x="23" y="72"/>
                      <a:pt x="18" y="70"/>
                      <a:pt x="16" y="67"/>
                    </a:cubicBezTo>
                    <a:cubicBezTo>
                      <a:pt x="14" y="65"/>
                      <a:pt x="13" y="63"/>
                      <a:pt x="14" y="58"/>
                    </a:cubicBezTo>
                    <a:cubicBezTo>
                      <a:pt x="14" y="57"/>
                      <a:pt x="14" y="57"/>
                      <a:pt x="14" y="57"/>
                    </a:cubicBezTo>
                    <a:lnTo>
                      <a:pt x="11" y="57"/>
                    </a:lnTo>
                    <a:lnTo>
                      <a:pt x="5" y="55"/>
                    </a:lnTo>
                    <a:lnTo>
                      <a:pt x="7" y="49"/>
                    </a:lnTo>
                    <a:lnTo>
                      <a:pt x="4" y="48"/>
                    </a:lnTo>
                    <a:lnTo>
                      <a:pt x="0" y="48"/>
                    </a:lnTo>
                    <a:lnTo>
                      <a:pt x="0" y="32"/>
                    </a:lnTo>
                    <a:lnTo>
                      <a:pt x="0" y="30"/>
                    </a:lnTo>
                    <a:cubicBezTo>
                      <a:pt x="0" y="28"/>
                      <a:pt x="0" y="27"/>
                      <a:pt x="1" y="24"/>
                    </a:cubicBezTo>
                    <a:cubicBezTo>
                      <a:pt x="4" y="23"/>
                      <a:pt x="7" y="23"/>
                      <a:pt x="7" y="23"/>
                    </a:cubicBezTo>
                    <a:lnTo>
                      <a:pt x="14" y="23"/>
                    </a:lnTo>
                    <a:cubicBezTo>
                      <a:pt x="14" y="23"/>
                      <a:pt x="16" y="23"/>
                      <a:pt x="16" y="20"/>
                    </a:cubicBezTo>
                    <a:lnTo>
                      <a:pt x="16" y="15"/>
                    </a:lnTo>
                    <a:lnTo>
                      <a:pt x="21" y="15"/>
                    </a:lnTo>
                    <a:lnTo>
                      <a:pt x="23" y="15"/>
                    </a:lnTo>
                    <a:cubicBezTo>
                      <a:pt x="25" y="15"/>
                      <a:pt x="26" y="16"/>
                      <a:pt x="26" y="16"/>
                    </a:cubicBezTo>
                    <a:cubicBezTo>
                      <a:pt x="29" y="16"/>
                      <a:pt x="29" y="15"/>
                      <a:pt x="29" y="15"/>
                    </a:cubicBezTo>
                    <a:cubicBezTo>
                      <a:pt x="30" y="14"/>
                      <a:pt x="30" y="12"/>
                      <a:pt x="30" y="11"/>
                    </a:cubicBezTo>
                    <a:lnTo>
                      <a:pt x="30" y="9"/>
                    </a:lnTo>
                    <a:cubicBezTo>
                      <a:pt x="30" y="8"/>
                      <a:pt x="32" y="7"/>
                      <a:pt x="32" y="7"/>
                    </a:cubicBezTo>
                    <a:cubicBezTo>
                      <a:pt x="32" y="3"/>
                      <a:pt x="35" y="0"/>
                      <a:pt x="38" y="0"/>
                    </a:cubicBezTo>
                    <a:cubicBezTo>
                      <a:pt x="39" y="0"/>
                      <a:pt x="39" y="0"/>
                      <a:pt x="41" y="0"/>
                    </a:cubicBezTo>
                    <a:cubicBezTo>
                      <a:pt x="42" y="0"/>
                      <a:pt x="42" y="0"/>
                      <a:pt x="44" y="0"/>
                    </a:cubicBezTo>
                    <a:cubicBezTo>
                      <a:pt x="45" y="2"/>
                      <a:pt x="45" y="2"/>
                      <a:pt x="46" y="2"/>
                    </a:cubicBezTo>
                    <a:cubicBezTo>
                      <a:pt x="51" y="2"/>
                      <a:pt x="57" y="2"/>
                      <a:pt x="62" y="7"/>
                    </a:cubicBezTo>
                    <a:cubicBezTo>
                      <a:pt x="63" y="8"/>
                      <a:pt x="65" y="9"/>
                      <a:pt x="65" y="9"/>
                    </a:cubicBezTo>
                    <a:cubicBezTo>
                      <a:pt x="66" y="9"/>
                      <a:pt x="66" y="9"/>
                      <a:pt x="67" y="9"/>
                    </a:cubicBezTo>
                    <a:lnTo>
                      <a:pt x="72" y="9"/>
                    </a:lnTo>
                    <a:lnTo>
                      <a:pt x="72" y="15"/>
                    </a:lnTo>
                    <a:lnTo>
                      <a:pt x="72" y="21"/>
                    </a:lnTo>
                    <a:cubicBezTo>
                      <a:pt x="72" y="26"/>
                      <a:pt x="67" y="27"/>
                      <a:pt x="66" y="28"/>
                    </a:cubicBezTo>
                    <a:cubicBezTo>
                      <a:pt x="65" y="28"/>
                      <a:pt x="65" y="28"/>
                      <a:pt x="65" y="30"/>
                    </a:cubicBezTo>
                    <a:cubicBezTo>
                      <a:pt x="65" y="32"/>
                      <a:pt x="66" y="35"/>
                      <a:pt x="67" y="37"/>
                    </a:cubicBezTo>
                    <a:cubicBezTo>
                      <a:pt x="67" y="39"/>
                      <a:pt x="69" y="40"/>
                      <a:pt x="69" y="42"/>
                    </a:cubicBezTo>
                    <a:cubicBezTo>
                      <a:pt x="72" y="52"/>
                      <a:pt x="69" y="60"/>
                      <a:pt x="62" y="64"/>
                    </a:cubicBezTo>
                    <a:cubicBezTo>
                      <a:pt x="60" y="65"/>
                      <a:pt x="57" y="65"/>
                      <a:pt x="55" y="65"/>
                    </a:cubicBezTo>
                    <a:lnTo>
                      <a:pt x="54" y="67"/>
                    </a:lnTo>
                    <a:cubicBezTo>
                      <a:pt x="53" y="67"/>
                      <a:pt x="53" y="67"/>
                      <a:pt x="51" y="69"/>
                    </a:cubicBezTo>
                    <a:lnTo>
                      <a:pt x="50" y="70"/>
                    </a:lnTo>
                    <a:cubicBezTo>
                      <a:pt x="45" y="73"/>
                      <a:pt x="39" y="73"/>
                      <a:pt x="37" y="73"/>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100" name="Freeform 99">
                <a:extLst>
                  <a:ext uri="{FF2B5EF4-FFF2-40B4-BE49-F238E27FC236}">
                    <a16:creationId xmlns:a16="http://schemas.microsoft.com/office/drawing/2014/main" id="{7868C1A0-A211-7B4B-BF5F-8185A1A26AFF}"/>
                  </a:ext>
                </a:extLst>
              </p:cNvPr>
              <p:cNvSpPr/>
              <p:nvPr/>
            </p:nvSpPr>
            <p:spPr>
              <a:xfrm>
                <a:off x="13039991" y="6489370"/>
                <a:ext cx="119988" cy="102490"/>
              </a:xfrm>
              <a:custGeom>
                <a:avLst/>
                <a:gdLst/>
                <a:ahLst/>
                <a:cxnLst>
                  <a:cxn ang="3cd4">
                    <a:pos x="hc" y="t"/>
                  </a:cxn>
                  <a:cxn ang="cd2">
                    <a:pos x="l" y="vc"/>
                  </a:cxn>
                  <a:cxn ang="cd4">
                    <a:pos x="hc" y="b"/>
                  </a:cxn>
                  <a:cxn ang="0">
                    <a:pos x="r" y="vc"/>
                  </a:cxn>
                </a:cxnLst>
                <a:rect l="l" t="t" r="r" b="b"/>
                <a:pathLst>
                  <a:path w="49" h="42">
                    <a:moveTo>
                      <a:pt x="22" y="42"/>
                    </a:moveTo>
                    <a:lnTo>
                      <a:pt x="22" y="37"/>
                    </a:lnTo>
                    <a:cubicBezTo>
                      <a:pt x="22" y="34"/>
                      <a:pt x="22" y="33"/>
                      <a:pt x="22" y="33"/>
                    </a:cubicBezTo>
                    <a:lnTo>
                      <a:pt x="21" y="33"/>
                    </a:lnTo>
                    <a:lnTo>
                      <a:pt x="16" y="34"/>
                    </a:lnTo>
                    <a:lnTo>
                      <a:pt x="14" y="30"/>
                    </a:lnTo>
                    <a:cubicBezTo>
                      <a:pt x="14" y="26"/>
                      <a:pt x="13" y="22"/>
                      <a:pt x="9" y="21"/>
                    </a:cubicBezTo>
                    <a:cubicBezTo>
                      <a:pt x="7" y="19"/>
                      <a:pt x="6" y="18"/>
                      <a:pt x="5" y="18"/>
                    </a:cubicBezTo>
                    <a:cubicBezTo>
                      <a:pt x="1" y="17"/>
                      <a:pt x="1" y="15"/>
                      <a:pt x="0" y="14"/>
                    </a:cubicBezTo>
                    <a:cubicBezTo>
                      <a:pt x="0" y="10"/>
                      <a:pt x="1" y="8"/>
                      <a:pt x="3" y="5"/>
                    </a:cubicBezTo>
                    <a:cubicBezTo>
                      <a:pt x="9" y="1"/>
                      <a:pt x="16" y="-2"/>
                      <a:pt x="21" y="1"/>
                    </a:cubicBezTo>
                    <a:cubicBezTo>
                      <a:pt x="25" y="1"/>
                      <a:pt x="28" y="1"/>
                      <a:pt x="31" y="1"/>
                    </a:cubicBezTo>
                    <a:cubicBezTo>
                      <a:pt x="33" y="1"/>
                      <a:pt x="35" y="1"/>
                      <a:pt x="37" y="2"/>
                    </a:cubicBezTo>
                    <a:lnTo>
                      <a:pt x="43" y="2"/>
                    </a:lnTo>
                    <a:lnTo>
                      <a:pt x="41" y="8"/>
                    </a:lnTo>
                    <a:cubicBezTo>
                      <a:pt x="41" y="8"/>
                      <a:pt x="43" y="9"/>
                      <a:pt x="45" y="9"/>
                    </a:cubicBezTo>
                    <a:lnTo>
                      <a:pt x="49" y="9"/>
                    </a:lnTo>
                    <a:lnTo>
                      <a:pt x="49" y="14"/>
                    </a:lnTo>
                    <a:cubicBezTo>
                      <a:pt x="49" y="15"/>
                      <a:pt x="49" y="17"/>
                      <a:pt x="49" y="18"/>
                    </a:cubicBezTo>
                    <a:cubicBezTo>
                      <a:pt x="49" y="24"/>
                      <a:pt x="49" y="30"/>
                      <a:pt x="46" y="34"/>
                    </a:cubicBezTo>
                    <a:cubicBezTo>
                      <a:pt x="41" y="42"/>
                      <a:pt x="34" y="42"/>
                      <a:pt x="31" y="42"/>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101" name="Freeform 100">
                <a:extLst>
                  <a:ext uri="{FF2B5EF4-FFF2-40B4-BE49-F238E27FC236}">
                    <a16:creationId xmlns:a16="http://schemas.microsoft.com/office/drawing/2014/main" id="{B185D82F-5091-B74E-9D3C-31FB39FAACE4}"/>
                  </a:ext>
                </a:extLst>
              </p:cNvPr>
              <p:cNvSpPr/>
              <p:nvPr/>
            </p:nvSpPr>
            <p:spPr>
              <a:xfrm>
                <a:off x="13034991" y="6586867"/>
                <a:ext cx="119988" cy="82492"/>
              </a:xfrm>
              <a:custGeom>
                <a:avLst/>
                <a:gdLst/>
                <a:ahLst/>
                <a:cxnLst>
                  <a:cxn ang="3cd4">
                    <a:pos x="hc" y="t"/>
                  </a:cxn>
                  <a:cxn ang="cd2">
                    <a:pos x="l" y="vc"/>
                  </a:cxn>
                  <a:cxn ang="cd4">
                    <a:pos x="hc" y="b"/>
                  </a:cxn>
                  <a:cxn ang="0">
                    <a:pos x="r" y="vc"/>
                  </a:cxn>
                </a:cxnLst>
                <a:rect l="l" t="t" r="r" b="b"/>
                <a:pathLst>
                  <a:path w="49" h="34">
                    <a:moveTo>
                      <a:pt x="43" y="34"/>
                    </a:moveTo>
                    <a:cubicBezTo>
                      <a:pt x="42" y="34"/>
                      <a:pt x="42" y="34"/>
                      <a:pt x="40" y="34"/>
                    </a:cubicBezTo>
                    <a:lnTo>
                      <a:pt x="15" y="32"/>
                    </a:lnTo>
                    <a:lnTo>
                      <a:pt x="15" y="25"/>
                    </a:lnTo>
                    <a:lnTo>
                      <a:pt x="0" y="25"/>
                    </a:lnTo>
                    <a:lnTo>
                      <a:pt x="0" y="8"/>
                    </a:lnTo>
                    <a:cubicBezTo>
                      <a:pt x="0" y="7"/>
                      <a:pt x="0" y="7"/>
                      <a:pt x="0" y="7"/>
                    </a:cubicBezTo>
                    <a:cubicBezTo>
                      <a:pt x="0" y="6"/>
                      <a:pt x="0" y="3"/>
                      <a:pt x="2" y="1"/>
                    </a:cubicBezTo>
                    <a:cubicBezTo>
                      <a:pt x="5" y="0"/>
                      <a:pt x="8" y="0"/>
                      <a:pt x="8" y="0"/>
                    </a:cubicBezTo>
                    <a:lnTo>
                      <a:pt x="35" y="0"/>
                    </a:lnTo>
                    <a:lnTo>
                      <a:pt x="35" y="4"/>
                    </a:lnTo>
                    <a:cubicBezTo>
                      <a:pt x="35" y="6"/>
                      <a:pt x="35" y="7"/>
                      <a:pt x="35" y="8"/>
                    </a:cubicBezTo>
                    <a:cubicBezTo>
                      <a:pt x="36" y="8"/>
                      <a:pt x="36" y="8"/>
                      <a:pt x="36" y="8"/>
                    </a:cubicBezTo>
                    <a:lnTo>
                      <a:pt x="37" y="8"/>
                    </a:lnTo>
                    <a:cubicBezTo>
                      <a:pt x="37" y="7"/>
                      <a:pt x="39" y="8"/>
                      <a:pt x="39" y="8"/>
                    </a:cubicBezTo>
                    <a:cubicBezTo>
                      <a:pt x="45" y="8"/>
                      <a:pt x="48" y="12"/>
                      <a:pt x="49" y="17"/>
                    </a:cubicBezTo>
                    <a:cubicBezTo>
                      <a:pt x="49" y="20"/>
                      <a:pt x="49" y="23"/>
                      <a:pt x="49" y="25"/>
                    </a:cubicBezTo>
                    <a:lnTo>
                      <a:pt x="49" y="27"/>
                    </a:lnTo>
                    <a:cubicBezTo>
                      <a:pt x="49" y="28"/>
                      <a:pt x="49" y="31"/>
                      <a:pt x="48" y="32"/>
                    </a:cubicBezTo>
                    <a:cubicBezTo>
                      <a:pt x="47" y="34"/>
                      <a:pt x="45" y="34"/>
                      <a:pt x="43" y="34"/>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102" name="Freeform 101">
                <a:extLst>
                  <a:ext uri="{FF2B5EF4-FFF2-40B4-BE49-F238E27FC236}">
                    <a16:creationId xmlns:a16="http://schemas.microsoft.com/office/drawing/2014/main" id="{18A52684-ACE8-C144-B1CC-9F14BC881CA3}"/>
                  </a:ext>
                </a:extLst>
              </p:cNvPr>
              <p:cNvSpPr/>
              <p:nvPr/>
            </p:nvSpPr>
            <p:spPr>
              <a:xfrm>
                <a:off x="11945092" y="6279398"/>
                <a:ext cx="454955" cy="277473"/>
              </a:xfrm>
              <a:custGeom>
                <a:avLst/>
                <a:gdLst/>
                <a:ahLst/>
                <a:cxnLst>
                  <a:cxn ang="3cd4">
                    <a:pos x="hc" y="t"/>
                  </a:cxn>
                  <a:cxn ang="cd2">
                    <a:pos x="l" y="vc"/>
                  </a:cxn>
                  <a:cxn ang="cd4">
                    <a:pos x="hc" y="b"/>
                  </a:cxn>
                  <a:cxn ang="0">
                    <a:pos x="r" y="vc"/>
                  </a:cxn>
                </a:cxnLst>
                <a:rect l="l" t="t" r="r" b="b"/>
                <a:pathLst>
                  <a:path w="183" h="112">
                    <a:moveTo>
                      <a:pt x="59" y="112"/>
                    </a:moveTo>
                    <a:cubicBezTo>
                      <a:pt x="57" y="112"/>
                      <a:pt x="56" y="111"/>
                      <a:pt x="54" y="111"/>
                    </a:cubicBezTo>
                    <a:cubicBezTo>
                      <a:pt x="54" y="111"/>
                      <a:pt x="53" y="111"/>
                      <a:pt x="52" y="111"/>
                    </a:cubicBezTo>
                    <a:lnTo>
                      <a:pt x="25" y="109"/>
                    </a:lnTo>
                    <a:lnTo>
                      <a:pt x="24" y="107"/>
                    </a:lnTo>
                    <a:cubicBezTo>
                      <a:pt x="19" y="103"/>
                      <a:pt x="13" y="97"/>
                      <a:pt x="8" y="91"/>
                    </a:cubicBezTo>
                    <a:cubicBezTo>
                      <a:pt x="7" y="90"/>
                      <a:pt x="4" y="88"/>
                      <a:pt x="3" y="86"/>
                    </a:cubicBezTo>
                    <a:cubicBezTo>
                      <a:pt x="0" y="82"/>
                      <a:pt x="0" y="81"/>
                      <a:pt x="0" y="78"/>
                    </a:cubicBezTo>
                    <a:lnTo>
                      <a:pt x="0" y="76"/>
                    </a:lnTo>
                    <a:lnTo>
                      <a:pt x="1" y="62"/>
                    </a:lnTo>
                    <a:lnTo>
                      <a:pt x="5" y="60"/>
                    </a:lnTo>
                    <a:cubicBezTo>
                      <a:pt x="8" y="60"/>
                      <a:pt x="12" y="57"/>
                      <a:pt x="14" y="54"/>
                    </a:cubicBezTo>
                    <a:cubicBezTo>
                      <a:pt x="14" y="53"/>
                      <a:pt x="16" y="51"/>
                      <a:pt x="16" y="50"/>
                    </a:cubicBezTo>
                    <a:cubicBezTo>
                      <a:pt x="19" y="47"/>
                      <a:pt x="20" y="45"/>
                      <a:pt x="21" y="45"/>
                    </a:cubicBezTo>
                    <a:cubicBezTo>
                      <a:pt x="24" y="45"/>
                      <a:pt x="24" y="45"/>
                      <a:pt x="25" y="45"/>
                    </a:cubicBezTo>
                    <a:cubicBezTo>
                      <a:pt x="25" y="42"/>
                      <a:pt x="25" y="38"/>
                      <a:pt x="25" y="33"/>
                    </a:cubicBezTo>
                    <a:cubicBezTo>
                      <a:pt x="25" y="32"/>
                      <a:pt x="25" y="29"/>
                      <a:pt x="25" y="27"/>
                    </a:cubicBezTo>
                    <a:cubicBezTo>
                      <a:pt x="25" y="20"/>
                      <a:pt x="25" y="17"/>
                      <a:pt x="21" y="14"/>
                    </a:cubicBezTo>
                    <a:cubicBezTo>
                      <a:pt x="20" y="13"/>
                      <a:pt x="17" y="11"/>
                      <a:pt x="16" y="10"/>
                    </a:cubicBezTo>
                    <a:lnTo>
                      <a:pt x="14" y="10"/>
                    </a:lnTo>
                    <a:cubicBezTo>
                      <a:pt x="13" y="8"/>
                      <a:pt x="12" y="8"/>
                      <a:pt x="12" y="6"/>
                    </a:cubicBezTo>
                    <a:cubicBezTo>
                      <a:pt x="56" y="1"/>
                      <a:pt x="102" y="-1"/>
                      <a:pt x="147" y="1"/>
                    </a:cubicBezTo>
                    <a:cubicBezTo>
                      <a:pt x="159" y="1"/>
                      <a:pt x="171" y="2"/>
                      <a:pt x="183" y="2"/>
                    </a:cubicBezTo>
                    <a:cubicBezTo>
                      <a:pt x="183" y="4"/>
                      <a:pt x="183" y="4"/>
                      <a:pt x="183" y="4"/>
                    </a:cubicBezTo>
                    <a:cubicBezTo>
                      <a:pt x="183" y="6"/>
                      <a:pt x="183" y="14"/>
                      <a:pt x="178" y="16"/>
                    </a:cubicBezTo>
                    <a:cubicBezTo>
                      <a:pt x="176" y="16"/>
                      <a:pt x="174" y="17"/>
                      <a:pt x="173" y="17"/>
                    </a:cubicBezTo>
                    <a:cubicBezTo>
                      <a:pt x="170" y="20"/>
                      <a:pt x="168" y="23"/>
                      <a:pt x="167" y="26"/>
                    </a:cubicBezTo>
                    <a:cubicBezTo>
                      <a:pt x="166" y="27"/>
                      <a:pt x="166" y="33"/>
                      <a:pt x="166" y="35"/>
                    </a:cubicBezTo>
                    <a:cubicBezTo>
                      <a:pt x="167" y="37"/>
                      <a:pt x="167" y="37"/>
                      <a:pt x="167" y="38"/>
                    </a:cubicBezTo>
                    <a:cubicBezTo>
                      <a:pt x="168" y="39"/>
                      <a:pt x="170" y="41"/>
                      <a:pt x="170" y="42"/>
                    </a:cubicBezTo>
                    <a:cubicBezTo>
                      <a:pt x="171" y="44"/>
                      <a:pt x="170" y="47"/>
                      <a:pt x="168" y="50"/>
                    </a:cubicBezTo>
                    <a:cubicBezTo>
                      <a:pt x="166" y="53"/>
                      <a:pt x="159" y="53"/>
                      <a:pt x="159" y="53"/>
                    </a:cubicBezTo>
                    <a:lnTo>
                      <a:pt x="158" y="53"/>
                    </a:lnTo>
                    <a:lnTo>
                      <a:pt x="158" y="54"/>
                    </a:lnTo>
                    <a:cubicBezTo>
                      <a:pt x="157" y="60"/>
                      <a:pt x="154" y="60"/>
                      <a:pt x="151" y="60"/>
                    </a:cubicBezTo>
                    <a:cubicBezTo>
                      <a:pt x="151" y="60"/>
                      <a:pt x="149" y="60"/>
                      <a:pt x="147" y="60"/>
                    </a:cubicBezTo>
                    <a:lnTo>
                      <a:pt x="140" y="60"/>
                    </a:lnTo>
                    <a:cubicBezTo>
                      <a:pt x="138" y="60"/>
                      <a:pt x="136" y="60"/>
                      <a:pt x="134" y="60"/>
                    </a:cubicBezTo>
                    <a:cubicBezTo>
                      <a:pt x="131" y="62"/>
                      <a:pt x="130" y="66"/>
                      <a:pt x="127" y="70"/>
                    </a:cubicBezTo>
                    <a:cubicBezTo>
                      <a:pt x="126" y="74"/>
                      <a:pt x="122" y="75"/>
                      <a:pt x="118" y="75"/>
                    </a:cubicBezTo>
                    <a:lnTo>
                      <a:pt x="117" y="75"/>
                    </a:lnTo>
                    <a:cubicBezTo>
                      <a:pt x="115" y="75"/>
                      <a:pt x="114" y="75"/>
                      <a:pt x="110" y="75"/>
                    </a:cubicBezTo>
                    <a:cubicBezTo>
                      <a:pt x="110" y="81"/>
                      <a:pt x="106" y="82"/>
                      <a:pt x="103" y="82"/>
                    </a:cubicBezTo>
                    <a:lnTo>
                      <a:pt x="91" y="81"/>
                    </a:lnTo>
                    <a:cubicBezTo>
                      <a:pt x="90" y="81"/>
                      <a:pt x="89" y="81"/>
                      <a:pt x="87" y="81"/>
                    </a:cubicBezTo>
                    <a:cubicBezTo>
                      <a:pt x="85" y="81"/>
                      <a:pt x="84" y="81"/>
                      <a:pt x="82" y="81"/>
                    </a:cubicBezTo>
                    <a:cubicBezTo>
                      <a:pt x="81" y="81"/>
                      <a:pt x="80" y="81"/>
                      <a:pt x="80" y="81"/>
                    </a:cubicBezTo>
                    <a:cubicBezTo>
                      <a:pt x="80" y="81"/>
                      <a:pt x="80" y="82"/>
                      <a:pt x="80" y="83"/>
                    </a:cubicBezTo>
                    <a:cubicBezTo>
                      <a:pt x="80" y="87"/>
                      <a:pt x="77" y="88"/>
                      <a:pt x="74" y="88"/>
                    </a:cubicBezTo>
                    <a:lnTo>
                      <a:pt x="74" y="90"/>
                    </a:lnTo>
                    <a:cubicBezTo>
                      <a:pt x="72" y="91"/>
                      <a:pt x="72" y="94"/>
                      <a:pt x="72" y="97"/>
                    </a:cubicBezTo>
                    <a:cubicBezTo>
                      <a:pt x="70" y="99"/>
                      <a:pt x="70" y="102"/>
                      <a:pt x="70" y="103"/>
                    </a:cubicBezTo>
                    <a:cubicBezTo>
                      <a:pt x="69" y="107"/>
                      <a:pt x="66" y="112"/>
                      <a:pt x="59" y="112"/>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103" name="Freeform 102">
                <a:extLst>
                  <a:ext uri="{FF2B5EF4-FFF2-40B4-BE49-F238E27FC236}">
                    <a16:creationId xmlns:a16="http://schemas.microsoft.com/office/drawing/2014/main" id="{6374A87A-471D-4341-ACEA-D035612F569B}"/>
                  </a:ext>
                </a:extLst>
              </p:cNvPr>
              <p:cNvSpPr/>
              <p:nvPr/>
            </p:nvSpPr>
            <p:spPr>
              <a:xfrm>
                <a:off x="12670027" y="6496869"/>
                <a:ext cx="1677334" cy="3237180"/>
              </a:xfrm>
              <a:custGeom>
                <a:avLst/>
                <a:gdLst/>
                <a:ahLst/>
                <a:cxnLst>
                  <a:cxn ang="3cd4">
                    <a:pos x="hc" y="t"/>
                  </a:cxn>
                  <a:cxn ang="cd2">
                    <a:pos x="l" y="vc"/>
                  </a:cxn>
                  <a:cxn ang="cd4">
                    <a:pos x="hc" y="b"/>
                  </a:cxn>
                  <a:cxn ang="0">
                    <a:pos x="r" y="vc"/>
                  </a:cxn>
                </a:cxnLst>
                <a:rect l="l" t="t" r="r" b="b"/>
                <a:pathLst>
                  <a:path w="672" h="1296">
                    <a:moveTo>
                      <a:pt x="290" y="191"/>
                    </a:moveTo>
                    <a:cubicBezTo>
                      <a:pt x="290" y="191"/>
                      <a:pt x="292" y="191"/>
                      <a:pt x="296" y="193"/>
                    </a:cubicBezTo>
                    <a:cubicBezTo>
                      <a:pt x="296" y="191"/>
                      <a:pt x="295" y="191"/>
                      <a:pt x="295" y="190"/>
                    </a:cubicBezTo>
                    <a:lnTo>
                      <a:pt x="295" y="189"/>
                    </a:lnTo>
                    <a:cubicBezTo>
                      <a:pt x="293" y="186"/>
                      <a:pt x="293" y="184"/>
                      <a:pt x="292" y="182"/>
                    </a:cubicBezTo>
                    <a:cubicBezTo>
                      <a:pt x="290" y="181"/>
                      <a:pt x="288" y="179"/>
                      <a:pt x="286" y="179"/>
                    </a:cubicBezTo>
                    <a:cubicBezTo>
                      <a:pt x="284" y="178"/>
                      <a:pt x="281" y="177"/>
                      <a:pt x="280" y="177"/>
                    </a:cubicBezTo>
                    <a:cubicBezTo>
                      <a:pt x="278" y="175"/>
                      <a:pt x="277" y="173"/>
                      <a:pt x="275" y="173"/>
                    </a:cubicBezTo>
                    <a:cubicBezTo>
                      <a:pt x="274" y="170"/>
                      <a:pt x="272" y="170"/>
                      <a:pt x="271" y="170"/>
                    </a:cubicBezTo>
                    <a:lnTo>
                      <a:pt x="263" y="169"/>
                    </a:lnTo>
                    <a:lnTo>
                      <a:pt x="265" y="163"/>
                    </a:lnTo>
                    <a:cubicBezTo>
                      <a:pt x="265" y="163"/>
                      <a:pt x="263" y="161"/>
                      <a:pt x="260" y="161"/>
                    </a:cubicBezTo>
                    <a:lnTo>
                      <a:pt x="259" y="161"/>
                    </a:lnTo>
                    <a:lnTo>
                      <a:pt x="260" y="163"/>
                    </a:lnTo>
                    <a:cubicBezTo>
                      <a:pt x="263" y="170"/>
                      <a:pt x="267" y="173"/>
                      <a:pt x="271" y="175"/>
                    </a:cubicBezTo>
                    <a:lnTo>
                      <a:pt x="275" y="177"/>
                    </a:lnTo>
                    <a:lnTo>
                      <a:pt x="275" y="181"/>
                    </a:lnTo>
                    <a:cubicBezTo>
                      <a:pt x="274" y="182"/>
                      <a:pt x="274" y="182"/>
                      <a:pt x="274" y="182"/>
                    </a:cubicBezTo>
                    <a:cubicBezTo>
                      <a:pt x="275" y="182"/>
                      <a:pt x="275" y="184"/>
                      <a:pt x="280" y="184"/>
                    </a:cubicBezTo>
                    <a:cubicBezTo>
                      <a:pt x="281" y="184"/>
                      <a:pt x="281" y="184"/>
                      <a:pt x="283" y="184"/>
                    </a:cubicBezTo>
                    <a:cubicBezTo>
                      <a:pt x="284" y="184"/>
                      <a:pt x="284" y="184"/>
                      <a:pt x="286" y="184"/>
                    </a:cubicBezTo>
                    <a:lnTo>
                      <a:pt x="292" y="184"/>
                    </a:lnTo>
                    <a:lnTo>
                      <a:pt x="290" y="190"/>
                    </a:lnTo>
                    <a:close/>
                    <a:moveTo>
                      <a:pt x="340" y="1296"/>
                    </a:moveTo>
                    <a:cubicBezTo>
                      <a:pt x="339" y="1296"/>
                      <a:pt x="337" y="1296"/>
                      <a:pt x="336" y="1293"/>
                    </a:cubicBezTo>
                    <a:cubicBezTo>
                      <a:pt x="332" y="1290"/>
                      <a:pt x="332" y="1286"/>
                      <a:pt x="332" y="1281"/>
                    </a:cubicBezTo>
                    <a:cubicBezTo>
                      <a:pt x="332" y="1280"/>
                      <a:pt x="332" y="1280"/>
                      <a:pt x="330" y="1278"/>
                    </a:cubicBezTo>
                    <a:cubicBezTo>
                      <a:pt x="330" y="1274"/>
                      <a:pt x="328" y="1267"/>
                      <a:pt x="335" y="1263"/>
                    </a:cubicBezTo>
                    <a:cubicBezTo>
                      <a:pt x="336" y="1262"/>
                      <a:pt x="337" y="1260"/>
                      <a:pt x="340" y="1260"/>
                    </a:cubicBezTo>
                    <a:cubicBezTo>
                      <a:pt x="342" y="1259"/>
                      <a:pt x="345" y="1259"/>
                      <a:pt x="346" y="1258"/>
                    </a:cubicBezTo>
                    <a:cubicBezTo>
                      <a:pt x="349" y="1258"/>
                      <a:pt x="351" y="1256"/>
                      <a:pt x="353" y="1255"/>
                    </a:cubicBezTo>
                    <a:cubicBezTo>
                      <a:pt x="357" y="1253"/>
                      <a:pt x="360" y="1251"/>
                      <a:pt x="361" y="1248"/>
                    </a:cubicBezTo>
                    <a:cubicBezTo>
                      <a:pt x="363" y="1246"/>
                      <a:pt x="363" y="1239"/>
                      <a:pt x="361" y="1235"/>
                    </a:cubicBezTo>
                    <a:cubicBezTo>
                      <a:pt x="360" y="1230"/>
                      <a:pt x="358" y="1226"/>
                      <a:pt x="356" y="1223"/>
                    </a:cubicBezTo>
                    <a:cubicBezTo>
                      <a:pt x="353" y="1222"/>
                      <a:pt x="352" y="1220"/>
                      <a:pt x="351" y="1219"/>
                    </a:cubicBezTo>
                    <a:lnTo>
                      <a:pt x="348" y="1218"/>
                    </a:lnTo>
                    <a:lnTo>
                      <a:pt x="351" y="1146"/>
                    </a:lnTo>
                    <a:lnTo>
                      <a:pt x="357" y="1148"/>
                    </a:lnTo>
                    <a:cubicBezTo>
                      <a:pt x="357" y="1148"/>
                      <a:pt x="357" y="1149"/>
                      <a:pt x="358" y="1149"/>
                    </a:cubicBezTo>
                    <a:cubicBezTo>
                      <a:pt x="358" y="1148"/>
                      <a:pt x="360" y="1143"/>
                      <a:pt x="360" y="1134"/>
                    </a:cubicBezTo>
                    <a:cubicBezTo>
                      <a:pt x="360" y="1133"/>
                      <a:pt x="360" y="1132"/>
                      <a:pt x="360" y="1130"/>
                    </a:cubicBezTo>
                    <a:lnTo>
                      <a:pt x="360" y="1129"/>
                    </a:lnTo>
                    <a:lnTo>
                      <a:pt x="358" y="1129"/>
                    </a:lnTo>
                    <a:lnTo>
                      <a:pt x="357" y="1129"/>
                    </a:lnTo>
                    <a:cubicBezTo>
                      <a:pt x="353" y="1127"/>
                      <a:pt x="352" y="1125"/>
                      <a:pt x="352" y="1121"/>
                    </a:cubicBezTo>
                    <a:lnTo>
                      <a:pt x="352" y="1117"/>
                    </a:lnTo>
                    <a:cubicBezTo>
                      <a:pt x="352" y="1116"/>
                      <a:pt x="352" y="1116"/>
                      <a:pt x="352" y="1114"/>
                    </a:cubicBezTo>
                    <a:lnTo>
                      <a:pt x="352" y="1112"/>
                    </a:lnTo>
                    <a:cubicBezTo>
                      <a:pt x="351" y="1112"/>
                      <a:pt x="349" y="1112"/>
                      <a:pt x="349" y="1112"/>
                    </a:cubicBezTo>
                    <a:lnTo>
                      <a:pt x="345" y="1111"/>
                    </a:lnTo>
                    <a:lnTo>
                      <a:pt x="346" y="1039"/>
                    </a:lnTo>
                    <a:lnTo>
                      <a:pt x="353" y="1041"/>
                    </a:lnTo>
                    <a:cubicBezTo>
                      <a:pt x="353" y="1040"/>
                      <a:pt x="353" y="1040"/>
                      <a:pt x="353" y="1039"/>
                    </a:cubicBezTo>
                    <a:cubicBezTo>
                      <a:pt x="356" y="1036"/>
                      <a:pt x="356" y="1035"/>
                      <a:pt x="357" y="1034"/>
                    </a:cubicBezTo>
                    <a:cubicBezTo>
                      <a:pt x="358" y="1031"/>
                      <a:pt x="360" y="1029"/>
                      <a:pt x="360" y="1028"/>
                    </a:cubicBezTo>
                    <a:cubicBezTo>
                      <a:pt x="363" y="1027"/>
                      <a:pt x="363" y="1025"/>
                      <a:pt x="363" y="1023"/>
                    </a:cubicBezTo>
                    <a:lnTo>
                      <a:pt x="363" y="1016"/>
                    </a:lnTo>
                    <a:lnTo>
                      <a:pt x="370" y="1018"/>
                    </a:lnTo>
                    <a:cubicBezTo>
                      <a:pt x="370" y="1018"/>
                      <a:pt x="372" y="1018"/>
                      <a:pt x="372" y="1015"/>
                    </a:cubicBezTo>
                    <a:lnTo>
                      <a:pt x="372" y="986"/>
                    </a:lnTo>
                    <a:lnTo>
                      <a:pt x="379" y="988"/>
                    </a:lnTo>
                    <a:cubicBezTo>
                      <a:pt x="379" y="988"/>
                      <a:pt x="381" y="985"/>
                      <a:pt x="381" y="983"/>
                    </a:cubicBezTo>
                    <a:cubicBezTo>
                      <a:pt x="382" y="982"/>
                      <a:pt x="382" y="979"/>
                      <a:pt x="384" y="976"/>
                    </a:cubicBezTo>
                    <a:cubicBezTo>
                      <a:pt x="386" y="975"/>
                      <a:pt x="388" y="973"/>
                      <a:pt x="389" y="970"/>
                    </a:cubicBezTo>
                    <a:cubicBezTo>
                      <a:pt x="392" y="969"/>
                      <a:pt x="395" y="966"/>
                      <a:pt x="395" y="963"/>
                    </a:cubicBezTo>
                    <a:cubicBezTo>
                      <a:pt x="397" y="961"/>
                      <a:pt x="397" y="958"/>
                      <a:pt x="401" y="958"/>
                    </a:cubicBezTo>
                    <a:cubicBezTo>
                      <a:pt x="401" y="957"/>
                      <a:pt x="400" y="957"/>
                      <a:pt x="398" y="955"/>
                    </a:cubicBezTo>
                    <a:cubicBezTo>
                      <a:pt x="397" y="954"/>
                      <a:pt x="395" y="953"/>
                      <a:pt x="392" y="953"/>
                    </a:cubicBezTo>
                    <a:lnTo>
                      <a:pt x="389" y="951"/>
                    </a:lnTo>
                    <a:lnTo>
                      <a:pt x="389" y="926"/>
                    </a:lnTo>
                    <a:lnTo>
                      <a:pt x="397" y="927"/>
                    </a:lnTo>
                    <a:cubicBezTo>
                      <a:pt x="398" y="926"/>
                      <a:pt x="398" y="917"/>
                      <a:pt x="398" y="914"/>
                    </a:cubicBezTo>
                    <a:cubicBezTo>
                      <a:pt x="398" y="913"/>
                      <a:pt x="398" y="913"/>
                      <a:pt x="398" y="911"/>
                    </a:cubicBezTo>
                    <a:lnTo>
                      <a:pt x="398" y="893"/>
                    </a:lnTo>
                    <a:lnTo>
                      <a:pt x="400" y="892"/>
                    </a:lnTo>
                    <a:lnTo>
                      <a:pt x="398" y="892"/>
                    </a:lnTo>
                    <a:cubicBezTo>
                      <a:pt x="398" y="890"/>
                      <a:pt x="397" y="890"/>
                      <a:pt x="395" y="890"/>
                    </a:cubicBezTo>
                    <a:lnTo>
                      <a:pt x="391" y="890"/>
                    </a:lnTo>
                    <a:lnTo>
                      <a:pt x="392" y="881"/>
                    </a:lnTo>
                    <a:cubicBezTo>
                      <a:pt x="392" y="878"/>
                      <a:pt x="392" y="877"/>
                      <a:pt x="392" y="876"/>
                    </a:cubicBezTo>
                    <a:lnTo>
                      <a:pt x="392" y="872"/>
                    </a:lnTo>
                    <a:cubicBezTo>
                      <a:pt x="394" y="871"/>
                      <a:pt x="394" y="869"/>
                      <a:pt x="392" y="868"/>
                    </a:cubicBezTo>
                    <a:cubicBezTo>
                      <a:pt x="392" y="866"/>
                      <a:pt x="389" y="865"/>
                      <a:pt x="388" y="864"/>
                    </a:cubicBezTo>
                    <a:cubicBezTo>
                      <a:pt x="386" y="862"/>
                      <a:pt x="385" y="861"/>
                      <a:pt x="384" y="861"/>
                    </a:cubicBezTo>
                    <a:cubicBezTo>
                      <a:pt x="381" y="857"/>
                      <a:pt x="379" y="855"/>
                      <a:pt x="377" y="852"/>
                    </a:cubicBezTo>
                    <a:cubicBezTo>
                      <a:pt x="377" y="849"/>
                      <a:pt x="377" y="848"/>
                      <a:pt x="377" y="844"/>
                    </a:cubicBezTo>
                    <a:cubicBezTo>
                      <a:pt x="377" y="843"/>
                      <a:pt x="379" y="841"/>
                      <a:pt x="377" y="840"/>
                    </a:cubicBezTo>
                    <a:cubicBezTo>
                      <a:pt x="376" y="837"/>
                      <a:pt x="374" y="832"/>
                      <a:pt x="373" y="828"/>
                    </a:cubicBezTo>
                    <a:cubicBezTo>
                      <a:pt x="372" y="825"/>
                      <a:pt x="372" y="824"/>
                      <a:pt x="370" y="820"/>
                    </a:cubicBezTo>
                    <a:cubicBezTo>
                      <a:pt x="369" y="817"/>
                      <a:pt x="367" y="816"/>
                      <a:pt x="365" y="815"/>
                    </a:cubicBezTo>
                    <a:cubicBezTo>
                      <a:pt x="364" y="813"/>
                      <a:pt x="363" y="813"/>
                      <a:pt x="363" y="813"/>
                    </a:cubicBezTo>
                    <a:cubicBezTo>
                      <a:pt x="357" y="812"/>
                      <a:pt x="356" y="808"/>
                      <a:pt x="357" y="804"/>
                    </a:cubicBezTo>
                    <a:lnTo>
                      <a:pt x="357" y="803"/>
                    </a:lnTo>
                    <a:cubicBezTo>
                      <a:pt x="357" y="803"/>
                      <a:pt x="357" y="801"/>
                      <a:pt x="357" y="800"/>
                    </a:cubicBezTo>
                    <a:cubicBezTo>
                      <a:pt x="357" y="800"/>
                      <a:pt x="357" y="799"/>
                      <a:pt x="357" y="797"/>
                    </a:cubicBezTo>
                    <a:cubicBezTo>
                      <a:pt x="356" y="797"/>
                      <a:pt x="356" y="797"/>
                      <a:pt x="353" y="797"/>
                    </a:cubicBezTo>
                    <a:lnTo>
                      <a:pt x="349" y="795"/>
                    </a:lnTo>
                    <a:lnTo>
                      <a:pt x="349" y="791"/>
                    </a:lnTo>
                    <a:lnTo>
                      <a:pt x="349" y="778"/>
                    </a:lnTo>
                    <a:lnTo>
                      <a:pt x="356" y="779"/>
                    </a:lnTo>
                    <a:cubicBezTo>
                      <a:pt x="357" y="779"/>
                      <a:pt x="357" y="779"/>
                      <a:pt x="357" y="779"/>
                    </a:cubicBezTo>
                    <a:cubicBezTo>
                      <a:pt x="357" y="779"/>
                      <a:pt x="357" y="776"/>
                      <a:pt x="358" y="775"/>
                    </a:cubicBezTo>
                    <a:cubicBezTo>
                      <a:pt x="358" y="773"/>
                      <a:pt x="358" y="770"/>
                      <a:pt x="360" y="768"/>
                    </a:cubicBezTo>
                    <a:lnTo>
                      <a:pt x="363" y="764"/>
                    </a:lnTo>
                    <a:cubicBezTo>
                      <a:pt x="364" y="762"/>
                      <a:pt x="365" y="757"/>
                      <a:pt x="367" y="754"/>
                    </a:cubicBezTo>
                    <a:cubicBezTo>
                      <a:pt x="367" y="745"/>
                      <a:pt x="363" y="739"/>
                      <a:pt x="360" y="735"/>
                    </a:cubicBezTo>
                    <a:cubicBezTo>
                      <a:pt x="357" y="734"/>
                      <a:pt x="353" y="730"/>
                      <a:pt x="352" y="729"/>
                    </a:cubicBezTo>
                    <a:cubicBezTo>
                      <a:pt x="348" y="727"/>
                      <a:pt x="346" y="727"/>
                      <a:pt x="340" y="727"/>
                    </a:cubicBezTo>
                    <a:lnTo>
                      <a:pt x="335" y="726"/>
                    </a:lnTo>
                    <a:lnTo>
                      <a:pt x="336" y="720"/>
                    </a:lnTo>
                    <a:cubicBezTo>
                      <a:pt x="336" y="720"/>
                      <a:pt x="335" y="718"/>
                      <a:pt x="328" y="718"/>
                    </a:cubicBezTo>
                    <a:cubicBezTo>
                      <a:pt x="327" y="718"/>
                      <a:pt x="324" y="718"/>
                      <a:pt x="323" y="718"/>
                    </a:cubicBezTo>
                    <a:cubicBezTo>
                      <a:pt x="321" y="718"/>
                      <a:pt x="320" y="718"/>
                      <a:pt x="318" y="718"/>
                    </a:cubicBezTo>
                    <a:lnTo>
                      <a:pt x="312" y="718"/>
                    </a:lnTo>
                    <a:lnTo>
                      <a:pt x="314" y="713"/>
                    </a:lnTo>
                    <a:cubicBezTo>
                      <a:pt x="314" y="711"/>
                      <a:pt x="314" y="711"/>
                      <a:pt x="314" y="711"/>
                    </a:cubicBezTo>
                    <a:cubicBezTo>
                      <a:pt x="312" y="711"/>
                      <a:pt x="311" y="710"/>
                      <a:pt x="308" y="710"/>
                    </a:cubicBezTo>
                    <a:lnTo>
                      <a:pt x="305" y="710"/>
                    </a:lnTo>
                    <a:cubicBezTo>
                      <a:pt x="300" y="710"/>
                      <a:pt x="299" y="706"/>
                      <a:pt x="297" y="703"/>
                    </a:cubicBezTo>
                    <a:cubicBezTo>
                      <a:pt x="296" y="699"/>
                      <a:pt x="290" y="694"/>
                      <a:pt x="284" y="693"/>
                    </a:cubicBezTo>
                    <a:lnTo>
                      <a:pt x="268" y="693"/>
                    </a:lnTo>
                    <a:cubicBezTo>
                      <a:pt x="267" y="693"/>
                      <a:pt x="265" y="693"/>
                      <a:pt x="265" y="693"/>
                    </a:cubicBezTo>
                    <a:cubicBezTo>
                      <a:pt x="263" y="693"/>
                      <a:pt x="263" y="693"/>
                      <a:pt x="262" y="693"/>
                    </a:cubicBezTo>
                    <a:cubicBezTo>
                      <a:pt x="259" y="693"/>
                      <a:pt x="256" y="693"/>
                      <a:pt x="255" y="693"/>
                    </a:cubicBezTo>
                    <a:cubicBezTo>
                      <a:pt x="253" y="694"/>
                      <a:pt x="251" y="698"/>
                      <a:pt x="249" y="701"/>
                    </a:cubicBezTo>
                    <a:cubicBezTo>
                      <a:pt x="247" y="703"/>
                      <a:pt x="247" y="705"/>
                      <a:pt x="247" y="711"/>
                    </a:cubicBezTo>
                    <a:lnTo>
                      <a:pt x="247" y="717"/>
                    </a:lnTo>
                    <a:lnTo>
                      <a:pt x="239" y="715"/>
                    </a:lnTo>
                    <a:lnTo>
                      <a:pt x="238" y="717"/>
                    </a:lnTo>
                    <a:cubicBezTo>
                      <a:pt x="238" y="720"/>
                      <a:pt x="237" y="723"/>
                      <a:pt x="230" y="723"/>
                    </a:cubicBezTo>
                    <a:cubicBezTo>
                      <a:pt x="228" y="723"/>
                      <a:pt x="226" y="723"/>
                      <a:pt x="225" y="723"/>
                    </a:cubicBezTo>
                    <a:cubicBezTo>
                      <a:pt x="222" y="722"/>
                      <a:pt x="221" y="722"/>
                      <a:pt x="219" y="722"/>
                    </a:cubicBezTo>
                    <a:lnTo>
                      <a:pt x="218" y="722"/>
                    </a:lnTo>
                    <a:cubicBezTo>
                      <a:pt x="213" y="722"/>
                      <a:pt x="209" y="722"/>
                      <a:pt x="204" y="718"/>
                    </a:cubicBezTo>
                    <a:cubicBezTo>
                      <a:pt x="203" y="717"/>
                      <a:pt x="200" y="715"/>
                      <a:pt x="200" y="714"/>
                    </a:cubicBezTo>
                    <a:cubicBezTo>
                      <a:pt x="198" y="714"/>
                      <a:pt x="198" y="714"/>
                      <a:pt x="197" y="714"/>
                    </a:cubicBezTo>
                    <a:lnTo>
                      <a:pt x="195" y="714"/>
                    </a:lnTo>
                    <a:lnTo>
                      <a:pt x="189" y="714"/>
                    </a:lnTo>
                    <a:cubicBezTo>
                      <a:pt x="185" y="713"/>
                      <a:pt x="183" y="710"/>
                      <a:pt x="183" y="708"/>
                    </a:cubicBezTo>
                    <a:cubicBezTo>
                      <a:pt x="182" y="708"/>
                      <a:pt x="182" y="708"/>
                      <a:pt x="182" y="708"/>
                    </a:cubicBezTo>
                    <a:cubicBezTo>
                      <a:pt x="181" y="706"/>
                      <a:pt x="178" y="705"/>
                      <a:pt x="176" y="705"/>
                    </a:cubicBezTo>
                    <a:cubicBezTo>
                      <a:pt x="173" y="705"/>
                      <a:pt x="172" y="705"/>
                      <a:pt x="170" y="706"/>
                    </a:cubicBezTo>
                    <a:lnTo>
                      <a:pt x="170" y="708"/>
                    </a:lnTo>
                    <a:lnTo>
                      <a:pt x="170" y="713"/>
                    </a:lnTo>
                    <a:lnTo>
                      <a:pt x="162" y="713"/>
                    </a:lnTo>
                    <a:cubicBezTo>
                      <a:pt x="160" y="713"/>
                      <a:pt x="158" y="713"/>
                      <a:pt x="155" y="711"/>
                    </a:cubicBezTo>
                    <a:cubicBezTo>
                      <a:pt x="155" y="711"/>
                      <a:pt x="154" y="713"/>
                      <a:pt x="154" y="715"/>
                    </a:cubicBezTo>
                    <a:lnTo>
                      <a:pt x="154" y="720"/>
                    </a:lnTo>
                    <a:lnTo>
                      <a:pt x="144" y="720"/>
                    </a:lnTo>
                    <a:cubicBezTo>
                      <a:pt x="142" y="718"/>
                      <a:pt x="137" y="718"/>
                      <a:pt x="136" y="714"/>
                    </a:cubicBezTo>
                    <a:lnTo>
                      <a:pt x="136" y="713"/>
                    </a:lnTo>
                    <a:cubicBezTo>
                      <a:pt x="136" y="711"/>
                      <a:pt x="134" y="710"/>
                      <a:pt x="133" y="710"/>
                    </a:cubicBezTo>
                    <a:cubicBezTo>
                      <a:pt x="132" y="706"/>
                      <a:pt x="127" y="703"/>
                      <a:pt x="124" y="702"/>
                    </a:cubicBezTo>
                    <a:cubicBezTo>
                      <a:pt x="118" y="701"/>
                      <a:pt x="114" y="696"/>
                      <a:pt x="111" y="690"/>
                    </a:cubicBezTo>
                    <a:lnTo>
                      <a:pt x="109" y="690"/>
                    </a:lnTo>
                    <a:cubicBezTo>
                      <a:pt x="108" y="687"/>
                      <a:pt x="106" y="685"/>
                      <a:pt x="106" y="680"/>
                    </a:cubicBezTo>
                    <a:cubicBezTo>
                      <a:pt x="106" y="680"/>
                      <a:pt x="105" y="680"/>
                      <a:pt x="104" y="680"/>
                    </a:cubicBezTo>
                    <a:cubicBezTo>
                      <a:pt x="102" y="680"/>
                      <a:pt x="100" y="680"/>
                      <a:pt x="100" y="680"/>
                    </a:cubicBezTo>
                    <a:cubicBezTo>
                      <a:pt x="93" y="678"/>
                      <a:pt x="92" y="675"/>
                      <a:pt x="92" y="674"/>
                    </a:cubicBezTo>
                    <a:cubicBezTo>
                      <a:pt x="92" y="674"/>
                      <a:pt x="90" y="671"/>
                      <a:pt x="79" y="671"/>
                    </a:cubicBezTo>
                    <a:lnTo>
                      <a:pt x="74" y="671"/>
                    </a:lnTo>
                    <a:lnTo>
                      <a:pt x="68" y="670"/>
                    </a:lnTo>
                    <a:lnTo>
                      <a:pt x="69" y="664"/>
                    </a:lnTo>
                    <a:cubicBezTo>
                      <a:pt x="68" y="664"/>
                      <a:pt x="67" y="662"/>
                      <a:pt x="65" y="662"/>
                    </a:cubicBezTo>
                    <a:cubicBezTo>
                      <a:pt x="65" y="662"/>
                      <a:pt x="64" y="662"/>
                      <a:pt x="62" y="662"/>
                    </a:cubicBezTo>
                    <a:cubicBezTo>
                      <a:pt x="52" y="659"/>
                      <a:pt x="53" y="647"/>
                      <a:pt x="55" y="641"/>
                    </a:cubicBezTo>
                    <a:lnTo>
                      <a:pt x="55" y="640"/>
                    </a:lnTo>
                    <a:cubicBezTo>
                      <a:pt x="56" y="628"/>
                      <a:pt x="53" y="619"/>
                      <a:pt x="46" y="613"/>
                    </a:cubicBezTo>
                    <a:cubicBezTo>
                      <a:pt x="43" y="610"/>
                      <a:pt x="40" y="608"/>
                      <a:pt x="35" y="604"/>
                    </a:cubicBezTo>
                    <a:lnTo>
                      <a:pt x="34" y="603"/>
                    </a:lnTo>
                    <a:cubicBezTo>
                      <a:pt x="32" y="601"/>
                      <a:pt x="31" y="600"/>
                      <a:pt x="28" y="598"/>
                    </a:cubicBezTo>
                    <a:cubicBezTo>
                      <a:pt x="25" y="597"/>
                      <a:pt x="25" y="594"/>
                      <a:pt x="23" y="589"/>
                    </a:cubicBezTo>
                    <a:lnTo>
                      <a:pt x="22" y="588"/>
                    </a:lnTo>
                    <a:cubicBezTo>
                      <a:pt x="20" y="584"/>
                      <a:pt x="19" y="582"/>
                      <a:pt x="18" y="579"/>
                    </a:cubicBezTo>
                    <a:cubicBezTo>
                      <a:pt x="16" y="577"/>
                      <a:pt x="15" y="576"/>
                      <a:pt x="13" y="575"/>
                    </a:cubicBezTo>
                    <a:cubicBezTo>
                      <a:pt x="10" y="572"/>
                      <a:pt x="11" y="569"/>
                      <a:pt x="11" y="567"/>
                    </a:cubicBezTo>
                    <a:cubicBezTo>
                      <a:pt x="11" y="566"/>
                      <a:pt x="11" y="564"/>
                      <a:pt x="11" y="564"/>
                    </a:cubicBezTo>
                    <a:cubicBezTo>
                      <a:pt x="11" y="563"/>
                      <a:pt x="11" y="561"/>
                      <a:pt x="11" y="561"/>
                    </a:cubicBezTo>
                    <a:cubicBezTo>
                      <a:pt x="11" y="560"/>
                      <a:pt x="10" y="560"/>
                      <a:pt x="9" y="560"/>
                    </a:cubicBezTo>
                    <a:lnTo>
                      <a:pt x="2" y="559"/>
                    </a:lnTo>
                    <a:lnTo>
                      <a:pt x="4" y="552"/>
                    </a:lnTo>
                    <a:cubicBezTo>
                      <a:pt x="7" y="548"/>
                      <a:pt x="10" y="545"/>
                      <a:pt x="11" y="542"/>
                    </a:cubicBezTo>
                    <a:cubicBezTo>
                      <a:pt x="13" y="540"/>
                      <a:pt x="15" y="538"/>
                      <a:pt x="16" y="536"/>
                    </a:cubicBezTo>
                    <a:cubicBezTo>
                      <a:pt x="20" y="532"/>
                      <a:pt x="22" y="526"/>
                      <a:pt x="22" y="520"/>
                    </a:cubicBezTo>
                    <a:cubicBezTo>
                      <a:pt x="22" y="519"/>
                      <a:pt x="22" y="517"/>
                      <a:pt x="22" y="515"/>
                    </a:cubicBezTo>
                    <a:cubicBezTo>
                      <a:pt x="22" y="512"/>
                      <a:pt x="20" y="510"/>
                      <a:pt x="22" y="507"/>
                    </a:cubicBezTo>
                    <a:cubicBezTo>
                      <a:pt x="20" y="507"/>
                      <a:pt x="20" y="507"/>
                      <a:pt x="20" y="507"/>
                    </a:cubicBezTo>
                    <a:cubicBezTo>
                      <a:pt x="15" y="507"/>
                      <a:pt x="13" y="502"/>
                      <a:pt x="13" y="499"/>
                    </a:cubicBezTo>
                    <a:cubicBezTo>
                      <a:pt x="13" y="498"/>
                      <a:pt x="15" y="498"/>
                      <a:pt x="15" y="496"/>
                    </a:cubicBezTo>
                    <a:cubicBezTo>
                      <a:pt x="15" y="495"/>
                      <a:pt x="15" y="494"/>
                      <a:pt x="15" y="492"/>
                    </a:cubicBezTo>
                    <a:lnTo>
                      <a:pt x="13" y="492"/>
                    </a:lnTo>
                    <a:cubicBezTo>
                      <a:pt x="9" y="490"/>
                      <a:pt x="7" y="489"/>
                      <a:pt x="7" y="484"/>
                    </a:cubicBezTo>
                    <a:lnTo>
                      <a:pt x="6" y="483"/>
                    </a:lnTo>
                    <a:cubicBezTo>
                      <a:pt x="6" y="482"/>
                      <a:pt x="4" y="480"/>
                      <a:pt x="4" y="480"/>
                    </a:cubicBezTo>
                    <a:cubicBezTo>
                      <a:pt x="2" y="477"/>
                      <a:pt x="0" y="473"/>
                      <a:pt x="0" y="468"/>
                    </a:cubicBezTo>
                    <a:lnTo>
                      <a:pt x="0" y="450"/>
                    </a:lnTo>
                    <a:lnTo>
                      <a:pt x="4" y="450"/>
                    </a:lnTo>
                    <a:cubicBezTo>
                      <a:pt x="6" y="449"/>
                      <a:pt x="7" y="449"/>
                      <a:pt x="9" y="447"/>
                    </a:cubicBezTo>
                    <a:cubicBezTo>
                      <a:pt x="11" y="446"/>
                      <a:pt x="15" y="443"/>
                      <a:pt x="15" y="440"/>
                    </a:cubicBezTo>
                    <a:cubicBezTo>
                      <a:pt x="16" y="438"/>
                      <a:pt x="16" y="435"/>
                      <a:pt x="16" y="433"/>
                    </a:cubicBezTo>
                    <a:lnTo>
                      <a:pt x="16" y="428"/>
                    </a:lnTo>
                    <a:lnTo>
                      <a:pt x="20" y="426"/>
                    </a:lnTo>
                    <a:cubicBezTo>
                      <a:pt x="22" y="426"/>
                      <a:pt x="25" y="426"/>
                      <a:pt x="27" y="425"/>
                    </a:cubicBezTo>
                    <a:cubicBezTo>
                      <a:pt x="30" y="422"/>
                      <a:pt x="32" y="418"/>
                      <a:pt x="32" y="414"/>
                    </a:cubicBezTo>
                    <a:lnTo>
                      <a:pt x="32" y="397"/>
                    </a:lnTo>
                    <a:lnTo>
                      <a:pt x="39" y="397"/>
                    </a:lnTo>
                    <a:cubicBezTo>
                      <a:pt x="40" y="396"/>
                      <a:pt x="40" y="394"/>
                      <a:pt x="40" y="391"/>
                    </a:cubicBezTo>
                    <a:cubicBezTo>
                      <a:pt x="40" y="389"/>
                      <a:pt x="41" y="388"/>
                      <a:pt x="41" y="387"/>
                    </a:cubicBezTo>
                    <a:cubicBezTo>
                      <a:pt x="41" y="380"/>
                      <a:pt x="44" y="372"/>
                      <a:pt x="47" y="366"/>
                    </a:cubicBezTo>
                    <a:cubicBezTo>
                      <a:pt x="48" y="364"/>
                      <a:pt x="48" y="363"/>
                      <a:pt x="51" y="363"/>
                    </a:cubicBezTo>
                    <a:cubicBezTo>
                      <a:pt x="52" y="360"/>
                      <a:pt x="55" y="359"/>
                      <a:pt x="56" y="360"/>
                    </a:cubicBezTo>
                    <a:lnTo>
                      <a:pt x="58" y="360"/>
                    </a:lnTo>
                    <a:lnTo>
                      <a:pt x="59" y="360"/>
                    </a:lnTo>
                    <a:cubicBezTo>
                      <a:pt x="60" y="360"/>
                      <a:pt x="62" y="360"/>
                      <a:pt x="64" y="359"/>
                    </a:cubicBezTo>
                    <a:cubicBezTo>
                      <a:pt x="65" y="359"/>
                      <a:pt x="65" y="357"/>
                      <a:pt x="65" y="357"/>
                    </a:cubicBezTo>
                    <a:cubicBezTo>
                      <a:pt x="67" y="356"/>
                      <a:pt x="68" y="353"/>
                      <a:pt x="72" y="353"/>
                    </a:cubicBezTo>
                    <a:cubicBezTo>
                      <a:pt x="74" y="353"/>
                      <a:pt x="75" y="353"/>
                      <a:pt x="77" y="353"/>
                    </a:cubicBezTo>
                    <a:cubicBezTo>
                      <a:pt x="77" y="354"/>
                      <a:pt x="77" y="354"/>
                      <a:pt x="79" y="354"/>
                    </a:cubicBezTo>
                    <a:cubicBezTo>
                      <a:pt x="79" y="354"/>
                      <a:pt x="80" y="354"/>
                      <a:pt x="81" y="354"/>
                    </a:cubicBezTo>
                    <a:cubicBezTo>
                      <a:pt x="83" y="354"/>
                      <a:pt x="86" y="354"/>
                      <a:pt x="87" y="353"/>
                    </a:cubicBezTo>
                    <a:cubicBezTo>
                      <a:pt x="90" y="351"/>
                      <a:pt x="92" y="345"/>
                      <a:pt x="90" y="336"/>
                    </a:cubicBezTo>
                    <a:lnTo>
                      <a:pt x="89" y="331"/>
                    </a:lnTo>
                    <a:lnTo>
                      <a:pt x="95" y="331"/>
                    </a:lnTo>
                    <a:cubicBezTo>
                      <a:pt x="96" y="331"/>
                      <a:pt x="96" y="326"/>
                      <a:pt x="97" y="320"/>
                    </a:cubicBezTo>
                    <a:lnTo>
                      <a:pt x="97" y="319"/>
                    </a:lnTo>
                    <a:cubicBezTo>
                      <a:pt x="97" y="312"/>
                      <a:pt x="97" y="303"/>
                      <a:pt x="106" y="299"/>
                    </a:cubicBezTo>
                    <a:cubicBezTo>
                      <a:pt x="106" y="299"/>
                      <a:pt x="108" y="299"/>
                      <a:pt x="109" y="299"/>
                    </a:cubicBezTo>
                    <a:cubicBezTo>
                      <a:pt x="109" y="299"/>
                      <a:pt x="111" y="299"/>
                      <a:pt x="112" y="299"/>
                    </a:cubicBezTo>
                    <a:cubicBezTo>
                      <a:pt x="112" y="299"/>
                      <a:pt x="112" y="300"/>
                      <a:pt x="114" y="300"/>
                    </a:cubicBezTo>
                    <a:cubicBezTo>
                      <a:pt x="114" y="299"/>
                      <a:pt x="114" y="299"/>
                      <a:pt x="114" y="299"/>
                    </a:cubicBezTo>
                    <a:cubicBezTo>
                      <a:pt x="114" y="295"/>
                      <a:pt x="117" y="292"/>
                      <a:pt x="121" y="292"/>
                    </a:cubicBezTo>
                    <a:cubicBezTo>
                      <a:pt x="129" y="293"/>
                      <a:pt x="132" y="291"/>
                      <a:pt x="136" y="284"/>
                    </a:cubicBezTo>
                    <a:cubicBezTo>
                      <a:pt x="137" y="283"/>
                      <a:pt x="137" y="282"/>
                      <a:pt x="137" y="282"/>
                    </a:cubicBezTo>
                    <a:cubicBezTo>
                      <a:pt x="137" y="280"/>
                      <a:pt x="139" y="277"/>
                      <a:pt x="139" y="275"/>
                    </a:cubicBezTo>
                    <a:cubicBezTo>
                      <a:pt x="142" y="270"/>
                      <a:pt x="146" y="270"/>
                      <a:pt x="148" y="271"/>
                    </a:cubicBezTo>
                    <a:lnTo>
                      <a:pt x="149" y="275"/>
                    </a:lnTo>
                    <a:lnTo>
                      <a:pt x="149" y="271"/>
                    </a:lnTo>
                    <a:cubicBezTo>
                      <a:pt x="153" y="270"/>
                      <a:pt x="154" y="270"/>
                      <a:pt x="157" y="270"/>
                    </a:cubicBezTo>
                    <a:cubicBezTo>
                      <a:pt x="160" y="270"/>
                      <a:pt x="162" y="270"/>
                      <a:pt x="166" y="271"/>
                    </a:cubicBezTo>
                    <a:lnTo>
                      <a:pt x="170" y="271"/>
                    </a:lnTo>
                    <a:cubicBezTo>
                      <a:pt x="172" y="272"/>
                      <a:pt x="174" y="272"/>
                      <a:pt x="178" y="272"/>
                    </a:cubicBezTo>
                    <a:cubicBezTo>
                      <a:pt x="182" y="272"/>
                      <a:pt x="183" y="272"/>
                      <a:pt x="183" y="271"/>
                    </a:cubicBezTo>
                    <a:cubicBezTo>
                      <a:pt x="185" y="271"/>
                      <a:pt x="185" y="270"/>
                      <a:pt x="185" y="270"/>
                    </a:cubicBezTo>
                    <a:lnTo>
                      <a:pt x="183" y="264"/>
                    </a:lnTo>
                    <a:lnTo>
                      <a:pt x="189" y="264"/>
                    </a:lnTo>
                    <a:cubicBezTo>
                      <a:pt x="191" y="264"/>
                      <a:pt x="191" y="264"/>
                      <a:pt x="193" y="264"/>
                    </a:cubicBezTo>
                    <a:cubicBezTo>
                      <a:pt x="193" y="265"/>
                      <a:pt x="194" y="265"/>
                      <a:pt x="194" y="265"/>
                    </a:cubicBezTo>
                    <a:cubicBezTo>
                      <a:pt x="198" y="265"/>
                      <a:pt x="200" y="264"/>
                      <a:pt x="200" y="264"/>
                    </a:cubicBezTo>
                    <a:lnTo>
                      <a:pt x="198" y="256"/>
                    </a:lnTo>
                    <a:lnTo>
                      <a:pt x="206" y="258"/>
                    </a:lnTo>
                    <a:cubicBezTo>
                      <a:pt x="207" y="258"/>
                      <a:pt x="210" y="258"/>
                      <a:pt x="213" y="258"/>
                    </a:cubicBezTo>
                    <a:cubicBezTo>
                      <a:pt x="216" y="258"/>
                      <a:pt x="219" y="258"/>
                      <a:pt x="221" y="258"/>
                    </a:cubicBezTo>
                    <a:cubicBezTo>
                      <a:pt x="226" y="258"/>
                      <a:pt x="232" y="258"/>
                      <a:pt x="239" y="261"/>
                    </a:cubicBezTo>
                    <a:cubicBezTo>
                      <a:pt x="243" y="261"/>
                      <a:pt x="246" y="262"/>
                      <a:pt x="249" y="264"/>
                    </a:cubicBezTo>
                    <a:cubicBezTo>
                      <a:pt x="251" y="267"/>
                      <a:pt x="255" y="268"/>
                      <a:pt x="258" y="268"/>
                    </a:cubicBezTo>
                    <a:lnTo>
                      <a:pt x="259" y="268"/>
                    </a:lnTo>
                    <a:cubicBezTo>
                      <a:pt x="262" y="268"/>
                      <a:pt x="263" y="265"/>
                      <a:pt x="267" y="262"/>
                    </a:cubicBezTo>
                    <a:cubicBezTo>
                      <a:pt x="270" y="258"/>
                      <a:pt x="274" y="252"/>
                      <a:pt x="283" y="252"/>
                    </a:cubicBezTo>
                    <a:lnTo>
                      <a:pt x="288" y="254"/>
                    </a:lnTo>
                    <a:lnTo>
                      <a:pt x="287" y="259"/>
                    </a:lnTo>
                    <a:cubicBezTo>
                      <a:pt x="287" y="261"/>
                      <a:pt x="290" y="261"/>
                      <a:pt x="292" y="261"/>
                    </a:cubicBezTo>
                    <a:cubicBezTo>
                      <a:pt x="295" y="261"/>
                      <a:pt x="299" y="262"/>
                      <a:pt x="302" y="267"/>
                    </a:cubicBezTo>
                    <a:cubicBezTo>
                      <a:pt x="303" y="270"/>
                      <a:pt x="302" y="272"/>
                      <a:pt x="302" y="274"/>
                    </a:cubicBezTo>
                    <a:cubicBezTo>
                      <a:pt x="302" y="275"/>
                      <a:pt x="302" y="275"/>
                      <a:pt x="302" y="275"/>
                    </a:cubicBezTo>
                    <a:cubicBezTo>
                      <a:pt x="303" y="275"/>
                      <a:pt x="303" y="277"/>
                      <a:pt x="305" y="277"/>
                    </a:cubicBezTo>
                    <a:lnTo>
                      <a:pt x="309" y="277"/>
                    </a:lnTo>
                    <a:lnTo>
                      <a:pt x="309" y="287"/>
                    </a:lnTo>
                    <a:cubicBezTo>
                      <a:pt x="309" y="289"/>
                      <a:pt x="309" y="289"/>
                      <a:pt x="309" y="291"/>
                    </a:cubicBezTo>
                    <a:lnTo>
                      <a:pt x="309" y="292"/>
                    </a:lnTo>
                    <a:cubicBezTo>
                      <a:pt x="309" y="292"/>
                      <a:pt x="311" y="292"/>
                      <a:pt x="312" y="292"/>
                    </a:cubicBezTo>
                    <a:lnTo>
                      <a:pt x="318" y="293"/>
                    </a:lnTo>
                    <a:lnTo>
                      <a:pt x="316" y="299"/>
                    </a:lnTo>
                    <a:cubicBezTo>
                      <a:pt x="315" y="303"/>
                      <a:pt x="315" y="305"/>
                      <a:pt x="315" y="307"/>
                    </a:cubicBezTo>
                    <a:cubicBezTo>
                      <a:pt x="316" y="308"/>
                      <a:pt x="318" y="308"/>
                      <a:pt x="320" y="308"/>
                    </a:cubicBezTo>
                    <a:cubicBezTo>
                      <a:pt x="320" y="308"/>
                      <a:pt x="321" y="308"/>
                      <a:pt x="323" y="308"/>
                    </a:cubicBezTo>
                    <a:cubicBezTo>
                      <a:pt x="324" y="308"/>
                      <a:pt x="327" y="308"/>
                      <a:pt x="328" y="308"/>
                    </a:cubicBezTo>
                    <a:cubicBezTo>
                      <a:pt x="332" y="308"/>
                      <a:pt x="335" y="308"/>
                      <a:pt x="337" y="308"/>
                    </a:cubicBezTo>
                    <a:cubicBezTo>
                      <a:pt x="339" y="308"/>
                      <a:pt x="340" y="308"/>
                      <a:pt x="342" y="308"/>
                    </a:cubicBezTo>
                    <a:lnTo>
                      <a:pt x="348" y="310"/>
                    </a:lnTo>
                    <a:lnTo>
                      <a:pt x="346" y="316"/>
                    </a:lnTo>
                    <a:cubicBezTo>
                      <a:pt x="346" y="316"/>
                      <a:pt x="348" y="317"/>
                      <a:pt x="353" y="317"/>
                    </a:cubicBezTo>
                    <a:cubicBezTo>
                      <a:pt x="357" y="317"/>
                      <a:pt x="358" y="317"/>
                      <a:pt x="360" y="317"/>
                    </a:cubicBezTo>
                    <a:cubicBezTo>
                      <a:pt x="363" y="317"/>
                      <a:pt x="364" y="317"/>
                      <a:pt x="364" y="317"/>
                    </a:cubicBezTo>
                    <a:lnTo>
                      <a:pt x="372" y="317"/>
                    </a:lnTo>
                    <a:lnTo>
                      <a:pt x="369" y="323"/>
                    </a:lnTo>
                    <a:cubicBezTo>
                      <a:pt x="369" y="324"/>
                      <a:pt x="369" y="324"/>
                      <a:pt x="369" y="324"/>
                    </a:cubicBezTo>
                    <a:cubicBezTo>
                      <a:pt x="369" y="324"/>
                      <a:pt x="370" y="324"/>
                      <a:pt x="373" y="326"/>
                    </a:cubicBezTo>
                    <a:lnTo>
                      <a:pt x="377" y="326"/>
                    </a:lnTo>
                    <a:lnTo>
                      <a:pt x="376" y="332"/>
                    </a:lnTo>
                    <a:lnTo>
                      <a:pt x="376" y="333"/>
                    </a:lnTo>
                    <a:cubicBezTo>
                      <a:pt x="376" y="333"/>
                      <a:pt x="377" y="333"/>
                      <a:pt x="382" y="333"/>
                    </a:cubicBezTo>
                    <a:cubicBezTo>
                      <a:pt x="384" y="333"/>
                      <a:pt x="384" y="333"/>
                      <a:pt x="385" y="333"/>
                    </a:cubicBezTo>
                    <a:lnTo>
                      <a:pt x="386" y="333"/>
                    </a:lnTo>
                    <a:lnTo>
                      <a:pt x="392" y="333"/>
                    </a:lnTo>
                    <a:lnTo>
                      <a:pt x="392" y="339"/>
                    </a:lnTo>
                    <a:cubicBezTo>
                      <a:pt x="392" y="339"/>
                      <a:pt x="397" y="341"/>
                      <a:pt x="398" y="341"/>
                    </a:cubicBezTo>
                    <a:lnTo>
                      <a:pt x="400" y="341"/>
                    </a:lnTo>
                    <a:lnTo>
                      <a:pt x="402" y="342"/>
                    </a:lnTo>
                    <a:cubicBezTo>
                      <a:pt x="404" y="342"/>
                      <a:pt x="405" y="342"/>
                      <a:pt x="407" y="342"/>
                    </a:cubicBezTo>
                    <a:cubicBezTo>
                      <a:pt x="409" y="342"/>
                      <a:pt x="410" y="342"/>
                      <a:pt x="410" y="341"/>
                    </a:cubicBezTo>
                    <a:cubicBezTo>
                      <a:pt x="413" y="338"/>
                      <a:pt x="413" y="332"/>
                      <a:pt x="413" y="328"/>
                    </a:cubicBezTo>
                    <a:lnTo>
                      <a:pt x="413" y="317"/>
                    </a:lnTo>
                    <a:lnTo>
                      <a:pt x="419" y="320"/>
                    </a:lnTo>
                    <a:cubicBezTo>
                      <a:pt x="423" y="320"/>
                      <a:pt x="426" y="323"/>
                      <a:pt x="428" y="324"/>
                    </a:cubicBezTo>
                    <a:cubicBezTo>
                      <a:pt x="430" y="326"/>
                      <a:pt x="433" y="328"/>
                      <a:pt x="434" y="328"/>
                    </a:cubicBezTo>
                    <a:lnTo>
                      <a:pt x="440" y="328"/>
                    </a:lnTo>
                    <a:lnTo>
                      <a:pt x="438" y="333"/>
                    </a:lnTo>
                    <a:cubicBezTo>
                      <a:pt x="438" y="335"/>
                      <a:pt x="438" y="335"/>
                      <a:pt x="438" y="335"/>
                    </a:cubicBezTo>
                    <a:cubicBezTo>
                      <a:pt x="438" y="335"/>
                      <a:pt x="442" y="336"/>
                      <a:pt x="444" y="336"/>
                    </a:cubicBezTo>
                    <a:cubicBezTo>
                      <a:pt x="446" y="336"/>
                      <a:pt x="446" y="336"/>
                      <a:pt x="447" y="336"/>
                    </a:cubicBezTo>
                    <a:cubicBezTo>
                      <a:pt x="449" y="336"/>
                      <a:pt x="450" y="336"/>
                      <a:pt x="451" y="336"/>
                    </a:cubicBezTo>
                    <a:cubicBezTo>
                      <a:pt x="454" y="336"/>
                      <a:pt x="461" y="336"/>
                      <a:pt x="461" y="341"/>
                    </a:cubicBezTo>
                    <a:cubicBezTo>
                      <a:pt x="462" y="341"/>
                      <a:pt x="462" y="342"/>
                      <a:pt x="462" y="342"/>
                    </a:cubicBezTo>
                    <a:cubicBezTo>
                      <a:pt x="463" y="344"/>
                      <a:pt x="466" y="344"/>
                      <a:pt x="470" y="344"/>
                    </a:cubicBezTo>
                    <a:cubicBezTo>
                      <a:pt x="470" y="344"/>
                      <a:pt x="474" y="344"/>
                      <a:pt x="474" y="342"/>
                    </a:cubicBezTo>
                    <a:lnTo>
                      <a:pt x="474" y="336"/>
                    </a:lnTo>
                    <a:lnTo>
                      <a:pt x="479" y="338"/>
                    </a:lnTo>
                    <a:cubicBezTo>
                      <a:pt x="481" y="338"/>
                      <a:pt x="483" y="338"/>
                      <a:pt x="483" y="338"/>
                    </a:cubicBezTo>
                    <a:cubicBezTo>
                      <a:pt x="486" y="338"/>
                      <a:pt x="487" y="338"/>
                      <a:pt x="489" y="333"/>
                    </a:cubicBezTo>
                    <a:lnTo>
                      <a:pt x="489" y="332"/>
                    </a:lnTo>
                    <a:cubicBezTo>
                      <a:pt x="490" y="331"/>
                      <a:pt x="490" y="328"/>
                      <a:pt x="490" y="324"/>
                    </a:cubicBezTo>
                    <a:cubicBezTo>
                      <a:pt x="490" y="324"/>
                      <a:pt x="489" y="324"/>
                      <a:pt x="487" y="324"/>
                    </a:cubicBezTo>
                    <a:lnTo>
                      <a:pt x="483" y="324"/>
                    </a:lnTo>
                    <a:lnTo>
                      <a:pt x="483" y="319"/>
                    </a:lnTo>
                    <a:cubicBezTo>
                      <a:pt x="483" y="319"/>
                      <a:pt x="483" y="317"/>
                      <a:pt x="483" y="316"/>
                    </a:cubicBezTo>
                    <a:cubicBezTo>
                      <a:pt x="483" y="314"/>
                      <a:pt x="484" y="311"/>
                      <a:pt x="483" y="310"/>
                    </a:cubicBezTo>
                    <a:lnTo>
                      <a:pt x="481" y="310"/>
                    </a:lnTo>
                    <a:cubicBezTo>
                      <a:pt x="475" y="308"/>
                      <a:pt x="475" y="304"/>
                      <a:pt x="475" y="300"/>
                    </a:cubicBezTo>
                    <a:lnTo>
                      <a:pt x="475" y="299"/>
                    </a:lnTo>
                    <a:lnTo>
                      <a:pt x="475" y="291"/>
                    </a:lnTo>
                    <a:cubicBezTo>
                      <a:pt x="477" y="289"/>
                      <a:pt x="477" y="289"/>
                      <a:pt x="477" y="287"/>
                    </a:cubicBezTo>
                    <a:lnTo>
                      <a:pt x="477" y="286"/>
                    </a:lnTo>
                    <a:cubicBezTo>
                      <a:pt x="475" y="286"/>
                      <a:pt x="474" y="286"/>
                      <a:pt x="474" y="286"/>
                    </a:cubicBezTo>
                    <a:lnTo>
                      <a:pt x="468" y="284"/>
                    </a:lnTo>
                    <a:lnTo>
                      <a:pt x="470" y="279"/>
                    </a:lnTo>
                    <a:cubicBezTo>
                      <a:pt x="470" y="279"/>
                      <a:pt x="468" y="277"/>
                      <a:pt x="466" y="277"/>
                    </a:cubicBezTo>
                    <a:lnTo>
                      <a:pt x="465" y="277"/>
                    </a:lnTo>
                    <a:cubicBezTo>
                      <a:pt x="465" y="277"/>
                      <a:pt x="463" y="279"/>
                      <a:pt x="463" y="280"/>
                    </a:cubicBezTo>
                    <a:lnTo>
                      <a:pt x="463" y="284"/>
                    </a:lnTo>
                    <a:lnTo>
                      <a:pt x="459" y="284"/>
                    </a:lnTo>
                    <a:cubicBezTo>
                      <a:pt x="458" y="284"/>
                      <a:pt x="456" y="284"/>
                      <a:pt x="454" y="284"/>
                    </a:cubicBezTo>
                    <a:cubicBezTo>
                      <a:pt x="450" y="284"/>
                      <a:pt x="447" y="283"/>
                      <a:pt x="442" y="280"/>
                    </a:cubicBezTo>
                    <a:cubicBezTo>
                      <a:pt x="440" y="277"/>
                      <a:pt x="438" y="277"/>
                      <a:pt x="435" y="275"/>
                    </a:cubicBezTo>
                    <a:lnTo>
                      <a:pt x="429" y="275"/>
                    </a:lnTo>
                    <a:lnTo>
                      <a:pt x="430" y="270"/>
                    </a:lnTo>
                    <a:cubicBezTo>
                      <a:pt x="429" y="268"/>
                      <a:pt x="428" y="268"/>
                      <a:pt x="426" y="268"/>
                    </a:cubicBezTo>
                    <a:lnTo>
                      <a:pt x="425" y="268"/>
                    </a:lnTo>
                    <a:cubicBezTo>
                      <a:pt x="416" y="267"/>
                      <a:pt x="416" y="258"/>
                      <a:pt x="416" y="255"/>
                    </a:cubicBezTo>
                    <a:lnTo>
                      <a:pt x="416" y="254"/>
                    </a:lnTo>
                    <a:lnTo>
                      <a:pt x="414" y="252"/>
                    </a:lnTo>
                    <a:cubicBezTo>
                      <a:pt x="410" y="252"/>
                      <a:pt x="409" y="249"/>
                      <a:pt x="407" y="246"/>
                    </a:cubicBezTo>
                    <a:lnTo>
                      <a:pt x="407" y="244"/>
                    </a:lnTo>
                    <a:cubicBezTo>
                      <a:pt x="402" y="239"/>
                      <a:pt x="401" y="231"/>
                      <a:pt x="401" y="223"/>
                    </a:cubicBezTo>
                    <a:lnTo>
                      <a:pt x="402" y="218"/>
                    </a:lnTo>
                    <a:lnTo>
                      <a:pt x="409" y="219"/>
                    </a:lnTo>
                    <a:lnTo>
                      <a:pt x="409" y="218"/>
                    </a:lnTo>
                    <a:lnTo>
                      <a:pt x="410" y="218"/>
                    </a:lnTo>
                    <a:cubicBezTo>
                      <a:pt x="410" y="214"/>
                      <a:pt x="413" y="212"/>
                      <a:pt x="417" y="212"/>
                    </a:cubicBezTo>
                    <a:lnTo>
                      <a:pt x="434" y="212"/>
                    </a:lnTo>
                    <a:cubicBezTo>
                      <a:pt x="433" y="210"/>
                      <a:pt x="430" y="207"/>
                      <a:pt x="430" y="206"/>
                    </a:cubicBezTo>
                    <a:cubicBezTo>
                      <a:pt x="429" y="205"/>
                      <a:pt x="429" y="205"/>
                      <a:pt x="429" y="203"/>
                    </a:cubicBezTo>
                    <a:cubicBezTo>
                      <a:pt x="426" y="198"/>
                      <a:pt x="423" y="196"/>
                      <a:pt x="419" y="193"/>
                    </a:cubicBezTo>
                    <a:cubicBezTo>
                      <a:pt x="417" y="193"/>
                      <a:pt x="416" y="191"/>
                      <a:pt x="414" y="191"/>
                    </a:cubicBezTo>
                    <a:cubicBezTo>
                      <a:pt x="410" y="190"/>
                      <a:pt x="410" y="185"/>
                      <a:pt x="412" y="184"/>
                    </a:cubicBezTo>
                    <a:cubicBezTo>
                      <a:pt x="410" y="184"/>
                      <a:pt x="410" y="184"/>
                      <a:pt x="410" y="184"/>
                    </a:cubicBezTo>
                    <a:cubicBezTo>
                      <a:pt x="409" y="182"/>
                      <a:pt x="405" y="182"/>
                      <a:pt x="404" y="181"/>
                    </a:cubicBezTo>
                    <a:lnTo>
                      <a:pt x="400" y="178"/>
                    </a:lnTo>
                    <a:cubicBezTo>
                      <a:pt x="397" y="175"/>
                      <a:pt x="394" y="173"/>
                      <a:pt x="391" y="170"/>
                    </a:cubicBezTo>
                    <a:cubicBezTo>
                      <a:pt x="386" y="168"/>
                      <a:pt x="381" y="165"/>
                      <a:pt x="376" y="165"/>
                    </a:cubicBezTo>
                    <a:cubicBezTo>
                      <a:pt x="374" y="165"/>
                      <a:pt x="373" y="165"/>
                      <a:pt x="372" y="166"/>
                    </a:cubicBezTo>
                    <a:cubicBezTo>
                      <a:pt x="370" y="166"/>
                      <a:pt x="369" y="168"/>
                      <a:pt x="369" y="169"/>
                    </a:cubicBezTo>
                    <a:cubicBezTo>
                      <a:pt x="367" y="170"/>
                      <a:pt x="367" y="172"/>
                      <a:pt x="367" y="173"/>
                    </a:cubicBezTo>
                    <a:cubicBezTo>
                      <a:pt x="367" y="175"/>
                      <a:pt x="367" y="175"/>
                      <a:pt x="367" y="175"/>
                    </a:cubicBezTo>
                    <a:cubicBezTo>
                      <a:pt x="369" y="178"/>
                      <a:pt x="372" y="181"/>
                      <a:pt x="373" y="184"/>
                    </a:cubicBezTo>
                    <a:lnTo>
                      <a:pt x="374" y="185"/>
                    </a:lnTo>
                    <a:cubicBezTo>
                      <a:pt x="381" y="196"/>
                      <a:pt x="388" y="206"/>
                      <a:pt x="388" y="219"/>
                    </a:cubicBezTo>
                    <a:cubicBezTo>
                      <a:pt x="389" y="227"/>
                      <a:pt x="386" y="233"/>
                      <a:pt x="382" y="239"/>
                    </a:cubicBezTo>
                    <a:cubicBezTo>
                      <a:pt x="381" y="239"/>
                      <a:pt x="381" y="240"/>
                      <a:pt x="381" y="240"/>
                    </a:cubicBezTo>
                    <a:cubicBezTo>
                      <a:pt x="381" y="242"/>
                      <a:pt x="381" y="244"/>
                      <a:pt x="379" y="246"/>
                    </a:cubicBezTo>
                    <a:cubicBezTo>
                      <a:pt x="376" y="249"/>
                      <a:pt x="372" y="250"/>
                      <a:pt x="370" y="250"/>
                    </a:cubicBezTo>
                    <a:cubicBezTo>
                      <a:pt x="369" y="250"/>
                      <a:pt x="369" y="250"/>
                      <a:pt x="369" y="250"/>
                    </a:cubicBezTo>
                    <a:cubicBezTo>
                      <a:pt x="364" y="250"/>
                      <a:pt x="363" y="247"/>
                      <a:pt x="361" y="246"/>
                    </a:cubicBezTo>
                    <a:lnTo>
                      <a:pt x="361" y="244"/>
                    </a:lnTo>
                    <a:cubicBezTo>
                      <a:pt x="361" y="244"/>
                      <a:pt x="361" y="243"/>
                      <a:pt x="360" y="242"/>
                    </a:cubicBezTo>
                    <a:cubicBezTo>
                      <a:pt x="358" y="240"/>
                      <a:pt x="358" y="239"/>
                      <a:pt x="357" y="237"/>
                    </a:cubicBezTo>
                    <a:cubicBezTo>
                      <a:pt x="356" y="235"/>
                      <a:pt x="353" y="235"/>
                      <a:pt x="351" y="234"/>
                    </a:cubicBezTo>
                    <a:lnTo>
                      <a:pt x="348" y="234"/>
                    </a:lnTo>
                    <a:lnTo>
                      <a:pt x="348" y="231"/>
                    </a:lnTo>
                    <a:cubicBezTo>
                      <a:pt x="348" y="230"/>
                      <a:pt x="346" y="228"/>
                      <a:pt x="345" y="227"/>
                    </a:cubicBezTo>
                    <a:cubicBezTo>
                      <a:pt x="344" y="223"/>
                      <a:pt x="342" y="221"/>
                      <a:pt x="340" y="218"/>
                    </a:cubicBezTo>
                    <a:cubicBezTo>
                      <a:pt x="340" y="216"/>
                      <a:pt x="340" y="214"/>
                      <a:pt x="340" y="214"/>
                    </a:cubicBezTo>
                    <a:cubicBezTo>
                      <a:pt x="340" y="212"/>
                      <a:pt x="340" y="212"/>
                      <a:pt x="340" y="212"/>
                    </a:cubicBezTo>
                    <a:cubicBezTo>
                      <a:pt x="340" y="212"/>
                      <a:pt x="339" y="210"/>
                      <a:pt x="336" y="210"/>
                    </a:cubicBezTo>
                    <a:cubicBezTo>
                      <a:pt x="335" y="210"/>
                      <a:pt x="335" y="210"/>
                      <a:pt x="333" y="210"/>
                    </a:cubicBezTo>
                    <a:cubicBezTo>
                      <a:pt x="332" y="210"/>
                      <a:pt x="332" y="210"/>
                      <a:pt x="330" y="210"/>
                    </a:cubicBezTo>
                    <a:lnTo>
                      <a:pt x="324" y="210"/>
                    </a:lnTo>
                    <a:lnTo>
                      <a:pt x="325" y="205"/>
                    </a:lnTo>
                    <a:cubicBezTo>
                      <a:pt x="325" y="203"/>
                      <a:pt x="325" y="203"/>
                      <a:pt x="325" y="203"/>
                    </a:cubicBezTo>
                    <a:cubicBezTo>
                      <a:pt x="325" y="203"/>
                      <a:pt x="324" y="203"/>
                      <a:pt x="320" y="203"/>
                    </a:cubicBezTo>
                    <a:cubicBezTo>
                      <a:pt x="320" y="203"/>
                      <a:pt x="318" y="203"/>
                      <a:pt x="316" y="203"/>
                    </a:cubicBezTo>
                    <a:lnTo>
                      <a:pt x="315" y="203"/>
                    </a:lnTo>
                    <a:cubicBezTo>
                      <a:pt x="318" y="207"/>
                      <a:pt x="323" y="210"/>
                      <a:pt x="327" y="214"/>
                    </a:cubicBezTo>
                    <a:cubicBezTo>
                      <a:pt x="327" y="215"/>
                      <a:pt x="328" y="215"/>
                      <a:pt x="328" y="215"/>
                    </a:cubicBezTo>
                    <a:cubicBezTo>
                      <a:pt x="330" y="215"/>
                      <a:pt x="335" y="218"/>
                      <a:pt x="335" y="222"/>
                    </a:cubicBezTo>
                    <a:lnTo>
                      <a:pt x="333" y="252"/>
                    </a:lnTo>
                    <a:lnTo>
                      <a:pt x="333" y="254"/>
                    </a:lnTo>
                    <a:cubicBezTo>
                      <a:pt x="333" y="256"/>
                      <a:pt x="330" y="259"/>
                      <a:pt x="328" y="261"/>
                    </a:cubicBezTo>
                    <a:cubicBezTo>
                      <a:pt x="327" y="262"/>
                      <a:pt x="327" y="262"/>
                      <a:pt x="327" y="264"/>
                    </a:cubicBezTo>
                    <a:cubicBezTo>
                      <a:pt x="325" y="265"/>
                      <a:pt x="325" y="265"/>
                      <a:pt x="325" y="267"/>
                    </a:cubicBezTo>
                    <a:lnTo>
                      <a:pt x="325" y="272"/>
                    </a:lnTo>
                    <a:lnTo>
                      <a:pt x="307" y="271"/>
                    </a:lnTo>
                    <a:lnTo>
                      <a:pt x="308" y="265"/>
                    </a:lnTo>
                    <a:lnTo>
                      <a:pt x="308" y="264"/>
                    </a:lnTo>
                    <a:cubicBezTo>
                      <a:pt x="308" y="264"/>
                      <a:pt x="307" y="264"/>
                      <a:pt x="305" y="264"/>
                    </a:cubicBezTo>
                    <a:lnTo>
                      <a:pt x="300" y="262"/>
                    </a:lnTo>
                    <a:lnTo>
                      <a:pt x="300" y="237"/>
                    </a:lnTo>
                    <a:cubicBezTo>
                      <a:pt x="300" y="235"/>
                      <a:pt x="299" y="231"/>
                      <a:pt x="296" y="228"/>
                    </a:cubicBezTo>
                    <a:cubicBezTo>
                      <a:pt x="293" y="226"/>
                      <a:pt x="290" y="223"/>
                      <a:pt x="286" y="223"/>
                    </a:cubicBezTo>
                    <a:lnTo>
                      <a:pt x="277" y="223"/>
                    </a:lnTo>
                    <a:lnTo>
                      <a:pt x="278" y="218"/>
                    </a:lnTo>
                    <a:lnTo>
                      <a:pt x="278" y="216"/>
                    </a:lnTo>
                    <a:cubicBezTo>
                      <a:pt x="278" y="216"/>
                      <a:pt x="274" y="216"/>
                      <a:pt x="272" y="216"/>
                    </a:cubicBezTo>
                    <a:lnTo>
                      <a:pt x="271" y="216"/>
                    </a:lnTo>
                    <a:cubicBezTo>
                      <a:pt x="267" y="216"/>
                      <a:pt x="265" y="214"/>
                      <a:pt x="263" y="210"/>
                    </a:cubicBezTo>
                    <a:cubicBezTo>
                      <a:pt x="262" y="209"/>
                      <a:pt x="262" y="209"/>
                      <a:pt x="262" y="207"/>
                    </a:cubicBezTo>
                    <a:cubicBezTo>
                      <a:pt x="260" y="205"/>
                      <a:pt x="259" y="203"/>
                      <a:pt x="258" y="202"/>
                    </a:cubicBezTo>
                    <a:cubicBezTo>
                      <a:pt x="255" y="200"/>
                      <a:pt x="253" y="200"/>
                      <a:pt x="250" y="200"/>
                    </a:cubicBezTo>
                    <a:cubicBezTo>
                      <a:pt x="249" y="200"/>
                      <a:pt x="249" y="200"/>
                      <a:pt x="249" y="200"/>
                    </a:cubicBezTo>
                    <a:lnTo>
                      <a:pt x="247" y="200"/>
                    </a:lnTo>
                    <a:cubicBezTo>
                      <a:pt x="244" y="200"/>
                      <a:pt x="243" y="198"/>
                      <a:pt x="242" y="194"/>
                    </a:cubicBezTo>
                    <a:cubicBezTo>
                      <a:pt x="239" y="193"/>
                      <a:pt x="237" y="191"/>
                      <a:pt x="234" y="191"/>
                    </a:cubicBezTo>
                    <a:lnTo>
                      <a:pt x="232" y="191"/>
                    </a:lnTo>
                    <a:cubicBezTo>
                      <a:pt x="231" y="191"/>
                      <a:pt x="228" y="193"/>
                      <a:pt x="228" y="194"/>
                    </a:cubicBezTo>
                    <a:cubicBezTo>
                      <a:pt x="226" y="198"/>
                      <a:pt x="223" y="198"/>
                      <a:pt x="222" y="198"/>
                    </a:cubicBezTo>
                    <a:cubicBezTo>
                      <a:pt x="221" y="198"/>
                      <a:pt x="221" y="198"/>
                      <a:pt x="221" y="198"/>
                    </a:cubicBezTo>
                    <a:cubicBezTo>
                      <a:pt x="219" y="198"/>
                      <a:pt x="219" y="198"/>
                      <a:pt x="219" y="198"/>
                    </a:cubicBezTo>
                    <a:lnTo>
                      <a:pt x="200" y="198"/>
                    </a:lnTo>
                    <a:lnTo>
                      <a:pt x="198" y="197"/>
                    </a:lnTo>
                    <a:cubicBezTo>
                      <a:pt x="197" y="198"/>
                      <a:pt x="197" y="200"/>
                      <a:pt x="197" y="203"/>
                    </a:cubicBezTo>
                    <a:cubicBezTo>
                      <a:pt x="197" y="212"/>
                      <a:pt x="193" y="218"/>
                      <a:pt x="185" y="221"/>
                    </a:cubicBezTo>
                    <a:lnTo>
                      <a:pt x="179" y="222"/>
                    </a:lnTo>
                    <a:lnTo>
                      <a:pt x="179" y="216"/>
                    </a:lnTo>
                    <a:cubicBezTo>
                      <a:pt x="178" y="198"/>
                      <a:pt x="170" y="182"/>
                      <a:pt x="157" y="166"/>
                    </a:cubicBezTo>
                    <a:cubicBezTo>
                      <a:pt x="153" y="163"/>
                      <a:pt x="149" y="160"/>
                      <a:pt x="146" y="156"/>
                    </a:cubicBezTo>
                    <a:cubicBezTo>
                      <a:pt x="137" y="147"/>
                      <a:pt x="127" y="137"/>
                      <a:pt x="121" y="123"/>
                    </a:cubicBezTo>
                    <a:lnTo>
                      <a:pt x="118" y="119"/>
                    </a:lnTo>
                    <a:lnTo>
                      <a:pt x="124" y="116"/>
                    </a:lnTo>
                    <a:cubicBezTo>
                      <a:pt x="127" y="114"/>
                      <a:pt x="132" y="113"/>
                      <a:pt x="133" y="109"/>
                    </a:cubicBezTo>
                    <a:cubicBezTo>
                      <a:pt x="134" y="109"/>
                      <a:pt x="136" y="107"/>
                      <a:pt x="136" y="105"/>
                    </a:cubicBezTo>
                    <a:cubicBezTo>
                      <a:pt x="137" y="104"/>
                      <a:pt x="137" y="102"/>
                      <a:pt x="139" y="101"/>
                    </a:cubicBezTo>
                    <a:cubicBezTo>
                      <a:pt x="141" y="98"/>
                      <a:pt x="144" y="93"/>
                      <a:pt x="146" y="91"/>
                    </a:cubicBezTo>
                    <a:cubicBezTo>
                      <a:pt x="153" y="86"/>
                      <a:pt x="157" y="86"/>
                      <a:pt x="161" y="86"/>
                    </a:cubicBezTo>
                    <a:lnTo>
                      <a:pt x="162" y="86"/>
                    </a:lnTo>
                    <a:cubicBezTo>
                      <a:pt x="164" y="86"/>
                      <a:pt x="166" y="86"/>
                      <a:pt x="167" y="84"/>
                    </a:cubicBezTo>
                    <a:cubicBezTo>
                      <a:pt x="169" y="83"/>
                      <a:pt x="170" y="79"/>
                      <a:pt x="176" y="79"/>
                    </a:cubicBezTo>
                    <a:lnTo>
                      <a:pt x="183" y="79"/>
                    </a:lnTo>
                    <a:cubicBezTo>
                      <a:pt x="183" y="80"/>
                      <a:pt x="185" y="80"/>
                      <a:pt x="186" y="80"/>
                    </a:cubicBezTo>
                    <a:cubicBezTo>
                      <a:pt x="188" y="80"/>
                      <a:pt x="188" y="80"/>
                      <a:pt x="189" y="80"/>
                    </a:cubicBezTo>
                    <a:cubicBezTo>
                      <a:pt x="191" y="80"/>
                      <a:pt x="191" y="80"/>
                      <a:pt x="191" y="80"/>
                    </a:cubicBezTo>
                    <a:cubicBezTo>
                      <a:pt x="191" y="80"/>
                      <a:pt x="191" y="79"/>
                      <a:pt x="191" y="77"/>
                    </a:cubicBezTo>
                    <a:cubicBezTo>
                      <a:pt x="193" y="76"/>
                      <a:pt x="194" y="71"/>
                      <a:pt x="200" y="72"/>
                    </a:cubicBezTo>
                    <a:lnTo>
                      <a:pt x="201" y="72"/>
                    </a:lnTo>
                    <a:cubicBezTo>
                      <a:pt x="203" y="72"/>
                      <a:pt x="203" y="72"/>
                      <a:pt x="203" y="72"/>
                    </a:cubicBezTo>
                    <a:lnTo>
                      <a:pt x="223" y="72"/>
                    </a:lnTo>
                    <a:lnTo>
                      <a:pt x="225" y="77"/>
                    </a:lnTo>
                    <a:cubicBezTo>
                      <a:pt x="226" y="76"/>
                      <a:pt x="228" y="76"/>
                      <a:pt x="230" y="74"/>
                    </a:cubicBezTo>
                    <a:lnTo>
                      <a:pt x="231" y="74"/>
                    </a:lnTo>
                    <a:lnTo>
                      <a:pt x="231" y="72"/>
                    </a:lnTo>
                    <a:cubicBezTo>
                      <a:pt x="231" y="71"/>
                      <a:pt x="230" y="70"/>
                      <a:pt x="228" y="68"/>
                    </a:cubicBezTo>
                    <a:cubicBezTo>
                      <a:pt x="223" y="67"/>
                      <a:pt x="222" y="63"/>
                      <a:pt x="221" y="61"/>
                    </a:cubicBezTo>
                    <a:cubicBezTo>
                      <a:pt x="221" y="59"/>
                      <a:pt x="221" y="58"/>
                      <a:pt x="219" y="58"/>
                    </a:cubicBezTo>
                    <a:cubicBezTo>
                      <a:pt x="218" y="55"/>
                      <a:pt x="216" y="53"/>
                      <a:pt x="213" y="52"/>
                    </a:cubicBezTo>
                    <a:cubicBezTo>
                      <a:pt x="207" y="51"/>
                      <a:pt x="209" y="43"/>
                      <a:pt x="209" y="40"/>
                    </a:cubicBezTo>
                    <a:lnTo>
                      <a:pt x="209" y="39"/>
                    </a:lnTo>
                    <a:lnTo>
                      <a:pt x="209" y="25"/>
                    </a:lnTo>
                    <a:lnTo>
                      <a:pt x="214" y="27"/>
                    </a:lnTo>
                    <a:cubicBezTo>
                      <a:pt x="216" y="27"/>
                      <a:pt x="216" y="27"/>
                      <a:pt x="216" y="27"/>
                    </a:cubicBezTo>
                    <a:cubicBezTo>
                      <a:pt x="216" y="27"/>
                      <a:pt x="216" y="25"/>
                      <a:pt x="218" y="24"/>
                    </a:cubicBezTo>
                    <a:cubicBezTo>
                      <a:pt x="216" y="23"/>
                      <a:pt x="218" y="23"/>
                      <a:pt x="218" y="21"/>
                    </a:cubicBezTo>
                    <a:cubicBezTo>
                      <a:pt x="218" y="19"/>
                      <a:pt x="218" y="15"/>
                      <a:pt x="218" y="14"/>
                    </a:cubicBezTo>
                    <a:cubicBezTo>
                      <a:pt x="216" y="14"/>
                      <a:pt x="216" y="14"/>
                      <a:pt x="214" y="14"/>
                    </a:cubicBezTo>
                    <a:cubicBezTo>
                      <a:pt x="213" y="14"/>
                      <a:pt x="211" y="12"/>
                      <a:pt x="210" y="12"/>
                    </a:cubicBezTo>
                    <a:cubicBezTo>
                      <a:pt x="209" y="9"/>
                      <a:pt x="210" y="6"/>
                      <a:pt x="210" y="5"/>
                    </a:cubicBezTo>
                    <a:cubicBezTo>
                      <a:pt x="210" y="3"/>
                      <a:pt x="210" y="3"/>
                      <a:pt x="210" y="2"/>
                    </a:cubicBezTo>
                    <a:lnTo>
                      <a:pt x="210" y="0"/>
                    </a:lnTo>
                    <a:cubicBezTo>
                      <a:pt x="409" y="100"/>
                      <a:pt x="563" y="274"/>
                      <a:pt x="637" y="484"/>
                    </a:cubicBezTo>
                    <a:cubicBezTo>
                      <a:pt x="637" y="494"/>
                      <a:pt x="637" y="502"/>
                      <a:pt x="638" y="514"/>
                    </a:cubicBezTo>
                    <a:cubicBezTo>
                      <a:pt x="641" y="538"/>
                      <a:pt x="647" y="561"/>
                      <a:pt x="652" y="577"/>
                    </a:cubicBezTo>
                    <a:lnTo>
                      <a:pt x="654" y="589"/>
                    </a:lnTo>
                    <a:lnTo>
                      <a:pt x="644" y="584"/>
                    </a:lnTo>
                    <a:cubicBezTo>
                      <a:pt x="640" y="581"/>
                      <a:pt x="633" y="577"/>
                      <a:pt x="631" y="573"/>
                    </a:cubicBezTo>
                    <a:cubicBezTo>
                      <a:pt x="628" y="569"/>
                      <a:pt x="626" y="566"/>
                      <a:pt x="628" y="561"/>
                    </a:cubicBezTo>
                    <a:lnTo>
                      <a:pt x="626" y="561"/>
                    </a:lnTo>
                    <a:cubicBezTo>
                      <a:pt x="620" y="560"/>
                      <a:pt x="620" y="557"/>
                      <a:pt x="620" y="554"/>
                    </a:cubicBezTo>
                    <a:lnTo>
                      <a:pt x="620" y="542"/>
                    </a:lnTo>
                    <a:cubicBezTo>
                      <a:pt x="620" y="540"/>
                      <a:pt x="620" y="539"/>
                      <a:pt x="620" y="538"/>
                    </a:cubicBezTo>
                    <a:lnTo>
                      <a:pt x="619" y="538"/>
                    </a:lnTo>
                    <a:cubicBezTo>
                      <a:pt x="612" y="536"/>
                      <a:pt x="613" y="529"/>
                      <a:pt x="613" y="526"/>
                    </a:cubicBezTo>
                    <a:lnTo>
                      <a:pt x="613" y="523"/>
                    </a:lnTo>
                    <a:cubicBezTo>
                      <a:pt x="612" y="522"/>
                      <a:pt x="607" y="522"/>
                      <a:pt x="605" y="517"/>
                    </a:cubicBezTo>
                    <a:cubicBezTo>
                      <a:pt x="605" y="515"/>
                      <a:pt x="604" y="514"/>
                      <a:pt x="604" y="512"/>
                    </a:cubicBezTo>
                    <a:cubicBezTo>
                      <a:pt x="601" y="511"/>
                      <a:pt x="600" y="508"/>
                      <a:pt x="600" y="505"/>
                    </a:cubicBezTo>
                    <a:cubicBezTo>
                      <a:pt x="598" y="502"/>
                      <a:pt x="598" y="501"/>
                      <a:pt x="600" y="499"/>
                    </a:cubicBezTo>
                    <a:lnTo>
                      <a:pt x="598" y="498"/>
                    </a:lnTo>
                    <a:lnTo>
                      <a:pt x="597" y="498"/>
                    </a:lnTo>
                    <a:cubicBezTo>
                      <a:pt x="593" y="498"/>
                      <a:pt x="591" y="495"/>
                      <a:pt x="592" y="490"/>
                    </a:cubicBezTo>
                    <a:lnTo>
                      <a:pt x="592" y="487"/>
                    </a:lnTo>
                    <a:cubicBezTo>
                      <a:pt x="592" y="486"/>
                      <a:pt x="592" y="483"/>
                      <a:pt x="592" y="483"/>
                    </a:cubicBezTo>
                    <a:cubicBezTo>
                      <a:pt x="591" y="483"/>
                      <a:pt x="591" y="483"/>
                      <a:pt x="589" y="483"/>
                    </a:cubicBezTo>
                    <a:cubicBezTo>
                      <a:pt x="583" y="482"/>
                      <a:pt x="585" y="474"/>
                      <a:pt x="585" y="471"/>
                    </a:cubicBezTo>
                    <a:cubicBezTo>
                      <a:pt x="585" y="470"/>
                      <a:pt x="585" y="468"/>
                      <a:pt x="585" y="467"/>
                    </a:cubicBezTo>
                    <a:cubicBezTo>
                      <a:pt x="579" y="467"/>
                      <a:pt x="577" y="462"/>
                      <a:pt x="577" y="459"/>
                    </a:cubicBezTo>
                    <a:cubicBezTo>
                      <a:pt x="577" y="456"/>
                      <a:pt x="577" y="455"/>
                      <a:pt x="576" y="452"/>
                    </a:cubicBezTo>
                    <a:cubicBezTo>
                      <a:pt x="575" y="447"/>
                      <a:pt x="572" y="446"/>
                      <a:pt x="570" y="445"/>
                    </a:cubicBezTo>
                    <a:cubicBezTo>
                      <a:pt x="568" y="443"/>
                      <a:pt x="567" y="443"/>
                      <a:pt x="567" y="443"/>
                    </a:cubicBezTo>
                    <a:cubicBezTo>
                      <a:pt x="564" y="443"/>
                      <a:pt x="556" y="442"/>
                      <a:pt x="555" y="434"/>
                    </a:cubicBezTo>
                    <a:cubicBezTo>
                      <a:pt x="555" y="433"/>
                      <a:pt x="555" y="431"/>
                      <a:pt x="555" y="430"/>
                    </a:cubicBezTo>
                    <a:lnTo>
                      <a:pt x="555" y="428"/>
                    </a:lnTo>
                    <a:cubicBezTo>
                      <a:pt x="554" y="426"/>
                      <a:pt x="554" y="426"/>
                      <a:pt x="552" y="426"/>
                    </a:cubicBezTo>
                    <a:lnTo>
                      <a:pt x="548" y="426"/>
                    </a:lnTo>
                    <a:lnTo>
                      <a:pt x="548" y="414"/>
                    </a:lnTo>
                    <a:cubicBezTo>
                      <a:pt x="548" y="410"/>
                      <a:pt x="548" y="407"/>
                      <a:pt x="549" y="405"/>
                    </a:cubicBezTo>
                    <a:cubicBezTo>
                      <a:pt x="548" y="405"/>
                      <a:pt x="548" y="405"/>
                      <a:pt x="544" y="403"/>
                    </a:cubicBezTo>
                    <a:lnTo>
                      <a:pt x="540" y="403"/>
                    </a:lnTo>
                    <a:lnTo>
                      <a:pt x="542" y="397"/>
                    </a:lnTo>
                    <a:cubicBezTo>
                      <a:pt x="542" y="397"/>
                      <a:pt x="540" y="396"/>
                      <a:pt x="537" y="396"/>
                    </a:cubicBezTo>
                    <a:lnTo>
                      <a:pt x="535" y="396"/>
                    </a:lnTo>
                    <a:lnTo>
                      <a:pt x="535" y="393"/>
                    </a:lnTo>
                    <a:cubicBezTo>
                      <a:pt x="533" y="388"/>
                      <a:pt x="531" y="385"/>
                      <a:pt x="528" y="384"/>
                    </a:cubicBezTo>
                    <a:lnTo>
                      <a:pt x="528" y="388"/>
                    </a:lnTo>
                    <a:lnTo>
                      <a:pt x="518" y="387"/>
                    </a:lnTo>
                    <a:cubicBezTo>
                      <a:pt x="524" y="397"/>
                      <a:pt x="530" y="406"/>
                      <a:pt x="535" y="413"/>
                    </a:cubicBezTo>
                    <a:lnTo>
                      <a:pt x="539" y="421"/>
                    </a:lnTo>
                    <a:cubicBezTo>
                      <a:pt x="544" y="430"/>
                      <a:pt x="551" y="440"/>
                      <a:pt x="556" y="449"/>
                    </a:cubicBezTo>
                    <a:cubicBezTo>
                      <a:pt x="560" y="452"/>
                      <a:pt x="561" y="455"/>
                      <a:pt x="563" y="458"/>
                    </a:cubicBezTo>
                    <a:lnTo>
                      <a:pt x="564" y="459"/>
                    </a:lnTo>
                    <a:lnTo>
                      <a:pt x="564" y="462"/>
                    </a:lnTo>
                    <a:lnTo>
                      <a:pt x="564" y="463"/>
                    </a:lnTo>
                    <a:cubicBezTo>
                      <a:pt x="564" y="463"/>
                      <a:pt x="565" y="463"/>
                      <a:pt x="567" y="463"/>
                    </a:cubicBezTo>
                    <a:lnTo>
                      <a:pt x="572" y="463"/>
                    </a:lnTo>
                    <a:lnTo>
                      <a:pt x="572" y="468"/>
                    </a:lnTo>
                    <a:lnTo>
                      <a:pt x="572" y="470"/>
                    </a:lnTo>
                    <a:cubicBezTo>
                      <a:pt x="572" y="473"/>
                      <a:pt x="572" y="475"/>
                      <a:pt x="572" y="478"/>
                    </a:cubicBezTo>
                    <a:cubicBezTo>
                      <a:pt x="573" y="478"/>
                      <a:pt x="577" y="480"/>
                      <a:pt x="579" y="484"/>
                    </a:cubicBezTo>
                    <a:cubicBezTo>
                      <a:pt x="580" y="487"/>
                      <a:pt x="582" y="489"/>
                      <a:pt x="585" y="492"/>
                    </a:cubicBezTo>
                    <a:lnTo>
                      <a:pt x="585" y="494"/>
                    </a:lnTo>
                    <a:cubicBezTo>
                      <a:pt x="589" y="496"/>
                      <a:pt x="593" y="502"/>
                      <a:pt x="593" y="510"/>
                    </a:cubicBezTo>
                    <a:cubicBezTo>
                      <a:pt x="592" y="510"/>
                      <a:pt x="593" y="511"/>
                      <a:pt x="597" y="511"/>
                    </a:cubicBezTo>
                    <a:lnTo>
                      <a:pt x="603" y="511"/>
                    </a:lnTo>
                    <a:lnTo>
                      <a:pt x="601" y="517"/>
                    </a:lnTo>
                    <a:cubicBezTo>
                      <a:pt x="597" y="529"/>
                      <a:pt x="598" y="539"/>
                      <a:pt x="605" y="547"/>
                    </a:cubicBezTo>
                    <a:cubicBezTo>
                      <a:pt x="607" y="548"/>
                      <a:pt x="608" y="550"/>
                      <a:pt x="610" y="551"/>
                    </a:cubicBezTo>
                    <a:cubicBezTo>
                      <a:pt x="612" y="554"/>
                      <a:pt x="613" y="556"/>
                      <a:pt x="614" y="557"/>
                    </a:cubicBezTo>
                    <a:cubicBezTo>
                      <a:pt x="616" y="560"/>
                      <a:pt x="617" y="561"/>
                      <a:pt x="619" y="564"/>
                    </a:cubicBezTo>
                    <a:cubicBezTo>
                      <a:pt x="620" y="566"/>
                      <a:pt x="620" y="566"/>
                      <a:pt x="620" y="567"/>
                    </a:cubicBezTo>
                    <a:cubicBezTo>
                      <a:pt x="622" y="571"/>
                      <a:pt x="622" y="572"/>
                      <a:pt x="622" y="573"/>
                    </a:cubicBezTo>
                    <a:lnTo>
                      <a:pt x="624" y="573"/>
                    </a:lnTo>
                    <a:cubicBezTo>
                      <a:pt x="631" y="575"/>
                      <a:pt x="629" y="582"/>
                      <a:pt x="629" y="587"/>
                    </a:cubicBezTo>
                    <a:lnTo>
                      <a:pt x="628" y="588"/>
                    </a:lnTo>
                    <a:cubicBezTo>
                      <a:pt x="629" y="589"/>
                      <a:pt x="629" y="589"/>
                      <a:pt x="631" y="589"/>
                    </a:cubicBezTo>
                    <a:cubicBezTo>
                      <a:pt x="633" y="589"/>
                      <a:pt x="637" y="592"/>
                      <a:pt x="638" y="596"/>
                    </a:cubicBezTo>
                    <a:cubicBezTo>
                      <a:pt x="638" y="597"/>
                      <a:pt x="638" y="597"/>
                      <a:pt x="638" y="598"/>
                    </a:cubicBezTo>
                    <a:cubicBezTo>
                      <a:pt x="641" y="600"/>
                      <a:pt x="644" y="604"/>
                      <a:pt x="642" y="610"/>
                    </a:cubicBezTo>
                    <a:lnTo>
                      <a:pt x="642" y="612"/>
                    </a:lnTo>
                    <a:lnTo>
                      <a:pt x="642" y="613"/>
                    </a:lnTo>
                    <a:cubicBezTo>
                      <a:pt x="644" y="613"/>
                      <a:pt x="652" y="613"/>
                      <a:pt x="652" y="613"/>
                    </a:cubicBezTo>
                    <a:lnTo>
                      <a:pt x="650" y="636"/>
                    </a:lnTo>
                    <a:cubicBezTo>
                      <a:pt x="652" y="638"/>
                      <a:pt x="653" y="641"/>
                      <a:pt x="653" y="643"/>
                    </a:cubicBezTo>
                    <a:cubicBezTo>
                      <a:pt x="659" y="649"/>
                      <a:pt x="663" y="654"/>
                      <a:pt x="669" y="661"/>
                    </a:cubicBezTo>
                    <a:cubicBezTo>
                      <a:pt x="674" y="664"/>
                      <a:pt x="672" y="671"/>
                      <a:pt x="672" y="675"/>
                    </a:cubicBezTo>
                    <a:cubicBezTo>
                      <a:pt x="672" y="677"/>
                      <a:pt x="670" y="678"/>
                      <a:pt x="670" y="680"/>
                    </a:cubicBezTo>
                    <a:lnTo>
                      <a:pt x="669" y="715"/>
                    </a:lnTo>
                    <a:lnTo>
                      <a:pt x="666" y="715"/>
                    </a:lnTo>
                    <a:cubicBezTo>
                      <a:pt x="665" y="717"/>
                      <a:pt x="665" y="717"/>
                      <a:pt x="663" y="717"/>
                    </a:cubicBezTo>
                    <a:cubicBezTo>
                      <a:pt x="662" y="720"/>
                      <a:pt x="662" y="724"/>
                      <a:pt x="662" y="727"/>
                    </a:cubicBezTo>
                    <a:cubicBezTo>
                      <a:pt x="662" y="729"/>
                      <a:pt x="662" y="731"/>
                      <a:pt x="662" y="734"/>
                    </a:cubicBezTo>
                    <a:cubicBezTo>
                      <a:pt x="662" y="736"/>
                      <a:pt x="662" y="739"/>
                      <a:pt x="662" y="743"/>
                    </a:cubicBezTo>
                    <a:cubicBezTo>
                      <a:pt x="661" y="745"/>
                      <a:pt x="661" y="747"/>
                      <a:pt x="661" y="748"/>
                    </a:cubicBezTo>
                    <a:cubicBezTo>
                      <a:pt x="661" y="752"/>
                      <a:pt x="657" y="754"/>
                      <a:pt x="656" y="754"/>
                    </a:cubicBezTo>
                    <a:cubicBezTo>
                      <a:pt x="654" y="754"/>
                      <a:pt x="654" y="754"/>
                      <a:pt x="654" y="755"/>
                    </a:cubicBezTo>
                    <a:cubicBezTo>
                      <a:pt x="653" y="760"/>
                      <a:pt x="653" y="766"/>
                      <a:pt x="653" y="772"/>
                    </a:cubicBezTo>
                    <a:lnTo>
                      <a:pt x="653" y="775"/>
                    </a:lnTo>
                    <a:cubicBezTo>
                      <a:pt x="653" y="776"/>
                      <a:pt x="652" y="776"/>
                      <a:pt x="652" y="778"/>
                    </a:cubicBezTo>
                    <a:cubicBezTo>
                      <a:pt x="652" y="783"/>
                      <a:pt x="652" y="788"/>
                      <a:pt x="654" y="789"/>
                    </a:cubicBezTo>
                    <a:cubicBezTo>
                      <a:pt x="657" y="791"/>
                      <a:pt x="659" y="794"/>
                      <a:pt x="659" y="797"/>
                    </a:cubicBezTo>
                    <a:lnTo>
                      <a:pt x="657" y="825"/>
                    </a:lnTo>
                    <a:lnTo>
                      <a:pt x="652" y="824"/>
                    </a:lnTo>
                    <a:cubicBezTo>
                      <a:pt x="650" y="824"/>
                      <a:pt x="650" y="829"/>
                      <a:pt x="650" y="831"/>
                    </a:cubicBezTo>
                    <a:cubicBezTo>
                      <a:pt x="650" y="832"/>
                      <a:pt x="650" y="832"/>
                      <a:pt x="650" y="834"/>
                    </a:cubicBezTo>
                    <a:lnTo>
                      <a:pt x="650" y="840"/>
                    </a:lnTo>
                    <a:lnTo>
                      <a:pt x="644" y="838"/>
                    </a:lnTo>
                    <a:cubicBezTo>
                      <a:pt x="642" y="838"/>
                      <a:pt x="642" y="838"/>
                      <a:pt x="642" y="838"/>
                    </a:cubicBezTo>
                    <a:lnTo>
                      <a:pt x="642" y="841"/>
                    </a:lnTo>
                    <a:lnTo>
                      <a:pt x="642" y="843"/>
                    </a:lnTo>
                    <a:lnTo>
                      <a:pt x="641" y="844"/>
                    </a:lnTo>
                    <a:cubicBezTo>
                      <a:pt x="640" y="848"/>
                      <a:pt x="638" y="850"/>
                      <a:pt x="637" y="853"/>
                    </a:cubicBezTo>
                    <a:cubicBezTo>
                      <a:pt x="633" y="862"/>
                      <a:pt x="632" y="872"/>
                      <a:pt x="632" y="881"/>
                    </a:cubicBezTo>
                    <a:cubicBezTo>
                      <a:pt x="632" y="890"/>
                      <a:pt x="632" y="899"/>
                      <a:pt x="632" y="906"/>
                    </a:cubicBezTo>
                    <a:cubicBezTo>
                      <a:pt x="632" y="921"/>
                      <a:pt x="632" y="934"/>
                      <a:pt x="631" y="950"/>
                    </a:cubicBezTo>
                    <a:lnTo>
                      <a:pt x="629" y="954"/>
                    </a:lnTo>
                    <a:lnTo>
                      <a:pt x="624" y="953"/>
                    </a:lnTo>
                    <a:lnTo>
                      <a:pt x="624" y="954"/>
                    </a:lnTo>
                    <a:lnTo>
                      <a:pt x="622" y="954"/>
                    </a:lnTo>
                    <a:cubicBezTo>
                      <a:pt x="622" y="957"/>
                      <a:pt x="622" y="958"/>
                      <a:pt x="619" y="959"/>
                    </a:cubicBezTo>
                    <a:cubicBezTo>
                      <a:pt x="619" y="961"/>
                      <a:pt x="619" y="963"/>
                      <a:pt x="617" y="963"/>
                    </a:cubicBezTo>
                    <a:cubicBezTo>
                      <a:pt x="614" y="969"/>
                      <a:pt x="614" y="975"/>
                      <a:pt x="613" y="982"/>
                    </a:cubicBezTo>
                    <a:cubicBezTo>
                      <a:pt x="613" y="988"/>
                      <a:pt x="613" y="995"/>
                      <a:pt x="613" y="1001"/>
                    </a:cubicBezTo>
                    <a:cubicBezTo>
                      <a:pt x="613" y="1004"/>
                      <a:pt x="613" y="1006"/>
                      <a:pt x="613" y="1008"/>
                    </a:cubicBezTo>
                    <a:cubicBezTo>
                      <a:pt x="613" y="1013"/>
                      <a:pt x="613" y="1018"/>
                      <a:pt x="612" y="1022"/>
                    </a:cubicBezTo>
                    <a:cubicBezTo>
                      <a:pt x="612" y="1027"/>
                      <a:pt x="610" y="1028"/>
                      <a:pt x="607" y="1031"/>
                    </a:cubicBezTo>
                    <a:cubicBezTo>
                      <a:pt x="604" y="1031"/>
                      <a:pt x="603" y="1032"/>
                      <a:pt x="601" y="1034"/>
                    </a:cubicBezTo>
                    <a:cubicBezTo>
                      <a:pt x="593" y="1039"/>
                      <a:pt x="586" y="1044"/>
                      <a:pt x="580" y="1052"/>
                    </a:cubicBezTo>
                    <a:cubicBezTo>
                      <a:pt x="577" y="1055"/>
                      <a:pt x="575" y="1059"/>
                      <a:pt x="572" y="1064"/>
                    </a:cubicBezTo>
                    <a:cubicBezTo>
                      <a:pt x="572" y="1064"/>
                      <a:pt x="572" y="1067"/>
                      <a:pt x="572" y="1068"/>
                    </a:cubicBezTo>
                    <a:cubicBezTo>
                      <a:pt x="572" y="1069"/>
                      <a:pt x="572" y="1071"/>
                      <a:pt x="572" y="1072"/>
                    </a:cubicBezTo>
                    <a:cubicBezTo>
                      <a:pt x="572" y="1077"/>
                      <a:pt x="570" y="1081"/>
                      <a:pt x="567" y="1085"/>
                    </a:cubicBezTo>
                    <a:cubicBezTo>
                      <a:pt x="564" y="1089"/>
                      <a:pt x="561" y="1089"/>
                      <a:pt x="558" y="1090"/>
                    </a:cubicBezTo>
                    <a:cubicBezTo>
                      <a:pt x="558" y="1090"/>
                      <a:pt x="556" y="1090"/>
                      <a:pt x="555" y="1092"/>
                    </a:cubicBezTo>
                    <a:cubicBezTo>
                      <a:pt x="552" y="1093"/>
                      <a:pt x="551" y="1095"/>
                      <a:pt x="549" y="1096"/>
                    </a:cubicBezTo>
                    <a:cubicBezTo>
                      <a:pt x="548" y="1099"/>
                      <a:pt x="548" y="1102"/>
                      <a:pt x="548" y="1105"/>
                    </a:cubicBezTo>
                    <a:lnTo>
                      <a:pt x="547" y="1114"/>
                    </a:lnTo>
                    <a:lnTo>
                      <a:pt x="540" y="1111"/>
                    </a:lnTo>
                    <a:cubicBezTo>
                      <a:pt x="539" y="1112"/>
                      <a:pt x="539" y="1118"/>
                      <a:pt x="539" y="1120"/>
                    </a:cubicBezTo>
                    <a:lnTo>
                      <a:pt x="539" y="1125"/>
                    </a:lnTo>
                    <a:cubicBezTo>
                      <a:pt x="539" y="1132"/>
                      <a:pt x="539" y="1139"/>
                      <a:pt x="537" y="1146"/>
                    </a:cubicBezTo>
                    <a:cubicBezTo>
                      <a:pt x="535" y="1158"/>
                      <a:pt x="528" y="1161"/>
                      <a:pt x="524" y="1164"/>
                    </a:cubicBezTo>
                    <a:cubicBezTo>
                      <a:pt x="523" y="1164"/>
                      <a:pt x="519" y="1164"/>
                      <a:pt x="518" y="1164"/>
                    </a:cubicBezTo>
                    <a:lnTo>
                      <a:pt x="516" y="1164"/>
                    </a:lnTo>
                    <a:cubicBezTo>
                      <a:pt x="515" y="1164"/>
                      <a:pt x="515" y="1164"/>
                      <a:pt x="514" y="1164"/>
                    </a:cubicBezTo>
                    <a:cubicBezTo>
                      <a:pt x="514" y="1164"/>
                      <a:pt x="514" y="1166"/>
                      <a:pt x="514" y="1167"/>
                    </a:cubicBezTo>
                    <a:lnTo>
                      <a:pt x="514" y="1173"/>
                    </a:lnTo>
                    <a:lnTo>
                      <a:pt x="508" y="1171"/>
                    </a:lnTo>
                    <a:lnTo>
                      <a:pt x="506" y="1171"/>
                    </a:lnTo>
                    <a:cubicBezTo>
                      <a:pt x="506" y="1173"/>
                      <a:pt x="506" y="1173"/>
                      <a:pt x="506" y="1173"/>
                    </a:cubicBezTo>
                    <a:cubicBezTo>
                      <a:pt x="506" y="1176"/>
                      <a:pt x="505" y="1178"/>
                      <a:pt x="502" y="1179"/>
                    </a:cubicBezTo>
                    <a:cubicBezTo>
                      <a:pt x="500" y="1179"/>
                      <a:pt x="500" y="1181"/>
                      <a:pt x="500" y="1181"/>
                    </a:cubicBezTo>
                    <a:cubicBezTo>
                      <a:pt x="499" y="1182"/>
                      <a:pt x="498" y="1186"/>
                      <a:pt x="499" y="1189"/>
                    </a:cubicBezTo>
                    <a:cubicBezTo>
                      <a:pt x="499" y="1191"/>
                      <a:pt x="499" y="1192"/>
                      <a:pt x="500" y="1192"/>
                    </a:cubicBezTo>
                    <a:cubicBezTo>
                      <a:pt x="503" y="1192"/>
                      <a:pt x="505" y="1195"/>
                      <a:pt x="505" y="1199"/>
                    </a:cubicBezTo>
                    <a:lnTo>
                      <a:pt x="505" y="1207"/>
                    </a:lnTo>
                    <a:cubicBezTo>
                      <a:pt x="505" y="1209"/>
                      <a:pt x="505" y="1211"/>
                      <a:pt x="505" y="1213"/>
                    </a:cubicBezTo>
                    <a:cubicBezTo>
                      <a:pt x="505" y="1216"/>
                      <a:pt x="505" y="1220"/>
                      <a:pt x="505" y="1223"/>
                    </a:cubicBezTo>
                    <a:cubicBezTo>
                      <a:pt x="505" y="1226"/>
                      <a:pt x="502" y="1232"/>
                      <a:pt x="494" y="1232"/>
                    </a:cubicBezTo>
                    <a:cubicBezTo>
                      <a:pt x="491" y="1232"/>
                      <a:pt x="490" y="1234"/>
                      <a:pt x="489" y="1232"/>
                    </a:cubicBezTo>
                    <a:cubicBezTo>
                      <a:pt x="486" y="1232"/>
                      <a:pt x="483" y="1232"/>
                      <a:pt x="479" y="1232"/>
                    </a:cubicBezTo>
                    <a:cubicBezTo>
                      <a:pt x="478" y="1232"/>
                      <a:pt x="475" y="1232"/>
                      <a:pt x="474" y="1232"/>
                    </a:cubicBezTo>
                    <a:cubicBezTo>
                      <a:pt x="472" y="1232"/>
                      <a:pt x="471" y="1232"/>
                      <a:pt x="471" y="1232"/>
                    </a:cubicBezTo>
                    <a:cubicBezTo>
                      <a:pt x="463" y="1232"/>
                      <a:pt x="458" y="1234"/>
                      <a:pt x="454" y="1235"/>
                    </a:cubicBezTo>
                    <a:cubicBezTo>
                      <a:pt x="442" y="1239"/>
                      <a:pt x="441" y="1251"/>
                      <a:pt x="441" y="1265"/>
                    </a:cubicBezTo>
                    <a:lnTo>
                      <a:pt x="441" y="1268"/>
                    </a:lnTo>
                    <a:lnTo>
                      <a:pt x="438" y="1269"/>
                    </a:lnTo>
                    <a:cubicBezTo>
                      <a:pt x="433" y="1271"/>
                      <a:pt x="429" y="1274"/>
                      <a:pt x="426" y="1276"/>
                    </a:cubicBezTo>
                    <a:cubicBezTo>
                      <a:pt x="426" y="1276"/>
                      <a:pt x="425" y="1278"/>
                      <a:pt x="425" y="1280"/>
                    </a:cubicBezTo>
                    <a:cubicBezTo>
                      <a:pt x="423" y="1283"/>
                      <a:pt x="422" y="1284"/>
                      <a:pt x="419" y="1284"/>
                    </a:cubicBezTo>
                    <a:cubicBezTo>
                      <a:pt x="417" y="1284"/>
                      <a:pt x="417" y="1284"/>
                      <a:pt x="417" y="1284"/>
                    </a:cubicBezTo>
                    <a:cubicBezTo>
                      <a:pt x="416" y="1284"/>
                      <a:pt x="416" y="1284"/>
                      <a:pt x="416" y="1284"/>
                    </a:cubicBezTo>
                    <a:lnTo>
                      <a:pt x="405" y="1284"/>
                    </a:lnTo>
                    <a:cubicBezTo>
                      <a:pt x="398" y="1288"/>
                      <a:pt x="388" y="1288"/>
                      <a:pt x="381" y="1288"/>
                    </a:cubicBezTo>
                    <a:cubicBezTo>
                      <a:pt x="381" y="1288"/>
                      <a:pt x="374" y="1288"/>
                      <a:pt x="373" y="1288"/>
                    </a:cubicBezTo>
                    <a:cubicBezTo>
                      <a:pt x="365" y="1288"/>
                      <a:pt x="358" y="1288"/>
                      <a:pt x="351" y="1292"/>
                    </a:cubicBezTo>
                    <a:cubicBezTo>
                      <a:pt x="351" y="1292"/>
                      <a:pt x="349" y="1292"/>
                      <a:pt x="349" y="1293"/>
                    </a:cubicBezTo>
                    <a:cubicBezTo>
                      <a:pt x="348" y="1295"/>
                      <a:pt x="345" y="1296"/>
                      <a:pt x="340" y="1296"/>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sp>
            <p:nvSpPr>
              <p:cNvPr id="104" name="Freeform 103">
                <a:extLst>
                  <a:ext uri="{FF2B5EF4-FFF2-40B4-BE49-F238E27FC236}">
                    <a16:creationId xmlns:a16="http://schemas.microsoft.com/office/drawing/2014/main" id="{689374C3-FA89-A441-8689-2B881E575955}"/>
                  </a:ext>
                </a:extLst>
              </p:cNvPr>
              <p:cNvSpPr/>
              <p:nvPr/>
            </p:nvSpPr>
            <p:spPr>
              <a:xfrm>
                <a:off x="10280257" y="6394380"/>
                <a:ext cx="1779824" cy="3764628"/>
              </a:xfrm>
              <a:custGeom>
                <a:avLst/>
                <a:gdLst/>
                <a:ahLst/>
                <a:cxnLst>
                  <a:cxn ang="3cd4">
                    <a:pos x="hc" y="t"/>
                  </a:cxn>
                  <a:cxn ang="cd2">
                    <a:pos x="l" y="vc"/>
                  </a:cxn>
                  <a:cxn ang="cd4">
                    <a:pos x="hc" y="b"/>
                  </a:cxn>
                  <a:cxn ang="0">
                    <a:pos x="r" y="vc"/>
                  </a:cxn>
                </a:cxnLst>
                <a:rect l="l" t="t" r="r" b="b"/>
                <a:pathLst>
                  <a:path w="713" h="1507">
                    <a:moveTo>
                      <a:pt x="406" y="1507"/>
                    </a:moveTo>
                    <a:cubicBezTo>
                      <a:pt x="405" y="1507"/>
                      <a:pt x="402" y="1507"/>
                      <a:pt x="401" y="1506"/>
                    </a:cubicBezTo>
                    <a:cubicBezTo>
                      <a:pt x="399" y="1506"/>
                      <a:pt x="399" y="1506"/>
                      <a:pt x="399" y="1506"/>
                    </a:cubicBezTo>
                    <a:lnTo>
                      <a:pt x="393" y="1506"/>
                    </a:lnTo>
                    <a:lnTo>
                      <a:pt x="394" y="1500"/>
                    </a:lnTo>
                    <a:lnTo>
                      <a:pt x="394" y="1499"/>
                    </a:lnTo>
                    <a:cubicBezTo>
                      <a:pt x="394" y="1499"/>
                      <a:pt x="393" y="1499"/>
                      <a:pt x="389" y="1499"/>
                    </a:cubicBezTo>
                    <a:cubicBezTo>
                      <a:pt x="389" y="1499"/>
                      <a:pt x="387" y="1499"/>
                      <a:pt x="386" y="1499"/>
                    </a:cubicBezTo>
                    <a:lnTo>
                      <a:pt x="385" y="1499"/>
                    </a:lnTo>
                    <a:lnTo>
                      <a:pt x="378" y="1499"/>
                    </a:lnTo>
                    <a:lnTo>
                      <a:pt x="380" y="1492"/>
                    </a:lnTo>
                    <a:cubicBezTo>
                      <a:pt x="380" y="1491"/>
                      <a:pt x="380" y="1491"/>
                      <a:pt x="380" y="1491"/>
                    </a:cubicBezTo>
                    <a:lnTo>
                      <a:pt x="378" y="1491"/>
                    </a:lnTo>
                    <a:lnTo>
                      <a:pt x="377" y="1490"/>
                    </a:lnTo>
                    <a:cubicBezTo>
                      <a:pt x="373" y="1490"/>
                      <a:pt x="369" y="1488"/>
                      <a:pt x="365" y="1485"/>
                    </a:cubicBezTo>
                    <a:cubicBezTo>
                      <a:pt x="364" y="1483"/>
                      <a:pt x="362" y="1482"/>
                      <a:pt x="362" y="1482"/>
                    </a:cubicBezTo>
                    <a:cubicBezTo>
                      <a:pt x="357" y="1480"/>
                      <a:pt x="357" y="1478"/>
                      <a:pt x="356" y="1476"/>
                    </a:cubicBezTo>
                    <a:lnTo>
                      <a:pt x="356" y="1475"/>
                    </a:lnTo>
                    <a:cubicBezTo>
                      <a:pt x="354" y="1471"/>
                      <a:pt x="353" y="1470"/>
                      <a:pt x="350" y="1469"/>
                    </a:cubicBezTo>
                    <a:cubicBezTo>
                      <a:pt x="349" y="1467"/>
                      <a:pt x="347" y="1467"/>
                      <a:pt x="345" y="1466"/>
                    </a:cubicBezTo>
                    <a:cubicBezTo>
                      <a:pt x="341" y="1463"/>
                      <a:pt x="341" y="1458"/>
                      <a:pt x="341" y="1457"/>
                    </a:cubicBezTo>
                    <a:lnTo>
                      <a:pt x="341" y="1455"/>
                    </a:lnTo>
                    <a:cubicBezTo>
                      <a:pt x="341" y="1454"/>
                      <a:pt x="343" y="1451"/>
                      <a:pt x="343" y="1451"/>
                    </a:cubicBezTo>
                    <a:lnTo>
                      <a:pt x="343" y="1446"/>
                    </a:lnTo>
                    <a:cubicBezTo>
                      <a:pt x="341" y="1441"/>
                      <a:pt x="338" y="1438"/>
                      <a:pt x="334" y="1433"/>
                    </a:cubicBezTo>
                    <a:cubicBezTo>
                      <a:pt x="331" y="1431"/>
                      <a:pt x="329" y="1430"/>
                      <a:pt x="328" y="1429"/>
                    </a:cubicBezTo>
                    <a:cubicBezTo>
                      <a:pt x="322" y="1423"/>
                      <a:pt x="321" y="1417"/>
                      <a:pt x="321" y="1411"/>
                    </a:cubicBezTo>
                    <a:lnTo>
                      <a:pt x="319" y="1411"/>
                    </a:lnTo>
                    <a:cubicBezTo>
                      <a:pt x="317" y="1411"/>
                      <a:pt x="313" y="1410"/>
                      <a:pt x="313" y="1403"/>
                    </a:cubicBezTo>
                    <a:cubicBezTo>
                      <a:pt x="313" y="1402"/>
                      <a:pt x="312" y="1401"/>
                      <a:pt x="310" y="1399"/>
                    </a:cubicBezTo>
                    <a:cubicBezTo>
                      <a:pt x="309" y="1398"/>
                      <a:pt x="307" y="1394"/>
                      <a:pt x="305" y="1392"/>
                    </a:cubicBezTo>
                    <a:lnTo>
                      <a:pt x="305" y="1390"/>
                    </a:lnTo>
                    <a:lnTo>
                      <a:pt x="305" y="1389"/>
                    </a:lnTo>
                    <a:lnTo>
                      <a:pt x="305" y="1387"/>
                    </a:lnTo>
                    <a:lnTo>
                      <a:pt x="303" y="1387"/>
                    </a:lnTo>
                    <a:lnTo>
                      <a:pt x="298" y="1387"/>
                    </a:lnTo>
                    <a:lnTo>
                      <a:pt x="298" y="1382"/>
                    </a:lnTo>
                    <a:cubicBezTo>
                      <a:pt x="298" y="1377"/>
                      <a:pt x="294" y="1374"/>
                      <a:pt x="288" y="1369"/>
                    </a:cubicBezTo>
                    <a:cubicBezTo>
                      <a:pt x="279" y="1362"/>
                      <a:pt x="275" y="1353"/>
                      <a:pt x="276" y="1343"/>
                    </a:cubicBezTo>
                    <a:cubicBezTo>
                      <a:pt x="277" y="1341"/>
                      <a:pt x="277" y="1340"/>
                      <a:pt x="276" y="1338"/>
                    </a:cubicBezTo>
                    <a:cubicBezTo>
                      <a:pt x="276" y="1337"/>
                      <a:pt x="276" y="1334"/>
                      <a:pt x="276" y="1331"/>
                    </a:cubicBezTo>
                    <a:cubicBezTo>
                      <a:pt x="277" y="1329"/>
                      <a:pt x="277" y="1327"/>
                      <a:pt x="277" y="1325"/>
                    </a:cubicBezTo>
                    <a:cubicBezTo>
                      <a:pt x="277" y="1322"/>
                      <a:pt x="279" y="1321"/>
                      <a:pt x="279" y="1319"/>
                    </a:cubicBezTo>
                    <a:cubicBezTo>
                      <a:pt x="279" y="1312"/>
                      <a:pt x="279" y="1310"/>
                      <a:pt x="277" y="1310"/>
                    </a:cubicBezTo>
                    <a:cubicBezTo>
                      <a:pt x="277" y="1309"/>
                      <a:pt x="277" y="1309"/>
                      <a:pt x="276" y="1309"/>
                    </a:cubicBezTo>
                    <a:lnTo>
                      <a:pt x="271" y="1309"/>
                    </a:lnTo>
                    <a:lnTo>
                      <a:pt x="271" y="1304"/>
                    </a:lnTo>
                    <a:cubicBezTo>
                      <a:pt x="272" y="1301"/>
                      <a:pt x="272" y="1299"/>
                      <a:pt x="272" y="1297"/>
                    </a:cubicBezTo>
                    <a:cubicBezTo>
                      <a:pt x="272" y="1291"/>
                      <a:pt x="272" y="1285"/>
                      <a:pt x="272" y="1279"/>
                    </a:cubicBezTo>
                    <a:cubicBezTo>
                      <a:pt x="272" y="1276"/>
                      <a:pt x="272" y="1272"/>
                      <a:pt x="271" y="1271"/>
                    </a:cubicBezTo>
                    <a:lnTo>
                      <a:pt x="268" y="1271"/>
                    </a:lnTo>
                    <a:cubicBezTo>
                      <a:pt x="266" y="1268"/>
                      <a:pt x="264" y="1267"/>
                      <a:pt x="264" y="1263"/>
                    </a:cubicBezTo>
                    <a:lnTo>
                      <a:pt x="264" y="1257"/>
                    </a:lnTo>
                    <a:lnTo>
                      <a:pt x="266" y="1257"/>
                    </a:lnTo>
                    <a:cubicBezTo>
                      <a:pt x="266" y="1255"/>
                      <a:pt x="266" y="1255"/>
                      <a:pt x="266" y="1255"/>
                    </a:cubicBezTo>
                    <a:cubicBezTo>
                      <a:pt x="264" y="1255"/>
                      <a:pt x="263" y="1255"/>
                      <a:pt x="263" y="1254"/>
                    </a:cubicBezTo>
                    <a:lnTo>
                      <a:pt x="259" y="1254"/>
                    </a:lnTo>
                    <a:lnTo>
                      <a:pt x="257" y="1250"/>
                    </a:lnTo>
                    <a:lnTo>
                      <a:pt x="260" y="1190"/>
                    </a:lnTo>
                    <a:cubicBezTo>
                      <a:pt x="260" y="1187"/>
                      <a:pt x="260" y="1183"/>
                      <a:pt x="260" y="1180"/>
                    </a:cubicBezTo>
                    <a:cubicBezTo>
                      <a:pt x="260" y="1178"/>
                      <a:pt x="261" y="1175"/>
                      <a:pt x="261" y="1173"/>
                    </a:cubicBezTo>
                    <a:cubicBezTo>
                      <a:pt x="261" y="1170"/>
                      <a:pt x="261" y="1165"/>
                      <a:pt x="260" y="1164"/>
                    </a:cubicBezTo>
                    <a:cubicBezTo>
                      <a:pt x="260" y="1162"/>
                      <a:pt x="259" y="1162"/>
                      <a:pt x="259" y="1162"/>
                    </a:cubicBezTo>
                    <a:lnTo>
                      <a:pt x="254" y="1161"/>
                    </a:lnTo>
                    <a:lnTo>
                      <a:pt x="254" y="1157"/>
                    </a:lnTo>
                    <a:cubicBezTo>
                      <a:pt x="254" y="1155"/>
                      <a:pt x="254" y="1153"/>
                      <a:pt x="254" y="1152"/>
                    </a:cubicBezTo>
                    <a:cubicBezTo>
                      <a:pt x="254" y="1150"/>
                      <a:pt x="254" y="1149"/>
                      <a:pt x="254" y="1147"/>
                    </a:cubicBezTo>
                    <a:cubicBezTo>
                      <a:pt x="252" y="1147"/>
                      <a:pt x="252" y="1147"/>
                      <a:pt x="252" y="1146"/>
                    </a:cubicBezTo>
                    <a:cubicBezTo>
                      <a:pt x="250" y="1146"/>
                      <a:pt x="248" y="1145"/>
                      <a:pt x="248" y="1145"/>
                    </a:cubicBezTo>
                    <a:cubicBezTo>
                      <a:pt x="245" y="1141"/>
                      <a:pt x="247" y="1140"/>
                      <a:pt x="247" y="1138"/>
                    </a:cubicBezTo>
                    <a:lnTo>
                      <a:pt x="247" y="1137"/>
                    </a:lnTo>
                    <a:lnTo>
                      <a:pt x="247" y="1136"/>
                    </a:lnTo>
                    <a:cubicBezTo>
                      <a:pt x="247" y="1134"/>
                      <a:pt x="247" y="1133"/>
                      <a:pt x="247" y="1131"/>
                    </a:cubicBezTo>
                    <a:lnTo>
                      <a:pt x="245" y="1131"/>
                    </a:lnTo>
                    <a:cubicBezTo>
                      <a:pt x="239" y="1130"/>
                      <a:pt x="239" y="1124"/>
                      <a:pt x="239" y="1121"/>
                    </a:cubicBezTo>
                    <a:cubicBezTo>
                      <a:pt x="239" y="1119"/>
                      <a:pt x="239" y="1119"/>
                      <a:pt x="239" y="1118"/>
                    </a:cubicBezTo>
                    <a:cubicBezTo>
                      <a:pt x="239" y="1116"/>
                      <a:pt x="239" y="1113"/>
                      <a:pt x="239" y="1112"/>
                    </a:cubicBezTo>
                    <a:cubicBezTo>
                      <a:pt x="239" y="1109"/>
                      <a:pt x="239" y="1105"/>
                      <a:pt x="240" y="1100"/>
                    </a:cubicBezTo>
                    <a:cubicBezTo>
                      <a:pt x="240" y="1096"/>
                      <a:pt x="242" y="1091"/>
                      <a:pt x="242" y="1088"/>
                    </a:cubicBezTo>
                    <a:cubicBezTo>
                      <a:pt x="242" y="1087"/>
                      <a:pt x="242" y="1085"/>
                      <a:pt x="240" y="1085"/>
                    </a:cubicBezTo>
                    <a:cubicBezTo>
                      <a:pt x="240" y="1084"/>
                      <a:pt x="239" y="1084"/>
                      <a:pt x="238" y="1084"/>
                    </a:cubicBezTo>
                    <a:lnTo>
                      <a:pt x="236" y="1084"/>
                    </a:lnTo>
                    <a:lnTo>
                      <a:pt x="235" y="1084"/>
                    </a:lnTo>
                    <a:lnTo>
                      <a:pt x="233" y="1084"/>
                    </a:lnTo>
                    <a:lnTo>
                      <a:pt x="232" y="1084"/>
                    </a:lnTo>
                    <a:cubicBezTo>
                      <a:pt x="229" y="1084"/>
                      <a:pt x="226" y="1082"/>
                      <a:pt x="226" y="1080"/>
                    </a:cubicBezTo>
                    <a:cubicBezTo>
                      <a:pt x="224" y="1077"/>
                      <a:pt x="222" y="1077"/>
                      <a:pt x="220" y="1076"/>
                    </a:cubicBezTo>
                    <a:cubicBezTo>
                      <a:pt x="218" y="1076"/>
                      <a:pt x="217" y="1076"/>
                      <a:pt x="215" y="1076"/>
                    </a:cubicBezTo>
                    <a:lnTo>
                      <a:pt x="214" y="1076"/>
                    </a:lnTo>
                    <a:lnTo>
                      <a:pt x="211" y="1076"/>
                    </a:lnTo>
                    <a:cubicBezTo>
                      <a:pt x="210" y="1076"/>
                      <a:pt x="210" y="1076"/>
                      <a:pt x="210" y="1076"/>
                    </a:cubicBezTo>
                    <a:cubicBezTo>
                      <a:pt x="207" y="1076"/>
                      <a:pt x="202" y="1073"/>
                      <a:pt x="203" y="1069"/>
                    </a:cubicBezTo>
                    <a:lnTo>
                      <a:pt x="203" y="1057"/>
                    </a:lnTo>
                    <a:cubicBezTo>
                      <a:pt x="203" y="1056"/>
                      <a:pt x="203" y="1056"/>
                      <a:pt x="203" y="1054"/>
                    </a:cubicBezTo>
                    <a:lnTo>
                      <a:pt x="203" y="1052"/>
                    </a:lnTo>
                    <a:cubicBezTo>
                      <a:pt x="203" y="1052"/>
                      <a:pt x="202" y="1052"/>
                      <a:pt x="201" y="1052"/>
                    </a:cubicBezTo>
                    <a:lnTo>
                      <a:pt x="173" y="1051"/>
                    </a:lnTo>
                    <a:lnTo>
                      <a:pt x="173" y="1045"/>
                    </a:lnTo>
                    <a:cubicBezTo>
                      <a:pt x="174" y="1042"/>
                      <a:pt x="174" y="1038"/>
                      <a:pt x="171" y="1036"/>
                    </a:cubicBezTo>
                    <a:lnTo>
                      <a:pt x="170" y="1036"/>
                    </a:lnTo>
                    <a:cubicBezTo>
                      <a:pt x="168" y="1035"/>
                      <a:pt x="165" y="1032"/>
                      <a:pt x="166" y="1027"/>
                    </a:cubicBezTo>
                    <a:lnTo>
                      <a:pt x="166" y="1026"/>
                    </a:lnTo>
                    <a:cubicBezTo>
                      <a:pt x="166" y="1024"/>
                      <a:pt x="166" y="1023"/>
                      <a:pt x="165" y="1021"/>
                    </a:cubicBezTo>
                    <a:cubicBezTo>
                      <a:pt x="162" y="1017"/>
                      <a:pt x="161" y="1014"/>
                      <a:pt x="158" y="1012"/>
                    </a:cubicBezTo>
                    <a:cubicBezTo>
                      <a:pt x="158" y="1012"/>
                      <a:pt x="156" y="1012"/>
                      <a:pt x="154" y="1012"/>
                    </a:cubicBezTo>
                    <a:lnTo>
                      <a:pt x="152" y="1011"/>
                    </a:lnTo>
                    <a:lnTo>
                      <a:pt x="152" y="1000"/>
                    </a:lnTo>
                    <a:lnTo>
                      <a:pt x="152" y="999"/>
                    </a:lnTo>
                    <a:cubicBezTo>
                      <a:pt x="152" y="998"/>
                      <a:pt x="152" y="998"/>
                      <a:pt x="152" y="996"/>
                    </a:cubicBezTo>
                    <a:cubicBezTo>
                      <a:pt x="150" y="994"/>
                      <a:pt x="152" y="991"/>
                      <a:pt x="152" y="984"/>
                    </a:cubicBezTo>
                    <a:cubicBezTo>
                      <a:pt x="153" y="980"/>
                      <a:pt x="154" y="970"/>
                      <a:pt x="153" y="967"/>
                    </a:cubicBezTo>
                    <a:cubicBezTo>
                      <a:pt x="153" y="966"/>
                      <a:pt x="152" y="966"/>
                      <a:pt x="152" y="966"/>
                    </a:cubicBezTo>
                    <a:lnTo>
                      <a:pt x="150" y="966"/>
                    </a:lnTo>
                    <a:lnTo>
                      <a:pt x="146" y="966"/>
                    </a:lnTo>
                    <a:lnTo>
                      <a:pt x="146" y="961"/>
                    </a:lnTo>
                    <a:cubicBezTo>
                      <a:pt x="146" y="959"/>
                      <a:pt x="146" y="958"/>
                      <a:pt x="146" y="956"/>
                    </a:cubicBezTo>
                    <a:cubicBezTo>
                      <a:pt x="146" y="955"/>
                      <a:pt x="147" y="952"/>
                      <a:pt x="146" y="950"/>
                    </a:cubicBezTo>
                    <a:lnTo>
                      <a:pt x="145" y="950"/>
                    </a:lnTo>
                    <a:cubicBezTo>
                      <a:pt x="141" y="949"/>
                      <a:pt x="140" y="949"/>
                      <a:pt x="140" y="947"/>
                    </a:cubicBezTo>
                    <a:cubicBezTo>
                      <a:pt x="138" y="945"/>
                      <a:pt x="138" y="943"/>
                      <a:pt x="138" y="942"/>
                    </a:cubicBezTo>
                    <a:lnTo>
                      <a:pt x="138" y="940"/>
                    </a:lnTo>
                    <a:lnTo>
                      <a:pt x="138" y="938"/>
                    </a:lnTo>
                    <a:cubicBezTo>
                      <a:pt x="138" y="937"/>
                      <a:pt x="140" y="935"/>
                      <a:pt x="138" y="935"/>
                    </a:cubicBezTo>
                    <a:cubicBezTo>
                      <a:pt x="138" y="934"/>
                      <a:pt x="138" y="934"/>
                      <a:pt x="138" y="934"/>
                    </a:cubicBezTo>
                    <a:cubicBezTo>
                      <a:pt x="137" y="934"/>
                      <a:pt x="137" y="934"/>
                      <a:pt x="137" y="934"/>
                    </a:cubicBezTo>
                    <a:cubicBezTo>
                      <a:pt x="134" y="934"/>
                      <a:pt x="133" y="933"/>
                      <a:pt x="131" y="930"/>
                    </a:cubicBezTo>
                    <a:cubicBezTo>
                      <a:pt x="131" y="928"/>
                      <a:pt x="129" y="927"/>
                      <a:pt x="129" y="925"/>
                    </a:cubicBezTo>
                    <a:cubicBezTo>
                      <a:pt x="128" y="922"/>
                      <a:pt x="126" y="919"/>
                      <a:pt x="125" y="917"/>
                    </a:cubicBezTo>
                    <a:cubicBezTo>
                      <a:pt x="124" y="913"/>
                      <a:pt x="122" y="912"/>
                      <a:pt x="121" y="909"/>
                    </a:cubicBezTo>
                    <a:cubicBezTo>
                      <a:pt x="121" y="906"/>
                      <a:pt x="119" y="905"/>
                      <a:pt x="118" y="902"/>
                    </a:cubicBezTo>
                    <a:cubicBezTo>
                      <a:pt x="114" y="894"/>
                      <a:pt x="112" y="889"/>
                      <a:pt x="106" y="882"/>
                    </a:cubicBezTo>
                    <a:cubicBezTo>
                      <a:pt x="104" y="881"/>
                      <a:pt x="101" y="881"/>
                      <a:pt x="98" y="879"/>
                    </a:cubicBezTo>
                    <a:cubicBezTo>
                      <a:pt x="94" y="877"/>
                      <a:pt x="96" y="870"/>
                      <a:pt x="96" y="866"/>
                    </a:cubicBezTo>
                    <a:cubicBezTo>
                      <a:pt x="96" y="865"/>
                      <a:pt x="96" y="865"/>
                      <a:pt x="96" y="865"/>
                    </a:cubicBezTo>
                    <a:lnTo>
                      <a:pt x="97" y="836"/>
                    </a:lnTo>
                    <a:lnTo>
                      <a:pt x="103" y="838"/>
                    </a:lnTo>
                    <a:cubicBezTo>
                      <a:pt x="104" y="838"/>
                      <a:pt x="104" y="833"/>
                      <a:pt x="104" y="832"/>
                    </a:cubicBezTo>
                    <a:lnTo>
                      <a:pt x="104" y="830"/>
                    </a:lnTo>
                    <a:cubicBezTo>
                      <a:pt x="104" y="828"/>
                      <a:pt x="106" y="824"/>
                      <a:pt x="110" y="823"/>
                    </a:cubicBezTo>
                    <a:lnTo>
                      <a:pt x="110" y="821"/>
                    </a:lnTo>
                    <a:cubicBezTo>
                      <a:pt x="110" y="821"/>
                      <a:pt x="112" y="821"/>
                      <a:pt x="112" y="820"/>
                    </a:cubicBezTo>
                    <a:cubicBezTo>
                      <a:pt x="112" y="820"/>
                      <a:pt x="110" y="819"/>
                      <a:pt x="110" y="817"/>
                    </a:cubicBezTo>
                    <a:cubicBezTo>
                      <a:pt x="104" y="817"/>
                      <a:pt x="104" y="809"/>
                      <a:pt x="106" y="803"/>
                    </a:cubicBezTo>
                    <a:lnTo>
                      <a:pt x="106" y="801"/>
                    </a:lnTo>
                    <a:lnTo>
                      <a:pt x="106" y="783"/>
                    </a:lnTo>
                    <a:lnTo>
                      <a:pt x="112" y="784"/>
                    </a:lnTo>
                    <a:lnTo>
                      <a:pt x="113" y="784"/>
                    </a:lnTo>
                    <a:lnTo>
                      <a:pt x="113" y="783"/>
                    </a:lnTo>
                    <a:cubicBezTo>
                      <a:pt x="113" y="782"/>
                      <a:pt x="114" y="780"/>
                      <a:pt x="114" y="777"/>
                    </a:cubicBezTo>
                    <a:cubicBezTo>
                      <a:pt x="116" y="776"/>
                      <a:pt x="118" y="775"/>
                      <a:pt x="119" y="772"/>
                    </a:cubicBezTo>
                    <a:cubicBezTo>
                      <a:pt x="121" y="770"/>
                      <a:pt x="122" y="768"/>
                      <a:pt x="122" y="767"/>
                    </a:cubicBezTo>
                    <a:lnTo>
                      <a:pt x="122" y="761"/>
                    </a:lnTo>
                    <a:lnTo>
                      <a:pt x="128" y="763"/>
                    </a:lnTo>
                    <a:cubicBezTo>
                      <a:pt x="129" y="763"/>
                      <a:pt x="129" y="763"/>
                      <a:pt x="129" y="763"/>
                    </a:cubicBezTo>
                    <a:lnTo>
                      <a:pt x="129" y="759"/>
                    </a:lnTo>
                    <a:lnTo>
                      <a:pt x="131" y="728"/>
                    </a:lnTo>
                    <a:lnTo>
                      <a:pt x="138" y="733"/>
                    </a:lnTo>
                    <a:cubicBezTo>
                      <a:pt x="138" y="731"/>
                      <a:pt x="141" y="728"/>
                      <a:pt x="141" y="721"/>
                    </a:cubicBezTo>
                    <a:cubicBezTo>
                      <a:pt x="141" y="715"/>
                      <a:pt x="140" y="711"/>
                      <a:pt x="138" y="711"/>
                    </a:cubicBezTo>
                    <a:lnTo>
                      <a:pt x="133" y="714"/>
                    </a:lnTo>
                    <a:lnTo>
                      <a:pt x="133" y="706"/>
                    </a:lnTo>
                    <a:cubicBezTo>
                      <a:pt x="133" y="705"/>
                      <a:pt x="133" y="703"/>
                      <a:pt x="133" y="700"/>
                    </a:cubicBezTo>
                    <a:cubicBezTo>
                      <a:pt x="133" y="697"/>
                      <a:pt x="134" y="691"/>
                      <a:pt x="131" y="690"/>
                    </a:cubicBezTo>
                    <a:lnTo>
                      <a:pt x="131" y="688"/>
                    </a:lnTo>
                    <a:cubicBezTo>
                      <a:pt x="129" y="687"/>
                      <a:pt x="125" y="686"/>
                      <a:pt x="125" y="681"/>
                    </a:cubicBezTo>
                    <a:lnTo>
                      <a:pt x="126" y="670"/>
                    </a:lnTo>
                    <a:cubicBezTo>
                      <a:pt x="125" y="672"/>
                      <a:pt x="122" y="672"/>
                      <a:pt x="122" y="672"/>
                    </a:cubicBezTo>
                    <a:cubicBezTo>
                      <a:pt x="121" y="672"/>
                      <a:pt x="121" y="672"/>
                      <a:pt x="121" y="672"/>
                    </a:cubicBezTo>
                    <a:lnTo>
                      <a:pt x="119" y="672"/>
                    </a:lnTo>
                    <a:lnTo>
                      <a:pt x="94" y="670"/>
                    </a:lnTo>
                    <a:lnTo>
                      <a:pt x="96" y="665"/>
                    </a:lnTo>
                    <a:lnTo>
                      <a:pt x="96" y="663"/>
                    </a:lnTo>
                    <a:lnTo>
                      <a:pt x="94" y="663"/>
                    </a:lnTo>
                    <a:cubicBezTo>
                      <a:pt x="89" y="663"/>
                      <a:pt x="88" y="660"/>
                      <a:pt x="88" y="656"/>
                    </a:cubicBezTo>
                    <a:lnTo>
                      <a:pt x="88" y="653"/>
                    </a:lnTo>
                    <a:lnTo>
                      <a:pt x="88" y="650"/>
                    </a:lnTo>
                    <a:cubicBezTo>
                      <a:pt x="88" y="649"/>
                      <a:pt x="88" y="646"/>
                      <a:pt x="88" y="646"/>
                    </a:cubicBezTo>
                    <a:cubicBezTo>
                      <a:pt x="88" y="645"/>
                      <a:pt x="88" y="642"/>
                      <a:pt x="88" y="641"/>
                    </a:cubicBezTo>
                    <a:cubicBezTo>
                      <a:pt x="89" y="635"/>
                      <a:pt x="89" y="630"/>
                      <a:pt x="88" y="626"/>
                    </a:cubicBezTo>
                    <a:cubicBezTo>
                      <a:pt x="88" y="625"/>
                      <a:pt x="86" y="625"/>
                      <a:pt x="85" y="625"/>
                    </a:cubicBezTo>
                    <a:lnTo>
                      <a:pt x="82" y="623"/>
                    </a:lnTo>
                    <a:lnTo>
                      <a:pt x="82" y="620"/>
                    </a:lnTo>
                    <a:cubicBezTo>
                      <a:pt x="81" y="618"/>
                      <a:pt x="81" y="617"/>
                      <a:pt x="79" y="616"/>
                    </a:cubicBezTo>
                    <a:lnTo>
                      <a:pt x="77" y="614"/>
                    </a:lnTo>
                    <a:cubicBezTo>
                      <a:pt x="75" y="610"/>
                      <a:pt x="75" y="607"/>
                      <a:pt x="75" y="604"/>
                    </a:cubicBezTo>
                    <a:cubicBezTo>
                      <a:pt x="75" y="602"/>
                      <a:pt x="75" y="602"/>
                      <a:pt x="75" y="601"/>
                    </a:cubicBezTo>
                    <a:cubicBezTo>
                      <a:pt x="75" y="601"/>
                      <a:pt x="73" y="601"/>
                      <a:pt x="72" y="601"/>
                    </a:cubicBezTo>
                    <a:lnTo>
                      <a:pt x="66" y="600"/>
                    </a:lnTo>
                    <a:lnTo>
                      <a:pt x="68" y="595"/>
                    </a:lnTo>
                    <a:cubicBezTo>
                      <a:pt x="68" y="593"/>
                      <a:pt x="68" y="593"/>
                      <a:pt x="68" y="593"/>
                    </a:cubicBezTo>
                    <a:cubicBezTo>
                      <a:pt x="68" y="593"/>
                      <a:pt x="66" y="593"/>
                      <a:pt x="64" y="592"/>
                    </a:cubicBezTo>
                    <a:lnTo>
                      <a:pt x="59" y="592"/>
                    </a:lnTo>
                    <a:lnTo>
                      <a:pt x="60" y="586"/>
                    </a:lnTo>
                    <a:cubicBezTo>
                      <a:pt x="60" y="586"/>
                      <a:pt x="59" y="585"/>
                      <a:pt x="54" y="585"/>
                    </a:cubicBezTo>
                    <a:lnTo>
                      <a:pt x="52" y="585"/>
                    </a:lnTo>
                    <a:cubicBezTo>
                      <a:pt x="51" y="585"/>
                      <a:pt x="49" y="585"/>
                      <a:pt x="49" y="585"/>
                    </a:cubicBezTo>
                    <a:lnTo>
                      <a:pt x="47" y="585"/>
                    </a:lnTo>
                    <a:lnTo>
                      <a:pt x="45" y="581"/>
                    </a:lnTo>
                    <a:cubicBezTo>
                      <a:pt x="42" y="576"/>
                      <a:pt x="40" y="572"/>
                      <a:pt x="36" y="568"/>
                    </a:cubicBezTo>
                    <a:lnTo>
                      <a:pt x="35" y="568"/>
                    </a:lnTo>
                    <a:cubicBezTo>
                      <a:pt x="32" y="567"/>
                      <a:pt x="31" y="565"/>
                      <a:pt x="31" y="561"/>
                    </a:cubicBezTo>
                    <a:lnTo>
                      <a:pt x="31" y="560"/>
                    </a:lnTo>
                    <a:cubicBezTo>
                      <a:pt x="31" y="558"/>
                      <a:pt x="31" y="558"/>
                      <a:pt x="31" y="556"/>
                    </a:cubicBezTo>
                    <a:cubicBezTo>
                      <a:pt x="31" y="556"/>
                      <a:pt x="31" y="555"/>
                      <a:pt x="29" y="555"/>
                    </a:cubicBezTo>
                    <a:cubicBezTo>
                      <a:pt x="27" y="553"/>
                      <a:pt x="26" y="553"/>
                      <a:pt x="23" y="553"/>
                    </a:cubicBezTo>
                    <a:cubicBezTo>
                      <a:pt x="20" y="552"/>
                      <a:pt x="17" y="552"/>
                      <a:pt x="12" y="549"/>
                    </a:cubicBezTo>
                    <a:lnTo>
                      <a:pt x="11" y="548"/>
                    </a:lnTo>
                    <a:cubicBezTo>
                      <a:pt x="10" y="546"/>
                      <a:pt x="8" y="544"/>
                      <a:pt x="7" y="544"/>
                    </a:cubicBezTo>
                    <a:cubicBezTo>
                      <a:pt x="0" y="544"/>
                      <a:pt x="0" y="540"/>
                      <a:pt x="0" y="537"/>
                    </a:cubicBezTo>
                    <a:lnTo>
                      <a:pt x="4" y="441"/>
                    </a:lnTo>
                    <a:cubicBezTo>
                      <a:pt x="5" y="438"/>
                      <a:pt x="7" y="437"/>
                      <a:pt x="8" y="434"/>
                    </a:cubicBezTo>
                    <a:lnTo>
                      <a:pt x="10" y="435"/>
                    </a:lnTo>
                    <a:cubicBezTo>
                      <a:pt x="11" y="435"/>
                      <a:pt x="11" y="435"/>
                      <a:pt x="11" y="435"/>
                    </a:cubicBezTo>
                    <a:cubicBezTo>
                      <a:pt x="12" y="434"/>
                      <a:pt x="12" y="428"/>
                      <a:pt x="12" y="426"/>
                    </a:cubicBezTo>
                    <a:lnTo>
                      <a:pt x="12" y="425"/>
                    </a:lnTo>
                    <a:lnTo>
                      <a:pt x="15" y="419"/>
                    </a:lnTo>
                    <a:lnTo>
                      <a:pt x="19" y="419"/>
                    </a:lnTo>
                    <a:lnTo>
                      <a:pt x="20" y="419"/>
                    </a:lnTo>
                    <a:lnTo>
                      <a:pt x="20" y="414"/>
                    </a:lnTo>
                    <a:lnTo>
                      <a:pt x="20" y="409"/>
                    </a:lnTo>
                    <a:cubicBezTo>
                      <a:pt x="122" y="218"/>
                      <a:pt x="294" y="71"/>
                      <a:pt x="500" y="0"/>
                    </a:cubicBezTo>
                    <a:cubicBezTo>
                      <a:pt x="500" y="1"/>
                      <a:pt x="500" y="1"/>
                      <a:pt x="500" y="1"/>
                    </a:cubicBezTo>
                    <a:cubicBezTo>
                      <a:pt x="500" y="6"/>
                      <a:pt x="499" y="11"/>
                      <a:pt x="495" y="18"/>
                    </a:cubicBezTo>
                    <a:cubicBezTo>
                      <a:pt x="494" y="19"/>
                      <a:pt x="492" y="20"/>
                      <a:pt x="491" y="22"/>
                    </a:cubicBezTo>
                    <a:lnTo>
                      <a:pt x="489" y="25"/>
                    </a:lnTo>
                    <a:lnTo>
                      <a:pt x="487" y="23"/>
                    </a:lnTo>
                    <a:cubicBezTo>
                      <a:pt x="485" y="23"/>
                      <a:pt x="485" y="23"/>
                      <a:pt x="485" y="23"/>
                    </a:cubicBezTo>
                    <a:lnTo>
                      <a:pt x="485" y="25"/>
                    </a:lnTo>
                    <a:lnTo>
                      <a:pt x="485" y="27"/>
                    </a:lnTo>
                    <a:cubicBezTo>
                      <a:pt x="483" y="29"/>
                      <a:pt x="482" y="31"/>
                      <a:pt x="478" y="31"/>
                    </a:cubicBezTo>
                    <a:lnTo>
                      <a:pt x="466" y="31"/>
                    </a:lnTo>
                    <a:cubicBezTo>
                      <a:pt x="464" y="31"/>
                      <a:pt x="462" y="31"/>
                      <a:pt x="462" y="31"/>
                    </a:cubicBezTo>
                    <a:lnTo>
                      <a:pt x="462" y="32"/>
                    </a:lnTo>
                    <a:cubicBezTo>
                      <a:pt x="459" y="35"/>
                      <a:pt x="458" y="39"/>
                      <a:pt x="452" y="39"/>
                    </a:cubicBezTo>
                    <a:lnTo>
                      <a:pt x="451" y="39"/>
                    </a:lnTo>
                    <a:lnTo>
                      <a:pt x="450" y="39"/>
                    </a:lnTo>
                    <a:lnTo>
                      <a:pt x="431" y="36"/>
                    </a:lnTo>
                    <a:lnTo>
                      <a:pt x="430" y="36"/>
                    </a:lnTo>
                    <a:cubicBezTo>
                      <a:pt x="430" y="36"/>
                      <a:pt x="430" y="39"/>
                      <a:pt x="430" y="40"/>
                    </a:cubicBezTo>
                    <a:lnTo>
                      <a:pt x="429" y="46"/>
                    </a:lnTo>
                    <a:lnTo>
                      <a:pt x="423" y="44"/>
                    </a:lnTo>
                    <a:cubicBezTo>
                      <a:pt x="421" y="46"/>
                      <a:pt x="421" y="48"/>
                      <a:pt x="421" y="52"/>
                    </a:cubicBezTo>
                    <a:lnTo>
                      <a:pt x="421" y="59"/>
                    </a:lnTo>
                    <a:lnTo>
                      <a:pt x="421" y="60"/>
                    </a:lnTo>
                    <a:cubicBezTo>
                      <a:pt x="421" y="60"/>
                      <a:pt x="421" y="64"/>
                      <a:pt x="420" y="65"/>
                    </a:cubicBezTo>
                    <a:cubicBezTo>
                      <a:pt x="418" y="68"/>
                      <a:pt x="415" y="68"/>
                      <a:pt x="414" y="68"/>
                    </a:cubicBezTo>
                    <a:lnTo>
                      <a:pt x="413" y="77"/>
                    </a:lnTo>
                    <a:lnTo>
                      <a:pt x="406" y="75"/>
                    </a:lnTo>
                    <a:cubicBezTo>
                      <a:pt x="405" y="75"/>
                      <a:pt x="405" y="81"/>
                      <a:pt x="405" y="83"/>
                    </a:cubicBezTo>
                    <a:lnTo>
                      <a:pt x="405" y="84"/>
                    </a:lnTo>
                    <a:cubicBezTo>
                      <a:pt x="405" y="85"/>
                      <a:pt x="406" y="87"/>
                      <a:pt x="406" y="89"/>
                    </a:cubicBezTo>
                    <a:cubicBezTo>
                      <a:pt x="408" y="93"/>
                      <a:pt x="411" y="97"/>
                      <a:pt x="408" y="104"/>
                    </a:cubicBezTo>
                    <a:cubicBezTo>
                      <a:pt x="408" y="105"/>
                      <a:pt x="406" y="106"/>
                      <a:pt x="405" y="108"/>
                    </a:cubicBezTo>
                    <a:cubicBezTo>
                      <a:pt x="405" y="109"/>
                      <a:pt x="403" y="109"/>
                      <a:pt x="403" y="111"/>
                    </a:cubicBezTo>
                    <a:lnTo>
                      <a:pt x="405" y="111"/>
                    </a:lnTo>
                    <a:lnTo>
                      <a:pt x="406" y="111"/>
                    </a:lnTo>
                    <a:cubicBezTo>
                      <a:pt x="408" y="111"/>
                      <a:pt x="408" y="111"/>
                      <a:pt x="410" y="111"/>
                    </a:cubicBezTo>
                    <a:cubicBezTo>
                      <a:pt x="410" y="106"/>
                      <a:pt x="411" y="104"/>
                      <a:pt x="414" y="104"/>
                    </a:cubicBezTo>
                    <a:cubicBezTo>
                      <a:pt x="418" y="102"/>
                      <a:pt x="420" y="100"/>
                      <a:pt x="423" y="97"/>
                    </a:cubicBezTo>
                    <a:cubicBezTo>
                      <a:pt x="424" y="96"/>
                      <a:pt x="426" y="94"/>
                      <a:pt x="429" y="93"/>
                    </a:cubicBezTo>
                    <a:cubicBezTo>
                      <a:pt x="431" y="90"/>
                      <a:pt x="436" y="89"/>
                      <a:pt x="441" y="90"/>
                    </a:cubicBezTo>
                    <a:lnTo>
                      <a:pt x="442" y="90"/>
                    </a:lnTo>
                    <a:cubicBezTo>
                      <a:pt x="443" y="90"/>
                      <a:pt x="445" y="89"/>
                      <a:pt x="446" y="89"/>
                    </a:cubicBezTo>
                    <a:cubicBezTo>
                      <a:pt x="448" y="87"/>
                      <a:pt x="448" y="87"/>
                      <a:pt x="448" y="83"/>
                    </a:cubicBezTo>
                    <a:lnTo>
                      <a:pt x="450" y="81"/>
                    </a:lnTo>
                    <a:cubicBezTo>
                      <a:pt x="450" y="78"/>
                      <a:pt x="451" y="75"/>
                      <a:pt x="454" y="73"/>
                    </a:cubicBezTo>
                    <a:cubicBezTo>
                      <a:pt x="455" y="73"/>
                      <a:pt x="455" y="73"/>
                      <a:pt x="455" y="73"/>
                    </a:cubicBezTo>
                    <a:cubicBezTo>
                      <a:pt x="458" y="71"/>
                      <a:pt x="458" y="64"/>
                      <a:pt x="457" y="59"/>
                    </a:cubicBezTo>
                    <a:lnTo>
                      <a:pt x="457" y="56"/>
                    </a:lnTo>
                    <a:lnTo>
                      <a:pt x="457" y="52"/>
                    </a:lnTo>
                    <a:lnTo>
                      <a:pt x="476" y="52"/>
                    </a:lnTo>
                    <a:cubicBezTo>
                      <a:pt x="478" y="52"/>
                      <a:pt x="478" y="52"/>
                      <a:pt x="479" y="52"/>
                    </a:cubicBezTo>
                    <a:cubicBezTo>
                      <a:pt x="480" y="52"/>
                      <a:pt x="480" y="52"/>
                      <a:pt x="482" y="53"/>
                    </a:cubicBezTo>
                    <a:cubicBezTo>
                      <a:pt x="483" y="53"/>
                      <a:pt x="485" y="52"/>
                      <a:pt x="487" y="52"/>
                    </a:cubicBezTo>
                    <a:cubicBezTo>
                      <a:pt x="491" y="50"/>
                      <a:pt x="494" y="47"/>
                      <a:pt x="495" y="43"/>
                    </a:cubicBezTo>
                    <a:cubicBezTo>
                      <a:pt x="496" y="40"/>
                      <a:pt x="500" y="36"/>
                      <a:pt x="504" y="39"/>
                    </a:cubicBezTo>
                    <a:lnTo>
                      <a:pt x="537" y="39"/>
                    </a:lnTo>
                    <a:cubicBezTo>
                      <a:pt x="538" y="39"/>
                      <a:pt x="538" y="39"/>
                      <a:pt x="538" y="39"/>
                    </a:cubicBezTo>
                    <a:cubicBezTo>
                      <a:pt x="541" y="39"/>
                      <a:pt x="545" y="41"/>
                      <a:pt x="544" y="46"/>
                    </a:cubicBezTo>
                    <a:lnTo>
                      <a:pt x="544" y="59"/>
                    </a:lnTo>
                    <a:lnTo>
                      <a:pt x="538" y="56"/>
                    </a:lnTo>
                    <a:lnTo>
                      <a:pt x="537" y="56"/>
                    </a:lnTo>
                    <a:cubicBezTo>
                      <a:pt x="537" y="56"/>
                      <a:pt x="537" y="57"/>
                      <a:pt x="537" y="59"/>
                    </a:cubicBezTo>
                    <a:cubicBezTo>
                      <a:pt x="537" y="59"/>
                      <a:pt x="537" y="60"/>
                      <a:pt x="540" y="60"/>
                    </a:cubicBezTo>
                    <a:cubicBezTo>
                      <a:pt x="541" y="60"/>
                      <a:pt x="541" y="62"/>
                      <a:pt x="543" y="62"/>
                    </a:cubicBezTo>
                    <a:cubicBezTo>
                      <a:pt x="544" y="62"/>
                      <a:pt x="545" y="62"/>
                      <a:pt x="547" y="62"/>
                    </a:cubicBezTo>
                    <a:cubicBezTo>
                      <a:pt x="548" y="62"/>
                      <a:pt x="548" y="62"/>
                      <a:pt x="550" y="62"/>
                    </a:cubicBezTo>
                    <a:cubicBezTo>
                      <a:pt x="550" y="62"/>
                      <a:pt x="552" y="60"/>
                      <a:pt x="553" y="59"/>
                    </a:cubicBezTo>
                    <a:cubicBezTo>
                      <a:pt x="555" y="57"/>
                      <a:pt x="557" y="56"/>
                      <a:pt x="562" y="56"/>
                    </a:cubicBezTo>
                    <a:lnTo>
                      <a:pt x="568" y="55"/>
                    </a:lnTo>
                    <a:lnTo>
                      <a:pt x="566" y="81"/>
                    </a:lnTo>
                    <a:cubicBezTo>
                      <a:pt x="566" y="84"/>
                      <a:pt x="568" y="87"/>
                      <a:pt x="569" y="90"/>
                    </a:cubicBezTo>
                    <a:lnTo>
                      <a:pt x="569" y="92"/>
                    </a:lnTo>
                    <a:cubicBezTo>
                      <a:pt x="572" y="94"/>
                      <a:pt x="573" y="99"/>
                      <a:pt x="573" y="105"/>
                    </a:cubicBezTo>
                    <a:cubicBezTo>
                      <a:pt x="573" y="108"/>
                      <a:pt x="573" y="111"/>
                      <a:pt x="573" y="113"/>
                    </a:cubicBezTo>
                    <a:cubicBezTo>
                      <a:pt x="572" y="115"/>
                      <a:pt x="571" y="120"/>
                      <a:pt x="565" y="120"/>
                    </a:cubicBezTo>
                    <a:cubicBezTo>
                      <a:pt x="564" y="120"/>
                      <a:pt x="562" y="120"/>
                      <a:pt x="562" y="120"/>
                    </a:cubicBezTo>
                    <a:cubicBezTo>
                      <a:pt x="560" y="120"/>
                      <a:pt x="560" y="120"/>
                      <a:pt x="560" y="120"/>
                    </a:cubicBezTo>
                    <a:cubicBezTo>
                      <a:pt x="559" y="120"/>
                      <a:pt x="559" y="120"/>
                      <a:pt x="557" y="120"/>
                    </a:cubicBezTo>
                    <a:cubicBezTo>
                      <a:pt x="556" y="120"/>
                      <a:pt x="553" y="118"/>
                      <a:pt x="552" y="118"/>
                    </a:cubicBezTo>
                    <a:cubicBezTo>
                      <a:pt x="548" y="118"/>
                      <a:pt x="547" y="118"/>
                      <a:pt x="544" y="118"/>
                    </a:cubicBezTo>
                    <a:cubicBezTo>
                      <a:pt x="541" y="118"/>
                      <a:pt x="538" y="118"/>
                      <a:pt x="537" y="120"/>
                    </a:cubicBezTo>
                    <a:cubicBezTo>
                      <a:pt x="535" y="120"/>
                      <a:pt x="535" y="120"/>
                      <a:pt x="535" y="120"/>
                    </a:cubicBezTo>
                    <a:cubicBezTo>
                      <a:pt x="534" y="121"/>
                      <a:pt x="534" y="121"/>
                      <a:pt x="534" y="121"/>
                    </a:cubicBezTo>
                    <a:cubicBezTo>
                      <a:pt x="532" y="124"/>
                      <a:pt x="531" y="125"/>
                      <a:pt x="528" y="125"/>
                    </a:cubicBezTo>
                    <a:cubicBezTo>
                      <a:pt x="527" y="125"/>
                      <a:pt x="527" y="125"/>
                      <a:pt x="527" y="125"/>
                    </a:cubicBezTo>
                    <a:lnTo>
                      <a:pt x="527" y="127"/>
                    </a:lnTo>
                    <a:lnTo>
                      <a:pt x="528" y="134"/>
                    </a:lnTo>
                    <a:lnTo>
                      <a:pt x="520" y="133"/>
                    </a:lnTo>
                    <a:cubicBezTo>
                      <a:pt x="519" y="133"/>
                      <a:pt x="519" y="133"/>
                      <a:pt x="519" y="133"/>
                    </a:cubicBezTo>
                    <a:cubicBezTo>
                      <a:pt x="519" y="133"/>
                      <a:pt x="519" y="134"/>
                      <a:pt x="519" y="136"/>
                    </a:cubicBezTo>
                    <a:lnTo>
                      <a:pt x="517" y="141"/>
                    </a:lnTo>
                    <a:lnTo>
                      <a:pt x="459" y="139"/>
                    </a:lnTo>
                    <a:cubicBezTo>
                      <a:pt x="458" y="139"/>
                      <a:pt x="457" y="139"/>
                      <a:pt x="455" y="137"/>
                    </a:cubicBezTo>
                    <a:cubicBezTo>
                      <a:pt x="454" y="137"/>
                      <a:pt x="452" y="137"/>
                      <a:pt x="451" y="137"/>
                    </a:cubicBezTo>
                    <a:cubicBezTo>
                      <a:pt x="450" y="137"/>
                      <a:pt x="450" y="137"/>
                      <a:pt x="450" y="137"/>
                    </a:cubicBezTo>
                    <a:lnTo>
                      <a:pt x="448" y="145"/>
                    </a:lnTo>
                    <a:lnTo>
                      <a:pt x="443" y="145"/>
                    </a:lnTo>
                    <a:cubicBezTo>
                      <a:pt x="442" y="145"/>
                      <a:pt x="441" y="145"/>
                      <a:pt x="439" y="145"/>
                    </a:cubicBezTo>
                    <a:cubicBezTo>
                      <a:pt x="439" y="145"/>
                      <a:pt x="438" y="145"/>
                      <a:pt x="436" y="145"/>
                    </a:cubicBezTo>
                    <a:cubicBezTo>
                      <a:pt x="434" y="145"/>
                      <a:pt x="433" y="145"/>
                      <a:pt x="433" y="145"/>
                    </a:cubicBezTo>
                    <a:lnTo>
                      <a:pt x="433" y="153"/>
                    </a:lnTo>
                    <a:lnTo>
                      <a:pt x="429" y="153"/>
                    </a:lnTo>
                    <a:cubicBezTo>
                      <a:pt x="427" y="153"/>
                      <a:pt x="426" y="153"/>
                      <a:pt x="424" y="154"/>
                    </a:cubicBezTo>
                    <a:cubicBezTo>
                      <a:pt x="426" y="155"/>
                      <a:pt x="427" y="157"/>
                      <a:pt x="429" y="157"/>
                    </a:cubicBezTo>
                    <a:cubicBezTo>
                      <a:pt x="430" y="158"/>
                      <a:pt x="431" y="158"/>
                      <a:pt x="433" y="158"/>
                    </a:cubicBezTo>
                    <a:cubicBezTo>
                      <a:pt x="434" y="158"/>
                      <a:pt x="436" y="157"/>
                      <a:pt x="438" y="157"/>
                    </a:cubicBezTo>
                    <a:cubicBezTo>
                      <a:pt x="439" y="153"/>
                      <a:pt x="441" y="150"/>
                      <a:pt x="445" y="150"/>
                    </a:cubicBezTo>
                    <a:lnTo>
                      <a:pt x="464" y="150"/>
                    </a:lnTo>
                    <a:lnTo>
                      <a:pt x="464" y="157"/>
                    </a:lnTo>
                    <a:cubicBezTo>
                      <a:pt x="463" y="162"/>
                      <a:pt x="459" y="166"/>
                      <a:pt x="458" y="169"/>
                    </a:cubicBezTo>
                    <a:cubicBezTo>
                      <a:pt x="457" y="170"/>
                      <a:pt x="457" y="171"/>
                      <a:pt x="455" y="171"/>
                    </a:cubicBezTo>
                    <a:cubicBezTo>
                      <a:pt x="454" y="174"/>
                      <a:pt x="452" y="178"/>
                      <a:pt x="448" y="176"/>
                    </a:cubicBezTo>
                    <a:lnTo>
                      <a:pt x="446" y="176"/>
                    </a:lnTo>
                    <a:lnTo>
                      <a:pt x="436" y="176"/>
                    </a:lnTo>
                    <a:lnTo>
                      <a:pt x="434" y="176"/>
                    </a:lnTo>
                    <a:cubicBezTo>
                      <a:pt x="433" y="176"/>
                      <a:pt x="433" y="176"/>
                      <a:pt x="433" y="176"/>
                    </a:cubicBezTo>
                    <a:cubicBezTo>
                      <a:pt x="433" y="176"/>
                      <a:pt x="431" y="176"/>
                      <a:pt x="431" y="178"/>
                    </a:cubicBezTo>
                    <a:cubicBezTo>
                      <a:pt x="431" y="181"/>
                      <a:pt x="430" y="183"/>
                      <a:pt x="424" y="183"/>
                    </a:cubicBezTo>
                    <a:cubicBezTo>
                      <a:pt x="423" y="183"/>
                      <a:pt x="421" y="183"/>
                      <a:pt x="420" y="183"/>
                    </a:cubicBezTo>
                    <a:cubicBezTo>
                      <a:pt x="418" y="183"/>
                      <a:pt x="418" y="183"/>
                      <a:pt x="417" y="183"/>
                    </a:cubicBezTo>
                    <a:lnTo>
                      <a:pt x="415" y="191"/>
                    </a:lnTo>
                    <a:lnTo>
                      <a:pt x="411" y="191"/>
                    </a:lnTo>
                    <a:cubicBezTo>
                      <a:pt x="410" y="191"/>
                      <a:pt x="408" y="191"/>
                      <a:pt x="406" y="191"/>
                    </a:cubicBezTo>
                    <a:cubicBezTo>
                      <a:pt x="406" y="189"/>
                      <a:pt x="405" y="189"/>
                      <a:pt x="403" y="189"/>
                    </a:cubicBezTo>
                    <a:cubicBezTo>
                      <a:pt x="402" y="189"/>
                      <a:pt x="401" y="189"/>
                      <a:pt x="401" y="189"/>
                    </a:cubicBezTo>
                    <a:lnTo>
                      <a:pt x="401" y="198"/>
                    </a:lnTo>
                    <a:lnTo>
                      <a:pt x="394" y="197"/>
                    </a:lnTo>
                    <a:lnTo>
                      <a:pt x="393" y="197"/>
                    </a:lnTo>
                    <a:cubicBezTo>
                      <a:pt x="393" y="197"/>
                      <a:pt x="393" y="198"/>
                      <a:pt x="393" y="201"/>
                    </a:cubicBezTo>
                    <a:lnTo>
                      <a:pt x="392" y="206"/>
                    </a:lnTo>
                    <a:lnTo>
                      <a:pt x="387" y="206"/>
                    </a:lnTo>
                    <a:lnTo>
                      <a:pt x="386" y="209"/>
                    </a:lnTo>
                    <a:cubicBezTo>
                      <a:pt x="386" y="210"/>
                      <a:pt x="386" y="210"/>
                      <a:pt x="386" y="211"/>
                    </a:cubicBezTo>
                    <a:cubicBezTo>
                      <a:pt x="385" y="216"/>
                      <a:pt x="385" y="220"/>
                      <a:pt x="381" y="223"/>
                    </a:cubicBezTo>
                    <a:cubicBezTo>
                      <a:pt x="381" y="225"/>
                      <a:pt x="380" y="226"/>
                      <a:pt x="378" y="227"/>
                    </a:cubicBezTo>
                    <a:lnTo>
                      <a:pt x="377" y="230"/>
                    </a:lnTo>
                    <a:cubicBezTo>
                      <a:pt x="375" y="231"/>
                      <a:pt x="374" y="235"/>
                      <a:pt x="369" y="235"/>
                    </a:cubicBezTo>
                    <a:lnTo>
                      <a:pt x="357" y="235"/>
                    </a:lnTo>
                    <a:cubicBezTo>
                      <a:pt x="356" y="235"/>
                      <a:pt x="356" y="234"/>
                      <a:pt x="354" y="234"/>
                    </a:cubicBezTo>
                    <a:lnTo>
                      <a:pt x="353" y="234"/>
                    </a:lnTo>
                    <a:cubicBezTo>
                      <a:pt x="353" y="235"/>
                      <a:pt x="353" y="237"/>
                      <a:pt x="353" y="237"/>
                    </a:cubicBezTo>
                    <a:cubicBezTo>
                      <a:pt x="353" y="238"/>
                      <a:pt x="352" y="243"/>
                      <a:pt x="344" y="243"/>
                    </a:cubicBezTo>
                    <a:cubicBezTo>
                      <a:pt x="343" y="243"/>
                      <a:pt x="343" y="243"/>
                      <a:pt x="341" y="241"/>
                    </a:cubicBezTo>
                    <a:cubicBezTo>
                      <a:pt x="331" y="247"/>
                      <a:pt x="324" y="253"/>
                      <a:pt x="317" y="262"/>
                    </a:cubicBezTo>
                    <a:cubicBezTo>
                      <a:pt x="316" y="263"/>
                      <a:pt x="315" y="264"/>
                      <a:pt x="313" y="268"/>
                    </a:cubicBezTo>
                    <a:lnTo>
                      <a:pt x="313" y="278"/>
                    </a:lnTo>
                    <a:cubicBezTo>
                      <a:pt x="313" y="284"/>
                      <a:pt x="310" y="285"/>
                      <a:pt x="307" y="287"/>
                    </a:cubicBezTo>
                    <a:cubicBezTo>
                      <a:pt x="305" y="287"/>
                      <a:pt x="305" y="287"/>
                      <a:pt x="304" y="287"/>
                    </a:cubicBezTo>
                    <a:cubicBezTo>
                      <a:pt x="303" y="288"/>
                      <a:pt x="303" y="290"/>
                      <a:pt x="301" y="290"/>
                    </a:cubicBezTo>
                    <a:cubicBezTo>
                      <a:pt x="300" y="293"/>
                      <a:pt x="298" y="295"/>
                      <a:pt x="297" y="296"/>
                    </a:cubicBezTo>
                    <a:lnTo>
                      <a:pt x="297" y="297"/>
                    </a:lnTo>
                    <a:cubicBezTo>
                      <a:pt x="296" y="300"/>
                      <a:pt x="292" y="302"/>
                      <a:pt x="289" y="302"/>
                    </a:cubicBezTo>
                    <a:lnTo>
                      <a:pt x="285" y="300"/>
                    </a:lnTo>
                    <a:cubicBezTo>
                      <a:pt x="280" y="303"/>
                      <a:pt x="276" y="305"/>
                      <a:pt x="273" y="308"/>
                    </a:cubicBezTo>
                    <a:cubicBezTo>
                      <a:pt x="271" y="311"/>
                      <a:pt x="267" y="313"/>
                      <a:pt x="266" y="320"/>
                    </a:cubicBezTo>
                    <a:cubicBezTo>
                      <a:pt x="264" y="323"/>
                      <a:pt x="260" y="324"/>
                      <a:pt x="255" y="324"/>
                    </a:cubicBezTo>
                    <a:cubicBezTo>
                      <a:pt x="254" y="323"/>
                      <a:pt x="252" y="323"/>
                      <a:pt x="252" y="323"/>
                    </a:cubicBezTo>
                    <a:cubicBezTo>
                      <a:pt x="251" y="323"/>
                      <a:pt x="251" y="323"/>
                      <a:pt x="250" y="323"/>
                    </a:cubicBezTo>
                    <a:lnTo>
                      <a:pt x="242" y="323"/>
                    </a:lnTo>
                    <a:cubicBezTo>
                      <a:pt x="242" y="324"/>
                      <a:pt x="242" y="325"/>
                      <a:pt x="242" y="325"/>
                    </a:cubicBezTo>
                    <a:cubicBezTo>
                      <a:pt x="243" y="327"/>
                      <a:pt x="243" y="327"/>
                      <a:pt x="245" y="328"/>
                    </a:cubicBezTo>
                    <a:cubicBezTo>
                      <a:pt x="250" y="330"/>
                      <a:pt x="250" y="336"/>
                      <a:pt x="250" y="339"/>
                    </a:cubicBezTo>
                    <a:cubicBezTo>
                      <a:pt x="250" y="340"/>
                      <a:pt x="250" y="340"/>
                      <a:pt x="250" y="340"/>
                    </a:cubicBezTo>
                    <a:lnTo>
                      <a:pt x="248" y="346"/>
                    </a:lnTo>
                    <a:lnTo>
                      <a:pt x="242" y="346"/>
                    </a:lnTo>
                    <a:cubicBezTo>
                      <a:pt x="242" y="345"/>
                      <a:pt x="240" y="345"/>
                      <a:pt x="239" y="345"/>
                    </a:cubicBezTo>
                    <a:cubicBezTo>
                      <a:pt x="238" y="345"/>
                      <a:pt x="236" y="346"/>
                      <a:pt x="235" y="346"/>
                    </a:cubicBezTo>
                    <a:cubicBezTo>
                      <a:pt x="235" y="346"/>
                      <a:pt x="233" y="348"/>
                      <a:pt x="233" y="349"/>
                    </a:cubicBezTo>
                    <a:cubicBezTo>
                      <a:pt x="232" y="351"/>
                      <a:pt x="230" y="353"/>
                      <a:pt x="224" y="352"/>
                    </a:cubicBezTo>
                    <a:cubicBezTo>
                      <a:pt x="223" y="352"/>
                      <a:pt x="223" y="352"/>
                      <a:pt x="222" y="352"/>
                    </a:cubicBezTo>
                    <a:lnTo>
                      <a:pt x="220" y="352"/>
                    </a:lnTo>
                    <a:lnTo>
                      <a:pt x="218" y="352"/>
                    </a:lnTo>
                    <a:cubicBezTo>
                      <a:pt x="217" y="353"/>
                      <a:pt x="217" y="358"/>
                      <a:pt x="217" y="365"/>
                    </a:cubicBezTo>
                    <a:cubicBezTo>
                      <a:pt x="217" y="369"/>
                      <a:pt x="217" y="370"/>
                      <a:pt x="217" y="370"/>
                    </a:cubicBezTo>
                    <a:lnTo>
                      <a:pt x="217" y="377"/>
                    </a:lnTo>
                    <a:lnTo>
                      <a:pt x="211" y="374"/>
                    </a:lnTo>
                    <a:cubicBezTo>
                      <a:pt x="210" y="374"/>
                      <a:pt x="210" y="374"/>
                      <a:pt x="210" y="374"/>
                    </a:cubicBezTo>
                    <a:cubicBezTo>
                      <a:pt x="208" y="376"/>
                      <a:pt x="208" y="382"/>
                      <a:pt x="208" y="383"/>
                    </a:cubicBezTo>
                    <a:lnTo>
                      <a:pt x="208" y="385"/>
                    </a:lnTo>
                    <a:lnTo>
                      <a:pt x="208" y="392"/>
                    </a:lnTo>
                    <a:lnTo>
                      <a:pt x="202" y="390"/>
                    </a:lnTo>
                    <a:lnTo>
                      <a:pt x="201" y="390"/>
                    </a:lnTo>
                    <a:cubicBezTo>
                      <a:pt x="201" y="390"/>
                      <a:pt x="201" y="397"/>
                      <a:pt x="201" y="400"/>
                    </a:cubicBezTo>
                    <a:cubicBezTo>
                      <a:pt x="199" y="407"/>
                      <a:pt x="199" y="419"/>
                      <a:pt x="187" y="421"/>
                    </a:cubicBezTo>
                    <a:lnTo>
                      <a:pt x="180" y="422"/>
                    </a:lnTo>
                    <a:lnTo>
                      <a:pt x="182" y="414"/>
                    </a:lnTo>
                    <a:cubicBezTo>
                      <a:pt x="183" y="414"/>
                      <a:pt x="183" y="413"/>
                      <a:pt x="183" y="413"/>
                    </a:cubicBezTo>
                    <a:cubicBezTo>
                      <a:pt x="182" y="413"/>
                      <a:pt x="182" y="413"/>
                      <a:pt x="182" y="413"/>
                    </a:cubicBezTo>
                    <a:cubicBezTo>
                      <a:pt x="180" y="413"/>
                      <a:pt x="180" y="413"/>
                      <a:pt x="180" y="413"/>
                    </a:cubicBezTo>
                    <a:cubicBezTo>
                      <a:pt x="177" y="413"/>
                      <a:pt x="174" y="410"/>
                      <a:pt x="174" y="405"/>
                    </a:cubicBezTo>
                    <a:lnTo>
                      <a:pt x="175" y="395"/>
                    </a:lnTo>
                    <a:lnTo>
                      <a:pt x="178" y="395"/>
                    </a:lnTo>
                    <a:cubicBezTo>
                      <a:pt x="180" y="395"/>
                      <a:pt x="182" y="394"/>
                      <a:pt x="182" y="392"/>
                    </a:cubicBezTo>
                    <a:cubicBezTo>
                      <a:pt x="184" y="388"/>
                      <a:pt x="186" y="382"/>
                      <a:pt x="184" y="374"/>
                    </a:cubicBezTo>
                    <a:cubicBezTo>
                      <a:pt x="183" y="367"/>
                      <a:pt x="182" y="361"/>
                      <a:pt x="178" y="360"/>
                    </a:cubicBezTo>
                    <a:cubicBezTo>
                      <a:pt x="177" y="358"/>
                      <a:pt x="175" y="358"/>
                      <a:pt x="174" y="358"/>
                    </a:cubicBezTo>
                    <a:cubicBezTo>
                      <a:pt x="173" y="358"/>
                      <a:pt x="173" y="358"/>
                      <a:pt x="171" y="358"/>
                    </a:cubicBezTo>
                    <a:cubicBezTo>
                      <a:pt x="170" y="358"/>
                      <a:pt x="170" y="358"/>
                      <a:pt x="168" y="358"/>
                    </a:cubicBezTo>
                    <a:cubicBezTo>
                      <a:pt x="163" y="358"/>
                      <a:pt x="158" y="361"/>
                      <a:pt x="156" y="362"/>
                    </a:cubicBezTo>
                    <a:cubicBezTo>
                      <a:pt x="154" y="362"/>
                      <a:pt x="153" y="364"/>
                      <a:pt x="152" y="364"/>
                    </a:cubicBezTo>
                    <a:cubicBezTo>
                      <a:pt x="149" y="367"/>
                      <a:pt x="143" y="370"/>
                      <a:pt x="137" y="370"/>
                    </a:cubicBezTo>
                    <a:cubicBezTo>
                      <a:pt x="135" y="370"/>
                      <a:pt x="134" y="370"/>
                      <a:pt x="134" y="370"/>
                    </a:cubicBezTo>
                    <a:cubicBezTo>
                      <a:pt x="129" y="370"/>
                      <a:pt x="126" y="369"/>
                      <a:pt x="124" y="367"/>
                    </a:cubicBezTo>
                    <a:cubicBezTo>
                      <a:pt x="124" y="367"/>
                      <a:pt x="122" y="365"/>
                      <a:pt x="121" y="365"/>
                    </a:cubicBezTo>
                    <a:cubicBezTo>
                      <a:pt x="119" y="364"/>
                      <a:pt x="119" y="364"/>
                      <a:pt x="118" y="364"/>
                    </a:cubicBezTo>
                    <a:cubicBezTo>
                      <a:pt x="118" y="364"/>
                      <a:pt x="118" y="365"/>
                      <a:pt x="116" y="367"/>
                    </a:cubicBezTo>
                    <a:cubicBezTo>
                      <a:pt x="116" y="369"/>
                      <a:pt x="116" y="370"/>
                      <a:pt x="116" y="370"/>
                    </a:cubicBezTo>
                    <a:cubicBezTo>
                      <a:pt x="113" y="377"/>
                      <a:pt x="107" y="382"/>
                      <a:pt x="103" y="385"/>
                    </a:cubicBezTo>
                    <a:cubicBezTo>
                      <a:pt x="100" y="388"/>
                      <a:pt x="98" y="389"/>
                      <a:pt x="96" y="390"/>
                    </a:cubicBezTo>
                    <a:cubicBezTo>
                      <a:pt x="94" y="392"/>
                      <a:pt x="94" y="394"/>
                      <a:pt x="93" y="395"/>
                    </a:cubicBezTo>
                    <a:cubicBezTo>
                      <a:pt x="93" y="400"/>
                      <a:pt x="89" y="401"/>
                      <a:pt x="86" y="401"/>
                    </a:cubicBezTo>
                    <a:lnTo>
                      <a:pt x="85" y="401"/>
                    </a:lnTo>
                    <a:cubicBezTo>
                      <a:pt x="84" y="402"/>
                      <a:pt x="85" y="407"/>
                      <a:pt x="85" y="409"/>
                    </a:cubicBezTo>
                    <a:cubicBezTo>
                      <a:pt x="85" y="410"/>
                      <a:pt x="85" y="410"/>
                      <a:pt x="85" y="411"/>
                    </a:cubicBezTo>
                    <a:lnTo>
                      <a:pt x="84" y="417"/>
                    </a:lnTo>
                    <a:lnTo>
                      <a:pt x="77" y="416"/>
                    </a:lnTo>
                    <a:cubicBezTo>
                      <a:pt x="76" y="417"/>
                      <a:pt x="76" y="422"/>
                      <a:pt x="76" y="425"/>
                    </a:cubicBezTo>
                    <a:lnTo>
                      <a:pt x="76" y="426"/>
                    </a:lnTo>
                    <a:lnTo>
                      <a:pt x="76" y="432"/>
                    </a:lnTo>
                    <a:lnTo>
                      <a:pt x="70" y="430"/>
                    </a:lnTo>
                    <a:cubicBezTo>
                      <a:pt x="69" y="430"/>
                      <a:pt x="69" y="430"/>
                      <a:pt x="69" y="430"/>
                    </a:cubicBezTo>
                    <a:cubicBezTo>
                      <a:pt x="68" y="432"/>
                      <a:pt x="68" y="437"/>
                      <a:pt x="68" y="446"/>
                    </a:cubicBezTo>
                    <a:cubicBezTo>
                      <a:pt x="68" y="447"/>
                      <a:pt x="68" y="448"/>
                      <a:pt x="68" y="450"/>
                    </a:cubicBezTo>
                    <a:lnTo>
                      <a:pt x="68" y="455"/>
                    </a:lnTo>
                    <a:lnTo>
                      <a:pt x="61" y="454"/>
                    </a:lnTo>
                    <a:lnTo>
                      <a:pt x="60" y="454"/>
                    </a:lnTo>
                    <a:cubicBezTo>
                      <a:pt x="60" y="454"/>
                      <a:pt x="60" y="460"/>
                      <a:pt x="60" y="462"/>
                    </a:cubicBezTo>
                    <a:cubicBezTo>
                      <a:pt x="60" y="463"/>
                      <a:pt x="60" y="463"/>
                      <a:pt x="60" y="465"/>
                    </a:cubicBezTo>
                    <a:lnTo>
                      <a:pt x="59" y="471"/>
                    </a:lnTo>
                    <a:lnTo>
                      <a:pt x="52" y="469"/>
                    </a:lnTo>
                    <a:cubicBezTo>
                      <a:pt x="52" y="469"/>
                      <a:pt x="51" y="469"/>
                      <a:pt x="51" y="472"/>
                    </a:cubicBezTo>
                    <a:lnTo>
                      <a:pt x="51" y="478"/>
                    </a:lnTo>
                    <a:lnTo>
                      <a:pt x="45" y="476"/>
                    </a:lnTo>
                    <a:lnTo>
                      <a:pt x="44" y="476"/>
                    </a:lnTo>
                    <a:cubicBezTo>
                      <a:pt x="44" y="476"/>
                      <a:pt x="44" y="478"/>
                      <a:pt x="44" y="481"/>
                    </a:cubicBezTo>
                    <a:cubicBezTo>
                      <a:pt x="44" y="483"/>
                      <a:pt x="44" y="484"/>
                      <a:pt x="44" y="484"/>
                    </a:cubicBezTo>
                    <a:cubicBezTo>
                      <a:pt x="42" y="486"/>
                      <a:pt x="42" y="488"/>
                      <a:pt x="42" y="488"/>
                    </a:cubicBezTo>
                    <a:lnTo>
                      <a:pt x="44" y="488"/>
                    </a:lnTo>
                    <a:lnTo>
                      <a:pt x="44" y="490"/>
                    </a:lnTo>
                    <a:cubicBezTo>
                      <a:pt x="48" y="490"/>
                      <a:pt x="51" y="493"/>
                      <a:pt x="49" y="497"/>
                    </a:cubicBezTo>
                    <a:lnTo>
                      <a:pt x="49" y="503"/>
                    </a:lnTo>
                    <a:lnTo>
                      <a:pt x="49" y="504"/>
                    </a:lnTo>
                    <a:cubicBezTo>
                      <a:pt x="49" y="506"/>
                      <a:pt x="49" y="509"/>
                      <a:pt x="49" y="511"/>
                    </a:cubicBezTo>
                    <a:cubicBezTo>
                      <a:pt x="54" y="509"/>
                      <a:pt x="59" y="504"/>
                      <a:pt x="61" y="502"/>
                    </a:cubicBezTo>
                    <a:cubicBezTo>
                      <a:pt x="63" y="500"/>
                      <a:pt x="64" y="499"/>
                      <a:pt x="64" y="499"/>
                    </a:cubicBezTo>
                    <a:lnTo>
                      <a:pt x="66" y="497"/>
                    </a:lnTo>
                    <a:cubicBezTo>
                      <a:pt x="69" y="496"/>
                      <a:pt x="70" y="493"/>
                      <a:pt x="73" y="491"/>
                    </a:cubicBezTo>
                    <a:lnTo>
                      <a:pt x="75" y="490"/>
                    </a:lnTo>
                    <a:lnTo>
                      <a:pt x="77" y="491"/>
                    </a:lnTo>
                    <a:cubicBezTo>
                      <a:pt x="77" y="491"/>
                      <a:pt x="79" y="490"/>
                      <a:pt x="79" y="488"/>
                    </a:cubicBezTo>
                    <a:lnTo>
                      <a:pt x="79" y="483"/>
                    </a:lnTo>
                    <a:lnTo>
                      <a:pt x="85" y="484"/>
                    </a:lnTo>
                    <a:lnTo>
                      <a:pt x="86" y="484"/>
                    </a:lnTo>
                    <a:cubicBezTo>
                      <a:pt x="86" y="484"/>
                      <a:pt x="86" y="483"/>
                      <a:pt x="86" y="481"/>
                    </a:cubicBezTo>
                    <a:cubicBezTo>
                      <a:pt x="88" y="475"/>
                      <a:pt x="93" y="471"/>
                      <a:pt x="98" y="469"/>
                    </a:cubicBezTo>
                    <a:cubicBezTo>
                      <a:pt x="101" y="469"/>
                      <a:pt x="104" y="467"/>
                      <a:pt x="107" y="467"/>
                    </a:cubicBezTo>
                    <a:cubicBezTo>
                      <a:pt x="110" y="469"/>
                      <a:pt x="112" y="469"/>
                      <a:pt x="114" y="469"/>
                    </a:cubicBezTo>
                    <a:lnTo>
                      <a:pt x="121" y="469"/>
                    </a:lnTo>
                    <a:lnTo>
                      <a:pt x="121" y="475"/>
                    </a:lnTo>
                    <a:cubicBezTo>
                      <a:pt x="121" y="476"/>
                      <a:pt x="121" y="478"/>
                      <a:pt x="121" y="479"/>
                    </a:cubicBezTo>
                    <a:cubicBezTo>
                      <a:pt x="121" y="484"/>
                      <a:pt x="121" y="488"/>
                      <a:pt x="119" y="493"/>
                    </a:cubicBezTo>
                    <a:cubicBezTo>
                      <a:pt x="118" y="508"/>
                      <a:pt x="109" y="511"/>
                      <a:pt x="103" y="511"/>
                    </a:cubicBezTo>
                    <a:cubicBezTo>
                      <a:pt x="101" y="511"/>
                      <a:pt x="100" y="511"/>
                      <a:pt x="100" y="509"/>
                    </a:cubicBezTo>
                    <a:cubicBezTo>
                      <a:pt x="98" y="509"/>
                      <a:pt x="98" y="509"/>
                      <a:pt x="97" y="509"/>
                    </a:cubicBezTo>
                    <a:lnTo>
                      <a:pt x="97" y="511"/>
                    </a:lnTo>
                    <a:cubicBezTo>
                      <a:pt x="96" y="514"/>
                      <a:pt x="96" y="518"/>
                      <a:pt x="96" y="523"/>
                    </a:cubicBezTo>
                    <a:cubicBezTo>
                      <a:pt x="96" y="524"/>
                      <a:pt x="96" y="525"/>
                      <a:pt x="96" y="527"/>
                    </a:cubicBezTo>
                    <a:lnTo>
                      <a:pt x="96" y="535"/>
                    </a:lnTo>
                    <a:lnTo>
                      <a:pt x="89" y="531"/>
                    </a:lnTo>
                    <a:cubicBezTo>
                      <a:pt x="88" y="531"/>
                      <a:pt x="88" y="531"/>
                      <a:pt x="88" y="531"/>
                    </a:cubicBezTo>
                    <a:cubicBezTo>
                      <a:pt x="86" y="533"/>
                      <a:pt x="86" y="539"/>
                      <a:pt x="86" y="540"/>
                    </a:cubicBezTo>
                    <a:lnTo>
                      <a:pt x="86" y="542"/>
                    </a:lnTo>
                    <a:cubicBezTo>
                      <a:pt x="86" y="543"/>
                      <a:pt x="88" y="544"/>
                      <a:pt x="94" y="546"/>
                    </a:cubicBezTo>
                    <a:cubicBezTo>
                      <a:pt x="96" y="546"/>
                      <a:pt x="96" y="546"/>
                      <a:pt x="97" y="546"/>
                    </a:cubicBezTo>
                    <a:cubicBezTo>
                      <a:pt x="98" y="546"/>
                      <a:pt x="101" y="546"/>
                      <a:pt x="103" y="546"/>
                    </a:cubicBezTo>
                    <a:lnTo>
                      <a:pt x="104" y="546"/>
                    </a:lnTo>
                    <a:cubicBezTo>
                      <a:pt x="106" y="546"/>
                      <a:pt x="107" y="546"/>
                      <a:pt x="109" y="546"/>
                    </a:cubicBezTo>
                    <a:cubicBezTo>
                      <a:pt x="116" y="546"/>
                      <a:pt x="118" y="551"/>
                      <a:pt x="118" y="552"/>
                    </a:cubicBezTo>
                    <a:cubicBezTo>
                      <a:pt x="118" y="555"/>
                      <a:pt x="118" y="558"/>
                      <a:pt x="118" y="561"/>
                    </a:cubicBezTo>
                    <a:cubicBezTo>
                      <a:pt x="118" y="565"/>
                      <a:pt x="116" y="568"/>
                      <a:pt x="118" y="572"/>
                    </a:cubicBezTo>
                    <a:cubicBezTo>
                      <a:pt x="118" y="577"/>
                      <a:pt x="119" y="577"/>
                      <a:pt x="121" y="577"/>
                    </a:cubicBezTo>
                    <a:lnTo>
                      <a:pt x="124" y="577"/>
                    </a:lnTo>
                    <a:lnTo>
                      <a:pt x="124" y="581"/>
                    </a:lnTo>
                    <a:cubicBezTo>
                      <a:pt x="125" y="583"/>
                      <a:pt x="126" y="591"/>
                      <a:pt x="122" y="597"/>
                    </a:cubicBezTo>
                    <a:cubicBezTo>
                      <a:pt x="118" y="602"/>
                      <a:pt x="112" y="604"/>
                      <a:pt x="107" y="605"/>
                    </a:cubicBezTo>
                    <a:cubicBezTo>
                      <a:pt x="104" y="605"/>
                      <a:pt x="103" y="605"/>
                      <a:pt x="101" y="607"/>
                    </a:cubicBezTo>
                    <a:lnTo>
                      <a:pt x="100" y="607"/>
                    </a:lnTo>
                    <a:cubicBezTo>
                      <a:pt x="100" y="608"/>
                      <a:pt x="100" y="612"/>
                      <a:pt x="100" y="613"/>
                    </a:cubicBezTo>
                    <a:cubicBezTo>
                      <a:pt x="101" y="616"/>
                      <a:pt x="101" y="617"/>
                      <a:pt x="103" y="620"/>
                    </a:cubicBezTo>
                    <a:cubicBezTo>
                      <a:pt x="103" y="620"/>
                      <a:pt x="104" y="620"/>
                      <a:pt x="104" y="622"/>
                    </a:cubicBezTo>
                    <a:cubicBezTo>
                      <a:pt x="106" y="623"/>
                      <a:pt x="107" y="626"/>
                      <a:pt x="106" y="629"/>
                    </a:cubicBezTo>
                    <a:cubicBezTo>
                      <a:pt x="107" y="630"/>
                      <a:pt x="107" y="630"/>
                      <a:pt x="107" y="630"/>
                    </a:cubicBezTo>
                    <a:cubicBezTo>
                      <a:pt x="109" y="630"/>
                      <a:pt x="113" y="630"/>
                      <a:pt x="114" y="638"/>
                    </a:cubicBezTo>
                    <a:lnTo>
                      <a:pt x="116" y="638"/>
                    </a:lnTo>
                    <a:cubicBezTo>
                      <a:pt x="116" y="638"/>
                      <a:pt x="119" y="639"/>
                      <a:pt x="121" y="641"/>
                    </a:cubicBezTo>
                    <a:cubicBezTo>
                      <a:pt x="122" y="639"/>
                      <a:pt x="125" y="638"/>
                      <a:pt x="131" y="635"/>
                    </a:cubicBezTo>
                    <a:cubicBezTo>
                      <a:pt x="133" y="635"/>
                      <a:pt x="134" y="635"/>
                      <a:pt x="134" y="635"/>
                    </a:cubicBezTo>
                    <a:cubicBezTo>
                      <a:pt x="137" y="633"/>
                      <a:pt x="138" y="633"/>
                      <a:pt x="141" y="633"/>
                    </a:cubicBezTo>
                    <a:cubicBezTo>
                      <a:pt x="143" y="633"/>
                      <a:pt x="149" y="635"/>
                      <a:pt x="152" y="641"/>
                    </a:cubicBezTo>
                    <a:cubicBezTo>
                      <a:pt x="152" y="642"/>
                      <a:pt x="152" y="642"/>
                      <a:pt x="152" y="644"/>
                    </a:cubicBezTo>
                    <a:cubicBezTo>
                      <a:pt x="153" y="645"/>
                      <a:pt x="153" y="645"/>
                      <a:pt x="153" y="646"/>
                    </a:cubicBezTo>
                    <a:lnTo>
                      <a:pt x="154" y="649"/>
                    </a:lnTo>
                    <a:cubicBezTo>
                      <a:pt x="156" y="650"/>
                      <a:pt x="158" y="651"/>
                      <a:pt x="158" y="653"/>
                    </a:cubicBezTo>
                    <a:cubicBezTo>
                      <a:pt x="159" y="654"/>
                      <a:pt x="159" y="654"/>
                      <a:pt x="159" y="656"/>
                    </a:cubicBezTo>
                    <a:lnTo>
                      <a:pt x="161" y="656"/>
                    </a:lnTo>
                    <a:cubicBezTo>
                      <a:pt x="162" y="656"/>
                      <a:pt x="162" y="656"/>
                      <a:pt x="163" y="656"/>
                    </a:cubicBezTo>
                    <a:cubicBezTo>
                      <a:pt x="165" y="656"/>
                      <a:pt x="165" y="656"/>
                      <a:pt x="166" y="656"/>
                    </a:cubicBezTo>
                    <a:cubicBezTo>
                      <a:pt x="168" y="656"/>
                      <a:pt x="170" y="656"/>
                      <a:pt x="170" y="656"/>
                    </a:cubicBezTo>
                    <a:cubicBezTo>
                      <a:pt x="173" y="656"/>
                      <a:pt x="175" y="653"/>
                      <a:pt x="177" y="651"/>
                    </a:cubicBezTo>
                    <a:lnTo>
                      <a:pt x="173" y="650"/>
                    </a:lnTo>
                    <a:lnTo>
                      <a:pt x="173" y="645"/>
                    </a:lnTo>
                    <a:lnTo>
                      <a:pt x="173" y="644"/>
                    </a:lnTo>
                    <a:cubicBezTo>
                      <a:pt x="173" y="642"/>
                      <a:pt x="171" y="641"/>
                      <a:pt x="171" y="639"/>
                    </a:cubicBezTo>
                    <a:cubicBezTo>
                      <a:pt x="168" y="638"/>
                      <a:pt x="166" y="635"/>
                      <a:pt x="166" y="630"/>
                    </a:cubicBezTo>
                    <a:lnTo>
                      <a:pt x="165" y="625"/>
                    </a:lnTo>
                    <a:lnTo>
                      <a:pt x="171" y="625"/>
                    </a:lnTo>
                    <a:lnTo>
                      <a:pt x="174" y="626"/>
                    </a:lnTo>
                    <a:cubicBezTo>
                      <a:pt x="175" y="626"/>
                      <a:pt x="178" y="626"/>
                      <a:pt x="180" y="626"/>
                    </a:cubicBezTo>
                    <a:cubicBezTo>
                      <a:pt x="186" y="626"/>
                      <a:pt x="189" y="626"/>
                      <a:pt x="189" y="623"/>
                    </a:cubicBezTo>
                    <a:cubicBezTo>
                      <a:pt x="190" y="618"/>
                      <a:pt x="195" y="618"/>
                      <a:pt x="196" y="618"/>
                    </a:cubicBezTo>
                    <a:lnTo>
                      <a:pt x="201" y="618"/>
                    </a:lnTo>
                    <a:cubicBezTo>
                      <a:pt x="202" y="618"/>
                      <a:pt x="203" y="618"/>
                      <a:pt x="205" y="618"/>
                    </a:cubicBezTo>
                    <a:lnTo>
                      <a:pt x="205" y="617"/>
                    </a:lnTo>
                    <a:lnTo>
                      <a:pt x="203" y="612"/>
                    </a:lnTo>
                    <a:lnTo>
                      <a:pt x="210" y="612"/>
                    </a:lnTo>
                    <a:cubicBezTo>
                      <a:pt x="217" y="612"/>
                      <a:pt x="224" y="612"/>
                      <a:pt x="227" y="618"/>
                    </a:cubicBezTo>
                    <a:cubicBezTo>
                      <a:pt x="229" y="614"/>
                      <a:pt x="230" y="612"/>
                      <a:pt x="235" y="612"/>
                    </a:cubicBezTo>
                    <a:lnTo>
                      <a:pt x="235" y="613"/>
                    </a:lnTo>
                    <a:cubicBezTo>
                      <a:pt x="236" y="613"/>
                      <a:pt x="238" y="613"/>
                      <a:pt x="238" y="613"/>
                    </a:cubicBezTo>
                    <a:cubicBezTo>
                      <a:pt x="240" y="613"/>
                      <a:pt x="242" y="613"/>
                      <a:pt x="243" y="613"/>
                    </a:cubicBezTo>
                    <a:cubicBezTo>
                      <a:pt x="248" y="613"/>
                      <a:pt x="252" y="614"/>
                      <a:pt x="255" y="617"/>
                    </a:cubicBezTo>
                    <a:cubicBezTo>
                      <a:pt x="260" y="618"/>
                      <a:pt x="263" y="620"/>
                      <a:pt x="266" y="623"/>
                    </a:cubicBezTo>
                    <a:cubicBezTo>
                      <a:pt x="268" y="625"/>
                      <a:pt x="272" y="628"/>
                      <a:pt x="275" y="629"/>
                    </a:cubicBezTo>
                    <a:cubicBezTo>
                      <a:pt x="279" y="630"/>
                      <a:pt x="282" y="632"/>
                      <a:pt x="287" y="632"/>
                    </a:cubicBezTo>
                    <a:cubicBezTo>
                      <a:pt x="291" y="632"/>
                      <a:pt x="296" y="632"/>
                      <a:pt x="300" y="630"/>
                    </a:cubicBezTo>
                    <a:lnTo>
                      <a:pt x="309" y="629"/>
                    </a:lnTo>
                    <a:lnTo>
                      <a:pt x="307" y="637"/>
                    </a:lnTo>
                    <a:cubicBezTo>
                      <a:pt x="305" y="639"/>
                      <a:pt x="310" y="644"/>
                      <a:pt x="315" y="646"/>
                    </a:cubicBezTo>
                    <a:cubicBezTo>
                      <a:pt x="316" y="646"/>
                      <a:pt x="317" y="646"/>
                      <a:pt x="317" y="646"/>
                    </a:cubicBezTo>
                    <a:lnTo>
                      <a:pt x="319" y="646"/>
                    </a:lnTo>
                    <a:lnTo>
                      <a:pt x="319" y="645"/>
                    </a:lnTo>
                    <a:lnTo>
                      <a:pt x="319" y="644"/>
                    </a:lnTo>
                    <a:cubicBezTo>
                      <a:pt x="319" y="641"/>
                      <a:pt x="322" y="638"/>
                      <a:pt x="326" y="639"/>
                    </a:cubicBezTo>
                    <a:lnTo>
                      <a:pt x="338" y="639"/>
                    </a:lnTo>
                    <a:lnTo>
                      <a:pt x="337" y="645"/>
                    </a:lnTo>
                    <a:lnTo>
                      <a:pt x="337" y="646"/>
                    </a:lnTo>
                    <a:cubicBezTo>
                      <a:pt x="337" y="646"/>
                      <a:pt x="338" y="646"/>
                      <a:pt x="340" y="646"/>
                    </a:cubicBezTo>
                    <a:lnTo>
                      <a:pt x="352" y="649"/>
                    </a:lnTo>
                    <a:lnTo>
                      <a:pt x="343" y="656"/>
                    </a:lnTo>
                    <a:cubicBezTo>
                      <a:pt x="340" y="658"/>
                      <a:pt x="338" y="660"/>
                      <a:pt x="338" y="662"/>
                    </a:cubicBezTo>
                    <a:cubicBezTo>
                      <a:pt x="340" y="662"/>
                      <a:pt x="343" y="662"/>
                      <a:pt x="345" y="662"/>
                    </a:cubicBezTo>
                    <a:lnTo>
                      <a:pt x="350" y="662"/>
                    </a:lnTo>
                    <a:cubicBezTo>
                      <a:pt x="353" y="662"/>
                      <a:pt x="357" y="663"/>
                      <a:pt x="361" y="663"/>
                    </a:cubicBezTo>
                    <a:cubicBezTo>
                      <a:pt x="364" y="663"/>
                      <a:pt x="369" y="665"/>
                      <a:pt x="373" y="670"/>
                    </a:cubicBezTo>
                    <a:cubicBezTo>
                      <a:pt x="374" y="674"/>
                      <a:pt x="374" y="677"/>
                      <a:pt x="374" y="678"/>
                    </a:cubicBezTo>
                    <a:lnTo>
                      <a:pt x="374" y="679"/>
                    </a:lnTo>
                    <a:cubicBezTo>
                      <a:pt x="374" y="679"/>
                      <a:pt x="375" y="679"/>
                      <a:pt x="377" y="679"/>
                    </a:cubicBezTo>
                    <a:cubicBezTo>
                      <a:pt x="381" y="679"/>
                      <a:pt x="381" y="684"/>
                      <a:pt x="382" y="688"/>
                    </a:cubicBezTo>
                    <a:cubicBezTo>
                      <a:pt x="382" y="688"/>
                      <a:pt x="382" y="690"/>
                      <a:pt x="385" y="690"/>
                    </a:cubicBezTo>
                    <a:cubicBezTo>
                      <a:pt x="385" y="691"/>
                      <a:pt x="386" y="693"/>
                      <a:pt x="387" y="694"/>
                    </a:cubicBezTo>
                    <a:cubicBezTo>
                      <a:pt x="390" y="695"/>
                      <a:pt x="394" y="695"/>
                      <a:pt x="399" y="695"/>
                    </a:cubicBezTo>
                    <a:cubicBezTo>
                      <a:pt x="401" y="695"/>
                      <a:pt x="403" y="695"/>
                      <a:pt x="406" y="695"/>
                    </a:cubicBezTo>
                    <a:lnTo>
                      <a:pt x="413" y="695"/>
                    </a:lnTo>
                    <a:lnTo>
                      <a:pt x="413" y="702"/>
                    </a:lnTo>
                    <a:cubicBezTo>
                      <a:pt x="413" y="702"/>
                      <a:pt x="413" y="703"/>
                      <a:pt x="426" y="705"/>
                    </a:cubicBezTo>
                    <a:lnTo>
                      <a:pt x="429" y="705"/>
                    </a:lnTo>
                    <a:cubicBezTo>
                      <a:pt x="431" y="705"/>
                      <a:pt x="434" y="707"/>
                      <a:pt x="438" y="712"/>
                    </a:cubicBezTo>
                    <a:cubicBezTo>
                      <a:pt x="439" y="714"/>
                      <a:pt x="441" y="715"/>
                      <a:pt x="441" y="715"/>
                    </a:cubicBezTo>
                    <a:cubicBezTo>
                      <a:pt x="442" y="716"/>
                      <a:pt x="445" y="718"/>
                      <a:pt x="446" y="719"/>
                    </a:cubicBezTo>
                    <a:cubicBezTo>
                      <a:pt x="448" y="721"/>
                      <a:pt x="450" y="721"/>
                      <a:pt x="451" y="722"/>
                    </a:cubicBezTo>
                    <a:cubicBezTo>
                      <a:pt x="454" y="726"/>
                      <a:pt x="458" y="728"/>
                      <a:pt x="462" y="733"/>
                    </a:cubicBezTo>
                    <a:cubicBezTo>
                      <a:pt x="463" y="735"/>
                      <a:pt x="463" y="737"/>
                      <a:pt x="464" y="740"/>
                    </a:cubicBezTo>
                    <a:lnTo>
                      <a:pt x="464" y="742"/>
                    </a:lnTo>
                    <a:cubicBezTo>
                      <a:pt x="464" y="742"/>
                      <a:pt x="464" y="743"/>
                      <a:pt x="464" y="744"/>
                    </a:cubicBezTo>
                    <a:lnTo>
                      <a:pt x="464" y="746"/>
                    </a:lnTo>
                    <a:cubicBezTo>
                      <a:pt x="469" y="747"/>
                      <a:pt x="471" y="751"/>
                      <a:pt x="475" y="755"/>
                    </a:cubicBezTo>
                    <a:cubicBezTo>
                      <a:pt x="476" y="756"/>
                      <a:pt x="476" y="759"/>
                      <a:pt x="478" y="761"/>
                    </a:cubicBezTo>
                    <a:lnTo>
                      <a:pt x="479" y="761"/>
                    </a:lnTo>
                    <a:cubicBezTo>
                      <a:pt x="480" y="761"/>
                      <a:pt x="480" y="761"/>
                      <a:pt x="482" y="761"/>
                    </a:cubicBezTo>
                    <a:lnTo>
                      <a:pt x="483" y="761"/>
                    </a:lnTo>
                    <a:cubicBezTo>
                      <a:pt x="485" y="763"/>
                      <a:pt x="487" y="763"/>
                      <a:pt x="488" y="764"/>
                    </a:cubicBezTo>
                    <a:cubicBezTo>
                      <a:pt x="494" y="767"/>
                      <a:pt x="500" y="771"/>
                      <a:pt x="504" y="777"/>
                    </a:cubicBezTo>
                    <a:cubicBezTo>
                      <a:pt x="507" y="780"/>
                      <a:pt x="508" y="786"/>
                      <a:pt x="508" y="791"/>
                    </a:cubicBezTo>
                    <a:cubicBezTo>
                      <a:pt x="508" y="792"/>
                      <a:pt x="508" y="793"/>
                      <a:pt x="508" y="795"/>
                    </a:cubicBezTo>
                    <a:cubicBezTo>
                      <a:pt x="508" y="798"/>
                      <a:pt x="508" y="800"/>
                      <a:pt x="507" y="801"/>
                    </a:cubicBezTo>
                    <a:cubicBezTo>
                      <a:pt x="506" y="801"/>
                      <a:pt x="504" y="803"/>
                      <a:pt x="503" y="803"/>
                    </a:cubicBezTo>
                    <a:cubicBezTo>
                      <a:pt x="501" y="803"/>
                      <a:pt x="501" y="803"/>
                      <a:pt x="500" y="803"/>
                    </a:cubicBezTo>
                    <a:lnTo>
                      <a:pt x="485" y="801"/>
                    </a:lnTo>
                    <a:cubicBezTo>
                      <a:pt x="483" y="803"/>
                      <a:pt x="483" y="803"/>
                      <a:pt x="483" y="804"/>
                    </a:cubicBezTo>
                    <a:cubicBezTo>
                      <a:pt x="480" y="809"/>
                      <a:pt x="475" y="808"/>
                      <a:pt x="473" y="808"/>
                    </a:cubicBezTo>
                    <a:lnTo>
                      <a:pt x="471" y="808"/>
                    </a:lnTo>
                    <a:cubicBezTo>
                      <a:pt x="470" y="808"/>
                      <a:pt x="470" y="808"/>
                      <a:pt x="470" y="808"/>
                    </a:cubicBezTo>
                    <a:cubicBezTo>
                      <a:pt x="469" y="808"/>
                      <a:pt x="469" y="809"/>
                      <a:pt x="469" y="809"/>
                    </a:cubicBezTo>
                    <a:lnTo>
                      <a:pt x="470" y="811"/>
                    </a:lnTo>
                    <a:cubicBezTo>
                      <a:pt x="470" y="813"/>
                      <a:pt x="471" y="813"/>
                      <a:pt x="471" y="814"/>
                    </a:cubicBezTo>
                    <a:cubicBezTo>
                      <a:pt x="475" y="814"/>
                      <a:pt x="476" y="814"/>
                      <a:pt x="479" y="814"/>
                    </a:cubicBezTo>
                    <a:cubicBezTo>
                      <a:pt x="480" y="814"/>
                      <a:pt x="482" y="814"/>
                      <a:pt x="483" y="814"/>
                    </a:cubicBezTo>
                    <a:lnTo>
                      <a:pt x="487" y="814"/>
                    </a:lnTo>
                    <a:cubicBezTo>
                      <a:pt x="488" y="814"/>
                      <a:pt x="491" y="814"/>
                      <a:pt x="494" y="814"/>
                    </a:cubicBezTo>
                    <a:lnTo>
                      <a:pt x="504" y="816"/>
                    </a:lnTo>
                    <a:lnTo>
                      <a:pt x="529" y="816"/>
                    </a:lnTo>
                    <a:lnTo>
                      <a:pt x="531" y="816"/>
                    </a:lnTo>
                    <a:lnTo>
                      <a:pt x="532" y="816"/>
                    </a:lnTo>
                    <a:cubicBezTo>
                      <a:pt x="535" y="816"/>
                      <a:pt x="538" y="819"/>
                      <a:pt x="538" y="821"/>
                    </a:cubicBezTo>
                    <a:cubicBezTo>
                      <a:pt x="538" y="823"/>
                      <a:pt x="538" y="823"/>
                      <a:pt x="538" y="824"/>
                    </a:cubicBezTo>
                    <a:lnTo>
                      <a:pt x="540" y="824"/>
                    </a:lnTo>
                    <a:cubicBezTo>
                      <a:pt x="544" y="824"/>
                      <a:pt x="545" y="828"/>
                      <a:pt x="545" y="829"/>
                    </a:cubicBezTo>
                    <a:cubicBezTo>
                      <a:pt x="545" y="830"/>
                      <a:pt x="545" y="830"/>
                      <a:pt x="545" y="830"/>
                    </a:cubicBezTo>
                    <a:cubicBezTo>
                      <a:pt x="547" y="830"/>
                      <a:pt x="547" y="830"/>
                      <a:pt x="548" y="830"/>
                    </a:cubicBezTo>
                    <a:cubicBezTo>
                      <a:pt x="552" y="832"/>
                      <a:pt x="555" y="832"/>
                      <a:pt x="556" y="832"/>
                    </a:cubicBezTo>
                    <a:cubicBezTo>
                      <a:pt x="559" y="832"/>
                      <a:pt x="560" y="832"/>
                      <a:pt x="564" y="832"/>
                    </a:cubicBezTo>
                    <a:cubicBezTo>
                      <a:pt x="568" y="833"/>
                      <a:pt x="568" y="838"/>
                      <a:pt x="568" y="841"/>
                    </a:cubicBezTo>
                    <a:cubicBezTo>
                      <a:pt x="569" y="841"/>
                      <a:pt x="571" y="841"/>
                      <a:pt x="572" y="841"/>
                    </a:cubicBezTo>
                    <a:lnTo>
                      <a:pt x="578" y="841"/>
                    </a:lnTo>
                    <a:cubicBezTo>
                      <a:pt x="580" y="841"/>
                      <a:pt x="581" y="841"/>
                      <a:pt x="583" y="841"/>
                    </a:cubicBezTo>
                    <a:cubicBezTo>
                      <a:pt x="585" y="841"/>
                      <a:pt x="589" y="841"/>
                      <a:pt x="593" y="841"/>
                    </a:cubicBezTo>
                    <a:cubicBezTo>
                      <a:pt x="599" y="841"/>
                      <a:pt x="605" y="842"/>
                      <a:pt x="606" y="847"/>
                    </a:cubicBezTo>
                    <a:cubicBezTo>
                      <a:pt x="606" y="848"/>
                      <a:pt x="609" y="848"/>
                      <a:pt x="612" y="849"/>
                    </a:cubicBezTo>
                    <a:cubicBezTo>
                      <a:pt x="614" y="849"/>
                      <a:pt x="615" y="849"/>
                      <a:pt x="618" y="849"/>
                    </a:cubicBezTo>
                    <a:cubicBezTo>
                      <a:pt x="620" y="849"/>
                      <a:pt x="624" y="849"/>
                      <a:pt x="626" y="849"/>
                    </a:cubicBezTo>
                    <a:lnTo>
                      <a:pt x="627" y="849"/>
                    </a:lnTo>
                    <a:cubicBezTo>
                      <a:pt x="629" y="849"/>
                      <a:pt x="630" y="851"/>
                      <a:pt x="632" y="851"/>
                    </a:cubicBezTo>
                    <a:cubicBezTo>
                      <a:pt x="633" y="851"/>
                      <a:pt x="634" y="851"/>
                      <a:pt x="636" y="851"/>
                    </a:cubicBezTo>
                    <a:lnTo>
                      <a:pt x="637" y="851"/>
                    </a:lnTo>
                    <a:lnTo>
                      <a:pt x="639" y="851"/>
                    </a:lnTo>
                    <a:cubicBezTo>
                      <a:pt x="642" y="851"/>
                      <a:pt x="643" y="853"/>
                      <a:pt x="645" y="857"/>
                    </a:cubicBezTo>
                    <a:cubicBezTo>
                      <a:pt x="645" y="857"/>
                      <a:pt x="645" y="858"/>
                      <a:pt x="646" y="858"/>
                    </a:cubicBezTo>
                    <a:cubicBezTo>
                      <a:pt x="648" y="863"/>
                      <a:pt x="653" y="865"/>
                      <a:pt x="655" y="868"/>
                    </a:cubicBezTo>
                    <a:lnTo>
                      <a:pt x="660" y="868"/>
                    </a:lnTo>
                    <a:cubicBezTo>
                      <a:pt x="662" y="868"/>
                      <a:pt x="666" y="868"/>
                      <a:pt x="667" y="872"/>
                    </a:cubicBezTo>
                    <a:lnTo>
                      <a:pt x="667" y="873"/>
                    </a:lnTo>
                    <a:cubicBezTo>
                      <a:pt x="669" y="875"/>
                      <a:pt x="669" y="877"/>
                      <a:pt x="670" y="878"/>
                    </a:cubicBezTo>
                    <a:cubicBezTo>
                      <a:pt x="673" y="882"/>
                      <a:pt x="679" y="884"/>
                      <a:pt x="687" y="884"/>
                    </a:cubicBezTo>
                    <a:cubicBezTo>
                      <a:pt x="690" y="884"/>
                      <a:pt x="692" y="884"/>
                      <a:pt x="694" y="884"/>
                    </a:cubicBezTo>
                    <a:cubicBezTo>
                      <a:pt x="697" y="884"/>
                      <a:pt x="698" y="884"/>
                      <a:pt x="699" y="884"/>
                    </a:cubicBezTo>
                    <a:lnTo>
                      <a:pt x="706" y="884"/>
                    </a:lnTo>
                    <a:lnTo>
                      <a:pt x="704" y="891"/>
                    </a:lnTo>
                    <a:cubicBezTo>
                      <a:pt x="706" y="891"/>
                      <a:pt x="706" y="891"/>
                      <a:pt x="708" y="893"/>
                    </a:cubicBezTo>
                    <a:lnTo>
                      <a:pt x="713" y="893"/>
                    </a:lnTo>
                    <a:lnTo>
                      <a:pt x="711" y="927"/>
                    </a:lnTo>
                    <a:lnTo>
                      <a:pt x="706" y="925"/>
                    </a:lnTo>
                    <a:cubicBezTo>
                      <a:pt x="704" y="925"/>
                      <a:pt x="704" y="925"/>
                      <a:pt x="704" y="925"/>
                    </a:cubicBezTo>
                    <a:lnTo>
                      <a:pt x="704" y="927"/>
                    </a:lnTo>
                    <a:cubicBezTo>
                      <a:pt x="703" y="933"/>
                      <a:pt x="703" y="935"/>
                      <a:pt x="703" y="937"/>
                    </a:cubicBezTo>
                    <a:cubicBezTo>
                      <a:pt x="704" y="938"/>
                      <a:pt x="706" y="938"/>
                      <a:pt x="706" y="938"/>
                    </a:cubicBezTo>
                    <a:lnTo>
                      <a:pt x="710" y="938"/>
                    </a:lnTo>
                    <a:lnTo>
                      <a:pt x="710" y="943"/>
                    </a:lnTo>
                    <a:cubicBezTo>
                      <a:pt x="710" y="945"/>
                      <a:pt x="710" y="945"/>
                      <a:pt x="710" y="945"/>
                    </a:cubicBezTo>
                    <a:cubicBezTo>
                      <a:pt x="710" y="947"/>
                      <a:pt x="711" y="954"/>
                      <a:pt x="706" y="956"/>
                    </a:cubicBezTo>
                    <a:cubicBezTo>
                      <a:pt x="704" y="956"/>
                      <a:pt x="703" y="958"/>
                      <a:pt x="701" y="959"/>
                    </a:cubicBezTo>
                    <a:cubicBezTo>
                      <a:pt x="694" y="963"/>
                      <a:pt x="687" y="970"/>
                      <a:pt x="682" y="975"/>
                    </a:cubicBezTo>
                    <a:cubicBezTo>
                      <a:pt x="680" y="977"/>
                      <a:pt x="679" y="980"/>
                      <a:pt x="679" y="982"/>
                    </a:cubicBezTo>
                    <a:cubicBezTo>
                      <a:pt x="676" y="986"/>
                      <a:pt x="673" y="986"/>
                      <a:pt x="671" y="986"/>
                    </a:cubicBezTo>
                    <a:lnTo>
                      <a:pt x="670" y="986"/>
                    </a:lnTo>
                    <a:lnTo>
                      <a:pt x="670" y="987"/>
                    </a:lnTo>
                    <a:lnTo>
                      <a:pt x="671" y="994"/>
                    </a:lnTo>
                    <a:lnTo>
                      <a:pt x="666" y="994"/>
                    </a:lnTo>
                    <a:cubicBezTo>
                      <a:pt x="666" y="994"/>
                      <a:pt x="664" y="994"/>
                      <a:pt x="664" y="996"/>
                    </a:cubicBezTo>
                    <a:cubicBezTo>
                      <a:pt x="662" y="998"/>
                      <a:pt x="662" y="998"/>
                      <a:pt x="662" y="999"/>
                    </a:cubicBezTo>
                    <a:cubicBezTo>
                      <a:pt x="662" y="1000"/>
                      <a:pt x="662" y="1002"/>
                      <a:pt x="662" y="1004"/>
                    </a:cubicBezTo>
                    <a:cubicBezTo>
                      <a:pt x="661" y="1005"/>
                      <a:pt x="660" y="1008"/>
                      <a:pt x="654" y="1008"/>
                    </a:cubicBezTo>
                    <a:cubicBezTo>
                      <a:pt x="653" y="1008"/>
                      <a:pt x="651" y="1008"/>
                      <a:pt x="651" y="1008"/>
                    </a:cubicBezTo>
                    <a:cubicBezTo>
                      <a:pt x="649" y="1008"/>
                      <a:pt x="649" y="1008"/>
                      <a:pt x="649" y="1008"/>
                    </a:cubicBezTo>
                    <a:lnTo>
                      <a:pt x="639" y="1008"/>
                    </a:lnTo>
                    <a:cubicBezTo>
                      <a:pt x="639" y="1010"/>
                      <a:pt x="639" y="1011"/>
                      <a:pt x="639" y="1012"/>
                    </a:cubicBezTo>
                    <a:cubicBezTo>
                      <a:pt x="637" y="1014"/>
                      <a:pt x="637" y="1019"/>
                      <a:pt x="637" y="1020"/>
                    </a:cubicBezTo>
                    <a:cubicBezTo>
                      <a:pt x="639" y="1020"/>
                      <a:pt x="641" y="1020"/>
                      <a:pt x="641" y="1020"/>
                    </a:cubicBezTo>
                    <a:lnTo>
                      <a:pt x="646" y="1021"/>
                    </a:lnTo>
                    <a:lnTo>
                      <a:pt x="646" y="1026"/>
                    </a:lnTo>
                    <a:lnTo>
                      <a:pt x="645" y="1057"/>
                    </a:lnTo>
                    <a:cubicBezTo>
                      <a:pt x="645" y="1060"/>
                      <a:pt x="645" y="1064"/>
                      <a:pt x="643" y="1069"/>
                    </a:cubicBezTo>
                    <a:cubicBezTo>
                      <a:pt x="643" y="1077"/>
                      <a:pt x="643" y="1087"/>
                      <a:pt x="643" y="1096"/>
                    </a:cubicBezTo>
                    <a:cubicBezTo>
                      <a:pt x="643" y="1101"/>
                      <a:pt x="642" y="1106"/>
                      <a:pt x="630" y="1108"/>
                    </a:cubicBezTo>
                    <a:cubicBezTo>
                      <a:pt x="627" y="1108"/>
                      <a:pt x="626" y="1109"/>
                      <a:pt x="622" y="1110"/>
                    </a:cubicBezTo>
                    <a:cubicBezTo>
                      <a:pt x="620" y="1113"/>
                      <a:pt x="618" y="1118"/>
                      <a:pt x="617" y="1122"/>
                    </a:cubicBezTo>
                    <a:cubicBezTo>
                      <a:pt x="615" y="1125"/>
                      <a:pt x="614" y="1128"/>
                      <a:pt x="612" y="1133"/>
                    </a:cubicBezTo>
                    <a:cubicBezTo>
                      <a:pt x="611" y="1134"/>
                      <a:pt x="608" y="1137"/>
                      <a:pt x="604" y="1137"/>
                    </a:cubicBezTo>
                    <a:lnTo>
                      <a:pt x="602" y="1137"/>
                    </a:lnTo>
                    <a:cubicBezTo>
                      <a:pt x="601" y="1137"/>
                      <a:pt x="599" y="1137"/>
                      <a:pt x="599" y="1137"/>
                    </a:cubicBezTo>
                    <a:cubicBezTo>
                      <a:pt x="597" y="1137"/>
                      <a:pt x="596" y="1138"/>
                      <a:pt x="594" y="1140"/>
                    </a:cubicBezTo>
                    <a:cubicBezTo>
                      <a:pt x="593" y="1140"/>
                      <a:pt x="592" y="1141"/>
                      <a:pt x="590" y="1143"/>
                    </a:cubicBezTo>
                    <a:cubicBezTo>
                      <a:pt x="587" y="1143"/>
                      <a:pt x="584" y="1143"/>
                      <a:pt x="583" y="1143"/>
                    </a:cubicBezTo>
                    <a:cubicBezTo>
                      <a:pt x="581" y="1143"/>
                      <a:pt x="581" y="1143"/>
                      <a:pt x="580" y="1143"/>
                    </a:cubicBezTo>
                    <a:cubicBezTo>
                      <a:pt x="580" y="1145"/>
                      <a:pt x="580" y="1149"/>
                      <a:pt x="580" y="1150"/>
                    </a:cubicBezTo>
                    <a:cubicBezTo>
                      <a:pt x="580" y="1152"/>
                      <a:pt x="580" y="1153"/>
                      <a:pt x="580" y="1153"/>
                    </a:cubicBezTo>
                    <a:lnTo>
                      <a:pt x="580" y="1161"/>
                    </a:lnTo>
                    <a:lnTo>
                      <a:pt x="572" y="1159"/>
                    </a:lnTo>
                    <a:lnTo>
                      <a:pt x="572" y="1161"/>
                    </a:lnTo>
                    <a:cubicBezTo>
                      <a:pt x="571" y="1164"/>
                      <a:pt x="568" y="1166"/>
                      <a:pt x="564" y="1166"/>
                    </a:cubicBezTo>
                    <a:lnTo>
                      <a:pt x="556" y="1166"/>
                    </a:lnTo>
                    <a:cubicBezTo>
                      <a:pt x="553" y="1165"/>
                      <a:pt x="552" y="1165"/>
                      <a:pt x="548" y="1165"/>
                    </a:cubicBezTo>
                    <a:cubicBezTo>
                      <a:pt x="545" y="1165"/>
                      <a:pt x="543" y="1165"/>
                      <a:pt x="540" y="1165"/>
                    </a:cubicBezTo>
                    <a:cubicBezTo>
                      <a:pt x="535" y="1165"/>
                      <a:pt x="531" y="1165"/>
                      <a:pt x="528" y="1165"/>
                    </a:cubicBezTo>
                    <a:cubicBezTo>
                      <a:pt x="522" y="1166"/>
                      <a:pt x="519" y="1171"/>
                      <a:pt x="517" y="1174"/>
                    </a:cubicBezTo>
                    <a:lnTo>
                      <a:pt x="517" y="1175"/>
                    </a:lnTo>
                    <a:cubicBezTo>
                      <a:pt x="516" y="1178"/>
                      <a:pt x="515" y="1182"/>
                      <a:pt x="512" y="1184"/>
                    </a:cubicBezTo>
                    <a:cubicBezTo>
                      <a:pt x="510" y="1186"/>
                      <a:pt x="508" y="1187"/>
                      <a:pt x="508" y="1190"/>
                    </a:cubicBezTo>
                    <a:lnTo>
                      <a:pt x="508" y="1196"/>
                    </a:lnTo>
                    <a:lnTo>
                      <a:pt x="503" y="1195"/>
                    </a:lnTo>
                    <a:cubicBezTo>
                      <a:pt x="501" y="1195"/>
                      <a:pt x="501" y="1195"/>
                      <a:pt x="501" y="1195"/>
                    </a:cubicBezTo>
                    <a:lnTo>
                      <a:pt x="501" y="1198"/>
                    </a:lnTo>
                    <a:lnTo>
                      <a:pt x="499" y="1242"/>
                    </a:lnTo>
                    <a:cubicBezTo>
                      <a:pt x="499" y="1248"/>
                      <a:pt x="499" y="1252"/>
                      <a:pt x="495" y="1259"/>
                    </a:cubicBezTo>
                    <a:cubicBezTo>
                      <a:pt x="491" y="1267"/>
                      <a:pt x="483" y="1272"/>
                      <a:pt x="476" y="1275"/>
                    </a:cubicBezTo>
                    <a:lnTo>
                      <a:pt x="475" y="1276"/>
                    </a:lnTo>
                    <a:cubicBezTo>
                      <a:pt x="471" y="1278"/>
                      <a:pt x="470" y="1278"/>
                      <a:pt x="469" y="1278"/>
                    </a:cubicBezTo>
                    <a:cubicBezTo>
                      <a:pt x="467" y="1278"/>
                      <a:pt x="467" y="1278"/>
                      <a:pt x="467" y="1278"/>
                    </a:cubicBezTo>
                    <a:cubicBezTo>
                      <a:pt x="466" y="1282"/>
                      <a:pt x="466" y="1287"/>
                      <a:pt x="466" y="1291"/>
                    </a:cubicBezTo>
                    <a:cubicBezTo>
                      <a:pt x="466" y="1292"/>
                      <a:pt x="466" y="1294"/>
                      <a:pt x="466" y="1296"/>
                    </a:cubicBezTo>
                    <a:lnTo>
                      <a:pt x="466" y="1303"/>
                    </a:lnTo>
                    <a:lnTo>
                      <a:pt x="459" y="1301"/>
                    </a:lnTo>
                    <a:cubicBezTo>
                      <a:pt x="459" y="1300"/>
                      <a:pt x="458" y="1300"/>
                      <a:pt x="458" y="1300"/>
                    </a:cubicBezTo>
                    <a:cubicBezTo>
                      <a:pt x="458" y="1300"/>
                      <a:pt x="458" y="1301"/>
                      <a:pt x="458" y="1304"/>
                    </a:cubicBezTo>
                    <a:lnTo>
                      <a:pt x="457" y="1309"/>
                    </a:lnTo>
                    <a:lnTo>
                      <a:pt x="427" y="1308"/>
                    </a:lnTo>
                    <a:cubicBezTo>
                      <a:pt x="427" y="1309"/>
                      <a:pt x="427" y="1310"/>
                      <a:pt x="427" y="1310"/>
                    </a:cubicBezTo>
                    <a:cubicBezTo>
                      <a:pt x="429" y="1312"/>
                      <a:pt x="429" y="1313"/>
                      <a:pt x="433" y="1313"/>
                    </a:cubicBezTo>
                    <a:cubicBezTo>
                      <a:pt x="434" y="1313"/>
                      <a:pt x="436" y="1313"/>
                      <a:pt x="436" y="1313"/>
                    </a:cubicBezTo>
                    <a:lnTo>
                      <a:pt x="442" y="1312"/>
                    </a:lnTo>
                    <a:lnTo>
                      <a:pt x="442" y="1317"/>
                    </a:lnTo>
                    <a:cubicBezTo>
                      <a:pt x="442" y="1321"/>
                      <a:pt x="443" y="1324"/>
                      <a:pt x="445" y="1325"/>
                    </a:cubicBezTo>
                    <a:cubicBezTo>
                      <a:pt x="448" y="1331"/>
                      <a:pt x="452" y="1337"/>
                      <a:pt x="448" y="1346"/>
                    </a:cubicBezTo>
                    <a:cubicBezTo>
                      <a:pt x="445" y="1352"/>
                      <a:pt x="439" y="1355"/>
                      <a:pt x="431" y="1353"/>
                    </a:cubicBezTo>
                    <a:cubicBezTo>
                      <a:pt x="430" y="1353"/>
                      <a:pt x="430" y="1353"/>
                      <a:pt x="429" y="1353"/>
                    </a:cubicBezTo>
                    <a:lnTo>
                      <a:pt x="427" y="1353"/>
                    </a:lnTo>
                    <a:cubicBezTo>
                      <a:pt x="426" y="1353"/>
                      <a:pt x="426" y="1353"/>
                      <a:pt x="426" y="1353"/>
                    </a:cubicBezTo>
                    <a:cubicBezTo>
                      <a:pt x="426" y="1353"/>
                      <a:pt x="426" y="1355"/>
                      <a:pt x="426" y="1356"/>
                    </a:cubicBezTo>
                    <a:lnTo>
                      <a:pt x="424" y="1364"/>
                    </a:lnTo>
                    <a:lnTo>
                      <a:pt x="418" y="1361"/>
                    </a:lnTo>
                    <a:cubicBezTo>
                      <a:pt x="417" y="1359"/>
                      <a:pt x="413" y="1357"/>
                      <a:pt x="410" y="1357"/>
                    </a:cubicBezTo>
                    <a:cubicBezTo>
                      <a:pt x="406" y="1357"/>
                      <a:pt x="406" y="1357"/>
                      <a:pt x="406" y="1357"/>
                    </a:cubicBezTo>
                    <a:cubicBezTo>
                      <a:pt x="405" y="1359"/>
                      <a:pt x="403" y="1362"/>
                      <a:pt x="403" y="1365"/>
                    </a:cubicBezTo>
                    <a:lnTo>
                      <a:pt x="402" y="1366"/>
                    </a:lnTo>
                    <a:cubicBezTo>
                      <a:pt x="401" y="1373"/>
                      <a:pt x="399" y="1380"/>
                      <a:pt x="392" y="1382"/>
                    </a:cubicBezTo>
                    <a:cubicBezTo>
                      <a:pt x="390" y="1382"/>
                      <a:pt x="389" y="1382"/>
                      <a:pt x="387" y="1382"/>
                    </a:cubicBezTo>
                    <a:lnTo>
                      <a:pt x="386" y="1382"/>
                    </a:lnTo>
                    <a:lnTo>
                      <a:pt x="386" y="1385"/>
                    </a:lnTo>
                    <a:cubicBezTo>
                      <a:pt x="386" y="1386"/>
                      <a:pt x="387" y="1387"/>
                      <a:pt x="387" y="1387"/>
                    </a:cubicBezTo>
                    <a:cubicBezTo>
                      <a:pt x="389" y="1387"/>
                      <a:pt x="389" y="1387"/>
                      <a:pt x="390" y="1389"/>
                    </a:cubicBezTo>
                    <a:lnTo>
                      <a:pt x="393" y="1389"/>
                    </a:lnTo>
                    <a:lnTo>
                      <a:pt x="393" y="1393"/>
                    </a:lnTo>
                    <a:cubicBezTo>
                      <a:pt x="393" y="1394"/>
                      <a:pt x="393" y="1394"/>
                      <a:pt x="393" y="1396"/>
                    </a:cubicBezTo>
                    <a:cubicBezTo>
                      <a:pt x="393" y="1396"/>
                      <a:pt x="394" y="1398"/>
                      <a:pt x="396" y="1399"/>
                    </a:cubicBezTo>
                    <a:cubicBezTo>
                      <a:pt x="398" y="1402"/>
                      <a:pt x="401" y="1405"/>
                      <a:pt x="401" y="1411"/>
                    </a:cubicBezTo>
                    <a:cubicBezTo>
                      <a:pt x="401" y="1413"/>
                      <a:pt x="401" y="1415"/>
                      <a:pt x="401" y="1417"/>
                    </a:cubicBezTo>
                    <a:cubicBezTo>
                      <a:pt x="401" y="1423"/>
                      <a:pt x="399" y="1429"/>
                      <a:pt x="399" y="1433"/>
                    </a:cubicBezTo>
                    <a:cubicBezTo>
                      <a:pt x="399" y="1435"/>
                      <a:pt x="401" y="1435"/>
                      <a:pt x="401" y="1435"/>
                    </a:cubicBezTo>
                    <a:cubicBezTo>
                      <a:pt x="403" y="1435"/>
                      <a:pt x="405" y="1436"/>
                      <a:pt x="405" y="1438"/>
                    </a:cubicBezTo>
                    <a:cubicBezTo>
                      <a:pt x="408" y="1439"/>
                      <a:pt x="406" y="1442"/>
                      <a:pt x="406" y="1443"/>
                    </a:cubicBezTo>
                    <a:lnTo>
                      <a:pt x="406" y="1455"/>
                    </a:lnTo>
                    <a:lnTo>
                      <a:pt x="406" y="1457"/>
                    </a:lnTo>
                    <a:cubicBezTo>
                      <a:pt x="406" y="1458"/>
                      <a:pt x="408" y="1458"/>
                      <a:pt x="408" y="1458"/>
                    </a:cubicBezTo>
                    <a:cubicBezTo>
                      <a:pt x="411" y="1460"/>
                      <a:pt x="415" y="1460"/>
                      <a:pt x="418" y="1464"/>
                    </a:cubicBezTo>
                    <a:cubicBezTo>
                      <a:pt x="420" y="1467"/>
                      <a:pt x="421" y="1470"/>
                      <a:pt x="421" y="1475"/>
                    </a:cubicBezTo>
                    <a:cubicBezTo>
                      <a:pt x="421" y="1476"/>
                      <a:pt x="421" y="1478"/>
                      <a:pt x="420" y="1479"/>
                    </a:cubicBezTo>
                    <a:lnTo>
                      <a:pt x="420" y="1483"/>
                    </a:lnTo>
                    <a:lnTo>
                      <a:pt x="415" y="1483"/>
                    </a:lnTo>
                    <a:cubicBezTo>
                      <a:pt x="414" y="1483"/>
                      <a:pt x="414" y="1483"/>
                      <a:pt x="413" y="1483"/>
                    </a:cubicBezTo>
                    <a:lnTo>
                      <a:pt x="411" y="1483"/>
                    </a:lnTo>
                    <a:cubicBezTo>
                      <a:pt x="411" y="1483"/>
                      <a:pt x="411" y="1485"/>
                      <a:pt x="413" y="1485"/>
                    </a:cubicBezTo>
                    <a:cubicBezTo>
                      <a:pt x="413" y="1485"/>
                      <a:pt x="414" y="1487"/>
                      <a:pt x="414" y="1488"/>
                    </a:cubicBezTo>
                    <a:cubicBezTo>
                      <a:pt x="417" y="1491"/>
                      <a:pt x="418" y="1494"/>
                      <a:pt x="420" y="1497"/>
                    </a:cubicBezTo>
                    <a:cubicBezTo>
                      <a:pt x="420" y="1500"/>
                      <a:pt x="420" y="1501"/>
                      <a:pt x="418" y="1504"/>
                    </a:cubicBezTo>
                    <a:cubicBezTo>
                      <a:pt x="415" y="1507"/>
                      <a:pt x="411" y="1507"/>
                      <a:pt x="406" y="1507"/>
                    </a:cubicBezTo>
                    <a:close/>
                  </a:path>
                </a:pathLst>
              </a:custGeom>
              <a:grpFill/>
              <a:ln cap="flat">
                <a:noFill/>
                <a:prstDash val="solid"/>
              </a:ln>
            </p:spPr>
            <p:txBody>
              <a:bodyPr vert="horz" wrap="none" lIns="45000" tIns="22500" rIns="45000" bIns="22500" anchor="ctr" anchorCtr="1" compatLnSpc="0"/>
              <a:lstStyle/>
              <a:p>
                <a:pPr hangingPunct="0"/>
                <a:endParaRPr lang="en-US" sz="900">
                  <a:latin typeface="Arial" pitchFamily="18"/>
                  <a:ea typeface="Arial Unicode MS" pitchFamily="2"/>
                  <a:cs typeface="Arial Unicode MS" pitchFamily="2"/>
                </a:endParaRPr>
              </a:p>
            </p:txBody>
          </p:sp>
        </p:grpSp>
      </p:grpSp>
      <p:grpSp>
        <p:nvGrpSpPr>
          <p:cNvPr id="105" name="Group 104">
            <a:extLst>
              <a:ext uri="{FF2B5EF4-FFF2-40B4-BE49-F238E27FC236}">
                <a16:creationId xmlns:a16="http://schemas.microsoft.com/office/drawing/2014/main" id="{2340E52C-9D90-3C46-8B28-8BE44B413414}"/>
              </a:ext>
            </a:extLst>
          </p:cNvPr>
          <p:cNvGrpSpPr/>
          <p:nvPr/>
        </p:nvGrpSpPr>
        <p:grpSpPr>
          <a:xfrm>
            <a:off x="10199553" y="2297073"/>
            <a:ext cx="497893" cy="379018"/>
            <a:chOff x="17083598" y="2386671"/>
            <a:chExt cx="1081851" cy="823555"/>
          </a:xfrm>
          <a:solidFill>
            <a:schemeClr val="bg1"/>
          </a:solidFill>
        </p:grpSpPr>
        <p:sp>
          <p:nvSpPr>
            <p:cNvPr id="106" name="Freeform 16">
              <a:extLst>
                <a:ext uri="{FF2B5EF4-FFF2-40B4-BE49-F238E27FC236}">
                  <a16:creationId xmlns:a16="http://schemas.microsoft.com/office/drawing/2014/main" id="{255D0A1C-41C8-BB48-AD39-9C4E1C7BD07D}"/>
                </a:ext>
              </a:extLst>
            </p:cNvPr>
            <p:cNvSpPr>
              <a:spLocks noChangeArrowheads="1"/>
            </p:cNvSpPr>
            <p:nvPr/>
          </p:nvSpPr>
          <p:spPr bwMode="auto">
            <a:xfrm>
              <a:off x="17495376" y="2667430"/>
              <a:ext cx="262040" cy="265783"/>
            </a:xfrm>
            <a:custGeom>
              <a:avLst/>
              <a:gdLst>
                <a:gd name="T0" fmla="*/ 83434 w 309"/>
                <a:gd name="T1" fmla="*/ 32306 h 314"/>
                <a:gd name="T2" fmla="*/ 83434 w 309"/>
                <a:gd name="T3" fmla="*/ 79329 h 314"/>
                <a:gd name="T4" fmla="*/ 83434 w 309"/>
                <a:gd name="T5" fmla="*/ 79329 h 314"/>
                <a:gd name="T6" fmla="*/ 77680 w 309"/>
                <a:gd name="T7" fmla="*/ 85790 h 314"/>
                <a:gd name="T8" fmla="*/ 32367 w 309"/>
                <a:gd name="T9" fmla="*/ 85790 h 314"/>
                <a:gd name="T10" fmla="*/ 32367 w 309"/>
                <a:gd name="T11" fmla="*/ 85790 h 314"/>
                <a:gd name="T12" fmla="*/ 26612 w 309"/>
                <a:gd name="T13" fmla="*/ 79329 h 314"/>
                <a:gd name="T14" fmla="*/ 26612 w 309"/>
                <a:gd name="T15" fmla="*/ 32306 h 314"/>
                <a:gd name="T16" fmla="*/ 26612 w 309"/>
                <a:gd name="T17" fmla="*/ 32306 h 314"/>
                <a:gd name="T18" fmla="*/ 32367 w 309"/>
                <a:gd name="T19" fmla="*/ 26204 h 314"/>
                <a:gd name="T20" fmla="*/ 77680 w 309"/>
                <a:gd name="T21" fmla="*/ 26204 h 314"/>
                <a:gd name="T22" fmla="*/ 77680 w 309"/>
                <a:gd name="T23" fmla="*/ 26204 h 314"/>
                <a:gd name="T24" fmla="*/ 83434 w 309"/>
                <a:gd name="T25" fmla="*/ 32306 h 314"/>
                <a:gd name="T26" fmla="*/ 32367 w 309"/>
                <a:gd name="T27" fmla="*/ 0 h 314"/>
                <a:gd name="T28" fmla="*/ 32367 w 309"/>
                <a:gd name="T29" fmla="*/ 0 h 314"/>
                <a:gd name="T30" fmla="*/ 0 w 309"/>
                <a:gd name="T31" fmla="*/ 32306 h 314"/>
                <a:gd name="T32" fmla="*/ 0 w 309"/>
                <a:gd name="T33" fmla="*/ 79329 h 314"/>
                <a:gd name="T34" fmla="*/ 0 w 309"/>
                <a:gd name="T35" fmla="*/ 79329 h 314"/>
                <a:gd name="T36" fmla="*/ 32367 w 309"/>
                <a:gd name="T37" fmla="*/ 112353 h 314"/>
                <a:gd name="T38" fmla="*/ 77680 w 309"/>
                <a:gd name="T39" fmla="*/ 112353 h 314"/>
                <a:gd name="T40" fmla="*/ 77680 w 309"/>
                <a:gd name="T41" fmla="*/ 112353 h 314"/>
                <a:gd name="T42" fmla="*/ 110765 w 309"/>
                <a:gd name="T43" fmla="*/ 79329 h 314"/>
                <a:gd name="T44" fmla="*/ 110765 w 309"/>
                <a:gd name="T45" fmla="*/ 32306 h 314"/>
                <a:gd name="T46" fmla="*/ 110765 w 309"/>
                <a:gd name="T47" fmla="*/ 32306 h 314"/>
                <a:gd name="T48" fmla="*/ 77680 w 309"/>
                <a:gd name="T49" fmla="*/ 0 h 314"/>
                <a:gd name="T50" fmla="*/ 32367 w 309"/>
                <a:gd name="T51" fmla="*/ 0 h 31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09" h="314">
                  <a:moveTo>
                    <a:pt x="232" y="90"/>
                  </a:moveTo>
                  <a:lnTo>
                    <a:pt x="232" y="221"/>
                  </a:lnTo>
                  <a:cubicBezTo>
                    <a:pt x="232" y="232"/>
                    <a:pt x="225" y="239"/>
                    <a:pt x="216" y="239"/>
                  </a:cubicBezTo>
                  <a:lnTo>
                    <a:pt x="90" y="239"/>
                  </a:lnTo>
                  <a:cubicBezTo>
                    <a:pt x="81" y="239"/>
                    <a:pt x="74" y="232"/>
                    <a:pt x="74" y="221"/>
                  </a:cubicBezTo>
                  <a:lnTo>
                    <a:pt x="74" y="90"/>
                  </a:lnTo>
                  <a:cubicBezTo>
                    <a:pt x="74" y="81"/>
                    <a:pt x="81" y="73"/>
                    <a:pt x="90" y="73"/>
                  </a:cubicBezTo>
                  <a:lnTo>
                    <a:pt x="216" y="73"/>
                  </a:lnTo>
                  <a:cubicBezTo>
                    <a:pt x="225" y="73"/>
                    <a:pt x="232" y="81"/>
                    <a:pt x="232" y="90"/>
                  </a:cubicBezTo>
                  <a:close/>
                  <a:moveTo>
                    <a:pt x="90" y="0"/>
                  </a:moveTo>
                  <a:lnTo>
                    <a:pt x="90" y="0"/>
                  </a:lnTo>
                  <a:cubicBezTo>
                    <a:pt x="40" y="0"/>
                    <a:pt x="0" y="39"/>
                    <a:pt x="0" y="90"/>
                  </a:cubicBezTo>
                  <a:lnTo>
                    <a:pt x="0" y="221"/>
                  </a:lnTo>
                  <a:cubicBezTo>
                    <a:pt x="0" y="272"/>
                    <a:pt x="40" y="313"/>
                    <a:pt x="90" y="313"/>
                  </a:cubicBezTo>
                  <a:lnTo>
                    <a:pt x="216" y="313"/>
                  </a:lnTo>
                  <a:cubicBezTo>
                    <a:pt x="266" y="313"/>
                    <a:pt x="308" y="272"/>
                    <a:pt x="308" y="221"/>
                  </a:cubicBezTo>
                  <a:lnTo>
                    <a:pt x="308" y="90"/>
                  </a:lnTo>
                  <a:cubicBezTo>
                    <a:pt x="308" y="39"/>
                    <a:pt x="266" y="0"/>
                    <a:pt x="216" y="0"/>
                  </a:cubicBezTo>
                  <a:lnTo>
                    <a:pt x="9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07" name="Freeform 17">
              <a:extLst>
                <a:ext uri="{FF2B5EF4-FFF2-40B4-BE49-F238E27FC236}">
                  <a16:creationId xmlns:a16="http://schemas.microsoft.com/office/drawing/2014/main" id="{120A68D5-3636-E74B-A60B-21AA7F7D9E36}"/>
                </a:ext>
              </a:extLst>
            </p:cNvPr>
            <p:cNvSpPr>
              <a:spLocks noChangeArrowheads="1"/>
            </p:cNvSpPr>
            <p:nvPr/>
          </p:nvSpPr>
          <p:spPr bwMode="auto">
            <a:xfrm>
              <a:off x="17413020" y="2955673"/>
              <a:ext cx="426751" cy="254553"/>
            </a:xfrm>
            <a:custGeom>
              <a:avLst/>
              <a:gdLst>
                <a:gd name="T0" fmla="*/ 150993 w 501"/>
                <a:gd name="T1" fmla="*/ 78970 h 298"/>
                <a:gd name="T2" fmla="*/ 150993 w 501"/>
                <a:gd name="T3" fmla="*/ 78970 h 298"/>
                <a:gd name="T4" fmla="*/ 146658 w 501"/>
                <a:gd name="T5" fmla="*/ 80781 h 298"/>
                <a:gd name="T6" fmla="*/ 33955 w 501"/>
                <a:gd name="T7" fmla="*/ 80781 h 298"/>
                <a:gd name="T8" fmla="*/ 33955 w 501"/>
                <a:gd name="T9" fmla="*/ 80781 h 298"/>
                <a:gd name="T10" fmla="*/ 29621 w 501"/>
                <a:gd name="T11" fmla="*/ 78970 h 298"/>
                <a:gd name="T12" fmla="*/ 29621 w 501"/>
                <a:gd name="T13" fmla="*/ 78970 h 298"/>
                <a:gd name="T14" fmla="*/ 28537 w 501"/>
                <a:gd name="T15" fmla="*/ 73899 h 298"/>
                <a:gd name="T16" fmla="*/ 40096 w 501"/>
                <a:gd name="T17" fmla="*/ 30791 h 298"/>
                <a:gd name="T18" fmla="*/ 40096 w 501"/>
                <a:gd name="T19" fmla="*/ 30791 h 298"/>
                <a:gd name="T20" fmla="*/ 45515 w 501"/>
                <a:gd name="T21" fmla="*/ 26806 h 298"/>
                <a:gd name="T22" fmla="*/ 135099 w 501"/>
                <a:gd name="T23" fmla="*/ 26806 h 298"/>
                <a:gd name="T24" fmla="*/ 135099 w 501"/>
                <a:gd name="T25" fmla="*/ 26806 h 298"/>
                <a:gd name="T26" fmla="*/ 140518 w 501"/>
                <a:gd name="T27" fmla="*/ 30791 h 298"/>
                <a:gd name="T28" fmla="*/ 152077 w 501"/>
                <a:gd name="T29" fmla="*/ 73899 h 298"/>
                <a:gd name="T30" fmla="*/ 152077 w 501"/>
                <a:gd name="T31" fmla="*/ 73899 h 298"/>
                <a:gd name="T32" fmla="*/ 150993 w 501"/>
                <a:gd name="T33" fmla="*/ 78970 h 298"/>
                <a:gd name="T34" fmla="*/ 166526 w 501"/>
                <a:gd name="T35" fmla="*/ 24271 h 298"/>
                <a:gd name="T36" fmla="*/ 166526 w 501"/>
                <a:gd name="T37" fmla="*/ 24271 h 298"/>
                <a:gd name="T38" fmla="*/ 135099 w 501"/>
                <a:gd name="T39" fmla="*/ 0 h 298"/>
                <a:gd name="T40" fmla="*/ 45515 w 501"/>
                <a:gd name="T41" fmla="*/ 0 h 298"/>
                <a:gd name="T42" fmla="*/ 45515 w 501"/>
                <a:gd name="T43" fmla="*/ 0 h 298"/>
                <a:gd name="T44" fmla="*/ 14449 w 501"/>
                <a:gd name="T45" fmla="*/ 24271 h 298"/>
                <a:gd name="T46" fmla="*/ 2890 w 501"/>
                <a:gd name="T47" fmla="*/ 67016 h 298"/>
                <a:gd name="T48" fmla="*/ 2890 w 501"/>
                <a:gd name="T49" fmla="*/ 67016 h 298"/>
                <a:gd name="T50" fmla="*/ 8308 w 501"/>
                <a:gd name="T51" fmla="*/ 95271 h 298"/>
                <a:gd name="T52" fmla="*/ 8308 w 501"/>
                <a:gd name="T53" fmla="*/ 95271 h 298"/>
                <a:gd name="T54" fmla="*/ 33955 w 501"/>
                <a:gd name="T55" fmla="*/ 107588 h 298"/>
                <a:gd name="T56" fmla="*/ 146658 w 501"/>
                <a:gd name="T57" fmla="*/ 107588 h 298"/>
                <a:gd name="T58" fmla="*/ 146658 w 501"/>
                <a:gd name="T59" fmla="*/ 107588 h 298"/>
                <a:gd name="T60" fmla="*/ 172306 w 501"/>
                <a:gd name="T61" fmla="*/ 95271 h 298"/>
                <a:gd name="T62" fmla="*/ 172306 w 501"/>
                <a:gd name="T63" fmla="*/ 95271 h 298"/>
                <a:gd name="T64" fmla="*/ 177724 w 501"/>
                <a:gd name="T65" fmla="*/ 67016 h 298"/>
                <a:gd name="T66" fmla="*/ 166526 w 501"/>
                <a:gd name="T67" fmla="*/ 24271 h 29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01" h="298">
                  <a:moveTo>
                    <a:pt x="418" y="218"/>
                  </a:moveTo>
                  <a:lnTo>
                    <a:pt x="418" y="218"/>
                  </a:lnTo>
                  <a:cubicBezTo>
                    <a:pt x="416" y="220"/>
                    <a:pt x="412" y="223"/>
                    <a:pt x="406" y="223"/>
                  </a:cubicBezTo>
                  <a:lnTo>
                    <a:pt x="94" y="223"/>
                  </a:lnTo>
                  <a:cubicBezTo>
                    <a:pt x="88" y="223"/>
                    <a:pt x="83" y="220"/>
                    <a:pt x="82" y="218"/>
                  </a:cubicBezTo>
                  <a:cubicBezTo>
                    <a:pt x="81" y="216"/>
                    <a:pt x="77" y="210"/>
                    <a:pt x="79" y="204"/>
                  </a:cubicBezTo>
                  <a:lnTo>
                    <a:pt x="111" y="85"/>
                  </a:lnTo>
                  <a:cubicBezTo>
                    <a:pt x="113" y="78"/>
                    <a:pt x="119" y="74"/>
                    <a:pt x="126" y="74"/>
                  </a:cubicBezTo>
                  <a:lnTo>
                    <a:pt x="374" y="74"/>
                  </a:lnTo>
                  <a:cubicBezTo>
                    <a:pt x="381" y="74"/>
                    <a:pt x="387" y="78"/>
                    <a:pt x="389" y="85"/>
                  </a:cubicBezTo>
                  <a:lnTo>
                    <a:pt x="421" y="204"/>
                  </a:lnTo>
                  <a:cubicBezTo>
                    <a:pt x="423" y="210"/>
                    <a:pt x="419" y="216"/>
                    <a:pt x="418" y="218"/>
                  </a:cubicBezTo>
                  <a:close/>
                  <a:moveTo>
                    <a:pt x="461" y="67"/>
                  </a:moveTo>
                  <a:lnTo>
                    <a:pt x="461" y="67"/>
                  </a:lnTo>
                  <a:cubicBezTo>
                    <a:pt x="449" y="27"/>
                    <a:pt x="414" y="0"/>
                    <a:pt x="374" y="0"/>
                  </a:cubicBezTo>
                  <a:lnTo>
                    <a:pt x="126" y="0"/>
                  </a:lnTo>
                  <a:cubicBezTo>
                    <a:pt x="86" y="0"/>
                    <a:pt x="51" y="27"/>
                    <a:pt x="40" y="67"/>
                  </a:cubicBezTo>
                  <a:lnTo>
                    <a:pt x="8" y="185"/>
                  </a:lnTo>
                  <a:cubicBezTo>
                    <a:pt x="0" y="211"/>
                    <a:pt x="6" y="240"/>
                    <a:pt x="23" y="263"/>
                  </a:cubicBezTo>
                  <a:cubicBezTo>
                    <a:pt x="40" y="285"/>
                    <a:pt x="65" y="297"/>
                    <a:pt x="94" y="297"/>
                  </a:cubicBezTo>
                  <a:lnTo>
                    <a:pt x="406" y="297"/>
                  </a:lnTo>
                  <a:cubicBezTo>
                    <a:pt x="434" y="297"/>
                    <a:pt x="459" y="285"/>
                    <a:pt x="477" y="263"/>
                  </a:cubicBezTo>
                  <a:cubicBezTo>
                    <a:pt x="495" y="240"/>
                    <a:pt x="500" y="211"/>
                    <a:pt x="492" y="185"/>
                  </a:cubicBezTo>
                  <a:lnTo>
                    <a:pt x="461" y="6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08" name="Freeform 18">
              <a:extLst>
                <a:ext uri="{FF2B5EF4-FFF2-40B4-BE49-F238E27FC236}">
                  <a16:creationId xmlns:a16="http://schemas.microsoft.com/office/drawing/2014/main" id="{3BB7FCA8-EC58-3147-81CE-B6C6ECE14AE5}"/>
                </a:ext>
              </a:extLst>
            </p:cNvPr>
            <p:cNvSpPr>
              <a:spLocks noChangeArrowheads="1"/>
            </p:cNvSpPr>
            <p:nvPr/>
          </p:nvSpPr>
          <p:spPr bwMode="auto">
            <a:xfrm>
              <a:off x="17147236" y="2704864"/>
              <a:ext cx="205890" cy="209632"/>
            </a:xfrm>
            <a:custGeom>
              <a:avLst/>
              <a:gdLst>
                <a:gd name="T0" fmla="*/ 26480 w 244"/>
                <a:gd name="T1" fmla="*/ 29276 h 249"/>
                <a:gd name="T2" fmla="*/ 26480 w 244"/>
                <a:gd name="T3" fmla="*/ 29276 h 249"/>
                <a:gd name="T4" fmla="*/ 29343 w 244"/>
                <a:gd name="T5" fmla="*/ 26777 h 249"/>
                <a:gd name="T6" fmla="*/ 57612 w 244"/>
                <a:gd name="T7" fmla="*/ 26777 h 249"/>
                <a:gd name="T8" fmla="*/ 57612 w 244"/>
                <a:gd name="T9" fmla="*/ 26777 h 249"/>
                <a:gd name="T10" fmla="*/ 60475 w 244"/>
                <a:gd name="T11" fmla="*/ 29276 h 249"/>
                <a:gd name="T12" fmla="*/ 60475 w 244"/>
                <a:gd name="T13" fmla="*/ 58910 h 249"/>
                <a:gd name="T14" fmla="*/ 60475 w 244"/>
                <a:gd name="T15" fmla="*/ 58910 h 249"/>
                <a:gd name="T16" fmla="*/ 57612 w 244"/>
                <a:gd name="T17" fmla="*/ 62123 h 249"/>
                <a:gd name="T18" fmla="*/ 29343 w 244"/>
                <a:gd name="T19" fmla="*/ 62123 h 249"/>
                <a:gd name="T20" fmla="*/ 29343 w 244"/>
                <a:gd name="T21" fmla="*/ 62123 h 249"/>
                <a:gd name="T22" fmla="*/ 26480 w 244"/>
                <a:gd name="T23" fmla="*/ 58910 h 249"/>
                <a:gd name="T24" fmla="*/ 26480 w 244"/>
                <a:gd name="T25" fmla="*/ 29276 h 249"/>
                <a:gd name="T26" fmla="*/ 29343 w 244"/>
                <a:gd name="T27" fmla="*/ 88543 h 249"/>
                <a:gd name="T28" fmla="*/ 57612 w 244"/>
                <a:gd name="T29" fmla="*/ 88543 h 249"/>
                <a:gd name="T30" fmla="*/ 57612 w 244"/>
                <a:gd name="T31" fmla="*/ 88543 h 249"/>
                <a:gd name="T32" fmla="*/ 86955 w 244"/>
                <a:gd name="T33" fmla="*/ 58910 h 249"/>
                <a:gd name="T34" fmla="*/ 86955 w 244"/>
                <a:gd name="T35" fmla="*/ 29276 h 249"/>
                <a:gd name="T36" fmla="*/ 86955 w 244"/>
                <a:gd name="T37" fmla="*/ 29276 h 249"/>
                <a:gd name="T38" fmla="*/ 57612 w 244"/>
                <a:gd name="T39" fmla="*/ 0 h 249"/>
                <a:gd name="T40" fmla="*/ 29343 w 244"/>
                <a:gd name="T41" fmla="*/ 0 h 249"/>
                <a:gd name="T42" fmla="*/ 29343 w 244"/>
                <a:gd name="T43" fmla="*/ 0 h 249"/>
                <a:gd name="T44" fmla="*/ 0 w 244"/>
                <a:gd name="T45" fmla="*/ 29276 h 249"/>
                <a:gd name="T46" fmla="*/ 0 w 244"/>
                <a:gd name="T47" fmla="*/ 58910 h 249"/>
                <a:gd name="T48" fmla="*/ 0 w 244"/>
                <a:gd name="T49" fmla="*/ 58910 h 249"/>
                <a:gd name="T50" fmla="*/ 29343 w 244"/>
                <a:gd name="T51" fmla="*/ 88543 h 2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4" h="249">
                  <a:moveTo>
                    <a:pt x="74" y="82"/>
                  </a:moveTo>
                  <a:lnTo>
                    <a:pt x="74" y="82"/>
                  </a:lnTo>
                  <a:cubicBezTo>
                    <a:pt x="74" y="77"/>
                    <a:pt x="77" y="75"/>
                    <a:pt x="82" y="75"/>
                  </a:cubicBezTo>
                  <a:lnTo>
                    <a:pt x="161" y="75"/>
                  </a:lnTo>
                  <a:cubicBezTo>
                    <a:pt x="165" y="75"/>
                    <a:pt x="169" y="77"/>
                    <a:pt x="169" y="82"/>
                  </a:cubicBezTo>
                  <a:lnTo>
                    <a:pt x="169" y="165"/>
                  </a:lnTo>
                  <a:cubicBezTo>
                    <a:pt x="169" y="170"/>
                    <a:pt x="165" y="174"/>
                    <a:pt x="161" y="174"/>
                  </a:cubicBezTo>
                  <a:lnTo>
                    <a:pt x="82" y="174"/>
                  </a:lnTo>
                  <a:cubicBezTo>
                    <a:pt x="77" y="174"/>
                    <a:pt x="74" y="170"/>
                    <a:pt x="74" y="165"/>
                  </a:cubicBezTo>
                  <a:lnTo>
                    <a:pt x="74" y="82"/>
                  </a:lnTo>
                  <a:close/>
                  <a:moveTo>
                    <a:pt x="82" y="248"/>
                  </a:moveTo>
                  <a:lnTo>
                    <a:pt x="161" y="248"/>
                  </a:lnTo>
                  <a:cubicBezTo>
                    <a:pt x="206" y="248"/>
                    <a:pt x="243" y="211"/>
                    <a:pt x="243" y="165"/>
                  </a:cubicBezTo>
                  <a:lnTo>
                    <a:pt x="243" y="82"/>
                  </a:lnTo>
                  <a:cubicBezTo>
                    <a:pt x="243" y="37"/>
                    <a:pt x="206" y="0"/>
                    <a:pt x="161" y="0"/>
                  </a:cubicBezTo>
                  <a:lnTo>
                    <a:pt x="82" y="0"/>
                  </a:lnTo>
                  <a:cubicBezTo>
                    <a:pt x="37" y="0"/>
                    <a:pt x="0" y="37"/>
                    <a:pt x="0" y="82"/>
                  </a:cubicBezTo>
                  <a:lnTo>
                    <a:pt x="0" y="165"/>
                  </a:lnTo>
                  <a:cubicBezTo>
                    <a:pt x="0" y="211"/>
                    <a:pt x="37" y="248"/>
                    <a:pt x="82" y="24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09" name="Freeform 19">
              <a:extLst>
                <a:ext uri="{FF2B5EF4-FFF2-40B4-BE49-F238E27FC236}">
                  <a16:creationId xmlns:a16="http://schemas.microsoft.com/office/drawing/2014/main" id="{5429DB91-C4D1-C04A-BFD0-BE6442F5268F}"/>
                </a:ext>
              </a:extLst>
            </p:cNvPr>
            <p:cNvSpPr>
              <a:spLocks noChangeArrowheads="1"/>
            </p:cNvSpPr>
            <p:nvPr/>
          </p:nvSpPr>
          <p:spPr bwMode="auto">
            <a:xfrm>
              <a:off x="17083598" y="2936957"/>
              <a:ext cx="325677" cy="202145"/>
            </a:xfrm>
            <a:custGeom>
              <a:avLst/>
              <a:gdLst>
                <a:gd name="T0" fmla="*/ 109698 w 384"/>
                <a:gd name="T1" fmla="*/ 58711 h 238"/>
                <a:gd name="T2" fmla="*/ 28054 w 384"/>
                <a:gd name="T3" fmla="*/ 58711 h 238"/>
                <a:gd name="T4" fmla="*/ 28054 w 384"/>
                <a:gd name="T5" fmla="*/ 58711 h 238"/>
                <a:gd name="T6" fmla="*/ 28054 w 384"/>
                <a:gd name="T7" fmla="*/ 57990 h 238"/>
                <a:gd name="T8" fmla="*/ 36686 w 384"/>
                <a:gd name="T9" fmla="*/ 27014 h 238"/>
                <a:gd name="T10" fmla="*/ 36686 w 384"/>
                <a:gd name="T11" fmla="*/ 27014 h 238"/>
                <a:gd name="T12" fmla="*/ 36686 w 384"/>
                <a:gd name="T13" fmla="*/ 27014 h 238"/>
                <a:gd name="T14" fmla="*/ 101786 w 384"/>
                <a:gd name="T15" fmla="*/ 27014 h 238"/>
                <a:gd name="T16" fmla="*/ 101786 w 384"/>
                <a:gd name="T17" fmla="*/ 27014 h 238"/>
                <a:gd name="T18" fmla="*/ 101786 w 384"/>
                <a:gd name="T19" fmla="*/ 27014 h 238"/>
                <a:gd name="T20" fmla="*/ 110058 w 384"/>
                <a:gd name="T21" fmla="*/ 57990 h 238"/>
                <a:gd name="T22" fmla="*/ 110058 w 384"/>
                <a:gd name="T23" fmla="*/ 57990 h 238"/>
                <a:gd name="T24" fmla="*/ 109698 w 384"/>
                <a:gd name="T25" fmla="*/ 58711 h 238"/>
                <a:gd name="T26" fmla="*/ 127322 w 384"/>
                <a:gd name="T27" fmla="*/ 20171 h 238"/>
                <a:gd name="T28" fmla="*/ 127322 w 384"/>
                <a:gd name="T29" fmla="*/ 20171 h 238"/>
                <a:gd name="T30" fmla="*/ 101786 w 384"/>
                <a:gd name="T31" fmla="*/ 0 h 238"/>
                <a:gd name="T32" fmla="*/ 36686 w 384"/>
                <a:gd name="T33" fmla="*/ 0 h 238"/>
                <a:gd name="T34" fmla="*/ 36686 w 384"/>
                <a:gd name="T35" fmla="*/ 0 h 238"/>
                <a:gd name="T36" fmla="*/ 10430 w 384"/>
                <a:gd name="T37" fmla="*/ 20171 h 238"/>
                <a:gd name="T38" fmla="*/ 2518 w 384"/>
                <a:gd name="T39" fmla="*/ 51147 h 238"/>
                <a:gd name="T40" fmla="*/ 2518 w 384"/>
                <a:gd name="T41" fmla="*/ 51147 h 238"/>
                <a:gd name="T42" fmla="*/ 6834 w 384"/>
                <a:gd name="T43" fmla="*/ 74559 h 238"/>
                <a:gd name="T44" fmla="*/ 6834 w 384"/>
                <a:gd name="T45" fmla="*/ 74559 h 238"/>
                <a:gd name="T46" fmla="*/ 28773 w 384"/>
                <a:gd name="T47" fmla="*/ 85365 h 238"/>
                <a:gd name="T48" fmla="*/ 109698 w 384"/>
                <a:gd name="T49" fmla="*/ 85365 h 238"/>
                <a:gd name="T50" fmla="*/ 109698 w 384"/>
                <a:gd name="T51" fmla="*/ 85365 h 238"/>
                <a:gd name="T52" fmla="*/ 131638 w 384"/>
                <a:gd name="T53" fmla="*/ 74559 h 238"/>
                <a:gd name="T54" fmla="*/ 131638 w 384"/>
                <a:gd name="T55" fmla="*/ 74559 h 238"/>
                <a:gd name="T56" fmla="*/ 135954 w 384"/>
                <a:gd name="T57" fmla="*/ 51147 h 238"/>
                <a:gd name="T58" fmla="*/ 127322 w 384"/>
                <a:gd name="T59" fmla="*/ 20171 h 2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84" h="238">
                  <a:moveTo>
                    <a:pt x="305" y="163"/>
                  </a:moveTo>
                  <a:lnTo>
                    <a:pt x="78" y="163"/>
                  </a:lnTo>
                  <a:cubicBezTo>
                    <a:pt x="78" y="163"/>
                    <a:pt x="78" y="163"/>
                    <a:pt x="78" y="161"/>
                  </a:cubicBezTo>
                  <a:lnTo>
                    <a:pt x="102" y="75"/>
                  </a:lnTo>
                  <a:lnTo>
                    <a:pt x="283" y="75"/>
                  </a:lnTo>
                  <a:lnTo>
                    <a:pt x="306" y="161"/>
                  </a:lnTo>
                  <a:cubicBezTo>
                    <a:pt x="306" y="163"/>
                    <a:pt x="305" y="163"/>
                    <a:pt x="305" y="163"/>
                  </a:cubicBezTo>
                  <a:close/>
                  <a:moveTo>
                    <a:pt x="354" y="56"/>
                  </a:moveTo>
                  <a:lnTo>
                    <a:pt x="354" y="56"/>
                  </a:lnTo>
                  <a:cubicBezTo>
                    <a:pt x="345" y="23"/>
                    <a:pt x="316" y="0"/>
                    <a:pt x="283" y="0"/>
                  </a:cubicBezTo>
                  <a:lnTo>
                    <a:pt x="102" y="0"/>
                  </a:lnTo>
                  <a:cubicBezTo>
                    <a:pt x="69" y="0"/>
                    <a:pt x="38" y="23"/>
                    <a:pt x="29" y="56"/>
                  </a:cubicBezTo>
                  <a:lnTo>
                    <a:pt x="7" y="142"/>
                  </a:lnTo>
                  <a:cubicBezTo>
                    <a:pt x="0" y="164"/>
                    <a:pt x="6" y="189"/>
                    <a:pt x="19" y="207"/>
                  </a:cubicBezTo>
                  <a:cubicBezTo>
                    <a:pt x="34" y="226"/>
                    <a:pt x="56" y="237"/>
                    <a:pt x="80" y="237"/>
                  </a:cubicBezTo>
                  <a:lnTo>
                    <a:pt x="305" y="237"/>
                  </a:lnTo>
                  <a:cubicBezTo>
                    <a:pt x="329" y="237"/>
                    <a:pt x="351" y="226"/>
                    <a:pt x="366" y="207"/>
                  </a:cubicBezTo>
                  <a:cubicBezTo>
                    <a:pt x="379" y="189"/>
                    <a:pt x="383" y="164"/>
                    <a:pt x="378" y="142"/>
                  </a:cubicBezTo>
                  <a:lnTo>
                    <a:pt x="354" y="5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0" name="Freeform 20">
              <a:extLst>
                <a:ext uri="{FF2B5EF4-FFF2-40B4-BE49-F238E27FC236}">
                  <a16:creationId xmlns:a16="http://schemas.microsoft.com/office/drawing/2014/main" id="{D464FBF8-CB95-6443-B0E4-AA7C5437834A}"/>
                </a:ext>
              </a:extLst>
            </p:cNvPr>
            <p:cNvSpPr>
              <a:spLocks noChangeArrowheads="1"/>
            </p:cNvSpPr>
            <p:nvPr/>
          </p:nvSpPr>
          <p:spPr bwMode="auto">
            <a:xfrm>
              <a:off x="17899667" y="2704864"/>
              <a:ext cx="209632" cy="209632"/>
            </a:xfrm>
            <a:custGeom>
              <a:avLst/>
              <a:gdLst>
                <a:gd name="T0" fmla="*/ 61686 w 245"/>
                <a:gd name="T1" fmla="*/ 29276 h 249"/>
                <a:gd name="T2" fmla="*/ 61686 w 245"/>
                <a:gd name="T3" fmla="*/ 58910 h 249"/>
                <a:gd name="T4" fmla="*/ 61686 w 245"/>
                <a:gd name="T5" fmla="*/ 58910 h 249"/>
                <a:gd name="T6" fmla="*/ 58420 w 245"/>
                <a:gd name="T7" fmla="*/ 62123 h 249"/>
                <a:gd name="T8" fmla="*/ 30117 w 245"/>
                <a:gd name="T9" fmla="*/ 62123 h 249"/>
                <a:gd name="T10" fmla="*/ 30117 w 245"/>
                <a:gd name="T11" fmla="*/ 62123 h 249"/>
                <a:gd name="T12" fmla="*/ 27214 w 245"/>
                <a:gd name="T13" fmla="*/ 58910 h 249"/>
                <a:gd name="T14" fmla="*/ 27214 w 245"/>
                <a:gd name="T15" fmla="*/ 29276 h 249"/>
                <a:gd name="T16" fmla="*/ 27214 w 245"/>
                <a:gd name="T17" fmla="*/ 29276 h 249"/>
                <a:gd name="T18" fmla="*/ 30117 w 245"/>
                <a:gd name="T19" fmla="*/ 26777 h 249"/>
                <a:gd name="T20" fmla="*/ 58420 w 245"/>
                <a:gd name="T21" fmla="*/ 26777 h 249"/>
                <a:gd name="T22" fmla="*/ 58420 w 245"/>
                <a:gd name="T23" fmla="*/ 26777 h 249"/>
                <a:gd name="T24" fmla="*/ 61686 w 245"/>
                <a:gd name="T25" fmla="*/ 29276 h 249"/>
                <a:gd name="T26" fmla="*/ 0 w 245"/>
                <a:gd name="T27" fmla="*/ 29276 h 249"/>
                <a:gd name="T28" fmla="*/ 0 w 245"/>
                <a:gd name="T29" fmla="*/ 58910 h 249"/>
                <a:gd name="T30" fmla="*/ 0 w 245"/>
                <a:gd name="T31" fmla="*/ 58910 h 249"/>
                <a:gd name="T32" fmla="*/ 30117 w 245"/>
                <a:gd name="T33" fmla="*/ 88543 h 249"/>
                <a:gd name="T34" fmla="*/ 58420 w 245"/>
                <a:gd name="T35" fmla="*/ 88543 h 249"/>
                <a:gd name="T36" fmla="*/ 58420 w 245"/>
                <a:gd name="T37" fmla="*/ 88543 h 249"/>
                <a:gd name="T38" fmla="*/ 88537 w 245"/>
                <a:gd name="T39" fmla="*/ 58910 h 249"/>
                <a:gd name="T40" fmla="*/ 88537 w 245"/>
                <a:gd name="T41" fmla="*/ 29276 h 249"/>
                <a:gd name="T42" fmla="*/ 88537 w 245"/>
                <a:gd name="T43" fmla="*/ 29276 h 249"/>
                <a:gd name="T44" fmla="*/ 58420 w 245"/>
                <a:gd name="T45" fmla="*/ 0 h 249"/>
                <a:gd name="T46" fmla="*/ 30117 w 245"/>
                <a:gd name="T47" fmla="*/ 0 h 249"/>
                <a:gd name="T48" fmla="*/ 30117 w 245"/>
                <a:gd name="T49" fmla="*/ 0 h 249"/>
                <a:gd name="T50" fmla="*/ 0 w 245"/>
                <a:gd name="T51" fmla="*/ 29276 h 2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5" h="249">
                  <a:moveTo>
                    <a:pt x="170" y="82"/>
                  </a:moveTo>
                  <a:lnTo>
                    <a:pt x="170" y="165"/>
                  </a:lnTo>
                  <a:cubicBezTo>
                    <a:pt x="170" y="170"/>
                    <a:pt x="166" y="174"/>
                    <a:pt x="161" y="174"/>
                  </a:cubicBezTo>
                  <a:lnTo>
                    <a:pt x="83" y="174"/>
                  </a:lnTo>
                  <a:cubicBezTo>
                    <a:pt x="79" y="174"/>
                    <a:pt x="75" y="170"/>
                    <a:pt x="75" y="165"/>
                  </a:cubicBezTo>
                  <a:lnTo>
                    <a:pt x="75" y="82"/>
                  </a:lnTo>
                  <a:cubicBezTo>
                    <a:pt x="75" y="77"/>
                    <a:pt x="79" y="75"/>
                    <a:pt x="83" y="75"/>
                  </a:cubicBezTo>
                  <a:lnTo>
                    <a:pt x="161" y="75"/>
                  </a:lnTo>
                  <a:cubicBezTo>
                    <a:pt x="166" y="75"/>
                    <a:pt x="170" y="77"/>
                    <a:pt x="170" y="82"/>
                  </a:cubicBezTo>
                  <a:close/>
                  <a:moveTo>
                    <a:pt x="0" y="82"/>
                  </a:moveTo>
                  <a:lnTo>
                    <a:pt x="0" y="165"/>
                  </a:lnTo>
                  <a:cubicBezTo>
                    <a:pt x="0" y="211"/>
                    <a:pt x="37" y="248"/>
                    <a:pt x="83" y="248"/>
                  </a:cubicBezTo>
                  <a:lnTo>
                    <a:pt x="161" y="248"/>
                  </a:lnTo>
                  <a:cubicBezTo>
                    <a:pt x="207" y="248"/>
                    <a:pt x="244" y="211"/>
                    <a:pt x="244" y="165"/>
                  </a:cubicBezTo>
                  <a:lnTo>
                    <a:pt x="244" y="82"/>
                  </a:lnTo>
                  <a:cubicBezTo>
                    <a:pt x="244" y="37"/>
                    <a:pt x="207" y="0"/>
                    <a:pt x="161" y="0"/>
                  </a:cubicBezTo>
                  <a:lnTo>
                    <a:pt x="83" y="0"/>
                  </a:lnTo>
                  <a:cubicBezTo>
                    <a:pt x="37" y="0"/>
                    <a:pt x="0" y="37"/>
                    <a:pt x="0" y="8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1" name="Freeform 21">
              <a:extLst>
                <a:ext uri="{FF2B5EF4-FFF2-40B4-BE49-F238E27FC236}">
                  <a16:creationId xmlns:a16="http://schemas.microsoft.com/office/drawing/2014/main" id="{757B4A59-22A7-A44E-A023-15BF538BA8C9}"/>
                </a:ext>
              </a:extLst>
            </p:cNvPr>
            <p:cNvSpPr>
              <a:spLocks noChangeArrowheads="1"/>
            </p:cNvSpPr>
            <p:nvPr/>
          </p:nvSpPr>
          <p:spPr bwMode="auto">
            <a:xfrm>
              <a:off x="17839772" y="2936957"/>
              <a:ext cx="325677" cy="202145"/>
            </a:xfrm>
            <a:custGeom>
              <a:avLst/>
              <a:gdLst>
                <a:gd name="T0" fmla="*/ 109413 w 385"/>
                <a:gd name="T1" fmla="*/ 58711 h 238"/>
                <a:gd name="T2" fmla="*/ 28340 w 385"/>
                <a:gd name="T3" fmla="*/ 58711 h 238"/>
                <a:gd name="T4" fmla="*/ 28340 w 385"/>
                <a:gd name="T5" fmla="*/ 58711 h 238"/>
                <a:gd name="T6" fmla="*/ 28340 w 385"/>
                <a:gd name="T7" fmla="*/ 57990 h 238"/>
                <a:gd name="T8" fmla="*/ 36232 w 385"/>
                <a:gd name="T9" fmla="*/ 27014 h 238"/>
                <a:gd name="T10" fmla="*/ 36232 w 385"/>
                <a:gd name="T11" fmla="*/ 27014 h 238"/>
                <a:gd name="T12" fmla="*/ 36591 w 385"/>
                <a:gd name="T13" fmla="*/ 27014 h 238"/>
                <a:gd name="T14" fmla="*/ 101163 w 385"/>
                <a:gd name="T15" fmla="*/ 27014 h 238"/>
                <a:gd name="T16" fmla="*/ 101163 w 385"/>
                <a:gd name="T17" fmla="*/ 27014 h 238"/>
                <a:gd name="T18" fmla="*/ 101521 w 385"/>
                <a:gd name="T19" fmla="*/ 27014 h 238"/>
                <a:gd name="T20" fmla="*/ 109413 w 385"/>
                <a:gd name="T21" fmla="*/ 57990 h 238"/>
                <a:gd name="T22" fmla="*/ 109413 w 385"/>
                <a:gd name="T23" fmla="*/ 57990 h 238"/>
                <a:gd name="T24" fmla="*/ 109413 w 385"/>
                <a:gd name="T25" fmla="*/ 58711 h 238"/>
                <a:gd name="T26" fmla="*/ 135601 w 385"/>
                <a:gd name="T27" fmla="*/ 51147 h 238"/>
                <a:gd name="T28" fmla="*/ 126991 w 385"/>
                <a:gd name="T29" fmla="*/ 20171 h 238"/>
                <a:gd name="T30" fmla="*/ 126991 w 385"/>
                <a:gd name="T31" fmla="*/ 20171 h 238"/>
                <a:gd name="T32" fmla="*/ 101163 w 385"/>
                <a:gd name="T33" fmla="*/ 0 h 238"/>
                <a:gd name="T34" fmla="*/ 36591 w 385"/>
                <a:gd name="T35" fmla="*/ 0 h 238"/>
                <a:gd name="T36" fmla="*/ 36591 w 385"/>
                <a:gd name="T37" fmla="*/ 0 h 238"/>
                <a:gd name="T38" fmla="*/ 10762 w 385"/>
                <a:gd name="T39" fmla="*/ 20171 h 238"/>
                <a:gd name="T40" fmla="*/ 2511 w 385"/>
                <a:gd name="T41" fmla="*/ 51147 h 238"/>
                <a:gd name="T42" fmla="*/ 2511 w 385"/>
                <a:gd name="T43" fmla="*/ 51147 h 238"/>
                <a:gd name="T44" fmla="*/ 7175 w 385"/>
                <a:gd name="T45" fmla="*/ 74559 h 238"/>
                <a:gd name="T46" fmla="*/ 7175 w 385"/>
                <a:gd name="T47" fmla="*/ 74559 h 238"/>
                <a:gd name="T48" fmla="*/ 28340 w 385"/>
                <a:gd name="T49" fmla="*/ 85365 h 238"/>
                <a:gd name="T50" fmla="*/ 109413 w 385"/>
                <a:gd name="T51" fmla="*/ 85365 h 238"/>
                <a:gd name="T52" fmla="*/ 109413 w 385"/>
                <a:gd name="T53" fmla="*/ 85365 h 238"/>
                <a:gd name="T54" fmla="*/ 130937 w 385"/>
                <a:gd name="T55" fmla="*/ 74559 h 238"/>
                <a:gd name="T56" fmla="*/ 130937 w 385"/>
                <a:gd name="T57" fmla="*/ 74559 h 238"/>
                <a:gd name="T58" fmla="*/ 135601 w 385"/>
                <a:gd name="T59" fmla="*/ 51147 h 2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85" h="238">
                  <a:moveTo>
                    <a:pt x="305" y="163"/>
                  </a:moveTo>
                  <a:lnTo>
                    <a:pt x="79" y="163"/>
                  </a:lnTo>
                  <a:cubicBezTo>
                    <a:pt x="79" y="163"/>
                    <a:pt x="77" y="163"/>
                    <a:pt x="79" y="161"/>
                  </a:cubicBezTo>
                  <a:lnTo>
                    <a:pt x="101" y="75"/>
                  </a:lnTo>
                  <a:cubicBezTo>
                    <a:pt x="102" y="75"/>
                    <a:pt x="102" y="75"/>
                    <a:pt x="102" y="75"/>
                  </a:cubicBezTo>
                  <a:lnTo>
                    <a:pt x="282" y="75"/>
                  </a:lnTo>
                  <a:lnTo>
                    <a:pt x="283" y="75"/>
                  </a:lnTo>
                  <a:lnTo>
                    <a:pt x="305" y="161"/>
                  </a:lnTo>
                  <a:cubicBezTo>
                    <a:pt x="307" y="163"/>
                    <a:pt x="305" y="163"/>
                    <a:pt x="305" y="163"/>
                  </a:cubicBezTo>
                  <a:close/>
                  <a:moveTo>
                    <a:pt x="378" y="142"/>
                  </a:moveTo>
                  <a:lnTo>
                    <a:pt x="354" y="56"/>
                  </a:lnTo>
                  <a:cubicBezTo>
                    <a:pt x="345" y="23"/>
                    <a:pt x="316" y="0"/>
                    <a:pt x="282" y="0"/>
                  </a:cubicBezTo>
                  <a:lnTo>
                    <a:pt x="102" y="0"/>
                  </a:lnTo>
                  <a:cubicBezTo>
                    <a:pt x="68" y="0"/>
                    <a:pt x="39" y="23"/>
                    <a:pt x="30" y="56"/>
                  </a:cubicBezTo>
                  <a:lnTo>
                    <a:pt x="7" y="142"/>
                  </a:lnTo>
                  <a:cubicBezTo>
                    <a:pt x="0" y="164"/>
                    <a:pt x="5" y="189"/>
                    <a:pt x="20" y="207"/>
                  </a:cubicBezTo>
                  <a:cubicBezTo>
                    <a:pt x="35" y="226"/>
                    <a:pt x="55" y="237"/>
                    <a:pt x="79" y="237"/>
                  </a:cubicBezTo>
                  <a:lnTo>
                    <a:pt x="305" y="237"/>
                  </a:lnTo>
                  <a:cubicBezTo>
                    <a:pt x="329" y="237"/>
                    <a:pt x="350" y="226"/>
                    <a:pt x="365" y="207"/>
                  </a:cubicBezTo>
                  <a:cubicBezTo>
                    <a:pt x="380" y="189"/>
                    <a:pt x="384" y="164"/>
                    <a:pt x="378" y="14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2" name="Freeform 22">
              <a:extLst>
                <a:ext uri="{FF2B5EF4-FFF2-40B4-BE49-F238E27FC236}">
                  <a16:creationId xmlns:a16="http://schemas.microsoft.com/office/drawing/2014/main" id="{9BE72981-8859-9543-873D-647DA3F6E219}"/>
                </a:ext>
              </a:extLst>
            </p:cNvPr>
            <p:cNvSpPr>
              <a:spLocks noChangeArrowheads="1"/>
            </p:cNvSpPr>
            <p:nvPr/>
          </p:nvSpPr>
          <p:spPr bwMode="auto">
            <a:xfrm>
              <a:off x="17244565" y="2386671"/>
              <a:ext cx="763660" cy="288246"/>
            </a:xfrm>
            <a:custGeom>
              <a:avLst/>
              <a:gdLst>
                <a:gd name="T0" fmla="*/ 9366 w 899"/>
                <a:gd name="T1" fmla="*/ 118653 h 341"/>
                <a:gd name="T2" fmla="*/ 9366 w 899"/>
                <a:gd name="T3" fmla="*/ 118653 h 341"/>
                <a:gd name="T4" fmla="*/ 27018 w 899"/>
                <a:gd name="T5" fmla="*/ 112201 h 341"/>
                <a:gd name="T6" fmla="*/ 27018 w 899"/>
                <a:gd name="T7" fmla="*/ 112201 h 341"/>
                <a:gd name="T8" fmla="*/ 80692 w 899"/>
                <a:gd name="T9" fmla="*/ 50186 h 341"/>
                <a:gd name="T10" fmla="*/ 80692 w 899"/>
                <a:gd name="T11" fmla="*/ 50186 h 341"/>
                <a:gd name="T12" fmla="*/ 162105 w 899"/>
                <a:gd name="T13" fmla="*/ 26527 h 341"/>
                <a:gd name="T14" fmla="*/ 162105 w 899"/>
                <a:gd name="T15" fmla="*/ 26527 h 341"/>
                <a:gd name="T16" fmla="*/ 242797 w 899"/>
                <a:gd name="T17" fmla="*/ 50186 h 341"/>
                <a:gd name="T18" fmla="*/ 242797 w 899"/>
                <a:gd name="T19" fmla="*/ 50186 h 341"/>
                <a:gd name="T20" fmla="*/ 295752 w 899"/>
                <a:gd name="T21" fmla="*/ 111125 h 341"/>
                <a:gd name="T22" fmla="*/ 295752 w 899"/>
                <a:gd name="T23" fmla="*/ 111125 h 341"/>
                <a:gd name="T24" fmla="*/ 314124 w 899"/>
                <a:gd name="T25" fmla="*/ 117936 h 341"/>
                <a:gd name="T26" fmla="*/ 314124 w 899"/>
                <a:gd name="T27" fmla="*/ 117936 h 341"/>
                <a:gd name="T28" fmla="*/ 320608 w 899"/>
                <a:gd name="T29" fmla="*/ 99654 h 341"/>
                <a:gd name="T30" fmla="*/ 320608 w 899"/>
                <a:gd name="T31" fmla="*/ 99654 h 341"/>
                <a:gd name="T32" fmla="*/ 256847 w 899"/>
                <a:gd name="T33" fmla="*/ 27961 h 341"/>
                <a:gd name="T34" fmla="*/ 256847 w 899"/>
                <a:gd name="T35" fmla="*/ 27961 h 341"/>
                <a:gd name="T36" fmla="*/ 162105 w 899"/>
                <a:gd name="T37" fmla="*/ 0 h 341"/>
                <a:gd name="T38" fmla="*/ 162105 w 899"/>
                <a:gd name="T39" fmla="*/ 0 h 341"/>
                <a:gd name="T40" fmla="*/ 65923 w 899"/>
                <a:gd name="T41" fmla="*/ 27961 h 341"/>
                <a:gd name="T42" fmla="*/ 65923 w 899"/>
                <a:gd name="T43" fmla="*/ 27961 h 341"/>
                <a:gd name="T44" fmla="*/ 2522 w 899"/>
                <a:gd name="T45" fmla="*/ 101088 h 341"/>
                <a:gd name="T46" fmla="*/ 2522 w 899"/>
                <a:gd name="T47" fmla="*/ 101088 h 341"/>
                <a:gd name="T48" fmla="*/ 9366 w 899"/>
                <a:gd name="T49" fmla="*/ 118653 h 34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99" h="341">
                  <a:moveTo>
                    <a:pt x="26" y="331"/>
                  </a:moveTo>
                  <a:lnTo>
                    <a:pt x="26" y="331"/>
                  </a:lnTo>
                  <a:cubicBezTo>
                    <a:pt x="45" y="340"/>
                    <a:pt x="69" y="326"/>
                    <a:pt x="75" y="313"/>
                  </a:cubicBezTo>
                  <a:cubicBezTo>
                    <a:pt x="108" y="242"/>
                    <a:pt x="159" y="183"/>
                    <a:pt x="224" y="140"/>
                  </a:cubicBezTo>
                  <a:cubicBezTo>
                    <a:pt x="292" y="97"/>
                    <a:pt x="369" y="74"/>
                    <a:pt x="450" y="74"/>
                  </a:cubicBezTo>
                  <a:cubicBezTo>
                    <a:pt x="528" y="74"/>
                    <a:pt x="606" y="97"/>
                    <a:pt x="674" y="140"/>
                  </a:cubicBezTo>
                  <a:cubicBezTo>
                    <a:pt x="737" y="182"/>
                    <a:pt x="789" y="241"/>
                    <a:pt x="821" y="310"/>
                  </a:cubicBezTo>
                  <a:cubicBezTo>
                    <a:pt x="830" y="329"/>
                    <a:pt x="853" y="337"/>
                    <a:pt x="872" y="329"/>
                  </a:cubicBezTo>
                  <a:cubicBezTo>
                    <a:pt x="890" y="319"/>
                    <a:pt x="898" y="297"/>
                    <a:pt x="890" y="278"/>
                  </a:cubicBezTo>
                  <a:cubicBezTo>
                    <a:pt x="851" y="196"/>
                    <a:pt x="789" y="127"/>
                    <a:pt x="713" y="78"/>
                  </a:cubicBezTo>
                  <a:cubicBezTo>
                    <a:pt x="635" y="26"/>
                    <a:pt x="543" y="0"/>
                    <a:pt x="450" y="0"/>
                  </a:cubicBezTo>
                  <a:cubicBezTo>
                    <a:pt x="355" y="0"/>
                    <a:pt x="263" y="28"/>
                    <a:pt x="183" y="78"/>
                  </a:cubicBezTo>
                  <a:cubicBezTo>
                    <a:pt x="106" y="128"/>
                    <a:pt x="45" y="199"/>
                    <a:pt x="7" y="282"/>
                  </a:cubicBezTo>
                  <a:cubicBezTo>
                    <a:pt x="0" y="300"/>
                    <a:pt x="7" y="322"/>
                    <a:pt x="26" y="3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grpSp>
      <p:grpSp>
        <p:nvGrpSpPr>
          <p:cNvPr id="113" name="Group 112">
            <a:extLst>
              <a:ext uri="{FF2B5EF4-FFF2-40B4-BE49-F238E27FC236}">
                <a16:creationId xmlns:a16="http://schemas.microsoft.com/office/drawing/2014/main" id="{BA3DDC26-09F4-914E-ACCE-1D274F554190}"/>
              </a:ext>
            </a:extLst>
          </p:cNvPr>
          <p:cNvGrpSpPr/>
          <p:nvPr/>
        </p:nvGrpSpPr>
        <p:grpSpPr>
          <a:xfrm>
            <a:off x="4351448" y="2284406"/>
            <a:ext cx="432336" cy="435338"/>
            <a:chOff x="5231890" y="4370690"/>
            <a:chExt cx="1078109" cy="1085596"/>
          </a:xfrm>
          <a:solidFill>
            <a:schemeClr val="bg1"/>
          </a:solidFill>
        </p:grpSpPr>
        <p:sp>
          <p:nvSpPr>
            <p:cNvPr id="114" name="Freeform 23">
              <a:extLst>
                <a:ext uri="{FF2B5EF4-FFF2-40B4-BE49-F238E27FC236}">
                  <a16:creationId xmlns:a16="http://schemas.microsoft.com/office/drawing/2014/main" id="{70290F86-0F7B-0744-9247-9C280A920F52}"/>
                </a:ext>
              </a:extLst>
            </p:cNvPr>
            <p:cNvSpPr>
              <a:spLocks noChangeArrowheads="1"/>
            </p:cNvSpPr>
            <p:nvPr/>
          </p:nvSpPr>
          <p:spPr bwMode="auto">
            <a:xfrm>
              <a:off x="5231890" y="4378177"/>
              <a:ext cx="1078109" cy="1078109"/>
            </a:xfrm>
            <a:custGeom>
              <a:avLst/>
              <a:gdLst>
                <a:gd name="T0" fmla="*/ 443509 w 1269"/>
                <a:gd name="T1" fmla="*/ 430157 h 1268"/>
                <a:gd name="T2" fmla="*/ 46477 w 1269"/>
                <a:gd name="T3" fmla="*/ 430157 h 1268"/>
                <a:gd name="T4" fmla="*/ 46477 w 1269"/>
                <a:gd name="T5" fmla="*/ 430157 h 1268"/>
                <a:gd name="T6" fmla="*/ 26661 w 1269"/>
                <a:gd name="T7" fmla="*/ 410326 h 1268"/>
                <a:gd name="T8" fmla="*/ 26661 w 1269"/>
                <a:gd name="T9" fmla="*/ 12980 h 1268"/>
                <a:gd name="T10" fmla="*/ 26661 w 1269"/>
                <a:gd name="T11" fmla="*/ 12980 h 1268"/>
                <a:gd name="T12" fmla="*/ 13330 w 1269"/>
                <a:gd name="T13" fmla="*/ 0 h 1268"/>
                <a:gd name="T14" fmla="*/ 13330 w 1269"/>
                <a:gd name="T15" fmla="*/ 0 h 1268"/>
                <a:gd name="T16" fmla="*/ 0 w 1269"/>
                <a:gd name="T17" fmla="*/ 12980 h 1268"/>
                <a:gd name="T18" fmla="*/ 0 w 1269"/>
                <a:gd name="T19" fmla="*/ 410326 h 1268"/>
                <a:gd name="T20" fmla="*/ 0 w 1269"/>
                <a:gd name="T21" fmla="*/ 410326 h 1268"/>
                <a:gd name="T22" fmla="*/ 46477 w 1269"/>
                <a:gd name="T23" fmla="*/ 456839 h 1268"/>
                <a:gd name="T24" fmla="*/ 443509 w 1269"/>
                <a:gd name="T25" fmla="*/ 456839 h 1268"/>
                <a:gd name="T26" fmla="*/ 443509 w 1269"/>
                <a:gd name="T27" fmla="*/ 456839 h 1268"/>
                <a:gd name="T28" fmla="*/ 456840 w 1269"/>
                <a:gd name="T29" fmla="*/ 443498 h 1268"/>
                <a:gd name="T30" fmla="*/ 456840 w 1269"/>
                <a:gd name="T31" fmla="*/ 443498 h 1268"/>
                <a:gd name="T32" fmla="*/ 443509 w 1269"/>
                <a:gd name="T33" fmla="*/ 430157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69" h="1268">
                  <a:moveTo>
                    <a:pt x="1231" y="1193"/>
                  </a:moveTo>
                  <a:lnTo>
                    <a:pt x="129" y="1193"/>
                  </a:lnTo>
                  <a:cubicBezTo>
                    <a:pt x="99" y="1193"/>
                    <a:pt x="74" y="1168"/>
                    <a:pt x="74" y="1138"/>
                  </a:cubicBezTo>
                  <a:lnTo>
                    <a:pt x="74" y="36"/>
                  </a:lnTo>
                  <a:cubicBezTo>
                    <a:pt x="74" y="16"/>
                    <a:pt x="58" y="0"/>
                    <a:pt x="37" y="0"/>
                  </a:cubicBezTo>
                  <a:cubicBezTo>
                    <a:pt x="16" y="0"/>
                    <a:pt x="0" y="16"/>
                    <a:pt x="0" y="36"/>
                  </a:cubicBezTo>
                  <a:lnTo>
                    <a:pt x="0" y="1138"/>
                  </a:lnTo>
                  <a:cubicBezTo>
                    <a:pt x="0" y="1209"/>
                    <a:pt x="58" y="1267"/>
                    <a:pt x="129" y="1267"/>
                  </a:cubicBezTo>
                  <a:lnTo>
                    <a:pt x="1231" y="1267"/>
                  </a:lnTo>
                  <a:cubicBezTo>
                    <a:pt x="1250" y="1267"/>
                    <a:pt x="1268" y="1251"/>
                    <a:pt x="1268" y="1230"/>
                  </a:cubicBezTo>
                  <a:cubicBezTo>
                    <a:pt x="1268" y="1209"/>
                    <a:pt x="1250" y="1193"/>
                    <a:pt x="1231" y="11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5" name="Freeform 24">
              <a:extLst>
                <a:ext uri="{FF2B5EF4-FFF2-40B4-BE49-F238E27FC236}">
                  <a16:creationId xmlns:a16="http://schemas.microsoft.com/office/drawing/2014/main" id="{1C54BBC8-37A7-0347-8BE1-576F93D619F7}"/>
                </a:ext>
              </a:extLst>
            </p:cNvPr>
            <p:cNvSpPr>
              <a:spLocks noChangeArrowheads="1"/>
            </p:cNvSpPr>
            <p:nvPr/>
          </p:nvSpPr>
          <p:spPr bwMode="auto">
            <a:xfrm>
              <a:off x="6167748" y="4748778"/>
              <a:ext cx="63637" cy="576489"/>
            </a:xfrm>
            <a:custGeom>
              <a:avLst/>
              <a:gdLst>
                <a:gd name="T0" fmla="*/ 13314 w 75"/>
                <a:gd name="T1" fmla="*/ 244115 h 679"/>
                <a:gd name="T2" fmla="*/ 13314 w 75"/>
                <a:gd name="T3" fmla="*/ 244115 h 679"/>
                <a:gd name="T4" fmla="*/ 26627 w 75"/>
                <a:gd name="T5" fmla="*/ 230433 h 679"/>
                <a:gd name="T6" fmla="*/ 26627 w 75"/>
                <a:gd name="T7" fmla="*/ 13322 h 679"/>
                <a:gd name="T8" fmla="*/ 26627 w 75"/>
                <a:gd name="T9" fmla="*/ 13322 h 679"/>
                <a:gd name="T10" fmla="*/ 13314 w 75"/>
                <a:gd name="T11" fmla="*/ 0 h 679"/>
                <a:gd name="T12" fmla="*/ 13314 w 75"/>
                <a:gd name="T13" fmla="*/ 0 h 679"/>
                <a:gd name="T14" fmla="*/ 0 w 75"/>
                <a:gd name="T15" fmla="*/ 13322 h 679"/>
                <a:gd name="T16" fmla="*/ 0 w 75"/>
                <a:gd name="T17" fmla="*/ 230433 h 679"/>
                <a:gd name="T18" fmla="*/ 0 w 75"/>
                <a:gd name="T19" fmla="*/ 230433 h 679"/>
                <a:gd name="T20" fmla="*/ 13314 w 75"/>
                <a:gd name="T21" fmla="*/ 244115 h 6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5" h="679">
                  <a:moveTo>
                    <a:pt x="37" y="678"/>
                  </a:moveTo>
                  <a:lnTo>
                    <a:pt x="37" y="678"/>
                  </a:lnTo>
                  <a:cubicBezTo>
                    <a:pt x="58" y="678"/>
                    <a:pt x="74" y="661"/>
                    <a:pt x="74" y="640"/>
                  </a:cubicBezTo>
                  <a:lnTo>
                    <a:pt x="74" y="37"/>
                  </a:lnTo>
                  <a:cubicBezTo>
                    <a:pt x="74" y="16"/>
                    <a:pt x="58" y="0"/>
                    <a:pt x="37" y="0"/>
                  </a:cubicBezTo>
                  <a:cubicBezTo>
                    <a:pt x="16" y="0"/>
                    <a:pt x="0" y="16"/>
                    <a:pt x="0" y="37"/>
                  </a:cubicBezTo>
                  <a:lnTo>
                    <a:pt x="0" y="640"/>
                  </a:lnTo>
                  <a:cubicBezTo>
                    <a:pt x="0" y="661"/>
                    <a:pt x="16" y="678"/>
                    <a:pt x="37" y="6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6" name="Freeform 25">
              <a:extLst>
                <a:ext uri="{FF2B5EF4-FFF2-40B4-BE49-F238E27FC236}">
                  <a16:creationId xmlns:a16="http://schemas.microsoft.com/office/drawing/2014/main" id="{BAD29FC8-2548-6543-8EA9-71B9D094D951}"/>
                </a:ext>
              </a:extLst>
            </p:cNvPr>
            <p:cNvSpPr>
              <a:spLocks noChangeArrowheads="1"/>
            </p:cNvSpPr>
            <p:nvPr/>
          </p:nvSpPr>
          <p:spPr bwMode="auto">
            <a:xfrm>
              <a:off x="6051700" y="4861081"/>
              <a:ext cx="63640" cy="464186"/>
            </a:xfrm>
            <a:custGeom>
              <a:avLst/>
              <a:gdLst>
                <a:gd name="T0" fmla="*/ 0 w 76"/>
                <a:gd name="T1" fmla="*/ 13340 h 546"/>
                <a:gd name="T2" fmla="*/ 0 w 76"/>
                <a:gd name="T3" fmla="*/ 183150 h 546"/>
                <a:gd name="T4" fmla="*/ 0 w 76"/>
                <a:gd name="T5" fmla="*/ 183150 h 546"/>
                <a:gd name="T6" fmla="*/ 13494 w 76"/>
                <a:gd name="T7" fmla="*/ 196489 h 546"/>
                <a:gd name="T8" fmla="*/ 13494 w 76"/>
                <a:gd name="T9" fmla="*/ 196489 h 546"/>
                <a:gd name="T10" fmla="*/ 26633 w 76"/>
                <a:gd name="T11" fmla="*/ 183150 h 546"/>
                <a:gd name="T12" fmla="*/ 26633 w 76"/>
                <a:gd name="T13" fmla="*/ 13340 h 546"/>
                <a:gd name="T14" fmla="*/ 26633 w 76"/>
                <a:gd name="T15" fmla="*/ 13340 h 546"/>
                <a:gd name="T16" fmla="*/ 13494 w 76"/>
                <a:gd name="T17" fmla="*/ 0 h 546"/>
                <a:gd name="T18" fmla="*/ 13494 w 76"/>
                <a:gd name="T19" fmla="*/ 0 h 546"/>
                <a:gd name="T20" fmla="*/ 0 w 76"/>
                <a:gd name="T21" fmla="*/ 13340 h 5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 h="546">
                  <a:moveTo>
                    <a:pt x="0" y="37"/>
                  </a:moveTo>
                  <a:lnTo>
                    <a:pt x="0" y="508"/>
                  </a:lnTo>
                  <a:cubicBezTo>
                    <a:pt x="0" y="528"/>
                    <a:pt x="19" y="545"/>
                    <a:pt x="38" y="545"/>
                  </a:cubicBezTo>
                  <a:cubicBezTo>
                    <a:pt x="59" y="545"/>
                    <a:pt x="75" y="528"/>
                    <a:pt x="75" y="508"/>
                  </a:cubicBezTo>
                  <a:lnTo>
                    <a:pt x="75" y="37"/>
                  </a:lnTo>
                  <a:cubicBezTo>
                    <a:pt x="75" y="17"/>
                    <a:pt x="59" y="0"/>
                    <a:pt x="38" y="0"/>
                  </a:cubicBezTo>
                  <a:cubicBezTo>
                    <a:pt x="19" y="0"/>
                    <a:pt x="0" y="17"/>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7" name="Freeform 26">
              <a:extLst>
                <a:ext uri="{FF2B5EF4-FFF2-40B4-BE49-F238E27FC236}">
                  <a16:creationId xmlns:a16="http://schemas.microsoft.com/office/drawing/2014/main" id="{B5E0D777-D840-7045-8E4C-C7ED6C02A7D2}"/>
                </a:ext>
              </a:extLst>
            </p:cNvPr>
            <p:cNvSpPr>
              <a:spLocks noChangeArrowheads="1"/>
            </p:cNvSpPr>
            <p:nvPr/>
          </p:nvSpPr>
          <p:spPr bwMode="auto">
            <a:xfrm>
              <a:off x="5939397" y="5029534"/>
              <a:ext cx="63640" cy="295732"/>
            </a:xfrm>
            <a:custGeom>
              <a:avLst/>
              <a:gdLst>
                <a:gd name="T0" fmla="*/ 0 w 76"/>
                <a:gd name="T1" fmla="*/ 13373 h 347"/>
                <a:gd name="T2" fmla="*/ 0 w 76"/>
                <a:gd name="T3" fmla="*/ 111679 h 347"/>
                <a:gd name="T4" fmla="*/ 0 w 76"/>
                <a:gd name="T5" fmla="*/ 111679 h 347"/>
                <a:gd name="T6" fmla="*/ 13139 w 76"/>
                <a:gd name="T7" fmla="*/ 125052 h 347"/>
                <a:gd name="T8" fmla="*/ 13139 w 76"/>
                <a:gd name="T9" fmla="*/ 125052 h 347"/>
                <a:gd name="T10" fmla="*/ 26633 w 76"/>
                <a:gd name="T11" fmla="*/ 111679 h 347"/>
                <a:gd name="T12" fmla="*/ 26633 w 76"/>
                <a:gd name="T13" fmla="*/ 13373 h 347"/>
                <a:gd name="T14" fmla="*/ 26633 w 76"/>
                <a:gd name="T15" fmla="*/ 13373 h 347"/>
                <a:gd name="T16" fmla="*/ 13139 w 76"/>
                <a:gd name="T17" fmla="*/ 0 h 347"/>
                <a:gd name="T18" fmla="*/ 13139 w 76"/>
                <a:gd name="T19" fmla="*/ 0 h 347"/>
                <a:gd name="T20" fmla="*/ 0 w 76"/>
                <a:gd name="T21" fmla="*/ 13373 h 3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 h="347">
                  <a:moveTo>
                    <a:pt x="0" y="37"/>
                  </a:moveTo>
                  <a:lnTo>
                    <a:pt x="0" y="309"/>
                  </a:lnTo>
                  <a:cubicBezTo>
                    <a:pt x="0" y="329"/>
                    <a:pt x="17" y="346"/>
                    <a:pt x="37" y="346"/>
                  </a:cubicBezTo>
                  <a:cubicBezTo>
                    <a:pt x="57" y="346"/>
                    <a:pt x="75" y="329"/>
                    <a:pt x="75" y="309"/>
                  </a:cubicBezTo>
                  <a:lnTo>
                    <a:pt x="75" y="37"/>
                  </a:lnTo>
                  <a:cubicBezTo>
                    <a:pt x="75" y="16"/>
                    <a:pt x="57" y="0"/>
                    <a:pt x="37" y="0"/>
                  </a:cubicBezTo>
                  <a:cubicBezTo>
                    <a:pt x="17" y="0"/>
                    <a:pt x="0" y="16"/>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8" name="Freeform 27">
              <a:extLst>
                <a:ext uri="{FF2B5EF4-FFF2-40B4-BE49-F238E27FC236}">
                  <a16:creationId xmlns:a16="http://schemas.microsoft.com/office/drawing/2014/main" id="{2AFDC267-31B2-8349-A5BE-83E9A6430F12}"/>
                </a:ext>
              </a:extLst>
            </p:cNvPr>
            <p:cNvSpPr>
              <a:spLocks noChangeArrowheads="1"/>
            </p:cNvSpPr>
            <p:nvPr/>
          </p:nvSpPr>
          <p:spPr bwMode="auto">
            <a:xfrm>
              <a:off x="5823352" y="5029534"/>
              <a:ext cx="63637" cy="295732"/>
            </a:xfrm>
            <a:custGeom>
              <a:avLst/>
              <a:gdLst>
                <a:gd name="T0" fmla="*/ 0 w 75"/>
                <a:gd name="T1" fmla="*/ 13373 h 347"/>
                <a:gd name="T2" fmla="*/ 0 w 75"/>
                <a:gd name="T3" fmla="*/ 111679 h 347"/>
                <a:gd name="T4" fmla="*/ 0 w 75"/>
                <a:gd name="T5" fmla="*/ 111679 h 347"/>
                <a:gd name="T6" fmla="*/ 13314 w 75"/>
                <a:gd name="T7" fmla="*/ 125052 h 347"/>
                <a:gd name="T8" fmla="*/ 13314 w 75"/>
                <a:gd name="T9" fmla="*/ 125052 h 347"/>
                <a:gd name="T10" fmla="*/ 26627 w 75"/>
                <a:gd name="T11" fmla="*/ 111679 h 347"/>
                <a:gd name="T12" fmla="*/ 26627 w 75"/>
                <a:gd name="T13" fmla="*/ 13373 h 347"/>
                <a:gd name="T14" fmla="*/ 26627 w 75"/>
                <a:gd name="T15" fmla="*/ 13373 h 347"/>
                <a:gd name="T16" fmla="*/ 13314 w 75"/>
                <a:gd name="T17" fmla="*/ 0 h 347"/>
                <a:gd name="T18" fmla="*/ 13314 w 75"/>
                <a:gd name="T19" fmla="*/ 0 h 347"/>
                <a:gd name="T20" fmla="*/ 0 w 75"/>
                <a:gd name="T21" fmla="*/ 13373 h 3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5" h="347">
                  <a:moveTo>
                    <a:pt x="0" y="37"/>
                  </a:moveTo>
                  <a:lnTo>
                    <a:pt x="0" y="309"/>
                  </a:lnTo>
                  <a:cubicBezTo>
                    <a:pt x="0" y="329"/>
                    <a:pt x="16" y="346"/>
                    <a:pt x="37" y="346"/>
                  </a:cubicBezTo>
                  <a:cubicBezTo>
                    <a:pt x="58" y="346"/>
                    <a:pt x="74" y="329"/>
                    <a:pt x="74" y="309"/>
                  </a:cubicBezTo>
                  <a:lnTo>
                    <a:pt x="74" y="37"/>
                  </a:lnTo>
                  <a:cubicBezTo>
                    <a:pt x="74" y="16"/>
                    <a:pt x="58" y="0"/>
                    <a:pt x="37" y="0"/>
                  </a:cubicBezTo>
                  <a:cubicBezTo>
                    <a:pt x="16" y="0"/>
                    <a:pt x="0" y="16"/>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19" name="Freeform 28">
              <a:extLst>
                <a:ext uri="{FF2B5EF4-FFF2-40B4-BE49-F238E27FC236}">
                  <a16:creationId xmlns:a16="http://schemas.microsoft.com/office/drawing/2014/main" id="{0128C33F-E2BC-CB4D-B2C6-228C2EBCABB1}"/>
                </a:ext>
              </a:extLst>
            </p:cNvPr>
            <p:cNvSpPr>
              <a:spLocks noChangeArrowheads="1"/>
            </p:cNvSpPr>
            <p:nvPr/>
          </p:nvSpPr>
          <p:spPr bwMode="auto">
            <a:xfrm>
              <a:off x="5707305" y="4861081"/>
              <a:ext cx="63640" cy="464186"/>
            </a:xfrm>
            <a:custGeom>
              <a:avLst/>
              <a:gdLst>
                <a:gd name="T0" fmla="*/ 0 w 75"/>
                <a:gd name="T1" fmla="*/ 13340 h 546"/>
                <a:gd name="T2" fmla="*/ 0 w 75"/>
                <a:gd name="T3" fmla="*/ 183150 h 546"/>
                <a:gd name="T4" fmla="*/ 0 w 75"/>
                <a:gd name="T5" fmla="*/ 183150 h 546"/>
                <a:gd name="T6" fmla="*/ 13314 w 75"/>
                <a:gd name="T7" fmla="*/ 196489 h 546"/>
                <a:gd name="T8" fmla="*/ 13314 w 75"/>
                <a:gd name="T9" fmla="*/ 196489 h 546"/>
                <a:gd name="T10" fmla="*/ 26628 w 75"/>
                <a:gd name="T11" fmla="*/ 183150 h 546"/>
                <a:gd name="T12" fmla="*/ 26628 w 75"/>
                <a:gd name="T13" fmla="*/ 13340 h 546"/>
                <a:gd name="T14" fmla="*/ 26628 w 75"/>
                <a:gd name="T15" fmla="*/ 13340 h 546"/>
                <a:gd name="T16" fmla="*/ 13314 w 75"/>
                <a:gd name="T17" fmla="*/ 0 h 546"/>
                <a:gd name="T18" fmla="*/ 13314 w 75"/>
                <a:gd name="T19" fmla="*/ 0 h 546"/>
                <a:gd name="T20" fmla="*/ 0 w 75"/>
                <a:gd name="T21" fmla="*/ 13340 h 5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5" h="546">
                  <a:moveTo>
                    <a:pt x="0" y="37"/>
                  </a:moveTo>
                  <a:lnTo>
                    <a:pt x="0" y="508"/>
                  </a:lnTo>
                  <a:cubicBezTo>
                    <a:pt x="0" y="528"/>
                    <a:pt x="17" y="545"/>
                    <a:pt x="37" y="545"/>
                  </a:cubicBezTo>
                  <a:cubicBezTo>
                    <a:pt x="58" y="545"/>
                    <a:pt x="74" y="528"/>
                    <a:pt x="74" y="508"/>
                  </a:cubicBezTo>
                  <a:lnTo>
                    <a:pt x="74" y="37"/>
                  </a:lnTo>
                  <a:cubicBezTo>
                    <a:pt x="74" y="17"/>
                    <a:pt x="58" y="0"/>
                    <a:pt x="37" y="0"/>
                  </a:cubicBezTo>
                  <a:cubicBezTo>
                    <a:pt x="17" y="0"/>
                    <a:pt x="0" y="17"/>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0" name="Freeform 29">
              <a:extLst>
                <a:ext uri="{FF2B5EF4-FFF2-40B4-BE49-F238E27FC236}">
                  <a16:creationId xmlns:a16="http://schemas.microsoft.com/office/drawing/2014/main" id="{A17F5309-C2D9-D741-B409-F71225701912}"/>
                </a:ext>
              </a:extLst>
            </p:cNvPr>
            <p:cNvSpPr>
              <a:spLocks noChangeArrowheads="1"/>
            </p:cNvSpPr>
            <p:nvPr/>
          </p:nvSpPr>
          <p:spPr bwMode="auto">
            <a:xfrm>
              <a:off x="5591259" y="4947179"/>
              <a:ext cx="63637" cy="378088"/>
            </a:xfrm>
            <a:custGeom>
              <a:avLst/>
              <a:gdLst>
                <a:gd name="T0" fmla="*/ 0 w 75"/>
                <a:gd name="T1" fmla="*/ 13272 h 447"/>
                <a:gd name="T2" fmla="*/ 0 w 75"/>
                <a:gd name="T3" fmla="*/ 146707 h 447"/>
                <a:gd name="T4" fmla="*/ 0 w 75"/>
                <a:gd name="T5" fmla="*/ 146707 h 447"/>
                <a:gd name="T6" fmla="*/ 13314 w 75"/>
                <a:gd name="T7" fmla="*/ 159979 h 447"/>
                <a:gd name="T8" fmla="*/ 13314 w 75"/>
                <a:gd name="T9" fmla="*/ 159979 h 447"/>
                <a:gd name="T10" fmla="*/ 26627 w 75"/>
                <a:gd name="T11" fmla="*/ 146707 h 447"/>
                <a:gd name="T12" fmla="*/ 26627 w 75"/>
                <a:gd name="T13" fmla="*/ 13272 h 447"/>
                <a:gd name="T14" fmla="*/ 26627 w 75"/>
                <a:gd name="T15" fmla="*/ 13272 h 447"/>
                <a:gd name="T16" fmla="*/ 13314 w 75"/>
                <a:gd name="T17" fmla="*/ 0 h 447"/>
                <a:gd name="T18" fmla="*/ 13314 w 75"/>
                <a:gd name="T19" fmla="*/ 0 h 447"/>
                <a:gd name="T20" fmla="*/ 0 w 75"/>
                <a:gd name="T21" fmla="*/ 13272 h 4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5" h="447">
                  <a:moveTo>
                    <a:pt x="0" y="37"/>
                  </a:moveTo>
                  <a:lnTo>
                    <a:pt x="0" y="409"/>
                  </a:lnTo>
                  <a:cubicBezTo>
                    <a:pt x="0" y="429"/>
                    <a:pt x="16" y="446"/>
                    <a:pt x="37" y="446"/>
                  </a:cubicBezTo>
                  <a:cubicBezTo>
                    <a:pt x="57" y="446"/>
                    <a:pt x="74" y="429"/>
                    <a:pt x="74" y="409"/>
                  </a:cubicBezTo>
                  <a:lnTo>
                    <a:pt x="74" y="37"/>
                  </a:lnTo>
                  <a:cubicBezTo>
                    <a:pt x="74" y="17"/>
                    <a:pt x="57" y="0"/>
                    <a:pt x="37" y="0"/>
                  </a:cubicBezTo>
                  <a:cubicBezTo>
                    <a:pt x="16" y="0"/>
                    <a:pt x="0" y="17"/>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1" name="Freeform 30">
              <a:extLst>
                <a:ext uri="{FF2B5EF4-FFF2-40B4-BE49-F238E27FC236}">
                  <a16:creationId xmlns:a16="http://schemas.microsoft.com/office/drawing/2014/main" id="{46E9F18C-1CF4-3E4E-AEB1-FFC5E26BB937}"/>
                </a:ext>
              </a:extLst>
            </p:cNvPr>
            <p:cNvSpPr>
              <a:spLocks noChangeArrowheads="1"/>
            </p:cNvSpPr>
            <p:nvPr/>
          </p:nvSpPr>
          <p:spPr bwMode="auto">
            <a:xfrm>
              <a:off x="5475212" y="5029534"/>
              <a:ext cx="63640" cy="295732"/>
            </a:xfrm>
            <a:custGeom>
              <a:avLst/>
              <a:gdLst>
                <a:gd name="T0" fmla="*/ 0 w 75"/>
                <a:gd name="T1" fmla="*/ 13373 h 347"/>
                <a:gd name="T2" fmla="*/ 0 w 75"/>
                <a:gd name="T3" fmla="*/ 111679 h 347"/>
                <a:gd name="T4" fmla="*/ 0 w 75"/>
                <a:gd name="T5" fmla="*/ 111679 h 347"/>
                <a:gd name="T6" fmla="*/ 13314 w 75"/>
                <a:gd name="T7" fmla="*/ 125052 h 347"/>
                <a:gd name="T8" fmla="*/ 13314 w 75"/>
                <a:gd name="T9" fmla="*/ 125052 h 347"/>
                <a:gd name="T10" fmla="*/ 26628 w 75"/>
                <a:gd name="T11" fmla="*/ 111679 h 347"/>
                <a:gd name="T12" fmla="*/ 26628 w 75"/>
                <a:gd name="T13" fmla="*/ 13373 h 347"/>
                <a:gd name="T14" fmla="*/ 26628 w 75"/>
                <a:gd name="T15" fmla="*/ 13373 h 347"/>
                <a:gd name="T16" fmla="*/ 13314 w 75"/>
                <a:gd name="T17" fmla="*/ 0 h 347"/>
                <a:gd name="T18" fmla="*/ 13314 w 75"/>
                <a:gd name="T19" fmla="*/ 0 h 347"/>
                <a:gd name="T20" fmla="*/ 0 w 75"/>
                <a:gd name="T21" fmla="*/ 13373 h 3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5" h="347">
                  <a:moveTo>
                    <a:pt x="0" y="37"/>
                  </a:moveTo>
                  <a:lnTo>
                    <a:pt x="0" y="309"/>
                  </a:lnTo>
                  <a:cubicBezTo>
                    <a:pt x="0" y="329"/>
                    <a:pt x="16" y="346"/>
                    <a:pt x="37" y="346"/>
                  </a:cubicBezTo>
                  <a:cubicBezTo>
                    <a:pt x="57" y="346"/>
                    <a:pt x="74" y="329"/>
                    <a:pt x="74" y="309"/>
                  </a:cubicBezTo>
                  <a:lnTo>
                    <a:pt x="74" y="37"/>
                  </a:lnTo>
                  <a:cubicBezTo>
                    <a:pt x="74" y="16"/>
                    <a:pt x="57" y="0"/>
                    <a:pt x="37" y="0"/>
                  </a:cubicBezTo>
                  <a:cubicBezTo>
                    <a:pt x="16" y="0"/>
                    <a:pt x="0" y="16"/>
                    <a:pt x="0"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2" name="Freeform 31">
              <a:extLst>
                <a:ext uri="{FF2B5EF4-FFF2-40B4-BE49-F238E27FC236}">
                  <a16:creationId xmlns:a16="http://schemas.microsoft.com/office/drawing/2014/main" id="{29E8A9CD-4278-7044-9E60-99F2BEC1BD78}"/>
                </a:ext>
              </a:extLst>
            </p:cNvPr>
            <p:cNvSpPr>
              <a:spLocks noChangeArrowheads="1"/>
            </p:cNvSpPr>
            <p:nvPr/>
          </p:nvSpPr>
          <p:spPr bwMode="auto">
            <a:xfrm>
              <a:off x="5359166" y="5029534"/>
              <a:ext cx="63637" cy="295732"/>
            </a:xfrm>
            <a:custGeom>
              <a:avLst/>
              <a:gdLst>
                <a:gd name="T0" fmla="*/ 13138 w 76"/>
                <a:gd name="T1" fmla="*/ 125052 h 347"/>
                <a:gd name="T2" fmla="*/ 13138 w 76"/>
                <a:gd name="T3" fmla="*/ 125052 h 347"/>
                <a:gd name="T4" fmla="*/ 26632 w 76"/>
                <a:gd name="T5" fmla="*/ 111318 h 347"/>
                <a:gd name="T6" fmla="*/ 26632 w 76"/>
                <a:gd name="T7" fmla="*/ 13373 h 347"/>
                <a:gd name="T8" fmla="*/ 26632 w 76"/>
                <a:gd name="T9" fmla="*/ 13373 h 347"/>
                <a:gd name="T10" fmla="*/ 13138 w 76"/>
                <a:gd name="T11" fmla="*/ 0 h 347"/>
                <a:gd name="T12" fmla="*/ 13138 w 76"/>
                <a:gd name="T13" fmla="*/ 0 h 347"/>
                <a:gd name="T14" fmla="*/ 0 w 76"/>
                <a:gd name="T15" fmla="*/ 13373 h 347"/>
                <a:gd name="T16" fmla="*/ 0 w 76"/>
                <a:gd name="T17" fmla="*/ 111318 h 347"/>
                <a:gd name="T18" fmla="*/ 0 w 76"/>
                <a:gd name="T19" fmla="*/ 111318 h 347"/>
                <a:gd name="T20" fmla="*/ 13138 w 76"/>
                <a:gd name="T21" fmla="*/ 125052 h 3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 h="347">
                  <a:moveTo>
                    <a:pt x="37" y="346"/>
                  </a:moveTo>
                  <a:lnTo>
                    <a:pt x="37" y="346"/>
                  </a:lnTo>
                  <a:cubicBezTo>
                    <a:pt x="58" y="346"/>
                    <a:pt x="75" y="329"/>
                    <a:pt x="75" y="308"/>
                  </a:cubicBezTo>
                  <a:lnTo>
                    <a:pt x="75" y="37"/>
                  </a:lnTo>
                  <a:cubicBezTo>
                    <a:pt x="75" y="16"/>
                    <a:pt x="58" y="0"/>
                    <a:pt x="37" y="0"/>
                  </a:cubicBezTo>
                  <a:cubicBezTo>
                    <a:pt x="18" y="0"/>
                    <a:pt x="0" y="16"/>
                    <a:pt x="0" y="37"/>
                  </a:cubicBezTo>
                  <a:lnTo>
                    <a:pt x="0" y="308"/>
                  </a:lnTo>
                  <a:cubicBezTo>
                    <a:pt x="0" y="329"/>
                    <a:pt x="18" y="346"/>
                    <a:pt x="37" y="34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3" name="Freeform 32">
              <a:extLst>
                <a:ext uri="{FF2B5EF4-FFF2-40B4-BE49-F238E27FC236}">
                  <a16:creationId xmlns:a16="http://schemas.microsoft.com/office/drawing/2014/main" id="{4F50F2CC-4CD0-3B4A-A34F-4460016B4D8B}"/>
                </a:ext>
              </a:extLst>
            </p:cNvPr>
            <p:cNvSpPr>
              <a:spLocks noChangeArrowheads="1"/>
            </p:cNvSpPr>
            <p:nvPr/>
          </p:nvSpPr>
          <p:spPr bwMode="auto">
            <a:xfrm>
              <a:off x="5441522" y="4370690"/>
              <a:ext cx="658844" cy="479159"/>
            </a:xfrm>
            <a:custGeom>
              <a:avLst/>
              <a:gdLst>
                <a:gd name="T0" fmla="*/ 229353 w 776"/>
                <a:gd name="T1" fmla="*/ 117396 h 566"/>
                <a:gd name="T2" fmla="*/ 222872 w 776"/>
                <a:gd name="T3" fmla="*/ 120628 h 566"/>
                <a:gd name="T4" fmla="*/ 220352 w 776"/>
                <a:gd name="T5" fmla="*/ 118114 h 566"/>
                <a:gd name="T6" fmla="*/ 219631 w 776"/>
                <a:gd name="T7" fmla="*/ 114165 h 566"/>
                <a:gd name="T8" fmla="*/ 213871 w 776"/>
                <a:gd name="T9" fmla="*/ 91907 h 566"/>
                <a:gd name="T10" fmla="*/ 190467 w 776"/>
                <a:gd name="T11" fmla="*/ 89753 h 566"/>
                <a:gd name="T12" fmla="*/ 38526 w 776"/>
                <a:gd name="T13" fmla="*/ 175197 h 566"/>
                <a:gd name="T14" fmla="*/ 28804 w 776"/>
                <a:gd name="T15" fmla="*/ 172684 h 566"/>
                <a:gd name="T16" fmla="*/ 27724 w 776"/>
                <a:gd name="T17" fmla="*/ 167658 h 566"/>
                <a:gd name="T18" fmla="*/ 183626 w 776"/>
                <a:gd name="T19" fmla="*/ 77187 h 566"/>
                <a:gd name="T20" fmla="*/ 193708 w 776"/>
                <a:gd name="T21" fmla="*/ 56365 h 566"/>
                <a:gd name="T22" fmla="*/ 177505 w 776"/>
                <a:gd name="T23" fmla="*/ 39491 h 566"/>
                <a:gd name="T24" fmla="*/ 173905 w 776"/>
                <a:gd name="T25" fmla="*/ 36978 h 566"/>
                <a:gd name="T26" fmla="*/ 173185 w 776"/>
                <a:gd name="T27" fmla="*/ 33388 h 566"/>
                <a:gd name="T28" fmla="*/ 173185 w 776"/>
                <a:gd name="T29" fmla="*/ 33388 h 566"/>
                <a:gd name="T30" fmla="*/ 244115 w 776"/>
                <a:gd name="T31" fmla="*/ 44158 h 566"/>
                <a:gd name="T32" fmla="*/ 249516 w 776"/>
                <a:gd name="T33" fmla="*/ 47748 h 566"/>
                <a:gd name="T34" fmla="*/ 249876 w 776"/>
                <a:gd name="T35" fmla="*/ 54211 h 566"/>
                <a:gd name="T36" fmla="*/ 272919 w 776"/>
                <a:gd name="T37" fmla="*/ 35183 h 566"/>
                <a:gd name="T38" fmla="*/ 185066 w 776"/>
                <a:gd name="T39" fmla="*/ 3590 h 566"/>
                <a:gd name="T40" fmla="*/ 147261 w 776"/>
                <a:gd name="T41" fmla="*/ 27644 h 566"/>
                <a:gd name="T42" fmla="*/ 151582 w 776"/>
                <a:gd name="T43" fmla="*/ 51339 h 566"/>
                <a:gd name="T44" fmla="*/ 159503 w 776"/>
                <a:gd name="T45" fmla="*/ 59955 h 566"/>
                <a:gd name="T46" fmla="*/ 18363 w 776"/>
                <a:gd name="T47" fmla="*/ 140014 h 566"/>
                <a:gd name="T48" fmla="*/ 2160 w 776"/>
                <a:gd name="T49" fmla="*/ 160478 h 566"/>
                <a:gd name="T50" fmla="*/ 5401 w 776"/>
                <a:gd name="T51" fmla="*/ 185967 h 566"/>
                <a:gd name="T52" fmla="*/ 25564 w 776"/>
                <a:gd name="T53" fmla="*/ 201764 h 566"/>
                <a:gd name="T54" fmla="*/ 34565 w 776"/>
                <a:gd name="T55" fmla="*/ 202841 h 566"/>
                <a:gd name="T56" fmla="*/ 192988 w 776"/>
                <a:gd name="T57" fmla="*/ 118833 h 566"/>
                <a:gd name="T58" fmla="*/ 196228 w 776"/>
                <a:gd name="T59" fmla="*/ 130321 h 566"/>
                <a:gd name="T60" fmla="*/ 214951 w 776"/>
                <a:gd name="T61" fmla="*/ 146117 h 566"/>
                <a:gd name="T62" fmla="*/ 254916 w 776"/>
                <a:gd name="T63" fmla="*/ 126013 h 566"/>
                <a:gd name="T64" fmla="*/ 275799 w 776"/>
                <a:gd name="T65" fmla="*/ 62827 h 5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6" h="566">
                  <a:moveTo>
                    <a:pt x="694" y="151"/>
                  </a:moveTo>
                  <a:lnTo>
                    <a:pt x="637" y="327"/>
                  </a:lnTo>
                  <a:cubicBezTo>
                    <a:pt x="634" y="334"/>
                    <a:pt x="627" y="339"/>
                    <a:pt x="619" y="336"/>
                  </a:cubicBezTo>
                  <a:cubicBezTo>
                    <a:pt x="615" y="334"/>
                    <a:pt x="612" y="331"/>
                    <a:pt x="612" y="329"/>
                  </a:cubicBezTo>
                  <a:cubicBezTo>
                    <a:pt x="610" y="327"/>
                    <a:pt x="608" y="322"/>
                    <a:pt x="610" y="318"/>
                  </a:cubicBezTo>
                  <a:cubicBezTo>
                    <a:pt x="619" y="294"/>
                    <a:pt x="612" y="271"/>
                    <a:pt x="594" y="256"/>
                  </a:cubicBezTo>
                  <a:cubicBezTo>
                    <a:pt x="575" y="240"/>
                    <a:pt x="550" y="238"/>
                    <a:pt x="529" y="250"/>
                  </a:cubicBezTo>
                  <a:lnTo>
                    <a:pt x="107" y="488"/>
                  </a:lnTo>
                  <a:cubicBezTo>
                    <a:pt x="98" y="495"/>
                    <a:pt x="84" y="492"/>
                    <a:pt x="80" y="481"/>
                  </a:cubicBezTo>
                  <a:cubicBezTo>
                    <a:pt x="77" y="476"/>
                    <a:pt x="76" y="472"/>
                    <a:pt x="77" y="467"/>
                  </a:cubicBezTo>
                  <a:cubicBezTo>
                    <a:pt x="79" y="462"/>
                    <a:pt x="83" y="457"/>
                    <a:pt x="87" y="455"/>
                  </a:cubicBezTo>
                  <a:lnTo>
                    <a:pt x="510" y="215"/>
                  </a:lnTo>
                  <a:cubicBezTo>
                    <a:pt x="530" y="203"/>
                    <a:pt x="542" y="180"/>
                    <a:pt x="538" y="157"/>
                  </a:cubicBezTo>
                  <a:cubicBezTo>
                    <a:pt x="534" y="133"/>
                    <a:pt x="517" y="114"/>
                    <a:pt x="493" y="110"/>
                  </a:cubicBezTo>
                  <a:cubicBezTo>
                    <a:pt x="487" y="110"/>
                    <a:pt x="485" y="105"/>
                    <a:pt x="483" y="103"/>
                  </a:cubicBezTo>
                  <a:cubicBezTo>
                    <a:pt x="483" y="102"/>
                    <a:pt x="480" y="98"/>
                    <a:pt x="481" y="93"/>
                  </a:cubicBezTo>
                  <a:cubicBezTo>
                    <a:pt x="483" y="87"/>
                    <a:pt x="489" y="82"/>
                    <a:pt x="495" y="82"/>
                  </a:cubicBezTo>
                  <a:lnTo>
                    <a:pt x="678" y="123"/>
                  </a:lnTo>
                  <a:cubicBezTo>
                    <a:pt x="687" y="124"/>
                    <a:pt x="692" y="130"/>
                    <a:pt x="693" y="133"/>
                  </a:cubicBezTo>
                  <a:cubicBezTo>
                    <a:pt x="694" y="136"/>
                    <a:pt x="697" y="143"/>
                    <a:pt x="694" y="151"/>
                  </a:cubicBezTo>
                  <a:close/>
                  <a:moveTo>
                    <a:pt x="758" y="98"/>
                  </a:moveTo>
                  <a:lnTo>
                    <a:pt x="758" y="98"/>
                  </a:lnTo>
                  <a:cubicBezTo>
                    <a:pt x="745" y="73"/>
                    <a:pt x="721" y="56"/>
                    <a:pt x="694" y="50"/>
                  </a:cubicBezTo>
                  <a:lnTo>
                    <a:pt x="514" y="10"/>
                  </a:lnTo>
                  <a:cubicBezTo>
                    <a:pt x="466" y="0"/>
                    <a:pt x="421" y="29"/>
                    <a:pt x="409" y="77"/>
                  </a:cubicBezTo>
                  <a:cubicBezTo>
                    <a:pt x="404" y="99"/>
                    <a:pt x="408" y="124"/>
                    <a:pt x="421" y="143"/>
                  </a:cubicBezTo>
                  <a:cubicBezTo>
                    <a:pt x="426" y="152"/>
                    <a:pt x="434" y="161"/>
                    <a:pt x="443" y="167"/>
                  </a:cubicBezTo>
                  <a:lnTo>
                    <a:pt x="51" y="390"/>
                  </a:lnTo>
                  <a:cubicBezTo>
                    <a:pt x="28" y="403"/>
                    <a:pt x="14" y="422"/>
                    <a:pt x="6" y="447"/>
                  </a:cubicBezTo>
                  <a:cubicBezTo>
                    <a:pt x="0" y="471"/>
                    <a:pt x="3" y="496"/>
                    <a:pt x="15" y="518"/>
                  </a:cubicBezTo>
                  <a:cubicBezTo>
                    <a:pt x="27" y="541"/>
                    <a:pt x="47" y="555"/>
                    <a:pt x="71" y="562"/>
                  </a:cubicBezTo>
                  <a:cubicBezTo>
                    <a:pt x="80" y="565"/>
                    <a:pt x="89" y="565"/>
                    <a:pt x="96" y="565"/>
                  </a:cubicBezTo>
                  <a:cubicBezTo>
                    <a:pt x="112" y="565"/>
                    <a:pt x="129" y="562"/>
                    <a:pt x="144" y="554"/>
                  </a:cubicBezTo>
                  <a:lnTo>
                    <a:pt x="536" y="331"/>
                  </a:lnTo>
                  <a:cubicBezTo>
                    <a:pt x="536" y="342"/>
                    <a:pt x="539" y="352"/>
                    <a:pt x="545" y="363"/>
                  </a:cubicBezTo>
                  <a:cubicBezTo>
                    <a:pt x="555" y="383"/>
                    <a:pt x="573" y="399"/>
                    <a:pt x="597" y="407"/>
                  </a:cubicBezTo>
                  <a:cubicBezTo>
                    <a:pt x="643" y="422"/>
                    <a:pt x="692" y="397"/>
                    <a:pt x="708" y="351"/>
                  </a:cubicBezTo>
                  <a:lnTo>
                    <a:pt x="766" y="175"/>
                  </a:lnTo>
                  <a:cubicBezTo>
                    <a:pt x="775" y="150"/>
                    <a:pt x="771" y="121"/>
                    <a:pt x="758" y="9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grpSp>
      <p:grpSp>
        <p:nvGrpSpPr>
          <p:cNvPr id="124" name="Group 123">
            <a:extLst>
              <a:ext uri="{FF2B5EF4-FFF2-40B4-BE49-F238E27FC236}">
                <a16:creationId xmlns:a16="http://schemas.microsoft.com/office/drawing/2014/main" id="{345F3B3C-10D4-2546-B1C5-3920319A6BEE}"/>
              </a:ext>
            </a:extLst>
          </p:cNvPr>
          <p:cNvGrpSpPr/>
          <p:nvPr/>
        </p:nvGrpSpPr>
        <p:grpSpPr>
          <a:xfrm>
            <a:off x="6266643" y="2261544"/>
            <a:ext cx="421511" cy="413406"/>
            <a:chOff x="5220658" y="6646697"/>
            <a:chExt cx="973293" cy="954577"/>
          </a:xfrm>
          <a:solidFill>
            <a:schemeClr val="bg1"/>
          </a:solidFill>
        </p:grpSpPr>
        <p:sp>
          <p:nvSpPr>
            <p:cNvPr id="125" name="Freeform 124">
              <a:extLst>
                <a:ext uri="{FF2B5EF4-FFF2-40B4-BE49-F238E27FC236}">
                  <a16:creationId xmlns:a16="http://schemas.microsoft.com/office/drawing/2014/main" id="{614AAB2D-32A0-A545-B4E7-C9B8A4AF4043}"/>
                </a:ext>
              </a:extLst>
            </p:cNvPr>
            <p:cNvSpPr>
              <a:spLocks noChangeArrowheads="1"/>
            </p:cNvSpPr>
            <p:nvPr/>
          </p:nvSpPr>
          <p:spPr bwMode="auto">
            <a:xfrm>
              <a:off x="5800892" y="6886277"/>
              <a:ext cx="393059" cy="714997"/>
            </a:xfrm>
            <a:custGeom>
              <a:avLst/>
              <a:gdLst>
                <a:gd name="T0" fmla="*/ 142311 w 465"/>
                <a:gd name="T1" fmla="*/ 144952 h 843"/>
                <a:gd name="T2" fmla="*/ 112559 w 465"/>
                <a:gd name="T3" fmla="*/ 187755 h 843"/>
                <a:gd name="T4" fmla="*/ 112559 w 465"/>
                <a:gd name="T5" fmla="*/ 278035 h 843"/>
                <a:gd name="T6" fmla="*/ 53770 w 465"/>
                <a:gd name="T7" fmla="*/ 278035 h 843"/>
                <a:gd name="T8" fmla="*/ 53770 w 465"/>
                <a:gd name="T9" fmla="*/ 187755 h 843"/>
                <a:gd name="T10" fmla="*/ 24376 w 465"/>
                <a:gd name="T11" fmla="*/ 144952 h 843"/>
                <a:gd name="T12" fmla="*/ 24376 w 465"/>
                <a:gd name="T13" fmla="*/ 61506 h 843"/>
                <a:gd name="T14" fmla="*/ 24376 w 465"/>
                <a:gd name="T15" fmla="*/ 61506 h 843"/>
                <a:gd name="T16" fmla="*/ 60939 w 465"/>
                <a:gd name="T17" fmla="*/ 24458 h 843"/>
                <a:gd name="T18" fmla="*/ 71335 w 465"/>
                <a:gd name="T19" fmla="*/ 24458 h 843"/>
                <a:gd name="T20" fmla="*/ 71335 w 465"/>
                <a:gd name="T21" fmla="*/ 87043 h 843"/>
                <a:gd name="T22" fmla="*/ 95711 w 465"/>
                <a:gd name="T23" fmla="*/ 87043 h 843"/>
                <a:gd name="T24" fmla="*/ 95711 w 465"/>
                <a:gd name="T25" fmla="*/ 24458 h 843"/>
                <a:gd name="T26" fmla="*/ 105031 w 465"/>
                <a:gd name="T27" fmla="*/ 24458 h 843"/>
                <a:gd name="T28" fmla="*/ 105031 w 465"/>
                <a:gd name="T29" fmla="*/ 24458 h 843"/>
                <a:gd name="T30" fmla="*/ 142311 w 465"/>
                <a:gd name="T31" fmla="*/ 61506 h 843"/>
                <a:gd name="T32" fmla="*/ 142311 w 465"/>
                <a:gd name="T33" fmla="*/ 144952 h 843"/>
                <a:gd name="T34" fmla="*/ 105031 w 465"/>
                <a:gd name="T35" fmla="*/ 0 h 843"/>
                <a:gd name="T36" fmla="*/ 60939 w 465"/>
                <a:gd name="T37" fmla="*/ 0 h 843"/>
                <a:gd name="T38" fmla="*/ 60939 w 465"/>
                <a:gd name="T39" fmla="*/ 0 h 843"/>
                <a:gd name="T40" fmla="*/ 0 w 465"/>
                <a:gd name="T41" fmla="*/ 61506 h 843"/>
                <a:gd name="T42" fmla="*/ 0 w 465"/>
                <a:gd name="T43" fmla="*/ 152506 h 843"/>
                <a:gd name="T44" fmla="*/ 29753 w 465"/>
                <a:gd name="T45" fmla="*/ 195668 h 843"/>
                <a:gd name="T46" fmla="*/ 29753 w 465"/>
                <a:gd name="T47" fmla="*/ 302853 h 843"/>
                <a:gd name="T48" fmla="*/ 136576 w 465"/>
                <a:gd name="T49" fmla="*/ 302853 h 843"/>
                <a:gd name="T50" fmla="*/ 136576 w 465"/>
                <a:gd name="T51" fmla="*/ 195668 h 843"/>
                <a:gd name="T52" fmla="*/ 166329 w 465"/>
                <a:gd name="T53" fmla="*/ 152506 h 843"/>
                <a:gd name="T54" fmla="*/ 166329 w 465"/>
                <a:gd name="T55" fmla="*/ 61506 h 843"/>
                <a:gd name="T56" fmla="*/ 166329 w 465"/>
                <a:gd name="T57" fmla="*/ 61506 h 843"/>
                <a:gd name="T58" fmla="*/ 105031 w 465"/>
                <a:gd name="T59" fmla="*/ 0 h 8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65" h="843">
                  <a:moveTo>
                    <a:pt x="397" y="403"/>
                  </a:moveTo>
                  <a:lnTo>
                    <a:pt x="314" y="522"/>
                  </a:lnTo>
                  <a:lnTo>
                    <a:pt x="314" y="773"/>
                  </a:lnTo>
                  <a:lnTo>
                    <a:pt x="150" y="773"/>
                  </a:lnTo>
                  <a:lnTo>
                    <a:pt x="150" y="522"/>
                  </a:lnTo>
                  <a:lnTo>
                    <a:pt x="68" y="403"/>
                  </a:lnTo>
                  <a:lnTo>
                    <a:pt x="68" y="171"/>
                  </a:lnTo>
                  <a:cubicBezTo>
                    <a:pt x="68" y="113"/>
                    <a:pt x="114" y="68"/>
                    <a:pt x="170" y="68"/>
                  </a:cubicBezTo>
                  <a:lnTo>
                    <a:pt x="199" y="68"/>
                  </a:lnTo>
                  <a:lnTo>
                    <a:pt x="199" y="242"/>
                  </a:lnTo>
                  <a:lnTo>
                    <a:pt x="267" y="242"/>
                  </a:lnTo>
                  <a:lnTo>
                    <a:pt x="267" y="68"/>
                  </a:lnTo>
                  <a:lnTo>
                    <a:pt x="293" y="68"/>
                  </a:lnTo>
                  <a:cubicBezTo>
                    <a:pt x="351" y="68"/>
                    <a:pt x="397" y="113"/>
                    <a:pt x="397" y="171"/>
                  </a:cubicBezTo>
                  <a:lnTo>
                    <a:pt x="397" y="403"/>
                  </a:lnTo>
                  <a:close/>
                  <a:moveTo>
                    <a:pt x="293" y="0"/>
                  </a:moveTo>
                  <a:lnTo>
                    <a:pt x="170" y="0"/>
                  </a:lnTo>
                  <a:cubicBezTo>
                    <a:pt x="77" y="0"/>
                    <a:pt x="0" y="76"/>
                    <a:pt x="0" y="171"/>
                  </a:cubicBezTo>
                  <a:lnTo>
                    <a:pt x="0" y="424"/>
                  </a:lnTo>
                  <a:lnTo>
                    <a:pt x="83" y="544"/>
                  </a:lnTo>
                  <a:lnTo>
                    <a:pt x="83" y="842"/>
                  </a:lnTo>
                  <a:lnTo>
                    <a:pt x="381" y="842"/>
                  </a:lnTo>
                  <a:lnTo>
                    <a:pt x="381" y="544"/>
                  </a:lnTo>
                  <a:lnTo>
                    <a:pt x="464" y="424"/>
                  </a:lnTo>
                  <a:lnTo>
                    <a:pt x="464" y="171"/>
                  </a:lnTo>
                  <a:cubicBezTo>
                    <a:pt x="464" y="76"/>
                    <a:pt x="388" y="0"/>
                    <a:pt x="293"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6" name="Freeform 125">
              <a:extLst>
                <a:ext uri="{FF2B5EF4-FFF2-40B4-BE49-F238E27FC236}">
                  <a16:creationId xmlns:a16="http://schemas.microsoft.com/office/drawing/2014/main" id="{ABF3F838-430E-A246-818E-829330929F5B}"/>
                </a:ext>
              </a:extLst>
            </p:cNvPr>
            <p:cNvSpPr>
              <a:spLocks noChangeArrowheads="1"/>
            </p:cNvSpPr>
            <p:nvPr/>
          </p:nvSpPr>
          <p:spPr bwMode="auto">
            <a:xfrm>
              <a:off x="5879502" y="6646697"/>
              <a:ext cx="239580" cy="235837"/>
            </a:xfrm>
            <a:custGeom>
              <a:avLst/>
              <a:gdLst>
                <a:gd name="T0" fmla="*/ 50619 w 281"/>
                <a:gd name="T1" fmla="*/ 23574 h 280"/>
                <a:gd name="T2" fmla="*/ 50619 w 281"/>
                <a:gd name="T3" fmla="*/ 23574 h 280"/>
                <a:gd name="T4" fmla="*/ 77014 w 281"/>
                <a:gd name="T5" fmla="*/ 49649 h 280"/>
                <a:gd name="T6" fmla="*/ 77014 w 281"/>
                <a:gd name="T7" fmla="*/ 49649 h 280"/>
                <a:gd name="T8" fmla="*/ 50619 w 281"/>
                <a:gd name="T9" fmla="*/ 75724 h 280"/>
                <a:gd name="T10" fmla="*/ 50619 w 281"/>
                <a:gd name="T11" fmla="*/ 75724 h 280"/>
                <a:gd name="T12" fmla="*/ 24586 w 281"/>
                <a:gd name="T13" fmla="*/ 49649 h 280"/>
                <a:gd name="T14" fmla="*/ 24586 w 281"/>
                <a:gd name="T15" fmla="*/ 49649 h 280"/>
                <a:gd name="T16" fmla="*/ 50619 w 281"/>
                <a:gd name="T17" fmla="*/ 23574 h 280"/>
                <a:gd name="T18" fmla="*/ 50619 w 281"/>
                <a:gd name="T19" fmla="*/ 99656 h 280"/>
                <a:gd name="T20" fmla="*/ 50619 w 281"/>
                <a:gd name="T21" fmla="*/ 99656 h 280"/>
                <a:gd name="T22" fmla="*/ 101238 w 281"/>
                <a:gd name="T23" fmla="*/ 49649 h 280"/>
                <a:gd name="T24" fmla="*/ 101238 w 281"/>
                <a:gd name="T25" fmla="*/ 49649 h 280"/>
                <a:gd name="T26" fmla="*/ 50619 w 281"/>
                <a:gd name="T27" fmla="*/ 0 h 280"/>
                <a:gd name="T28" fmla="*/ 50619 w 281"/>
                <a:gd name="T29" fmla="*/ 0 h 280"/>
                <a:gd name="T30" fmla="*/ 0 w 281"/>
                <a:gd name="T31" fmla="*/ 49649 h 280"/>
                <a:gd name="T32" fmla="*/ 0 w 281"/>
                <a:gd name="T33" fmla="*/ 49649 h 280"/>
                <a:gd name="T34" fmla="*/ 50619 w 281"/>
                <a:gd name="T35" fmla="*/ 99656 h 2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280">
                  <a:moveTo>
                    <a:pt x="140" y="66"/>
                  </a:moveTo>
                  <a:lnTo>
                    <a:pt x="140" y="66"/>
                  </a:lnTo>
                  <a:cubicBezTo>
                    <a:pt x="180" y="66"/>
                    <a:pt x="213" y="99"/>
                    <a:pt x="213" y="139"/>
                  </a:cubicBezTo>
                  <a:cubicBezTo>
                    <a:pt x="213" y="179"/>
                    <a:pt x="180" y="212"/>
                    <a:pt x="140" y="212"/>
                  </a:cubicBezTo>
                  <a:cubicBezTo>
                    <a:pt x="100" y="212"/>
                    <a:pt x="68" y="179"/>
                    <a:pt x="68" y="139"/>
                  </a:cubicBezTo>
                  <a:cubicBezTo>
                    <a:pt x="68" y="99"/>
                    <a:pt x="100" y="66"/>
                    <a:pt x="140" y="66"/>
                  </a:cubicBezTo>
                  <a:close/>
                  <a:moveTo>
                    <a:pt x="140" y="279"/>
                  </a:moveTo>
                  <a:lnTo>
                    <a:pt x="140" y="279"/>
                  </a:lnTo>
                  <a:cubicBezTo>
                    <a:pt x="217" y="279"/>
                    <a:pt x="280" y="216"/>
                    <a:pt x="280" y="139"/>
                  </a:cubicBezTo>
                  <a:cubicBezTo>
                    <a:pt x="280" y="62"/>
                    <a:pt x="217" y="0"/>
                    <a:pt x="140" y="0"/>
                  </a:cubicBezTo>
                  <a:cubicBezTo>
                    <a:pt x="63" y="0"/>
                    <a:pt x="0" y="62"/>
                    <a:pt x="0" y="139"/>
                  </a:cubicBezTo>
                  <a:cubicBezTo>
                    <a:pt x="0" y="216"/>
                    <a:pt x="63" y="279"/>
                    <a:pt x="140" y="27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7" name="Freeform 126">
              <a:extLst>
                <a:ext uri="{FF2B5EF4-FFF2-40B4-BE49-F238E27FC236}">
                  <a16:creationId xmlns:a16="http://schemas.microsoft.com/office/drawing/2014/main" id="{2B79A021-21E2-3646-8884-55C94850C304}"/>
                </a:ext>
              </a:extLst>
            </p:cNvPr>
            <p:cNvSpPr>
              <a:spLocks noChangeArrowheads="1"/>
            </p:cNvSpPr>
            <p:nvPr/>
          </p:nvSpPr>
          <p:spPr bwMode="auto">
            <a:xfrm>
              <a:off x="5505159" y="6987351"/>
              <a:ext cx="224606" cy="610178"/>
            </a:xfrm>
            <a:custGeom>
              <a:avLst/>
              <a:gdLst>
                <a:gd name="T0" fmla="*/ 0 w 264"/>
                <a:gd name="T1" fmla="*/ 47080 h 720"/>
                <a:gd name="T2" fmla="*/ 16957 w 264"/>
                <a:gd name="T3" fmla="*/ 64331 h 720"/>
                <a:gd name="T4" fmla="*/ 35358 w 264"/>
                <a:gd name="T5" fmla="*/ 46002 h 720"/>
                <a:gd name="T6" fmla="*/ 35358 w 264"/>
                <a:gd name="T7" fmla="*/ 258403 h 720"/>
                <a:gd name="T8" fmla="*/ 59892 w 264"/>
                <a:gd name="T9" fmla="*/ 258403 h 720"/>
                <a:gd name="T10" fmla="*/ 59892 w 264"/>
                <a:gd name="T11" fmla="*/ 46002 h 720"/>
                <a:gd name="T12" fmla="*/ 78293 w 264"/>
                <a:gd name="T13" fmla="*/ 64331 h 720"/>
                <a:gd name="T14" fmla="*/ 94889 w 264"/>
                <a:gd name="T15" fmla="*/ 47080 h 720"/>
                <a:gd name="T16" fmla="*/ 47625 w 264"/>
                <a:gd name="T17" fmla="*/ 0 h 720"/>
                <a:gd name="T18" fmla="*/ 0 w 264"/>
                <a:gd name="T19" fmla="*/ 47080 h 7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4" h="720">
                  <a:moveTo>
                    <a:pt x="0" y="131"/>
                  </a:moveTo>
                  <a:lnTo>
                    <a:pt x="47" y="179"/>
                  </a:lnTo>
                  <a:lnTo>
                    <a:pt x="98" y="128"/>
                  </a:lnTo>
                  <a:lnTo>
                    <a:pt x="98" y="719"/>
                  </a:lnTo>
                  <a:lnTo>
                    <a:pt x="166" y="719"/>
                  </a:lnTo>
                  <a:lnTo>
                    <a:pt x="166" y="128"/>
                  </a:lnTo>
                  <a:lnTo>
                    <a:pt x="217" y="179"/>
                  </a:lnTo>
                  <a:lnTo>
                    <a:pt x="263" y="131"/>
                  </a:lnTo>
                  <a:lnTo>
                    <a:pt x="132" y="0"/>
                  </a:lnTo>
                  <a:lnTo>
                    <a:pt x="0" y="1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28" name="Freeform 127">
              <a:extLst>
                <a:ext uri="{FF2B5EF4-FFF2-40B4-BE49-F238E27FC236}">
                  <a16:creationId xmlns:a16="http://schemas.microsoft.com/office/drawing/2014/main" id="{DBADD83B-9639-0640-8DBF-99517FBD1D45}"/>
                </a:ext>
              </a:extLst>
            </p:cNvPr>
            <p:cNvSpPr>
              <a:spLocks noChangeArrowheads="1"/>
            </p:cNvSpPr>
            <p:nvPr/>
          </p:nvSpPr>
          <p:spPr bwMode="auto">
            <a:xfrm>
              <a:off x="5220658" y="7204470"/>
              <a:ext cx="224606" cy="396804"/>
            </a:xfrm>
            <a:custGeom>
              <a:avLst/>
              <a:gdLst>
                <a:gd name="T0" fmla="*/ 0 w 265"/>
                <a:gd name="T1" fmla="*/ 46843 h 467"/>
                <a:gd name="T2" fmla="*/ 16893 w 265"/>
                <a:gd name="T3" fmla="*/ 64139 h 467"/>
                <a:gd name="T4" fmla="*/ 35225 w 265"/>
                <a:gd name="T5" fmla="*/ 45762 h 467"/>
                <a:gd name="T6" fmla="*/ 35225 w 265"/>
                <a:gd name="T7" fmla="*/ 167915 h 467"/>
                <a:gd name="T8" fmla="*/ 59666 w 265"/>
                <a:gd name="T9" fmla="*/ 167915 h 467"/>
                <a:gd name="T10" fmla="*/ 59666 w 265"/>
                <a:gd name="T11" fmla="*/ 45762 h 467"/>
                <a:gd name="T12" fmla="*/ 77638 w 265"/>
                <a:gd name="T13" fmla="*/ 64499 h 467"/>
                <a:gd name="T14" fmla="*/ 94891 w 265"/>
                <a:gd name="T15" fmla="*/ 47564 h 467"/>
                <a:gd name="T16" fmla="*/ 47445 w 265"/>
                <a:gd name="T17" fmla="*/ 0 h 467"/>
                <a:gd name="T18" fmla="*/ 0 w 265"/>
                <a:gd name="T19" fmla="*/ 46843 h 4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5" h="467">
                  <a:moveTo>
                    <a:pt x="0" y="130"/>
                  </a:moveTo>
                  <a:lnTo>
                    <a:pt x="47" y="178"/>
                  </a:lnTo>
                  <a:lnTo>
                    <a:pt x="98" y="127"/>
                  </a:lnTo>
                  <a:lnTo>
                    <a:pt x="98" y="466"/>
                  </a:lnTo>
                  <a:lnTo>
                    <a:pt x="166" y="466"/>
                  </a:lnTo>
                  <a:lnTo>
                    <a:pt x="166" y="127"/>
                  </a:lnTo>
                  <a:lnTo>
                    <a:pt x="216" y="179"/>
                  </a:lnTo>
                  <a:lnTo>
                    <a:pt x="264" y="132"/>
                  </a:lnTo>
                  <a:lnTo>
                    <a:pt x="132" y="0"/>
                  </a:lnTo>
                  <a:lnTo>
                    <a:pt x="0" y="1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grpSp>
      <p:grpSp>
        <p:nvGrpSpPr>
          <p:cNvPr id="129" name="Group 128">
            <a:extLst>
              <a:ext uri="{FF2B5EF4-FFF2-40B4-BE49-F238E27FC236}">
                <a16:creationId xmlns:a16="http://schemas.microsoft.com/office/drawing/2014/main" id="{F5089AF6-6769-8341-A060-1C452BDA6B63}"/>
              </a:ext>
            </a:extLst>
          </p:cNvPr>
          <p:cNvGrpSpPr/>
          <p:nvPr/>
        </p:nvGrpSpPr>
        <p:grpSpPr>
          <a:xfrm>
            <a:off x="8298984" y="2321584"/>
            <a:ext cx="360296" cy="431340"/>
            <a:chOff x="13830554" y="8780454"/>
            <a:chExt cx="797352" cy="954577"/>
          </a:xfrm>
          <a:solidFill>
            <a:schemeClr val="bg1"/>
          </a:solidFill>
        </p:grpSpPr>
        <p:sp>
          <p:nvSpPr>
            <p:cNvPr id="130" name="Freeform 129">
              <a:extLst>
                <a:ext uri="{FF2B5EF4-FFF2-40B4-BE49-F238E27FC236}">
                  <a16:creationId xmlns:a16="http://schemas.microsoft.com/office/drawing/2014/main" id="{58269D3D-FC0C-F74E-B981-640F3C5DEB42}"/>
                </a:ext>
              </a:extLst>
            </p:cNvPr>
            <p:cNvSpPr>
              <a:spLocks noChangeArrowheads="1"/>
            </p:cNvSpPr>
            <p:nvPr/>
          </p:nvSpPr>
          <p:spPr bwMode="auto">
            <a:xfrm>
              <a:off x="14017726" y="9072442"/>
              <a:ext cx="445470" cy="348140"/>
            </a:xfrm>
            <a:custGeom>
              <a:avLst/>
              <a:gdLst>
                <a:gd name="T0" fmla="*/ 73046 w 525"/>
                <a:gd name="T1" fmla="*/ 102017 h 411"/>
                <a:gd name="T2" fmla="*/ 21950 w 525"/>
                <a:gd name="T3" fmla="*/ 53523 h 411"/>
                <a:gd name="T4" fmla="*/ 0 w 525"/>
                <a:gd name="T5" fmla="*/ 76513 h 411"/>
                <a:gd name="T6" fmla="*/ 75205 w 525"/>
                <a:gd name="T7" fmla="*/ 147279 h 411"/>
                <a:gd name="T8" fmla="*/ 188553 w 525"/>
                <a:gd name="T9" fmla="*/ 20835 h 411"/>
                <a:gd name="T10" fmla="*/ 165164 w 525"/>
                <a:gd name="T11" fmla="*/ 0 h 411"/>
                <a:gd name="T12" fmla="*/ 73046 w 525"/>
                <a:gd name="T13" fmla="*/ 102017 h 4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5" h="411">
                  <a:moveTo>
                    <a:pt x="203" y="284"/>
                  </a:moveTo>
                  <a:lnTo>
                    <a:pt x="61" y="149"/>
                  </a:lnTo>
                  <a:lnTo>
                    <a:pt x="0" y="213"/>
                  </a:lnTo>
                  <a:lnTo>
                    <a:pt x="209" y="410"/>
                  </a:lnTo>
                  <a:lnTo>
                    <a:pt x="524" y="58"/>
                  </a:lnTo>
                  <a:lnTo>
                    <a:pt x="459" y="0"/>
                  </a:lnTo>
                  <a:lnTo>
                    <a:pt x="203" y="28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sp>
          <p:nvSpPr>
            <p:cNvPr id="131" name="Freeform 130">
              <a:extLst>
                <a:ext uri="{FF2B5EF4-FFF2-40B4-BE49-F238E27FC236}">
                  <a16:creationId xmlns:a16="http://schemas.microsoft.com/office/drawing/2014/main" id="{6C3311B7-54BD-664B-8C71-64B174C9650B}"/>
                </a:ext>
              </a:extLst>
            </p:cNvPr>
            <p:cNvSpPr>
              <a:spLocks noChangeArrowheads="1"/>
            </p:cNvSpPr>
            <p:nvPr/>
          </p:nvSpPr>
          <p:spPr bwMode="auto">
            <a:xfrm>
              <a:off x="13830554" y="8780454"/>
              <a:ext cx="797352" cy="954577"/>
            </a:xfrm>
            <a:custGeom>
              <a:avLst/>
              <a:gdLst>
                <a:gd name="T0" fmla="*/ 305797 w 941"/>
                <a:gd name="T1" fmla="*/ 193591 h 1125"/>
                <a:gd name="T2" fmla="*/ 305797 w 941"/>
                <a:gd name="T3" fmla="*/ 193591 h 1125"/>
                <a:gd name="T4" fmla="*/ 235726 w 941"/>
                <a:gd name="T5" fmla="*/ 325290 h 1125"/>
                <a:gd name="T6" fmla="*/ 235726 w 941"/>
                <a:gd name="T7" fmla="*/ 325290 h 1125"/>
                <a:gd name="T8" fmla="*/ 168530 w 941"/>
                <a:gd name="T9" fmla="*/ 369909 h 1125"/>
                <a:gd name="T10" fmla="*/ 168530 w 941"/>
                <a:gd name="T11" fmla="*/ 369909 h 1125"/>
                <a:gd name="T12" fmla="*/ 31262 w 941"/>
                <a:gd name="T13" fmla="*/ 193591 h 1125"/>
                <a:gd name="T14" fmla="*/ 31262 w 941"/>
                <a:gd name="T15" fmla="*/ 98235 h 1125"/>
                <a:gd name="T16" fmla="*/ 31262 w 941"/>
                <a:gd name="T17" fmla="*/ 98235 h 1125"/>
                <a:gd name="T18" fmla="*/ 44558 w 941"/>
                <a:gd name="T19" fmla="*/ 82402 h 1125"/>
                <a:gd name="T20" fmla="*/ 44558 w 941"/>
                <a:gd name="T21" fmla="*/ 82402 h 1125"/>
                <a:gd name="T22" fmla="*/ 147688 w 941"/>
                <a:gd name="T23" fmla="*/ 38502 h 1125"/>
                <a:gd name="T24" fmla="*/ 147688 w 941"/>
                <a:gd name="T25" fmla="*/ 38502 h 1125"/>
                <a:gd name="T26" fmla="*/ 168530 w 941"/>
                <a:gd name="T27" fmla="*/ 31306 h 1125"/>
                <a:gd name="T28" fmla="*/ 168530 w 941"/>
                <a:gd name="T29" fmla="*/ 31306 h 1125"/>
                <a:gd name="T30" fmla="*/ 190090 w 941"/>
                <a:gd name="T31" fmla="*/ 38502 h 1125"/>
                <a:gd name="T32" fmla="*/ 190090 w 941"/>
                <a:gd name="T33" fmla="*/ 38502 h 1125"/>
                <a:gd name="T34" fmla="*/ 293221 w 941"/>
                <a:gd name="T35" fmla="*/ 82402 h 1125"/>
                <a:gd name="T36" fmla="*/ 293221 w 941"/>
                <a:gd name="T37" fmla="*/ 82402 h 1125"/>
                <a:gd name="T38" fmla="*/ 305797 w 941"/>
                <a:gd name="T39" fmla="*/ 98235 h 1125"/>
                <a:gd name="T40" fmla="*/ 305797 w 941"/>
                <a:gd name="T41" fmla="*/ 193591 h 1125"/>
                <a:gd name="T42" fmla="*/ 298251 w 941"/>
                <a:gd name="T43" fmla="*/ 51816 h 1125"/>
                <a:gd name="T44" fmla="*/ 298251 w 941"/>
                <a:gd name="T45" fmla="*/ 51816 h 1125"/>
                <a:gd name="T46" fmla="*/ 207339 w 941"/>
                <a:gd name="T47" fmla="*/ 11875 h 1125"/>
                <a:gd name="T48" fmla="*/ 207339 w 941"/>
                <a:gd name="T49" fmla="*/ 11875 h 1125"/>
                <a:gd name="T50" fmla="*/ 168530 w 941"/>
                <a:gd name="T51" fmla="*/ 0 h 1125"/>
                <a:gd name="T52" fmla="*/ 168530 w 941"/>
                <a:gd name="T53" fmla="*/ 0 h 1125"/>
                <a:gd name="T54" fmla="*/ 129721 w 941"/>
                <a:gd name="T55" fmla="*/ 11875 h 1125"/>
                <a:gd name="T56" fmla="*/ 129721 w 941"/>
                <a:gd name="T57" fmla="*/ 11875 h 1125"/>
                <a:gd name="T58" fmla="*/ 38809 w 941"/>
                <a:gd name="T59" fmla="*/ 51816 h 1125"/>
                <a:gd name="T60" fmla="*/ 38809 w 941"/>
                <a:gd name="T61" fmla="*/ 51816 h 1125"/>
                <a:gd name="T62" fmla="*/ 0 w 941"/>
                <a:gd name="T63" fmla="*/ 98235 h 1125"/>
                <a:gd name="T64" fmla="*/ 0 w 941"/>
                <a:gd name="T65" fmla="*/ 193591 h 1125"/>
                <a:gd name="T66" fmla="*/ 0 w 941"/>
                <a:gd name="T67" fmla="*/ 193591 h 1125"/>
                <a:gd name="T68" fmla="*/ 26232 w 941"/>
                <a:gd name="T69" fmla="*/ 285348 h 1125"/>
                <a:gd name="T70" fmla="*/ 26232 w 941"/>
                <a:gd name="T71" fmla="*/ 285348 h 1125"/>
                <a:gd name="T72" fmla="*/ 81929 w 941"/>
                <a:gd name="T73" fmla="*/ 349758 h 1125"/>
                <a:gd name="T74" fmla="*/ 81929 w 941"/>
                <a:gd name="T75" fmla="*/ 349758 h 1125"/>
                <a:gd name="T76" fmla="*/ 162421 w 941"/>
                <a:gd name="T77" fmla="*/ 401934 h 1125"/>
                <a:gd name="T78" fmla="*/ 168530 w 941"/>
                <a:gd name="T79" fmla="*/ 404453 h 1125"/>
                <a:gd name="T80" fmla="*/ 174998 w 941"/>
                <a:gd name="T81" fmla="*/ 401934 h 1125"/>
                <a:gd name="T82" fmla="*/ 174998 w 941"/>
                <a:gd name="T83" fmla="*/ 401934 h 1125"/>
                <a:gd name="T84" fmla="*/ 255490 w 941"/>
                <a:gd name="T85" fmla="*/ 349758 h 1125"/>
                <a:gd name="T86" fmla="*/ 255490 w 941"/>
                <a:gd name="T87" fmla="*/ 349758 h 1125"/>
                <a:gd name="T88" fmla="*/ 311188 w 941"/>
                <a:gd name="T89" fmla="*/ 285348 h 1125"/>
                <a:gd name="T90" fmla="*/ 311188 w 941"/>
                <a:gd name="T91" fmla="*/ 285348 h 1125"/>
                <a:gd name="T92" fmla="*/ 337779 w 941"/>
                <a:gd name="T93" fmla="*/ 193591 h 1125"/>
                <a:gd name="T94" fmla="*/ 337779 w 941"/>
                <a:gd name="T95" fmla="*/ 98235 h 1125"/>
                <a:gd name="T96" fmla="*/ 337779 w 941"/>
                <a:gd name="T97" fmla="*/ 98235 h 1125"/>
                <a:gd name="T98" fmla="*/ 298251 w 941"/>
                <a:gd name="T99" fmla="*/ 51816 h 11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941" h="1125">
                  <a:moveTo>
                    <a:pt x="851" y="538"/>
                  </a:moveTo>
                  <a:lnTo>
                    <a:pt x="851" y="538"/>
                  </a:lnTo>
                  <a:cubicBezTo>
                    <a:pt x="851" y="670"/>
                    <a:pt x="786" y="793"/>
                    <a:pt x="656" y="904"/>
                  </a:cubicBezTo>
                  <a:cubicBezTo>
                    <a:pt x="581" y="969"/>
                    <a:pt x="504" y="1010"/>
                    <a:pt x="469" y="1028"/>
                  </a:cubicBezTo>
                  <a:cubicBezTo>
                    <a:pt x="392" y="988"/>
                    <a:pt x="87" y="816"/>
                    <a:pt x="87" y="538"/>
                  </a:cubicBezTo>
                  <a:lnTo>
                    <a:pt x="87" y="273"/>
                  </a:lnTo>
                  <a:cubicBezTo>
                    <a:pt x="87" y="252"/>
                    <a:pt x="102" y="234"/>
                    <a:pt x="124" y="229"/>
                  </a:cubicBezTo>
                  <a:cubicBezTo>
                    <a:pt x="246" y="208"/>
                    <a:pt x="357" y="143"/>
                    <a:pt x="411" y="107"/>
                  </a:cubicBezTo>
                  <a:cubicBezTo>
                    <a:pt x="428" y="95"/>
                    <a:pt x="448" y="87"/>
                    <a:pt x="469" y="87"/>
                  </a:cubicBezTo>
                  <a:cubicBezTo>
                    <a:pt x="490" y="87"/>
                    <a:pt x="511" y="95"/>
                    <a:pt x="529" y="107"/>
                  </a:cubicBezTo>
                  <a:cubicBezTo>
                    <a:pt x="583" y="143"/>
                    <a:pt x="693" y="208"/>
                    <a:pt x="816" y="229"/>
                  </a:cubicBezTo>
                  <a:cubicBezTo>
                    <a:pt x="837" y="234"/>
                    <a:pt x="851" y="252"/>
                    <a:pt x="851" y="273"/>
                  </a:cubicBezTo>
                  <a:lnTo>
                    <a:pt x="851" y="538"/>
                  </a:lnTo>
                  <a:close/>
                  <a:moveTo>
                    <a:pt x="830" y="144"/>
                  </a:moveTo>
                  <a:lnTo>
                    <a:pt x="830" y="144"/>
                  </a:lnTo>
                  <a:cubicBezTo>
                    <a:pt x="724" y="125"/>
                    <a:pt x="626" y="67"/>
                    <a:pt x="577" y="33"/>
                  </a:cubicBezTo>
                  <a:cubicBezTo>
                    <a:pt x="545" y="12"/>
                    <a:pt x="508" y="0"/>
                    <a:pt x="469" y="0"/>
                  </a:cubicBezTo>
                  <a:cubicBezTo>
                    <a:pt x="431" y="0"/>
                    <a:pt x="394" y="12"/>
                    <a:pt x="361" y="33"/>
                  </a:cubicBezTo>
                  <a:cubicBezTo>
                    <a:pt x="313" y="67"/>
                    <a:pt x="215" y="125"/>
                    <a:pt x="108" y="144"/>
                  </a:cubicBezTo>
                  <a:cubicBezTo>
                    <a:pt x="46" y="154"/>
                    <a:pt x="0" y="209"/>
                    <a:pt x="0" y="273"/>
                  </a:cubicBezTo>
                  <a:lnTo>
                    <a:pt x="0" y="538"/>
                  </a:lnTo>
                  <a:cubicBezTo>
                    <a:pt x="0" y="627"/>
                    <a:pt x="24" y="711"/>
                    <a:pt x="73" y="793"/>
                  </a:cubicBezTo>
                  <a:cubicBezTo>
                    <a:pt x="110" y="856"/>
                    <a:pt x="163" y="915"/>
                    <a:pt x="228" y="972"/>
                  </a:cubicBezTo>
                  <a:cubicBezTo>
                    <a:pt x="338" y="1066"/>
                    <a:pt x="447" y="1115"/>
                    <a:pt x="452" y="1117"/>
                  </a:cubicBezTo>
                  <a:lnTo>
                    <a:pt x="469" y="1124"/>
                  </a:lnTo>
                  <a:lnTo>
                    <a:pt x="487" y="1117"/>
                  </a:lnTo>
                  <a:cubicBezTo>
                    <a:pt x="492" y="1115"/>
                    <a:pt x="601" y="1066"/>
                    <a:pt x="711" y="972"/>
                  </a:cubicBezTo>
                  <a:cubicBezTo>
                    <a:pt x="777" y="915"/>
                    <a:pt x="829" y="856"/>
                    <a:pt x="866" y="793"/>
                  </a:cubicBezTo>
                  <a:cubicBezTo>
                    <a:pt x="915" y="711"/>
                    <a:pt x="940" y="627"/>
                    <a:pt x="940" y="538"/>
                  </a:cubicBezTo>
                  <a:lnTo>
                    <a:pt x="940" y="273"/>
                  </a:lnTo>
                  <a:cubicBezTo>
                    <a:pt x="940" y="209"/>
                    <a:pt x="894" y="154"/>
                    <a:pt x="830" y="14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a:p>
          </p:txBody>
        </p:sp>
      </p:grpSp>
      <p:sp>
        <p:nvSpPr>
          <p:cNvPr id="140" name="Freeform 4900">
            <a:extLst>
              <a:ext uri="{FF2B5EF4-FFF2-40B4-BE49-F238E27FC236}">
                <a16:creationId xmlns:a16="http://schemas.microsoft.com/office/drawing/2014/main" id="{7731ECE6-C926-3664-2723-8E96819F722E}"/>
              </a:ext>
            </a:extLst>
          </p:cNvPr>
          <p:cNvSpPr>
            <a:spLocks noChangeArrowheads="1"/>
          </p:cNvSpPr>
          <p:nvPr/>
        </p:nvSpPr>
        <p:spPr bwMode="auto">
          <a:xfrm>
            <a:off x="7879595" y="4573747"/>
            <a:ext cx="1552272" cy="54654"/>
          </a:xfrm>
          <a:custGeom>
            <a:avLst/>
            <a:gdLst>
              <a:gd name="T0" fmla="*/ 613 w 626"/>
              <a:gd name="T1" fmla="*/ 23 h 24"/>
              <a:gd name="T2" fmla="*/ 11 w 626"/>
              <a:gd name="T3" fmla="*/ 23 h 24"/>
              <a:gd name="T4" fmla="*/ 11 w 626"/>
              <a:gd name="T5" fmla="*/ 23 h 24"/>
              <a:gd name="T6" fmla="*/ 0 w 626"/>
              <a:gd name="T7" fmla="*/ 12 h 24"/>
              <a:gd name="T8" fmla="*/ 0 w 626"/>
              <a:gd name="T9" fmla="*/ 12 h 24"/>
              <a:gd name="T10" fmla="*/ 11 w 626"/>
              <a:gd name="T11" fmla="*/ 0 h 24"/>
              <a:gd name="T12" fmla="*/ 613 w 626"/>
              <a:gd name="T13" fmla="*/ 0 h 24"/>
              <a:gd name="T14" fmla="*/ 613 w 626"/>
              <a:gd name="T15" fmla="*/ 0 h 24"/>
              <a:gd name="T16" fmla="*/ 625 w 626"/>
              <a:gd name="T17" fmla="*/ 12 h 24"/>
              <a:gd name="T18" fmla="*/ 625 w 626"/>
              <a:gd name="T19" fmla="*/ 12 h 24"/>
              <a:gd name="T20" fmla="*/ 613 w 626"/>
              <a:gd name="T2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6" h="24">
                <a:moveTo>
                  <a:pt x="613" y="23"/>
                </a:moveTo>
                <a:lnTo>
                  <a:pt x="11" y="23"/>
                </a:lnTo>
                <a:lnTo>
                  <a:pt x="11" y="23"/>
                </a:lnTo>
                <a:cubicBezTo>
                  <a:pt x="5" y="23"/>
                  <a:pt x="0" y="19"/>
                  <a:pt x="0" y="12"/>
                </a:cubicBezTo>
                <a:lnTo>
                  <a:pt x="0" y="12"/>
                </a:lnTo>
                <a:cubicBezTo>
                  <a:pt x="0" y="7"/>
                  <a:pt x="5" y="0"/>
                  <a:pt x="11" y="0"/>
                </a:cubicBezTo>
                <a:lnTo>
                  <a:pt x="613" y="0"/>
                </a:lnTo>
                <a:lnTo>
                  <a:pt x="613" y="0"/>
                </a:lnTo>
                <a:cubicBezTo>
                  <a:pt x="620" y="0"/>
                  <a:pt x="625" y="7"/>
                  <a:pt x="625" y="12"/>
                </a:cubicBezTo>
                <a:lnTo>
                  <a:pt x="625" y="12"/>
                </a:lnTo>
                <a:cubicBezTo>
                  <a:pt x="625" y="19"/>
                  <a:pt x="620" y="23"/>
                  <a:pt x="613" y="23"/>
                </a:cubicBezTo>
              </a:path>
            </a:pathLst>
          </a:custGeom>
          <a:solidFill>
            <a:schemeClr val="accent1"/>
          </a:solidFill>
          <a:ln>
            <a:noFill/>
          </a:ln>
          <a:effectLst/>
        </p:spPr>
        <p:txBody>
          <a:bodyPr wrap="none" anchor="ctr"/>
          <a:lstStyle/>
          <a:p>
            <a:endParaRPr lang="en-US" sz="900"/>
          </a:p>
        </p:txBody>
      </p:sp>
      <p:sp>
        <p:nvSpPr>
          <p:cNvPr id="141" name="Freeform 4904">
            <a:extLst>
              <a:ext uri="{FF2B5EF4-FFF2-40B4-BE49-F238E27FC236}">
                <a16:creationId xmlns:a16="http://schemas.microsoft.com/office/drawing/2014/main" id="{56CA44E1-F4AB-B29B-6A22-162E1E2AB1D2}"/>
              </a:ext>
            </a:extLst>
          </p:cNvPr>
          <p:cNvSpPr>
            <a:spLocks noChangeArrowheads="1"/>
          </p:cNvSpPr>
          <p:nvPr/>
        </p:nvSpPr>
        <p:spPr bwMode="auto">
          <a:xfrm>
            <a:off x="5933790" y="4573747"/>
            <a:ext cx="1497611" cy="54654"/>
          </a:xfrm>
          <a:custGeom>
            <a:avLst/>
            <a:gdLst>
              <a:gd name="T0" fmla="*/ 603 w 604"/>
              <a:gd name="T1" fmla="*/ 23 h 24"/>
              <a:gd name="T2" fmla="*/ 0 w 604"/>
              <a:gd name="T3" fmla="*/ 23 h 24"/>
              <a:gd name="T4" fmla="*/ 0 w 604"/>
              <a:gd name="T5" fmla="*/ 0 h 24"/>
              <a:gd name="T6" fmla="*/ 603 w 604"/>
              <a:gd name="T7" fmla="*/ 0 h 24"/>
              <a:gd name="T8" fmla="*/ 603 w 604"/>
              <a:gd name="T9" fmla="*/ 23 h 24"/>
            </a:gdLst>
            <a:ahLst/>
            <a:cxnLst>
              <a:cxn ang="0">
                <a:pos x="T0" y="T1"/>
              </a:cxn>
              <a:cxn ang="0">
                <a:pos x="T2" y="T3"/>
              </a:cxn>
              <a:cxn ang="0">
                <a:pos x="T4" y="T5"/>
              </a:cxn>
              <a:cxn ang="0">
                <a:pos x="T6" y="T7"/>
              </a:cxn>
              <a:cxn ang="0">
                <a:pos x="T8" y="T9"/>
              </a:cxn>
            </a:cxnLst>
            <a:rect l="0" t="0" r="r" b="b"/>
            <a:pathLst>
              <a:path w="604" h="24">
                <a:moveTo>
                  <a:pt x="603" y="23"/>
                </a:moveTo>
                <a:lnTo>
                  <a:pt x="0" y="23"/>
                </a:lnTo>
                <a:lnTo>
                  <a:pt x="0" y="0"/>
                </a:lnTo>
                <a:lnTo>
                  <a:pt x="603" y="0"/>
                </a:lnTo>
                <a:lnTo>
                  <a:pt x="603" y="23"/>
                </a:lnTo>
              </a:path>
            </a:pathLst>
          </a:custGeom>
          <a:solidFill>
            <a:schemeClr val="accent1"/>
          </a:solidFill>
          <a:ln>
            <a:noFill/>
          </a:ln>
          <a:effectLst/>
        </p:spPr>
        <p:txBody>
          <a:bodyPr wrap="none" anchor="ctr"/>
          <a:lstStyle/>
          <a:p>
            <a:endParaRPr lang="en-US" sz="900"/>
          </a:p>
        </p:txBody>
      </p:sp>
      <p:sp>
        <p:nvSpPr>
          <p:cNvPr id="142" name="Freeform 4901">
            <a:extLst>
              <a:ext uri="{FF2B5EF4-FFF2-40B4-BE49-F238E27FC236}">
                <a16:creationId xmlns:a16="http://schemas.microsoft.com/office/drawing/2014/main" id="{FDDC8DD8-5B1B-BEF9-8D45-F76663585507}"/>
              </a:ext>
            </a:extLst>
          </p:cNvPr>
          <p:cNvSpPr>
            <a:spLocks noChangeArrowheads="1"/>
          </p:cNvSpPr>
          <p:nvPr/>
        </p:nvSpPr>
        <p:spPr bwMode="auto">
          <a:xfrm>
            <a:off x="8852495" y="4059963"/>
            <a:ext cx="1093149" cy="1093149"/>
          </a:xfrm>
          <a:custGeom>
            <a:avLst/>
            <a:gdLst>
              <a:gd name="T0" fmla="*/ 439 w 440"/>
              <a:gd name="T1" fmla="*/ 219 h 440"/>
              <a:gd name="T2" fmla="*/ 439 w 440"/>
              <a:gd name="T3" fmla="*/ 219 h 440"/>
              <a:gd name="T4" fmla="*/ 219 w 440"/>
              <a:gd name="T5" fmla="*/ 439 h 440"/>
              <a:gd name="T6" fmla="*/ 219 w 440"/>
              <a:gd name="T7" fmla="*/ 439 h 440"/>
              <a:gd name="T8" fmla="*/ 0 w 440"/>
              <a:gd name="T9" fmla="*/ 219 h 440"/>
              <a:gd name="T10" fmla="*/ 0 w 440"/>
              <a:gd name="T11" fmla="*/ 219 h 440"/>
              <a:gd name="T12" fmla="*/ 219 w 440"/>
              <a:gd name="T13" fmla="*/ 0 h 440"/>
              <a:gd name="T14" fmla="*/ 219 w 440"/>
              <a:gd name="T15" fmla="*/ 0 h 440"/>
              <a:gd name="T16" fmla="*/ 439 w 440"/>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440">
                <a:moveTo>
                  <a:pt x="439" y="219"/>
                </a:moveTo>
                <a:lnTo>
                  <a:pt x="439" y="219"/>
                </a:lnTo>
                <a:cubicBezTo>
                  <a:pt x="439" y="340"/>
                  <a:pt x="341" y="439"/>
                  <a:pt x="219" y="439"/>
                </a:cubicBezTo>
                <a:lnTo>
                  <a:pt x="219" y="439"/>
                </a:lnTo>
                <a:cubicBezTo>
                  <a:pt x="100" y="439"/>
                  <a:pt x="0" y="340"/>
                  <a:pt x="0" y="219"/>
                </a:cubicBezTo>
                <a:lnTo>
                  <a:pt x="0" y="219"/>
                </a:lnTo>
                <a:cubicBezTo>
                  <a:pt x="0" y="98"/>
                  <a:pt x="100" y="0"/>
                  <a:pt x="219" y="0"/>
                </a:cubicBezTo>
                <a:lnTo>
                  <a:pt x="219" y="0"/>
                </a:lnTo>
                <a:cubicBezTo>
                  <a:pt x="341" y="0"/>
                  <a:pt x="439" y="98"/>
                  <a:pt x="439" y="219"/>
                </a:cubicBezTo>
              </a:path>
            </a:pathLst>
          </a:custGeom>
          <a:solidFill>
            <a:schemeClr val="accent2"/>
          </a:solidFill>
          <a:ln>
            <a:noFill/>
          </a:ln>
          <a:effectLst/>
        </p:spPr>
        <p:txBody>
          <a:bodyPr wrap="none" anchor="ctr"/>
          <a:lstStyle/>
          <a:p>
            <a:endParaRPr lang="en-US" sz="900"/>
          </a:p>
        </p:txBody>
      </p:sp>
      <p:sp>
        <p:nvSpPr>
          <p:cNvPr id="143" name="Freeform 4905">
            <a:extLst>
              <a:ext uri="{FF2B5EF4-FFF2-40B4-BE49-F238E27FC236}">
                <a16:creationId xmlns:a16="http://schemas.microsoft.com/office/drawing/2014/main" id="{AC141A75-F106-CFF2-B384-BD2602D42E34}"/>
              </a:ext>
            </a:extLst>
          </p:cNvPr>
          <p:cNvSpPr>
            <a:spLocks noChangeArrowheads="1"/>
          </p:cNvSpPr>
          <p:nvPr/>
        </p:nvSpPr>
        <p:spPr bwMode="auto">
          <a:xfrm>
            <a:off x="6884826" y="4059963"/>
            <a:ext cx="1082221" cy="1093149"/>
          </a:xfrm>
          <a:custGeom>
            <a:avLst/>
            <a:gdLst>
              <a:gd name="T0" fmla="*/ 437 w 438"/>
              <a:gd name="T1" fmla="*/ 219 h 440"/>
              <a:gd name="T2" fmla="*/ 437 w 438"/>
              <a:gd name="T3" fmla="*/ 219 h 440"/>
              <a:gd name="T4" fmla="*/ 219 w 438"/>
              <a:gd name="T5" fmla="*/ 439 h 440"/>
              <a:gd name="T6" fmla="*/ 219 w 438"/>
              <a:gd name="T7" fmla="*/ 439 h 440"/>
              <a:gd name="T8" fmla="*/ 0 w 438"/>
              <a:gd name="T9" fmla="*/ 219 h 440"/>
              <a:gd name="T10" fmla="*/ 0 w 438"/>
              <a:gd name="T11" fmla="*/ 219 h 440"/>
              <a:gd name="T12" fmla="*/ 219 w 438"/>
              <a:gd name="T13" fmla="*/ 0 h 440"/>
              <a:gd name="T14" fmla="*/ 219 w 438"/>
              <a:gd name="T15" fmla="*/ 0 h 440"/>
              <a:gd name="T16" fmla="*/ 437 w 438"/>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40">
                <a:moveTo>
                  <a:pt x="437" y="219"/>
                </a:moveTo>
                <a:lnTo>
                  <a:pt x="437" y="219"/>
                </a:lnTo>
                <a:cubicBezTo>
                  <a:pt x="437" y="340"/>
                  <a:pt x="339" y="439"/>
                  <a:pt x="219" y="439"/>
                </a:cubicBezTo>
                <a:lnTo>
                  <a:pt x="219" y="439"/>
                </a:lnTo>
                <a:cubicBezTo>
                  <a:pt x="98" y="439"/>
                  <a:pt x="0" y="340"/>
                  <a:pt x="0" y="219"/>
                </a:cubicBezTo>
                <a:lnTo>
                  <a:pt x="0" y="219"/>
                </a:lnTo>
                <a:cubicBezTo>
                  <a:pt x="0" y="98"/>
                  <a:pt x="98" y="0"/>
                  <a:pt x="219" y="0"/>
                </a:cubicBezTo>
                <a:lnTo>
                  <a:pt x="219" y="0"/>
                </a:lnTo>
                <a:cubicBezTo>
                  <a:pt x="339" y="0"/>
                  <a:pt x="437" y="98"/>
                  <a:pt x="437" y="219"/>
                </a:cubicBezTo>
              </a:path>
            </a:pathLst>
          </a:custGeom>
          <a:solidFill>
            <a:schemeClr val="accent2"/>
          </a:solidFill>
          <a:ln>
            <a:noFill/>
          </a:ln>
          <a:effectLst/>
        </p:spPr>
        <p:txBody>
          <a:bodyPr wrap="none" anchor="ctr"/>
          <a:lstStyle/>
          <a:p>
            <a:endParaRPr lang="en-US" sz="900"/>
          </a:p>
        </p:txBody>
      </p:sp>
      <p:sp>
        <p:nvSpPr>
          <p:cNvPr id="144" name="Freeform 4909">
            <a:extLst>
              <a:ext uri="{FF2B5EF4-FFF2-40B4-BE49-F238E27FC236}">
                <a16:creationId xmlns:a16="http://schemas.microsoft.com/office/drawing/2014/main" id="{BB59DDD6-1619-836F-BC40-195E3792CFBA}"/>
              </a:ext>
            </a:extLst>
          </p:cNvPr>
          <p:cNvSpPr>
            <a:spLocks noChangeArrowheads="1"/>
          </p:cNvSpPr>
          <p:nvPr/>
        </p:nvSpPr>
        <p:spPr bwMode="auto">
          <a:xfrm>
            <a:off x="4906230" y="4059963"/>
            <a:ext cx="1082214" cy="1093149"/>
          </a:xfrm>
          <a:custGeom>
            <a:avLst/>
            <a:gdLst>
              <a:gd name="T0" fmla="*/ 436 w 437"/>
              <a:gd name="T1" fmla="*/ 219 h 440"/>
              <a:gd name="T2" fmla="*/ 436 w 437"/>
              <a:gd name="T3" fmla="*/ 219 h 440"/>
              <a:gd name="T4" fmla="*/ 219 w 437"/>
              <a:gd name="T5" fmla="*/ 439 h 440"/>
              <a:gd name="T6" fmla="*/ 219 w 437"/>
              <a:gd name="T7" fmla="*/ 439 h 440"/>
              <a:gd name="T8" fmla="*/ 0 w 437"/>
              <a:gd name="T9" fmla="*/ 219 h 440"/>
              <a:gd name="T10" fmla="*/ 0 w 437"/>
              <a:gd name="T11" fmla="*/ 219 h 440"/>
              <a:gd name="T12" fmla="*/ 219 w 437"/>
              <a:gd name="T13" fmla="*/ 0 h 440"/>
              <a:gd name="T14" fmla="*/ 219 w 437"/>
              <a:gd name="T15" fmla="*/ 0 h 440"/>
              <a:gd name="T16" fmla="*/ 436 w 437"/>
              <a:gd name="T17" fmla="*/ 21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7" h="440">
                <a:moveTo>
                  <a:pt x="436" y="219"/>
                </a:moveTo>
                <a:lnTo>
                  <a:pt x="436" y="219"/>
                </a:lnTo>
                <a:cubicBezTo>
                  <a:pt x="436" y="340"/>
                  <a:pt x="338" y="439"/>
                  <a:pt x="219" y="439"/>
                </a:cubicBezTo>
                <a:lnTo>
                  <a:pt x="219" y="439"/>
                </a:lnTo>
                <a:cubicBezTo>
                  <a:pt x="97" y="439"/>
                  <a:pt x="0" y="340"/>
                  <a:pt x="0" y="219"/>
                </a:cubicBezTo>
                <a:lnTo>
                  <a:pt x="0" y="219"/>
                </a:lnTo>
                <a:cubicBezTo>
                  <a:pt x="0" y="98"/>
                  <a:pt x="97" y="0"/>
                  <a:pt x="219" y="0"/>
                </a:cubicBezTo>
                <a:lnTo>
                  <a:pt x="219" y="0"/>
                </a:lnTo>
                <a:cubicBezTo>
                  <a:pt x="338" y="0"/>
                  <a:pt x="436" y="98"/>
                  <a:pt x="436" y="219"/>
                </a:cubicBezTo>
              </a:path>
            </a:pathLst>
          </a:custGeom>
          <a:solidFill>
            <a:schemeClr val="accent2"/>
          </a:solidFill>
          <a:ln>
            <a:noFill/>
          </a:ln>
          <a:effectLst/>
        </p:spPr>
        <p:txBody>
          <a:bodyPr wrap="none" anchor="ctr"/>
          <a:lstStyle/>
          <a:p>
            <a:endParaRPr lang="en-US" sz="900"/>
          </a:p>
        </p:txBody>
      </p:sp>
      <p:sp>
        <p:nvSpPr>
          <p:cNvPr id="145" name="Subtitle 2">
            <a:extLst>
              <a:ext uri="{FF2B5EF4-FFF2-40B4-BE49-F238E27FC236}">
                <a16:creationId xmlns:a16="http://schemas.microsoft.com/office/drawing/2014/main" id="{8425EDAE-B991-1CED-0A71-A131C75C7AF1}"/>
              </a:ext>
            </a:extLst>
          </p:cNvPr>
          <p:cNvSpPr txBox="1">
            <a:spLocks/>
          </p:cNvSpPr>
          <p:nvPr/>
        </p:nvSpPr>
        <p:spPr>
          <a:xfrm>
            <a:off x="6529704" y="5293808"/>
            <a:ext cx="1792465" cy="358181"/>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000" b="1" spc="80" dirty="0">
                <a:solidFill>
                  <a:schemeClr val="tx1"/>
                </a:solidFill>
                <a:latin typeface="Calibri" charset="0"/>
                <a:ea typeface="Calibri" charset="0"/>
                <a:cs typeface="Calibri" charset="0"/>
              </a:rPr>
              <a:t>Manufacturing</a:t>
            </a: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sp>
        <p:nvSpPr>
          <p:cNvPr id="146" name="Subtitle 2">
            <a:extLst>
              <a:ext uri="{FF2B5EF4-FFF2-40B4-BE49-F238E27FC236}">
                <a16:creationId xmlns:a16="http://schemas.microsoft.com/office/drawing/2014/main" id="{C63BE2B4-9B3F-0C72-A940-52332FBA87C5}"/>
              </a:ext>
            </a:extLst>
          </p:cNvPr>
          <p:cNvSpPr txBox="1">
            <a:spLocks/>
          </p:cNvSpPr>
          <p:nvPr/>
        </p:nvSpPr>
        <p:spPr>
          <a:xfrm>
            <a:off x="8502837" y="5293808"/>
            <a:ext cx="1984504" cy="691477"/>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000" b="1" spc="80" dirty="0">
                <a:solidFill>
                  <a:schemeClr val="tx1"/>
                </a:solidFill>
                <a:latin typeface="Calibri" charset="0"/>
                <a:ea typeface="Calibri" charset="0"/>
                <a:cs typeface="Calibri" charset="0"/>
              </a:rPr>
              <a:t>Consumer Goods and Retail</a:t>
            </a:r>
          </a:p>
          <a:p>
            <a:pPr>
              <a:lnSpc>
                <a:spcPts val="2150"/>
              </a:lnSpc>
            </a:pP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sp>
        <p:nvSpPr>
          <p:cNvPr id="163" name="Freeform 4908">
            <a:extLst>
              <a:ext uri="{FF2B5EF4-FFF2-40B4-BE49-F238E27FC236}">
                <a16:creationId xmlns:a16="http://schemas.microsoft.com/office/drawing/2014/main" id="{1BC2E07A-AD08-2CCE-C93B-F32D5411986F}"/>
              </a:ext>
            </a:extLst>
          </p:cNvPr>
          <p:cNvSpPr>
            <a:spLocks noChangeArrowheads="1"/>
          </p:cNvSpPr>
          <p:nvPr/>
        </p:nvSpPr>
        <p:spPr bwMode="auto">
          <a:xfrm>
            <a:off x="3761131" y="4638428"/>
            <a:ext cx="1132129" cy="45719"/>
          </a:xfrm>
          <a:custGeom>
            <a:avLst/>
            <a:gdLst>
              <a:gd name="T0" fmla="*/ 617 w 629"/>
              <a:gd name="T1" fmla="*/ 27 h 28"/>
              <a:gd name="T2" fmla="*/ 13 w 629"/>
              <a:gd name="T3" fmla="*/ 27 h 28"/>
              <a:gd name="T4" fmla="*/ 13 w 629"/>
              <a:gd name="T5" fmla="*/ 27 h 28"/>
              <a:gd name="T6" fmla="*/ 0 w 629"/>
              <a:gd name="T7" fmla="*/ 13 h 28"/>
              <a:gd name="T8" fmla="*/ 0 w 629"/>
              <a:gd name="T9" fmla="*/ 13 h 28"/>
              <a:gd name="T10" fmla="*/ 13 w 629"/>
              <a:gd name="T11" fmla="*/ 0 h 28"/>
              <a:gd name="T12" fmla="*/ 617 w 629"/>
              <a:gd name="T13" fmla="*/ 0 h 28"/>
              <a:gd name="T14" fmla="*/ 617 w 629"/>
              <a:gd name="T15" fmla="*/ 0 h 28"/>
              <a:gd name="T16" fmla="*/ 628 w 629"/>
              <a:gd name="T17" fmla="*/ 13 h 28"/>
              <a:gd name="T18" fmla="*/ 628 w 629"/>
              <a:gd name="T19" fmla="*/ 13 h 28"/>
              <a:gd name="T20" fmla="*/ 617 w 6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8">
                <a:moveTo>
                  <a:pt x="617" y="27"/>
                </a:moveTo>
                <a:lnTo>
                  <a:pt x="13" y="27"/>
                </a:lnTo>
                <a:lnTo>
                  <a:pt x="13" y="27"/>
                </a:lnTo>
                <a:cubicBezTo>
                  <a:pt x="6" y="27"/>
                  <a:pt x="0" y="21"/>
                  <a:pt x="0" y="13"/>
                </a:cubicBezTo>
                <a:lnTo>
                  <a:pt x="0" y="13"/>
                </a:lnTo>
                <a:cubicBezTo>
                  <a:pt x="0" y="6"/>
                  <a:pt x="6" y="0"/>
                  <a:pt x="13" y="0"/>
                </a:cubicBezTo>
                <a:lnTo>
                  <a:pt x="617" y="0"/>
                </a:lnTo>
                <a:lnTo>
                  <a:pt x="617" y="0"/>
                </a:lnTo>
                <a:cubicBezTo>
                  <a:pt x="622" y="0"/>
                  <a:pt x="628" y="6"/>
                  <a:pt x="628" y="13"/>
                </a:cubicBezTo>
                <a:lnTo>
                  <a:pt x="628" y="13"/>
                </a:lnTo>
                <a:cubicBezTo>
                  <a:pt x="628" y="21"/>
                  <a:pt x="622" y="27"/>
                  <a:pt x="617" y="27"/>
                </a:cubicBezTo>
              </a:path>
            </a:pathLst>
          </a:custGeom>
          <a:solidFill>
            <a:schemeClr val="accent1"/>
          </a:solidFill>
          <a:ln>
            <a:noFill/>
          </a:ln>
          <a:effectLst/>
        </p:spPr>
        <p:txBody>
          <a:bodyPr wrap="none" anchor="ctr"/>
          <a:lstStyle/>
          <a:p>
            <a:endParaRPr lang="en-US" sz="900"/>
          </a:p>
        </p:txBody>
      </p:sp>
      <p:sp>
        <p:nvSpPr>
          <p:cNvPr id="164" name="Freeform 4908">
            <a:extLst>
              <a:ext uri="{FF2B5EF4-FFF2-40B4-BE49-F238E27FC236}">
                <a16:creationId xmlns:a16="http://schemas.microsoft.com/office/drawing/2014/main" id="{182A0EFC-90F0-B0A2-CF16-DC71010D7C6C}"/>
              </a:ext>
            </a:extLst>
          </p:cNvPr>
          <p:cNvSpPr>
            <a:spLocks noChangeArrowheads="1"/>
          </p:cNvSpPr>
          <p:nvPr/>
        </p:nvSpPr>
        <p:spPr bwMode="auto">
          <a:xfrm rot="16200000">
            <a:off x="3088726" y="3213795"/>
            <a:ext cx="1363521" cy="45719"/>
          </a:xfrm>
          <a:custGeom>
            <a:avLst/>
            <a:gdLst>
              <a:gd name="T0" fmla="*/ 617 w 629"/>
              <a:gd name="T1" fmla="*/ 27 h 28"/>
              <a:gd name="T2" fmla="*/ 13 w 629"/>
              <a:gd name="T3" fmla="*/ 27 h 28"/>
              <a:gd name="T4" fmla="*/ 13 w 629"/>
              <a:gd name="T5" fmla="*/ 27 h 28"/>
              <a:gd name="T6" fmla="*/ 0 w 629"/>
              <a:gd name="T7" fmla="*/ 13 h 28"/>
              <a:gd name="T8" fmla="*/ 0 w 629"/>
              <a:gd name="T9" fmla="*/ 13 h 28"/>
              <a:gd name="T10" fmla="*/ 13 w 629"/>
              <a:gd name="T11" fmla="*/ 0 h 28"/>
              <a:gd name="T12" fmla="*/ 617 w 629"/>
              <a:gd name="T13" fmla="*/ 0 h 28"/>
              <a:gd name="T14" fmla="*/ 617 w 629"/>
              <a:gd name="T15" fmla="*/ 0 h 28"/>
              <a:gd name="T16" fmla="*/ 628 w 629"/>
              <a:gd name="T17" fmla="*/ 13 h 28"/>
              <a:gd name="T18" fmla="*/ 628 w 629"/>
              <a:gd name="T19" fmla="*/ 13 h 28"/>
              <a:gd name="T20" fmla="*/ 617 w 6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8">
                <a:moveTo>
                  <a:pt x="617" y="27"/>
                </a:moveTo>
                <a:lnTo>
                  <a:pt x="13" y="27"/>
                </a:lnTo>
                <a:lnTo>
                  <a:pt x="13" y="27"/>
                </a:lnTo>
                <a:cubicBezTo>
                  <a:pt x="6" y="27"/>
                  <a:pt x="0" y="21"/>
                  <a:pt x="0" y="13"/>
                </a:cubicBezTo>
                <a:lnTo>
                  <a:pt x="0" y="13"/>
                </a:lnTo>
                <a:cubicBezTo>
                  <a:pt x="0" y="6"/>
                  <a:pt x="6" y="0"/>
                  <a:pt x="13" y="0"/>
                </a:cubicBezTo>
                <a:lnTo>
                  <a:pt x="617" y="0"/>
                </a:lnTo>
                <a:lnTo>
                  <a:pt x="617" y="0"/>
                </a:lnTo>
                <a:cubicBezTo>
                  <a:pt x="622" y="0"/>
                  <a:pt x="628" y="6"/>
                  <a:pt x="628" y="13"/>
                </a:cubicBezTo>
                <a:lnTo>
                  <a:pt x="628" y="13"/>
                </a:lnTo>
                <a:cubicBezTo>
                  <a:pt x="628" y="21"/>
                  <a:pt x="622" y="27"/>
                  <a:pt x="617" y="27"/>
                </a:cubicBezTo>
              </a:path>
            </a:pathLst>
          </a:custGeom>
          <a:solidFill>
            <a:schemeClr val="accent1"/>
          </a:solidFill>
          <a:ln>
            <a:noFill/>
          </a:ln>
          <a:effectLst/>
        </p:spPr>
        <p:txBody>
          <a:bodyPr wrap="none" anchor="ctr"/>
          <a:lstStyle/>
          <a:p>
            <a:endParaRPr lang="en-US" sz="900" dirty="0"/>
          </a:p>
        </p:txBody>
      </p:sp>
      <p:sp>
        <p:nvSpPr>
          <p:cNvPr id="165" name="Freeform 4908">
            <a:extLst>
              <a:ext uri="{FF2B5EF4-FFF2-40B4-BE49-F238E27FC236}">
                <a16:creationId xmlns:a16="http://schemas.microsoft.com/office/drawing/2014/main" id="{A4B6F4B5-AEDC-6BC3-6F4A-1776C28D0ECA}"/>
              </a:ext>
            </a:extLst>
          </p:cNvPr>
          <p:cNvSpPr>
            <a:spLocks noChangeArrowheads="1"/>
          </p:cNvSpPr>
          <p:nvPr/>
        </p:nvSpPr>
        <p:spPr bwMode="auto">
          <a:xfrm rot="16200000">
            <a:off x="3204422" y="4050826"/>
            <a:ext cx="1132129" cy="45719"/>
          </a:xfrm>
          <a:custGeom>
            <a:avLst/>
            <a:gdLst>
              <a:gd name="T0" fmla="*/ 617 w 629"/>
              <a:gd name="T1" fmla="*/ 27 h 28"/>
              <a:gd name="T2" fmla="*/ 13 w 629"/>
              <a:gd name="T3" fmla="*/ 27 h 28"/>
              <a:gd name="T4" fmla="*/ 13 w 629"/>
              <a:gd name="T5" fmla="*/ 27 h 28"/>
              <a:gd name="T6" fmla="*/ 0 w 629"/>
              <a:gd name="T7" fmla="*/ 13 h 28"/>
              <a:gd name="T8" fmla="*/ 0 w 629"/>
              <a:gd name="T9" fmla="*/ 13 h 28"/>
              <a:gd name="T10" fmla="*/ 13 w 629"/>
              <a:gd name="T11" fmla="*/ 0 h 28"/>
              <a:gd name="T12" fmla="*/ 617 w 629"/>
              <a:gd name="T13" fmla="*/ 0 h 28"/>
              <a:gd name="T14" fmla="*/ 617 w 629"/>
              <a:gd name="T15" fmla="*/ 0 h 28"/>
              <a:gd name="T16" fmla="*/ 628 w 629"/>
              <a:gd name="T17" fmla="*/ 13 h 28"/>
              <a:gd name="T18" fmla="*/ 628 w 629"/>
              <a:gd name="T19" fmla="*/ 13 h 28"/>
              <a:gd name="T20" fmla="*/ 617 w 6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8">
                <a:moveTo>
                  <a:pt x="617" y="27"/>
                </a:moveTo>
                <a:lnTo>
                  <a:pt x="13" y="27"/>
                </a:lnTo>
                <a:lnTo>
                  <a:pt x="13" y="27"/>
                </a:lnTo>
                <a:cubicBezTo>
                  <a:pt x="6" y="27"/>
                  <a:pt x="0" y="21"/>
                  <a:pt x="0" y="13"/>
                </a:cubicBezTo>
                <a:lnTo>
                  <a:pt x="0" y="13"/>
                </a:lnTo>
                <a:cubicBezTo>
                  <a:pt x="0" y="6"/>
                  <a:pt x="6" y="0"/>
                  <a:pt x="13" y="0"/>
                </a:cubicBezTo>
                <a:lnTo>
                  <a:pt x="617" y="0"/>
                </a:lnTo>
                <a:lnTo>
                  <a:pt x="617" y="0"/>
                </a:lnTo>
                <a:cubicBezTo>
                  <a:pt x="622" y="0"/>
                  <a:pt x="628" y="6"/>
                  <a:pt x="628" y="13"/>
                </a:cubicBezTo>
                <a:lnTo>
                  <a:pt x="628" y="13"/>
                </a:lnTo>
                <a:cubicBezTo>
                  <a:pt x="628" y="21"/>
                  <a:pt x="622" y="27"/>
                  <a:pt x="617" y="27"/>
                </a:cubicBezTo>
              </a:path>
            </a:pathLst>
          </a:custGeom>
          <a:solidFill>
            <a:schemeClr val="accent1"/>
          </a:solidFill>
          <a:ln>
            <a:noFill/>
          </a:ln>
          <a:effectLst/>
        </p:spPr>
        <p:txBody>
          <a:bodyPr wrap="none" anchor="ctr"/>
          <a:lstStyle/>
          <a:p>
            <a:endParaRPr lang="en-US" sz="900" dirty="0"/>
          </a:p>
        </p:txBody>
      </p:sp>
      <p:sp>
        <p:nvSpPr>
          <p:cNvPr id="169" name="Subtitle 2">
            <a:extLst>
              <a:ext uri="{FF2B5EF4-FFF2-40B4-BE49-F238E27FC236}">
                <a16:creationId xmlns:a16="http://schemas.microsoft.com/office/drawing/2014/main" id="{B09944EC-1213-F2B9-5D60-D20AD5A42FC0}"/>
              </a:ext>
            </a:extLst>
          </p:cNvPr>
          <p:cNvSpPr txBox="1">
            <a:spLocks/>
          </p:cNvSpPr>
          <p:nvPr/>
        </p:nvSpPr>
        <p:spPr>
          <a:xfrm>
            <a:off x="4517166" y="5278151"/>
            <a:ext cx="1792465" cy="358181"/>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000" b="1" spc="80" dirty="0">
                <a:solidFill>
                  <a:schemeClr val="tx1"/>
                </a:solidFill>
                <a:latin typeface="Calibri" charset="0"/>
                <a:ea typeface="Calibri" charset="0"/>
                <a:cs typeface="Calibri" charset="0"/>
              </a:rPr>
              <a:t>Pharmaceuticals</a:t>
            </a:r>
            <a:endParaRPr lang="en-US" sz="1400" dirty="0">
              <a:solidFill>
                <a:schemeClr val="tx1"/>
              </a:solidFill>
              <a:latin typeface="Roboto Light" panose="02000000000000000000" pitchFamily="2" charset="0"/>
              <a:ea typeface="Roboto Light" panose="02000000000000000000" pitchFamily="2" charset="0"/>
              <a:cs typeface="Lato Light" panose="020F0502020204030203" pitchFamily="34" charset="0"/>
            </a:endParaRPr>
          </a:p>
        </p:txBody>
      </p:sp>
      <p:pic>
        <p:nvPicPr>
          <p:cNvPr id="171" name="Graphic 170" descr="Medical">
            <a:extLst>
              <a:ext uri="{FF2B5EF4-FFF2-40B4-BE49-F238E27FC236}">
                <a16:creationId xmlns:a16="http://schemas.microsoft.com/office/drawing/2014/main" id="{E4BE56BD-DA9E-4060-9002-B8BB232B1E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91754" y="4286046"/>
            <a:ext cx="707408" cy="707408"/>
          </a:xfrm>
          <a:prstGeom prst="rect">
            <a:avLst/>
          </a:prstGeom>
        </p:spPr>
      </p:pic>
      <p:pic>
        <p:nvPicPr>
          <p:cNvPr id="173" name="Graphic 172" descr="Factory">
            <a:extLst>
              <a:ext uri="{FF2B5EF4-FFF2-40B4-BE49-F238E27FC236}">
                <a16:creationId xmlns:a16="http://schemas.microsoft.com/office/drawing/2014/main" id="{9345042F-09D3-4E54-727E-BAB4853C3F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2337" y="4269617"/>
            <a:ext cx="641731" cy="641731"/>
          </a:xfrm>
          <a:prstGeom prst="rect">
            <a:avLst/>
          </a:prstGeom>
        </p:spPr>
      </p:pic>
      <p:pic>
        <p:nvPicPr>
          <p:cNvPr id="175" name="Graphic 174" descr="Store">
            <a:extLst>
              <a:ext uri="{FF2B5EF4-FFF2-40B4-BE49-F238E27FC236}">
                <a16:creationId xmlns:a16="http://schemas.microsoft.com/office/drawing/2014/main" id="{01026044-48F1-6314-56B1-FB9E686D6B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5905" y="4292689"/>
            <a:ext cx="691477" cy="691477"/>
          </a:xfrm>
          <a:prstGeom prst="rect">
            <a:avLst/>
          </a:prstGeom>
        </p:spPr>
      </p:pic>
      <p:sp>
        <p:nvSpPr>
          <p:cNvPr id="2" name="Rectangle 1">
            <a:extLst>
              <a:ext uri="{FF2B5EF4-FFF2-40B4-BE49-F238E27FC236}">
                <a16:creationId xmlns:a16="http://schemas.microsoft.com/office/drawing/2014/main" id="{D9F18917-99AC-5ECA-4650-7ECC422A6D5D}"/>
              </a:ext>
            </a:extLst>
          </p:cNvPr>
          <p:cNvSpPr/>
          <p:nvPr/>
        </p:nvSpPr>
        <p:spPr>
          <a:xfrm rot="10800000" flipV="1">
            <a:off x="11847226" y="-1"/>
            <a:ext cx="343187" cy="6858001"/>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Tree>
    <p:extLst>
      <p:ext uri="{BB962C8B-B14F-4D97-AF65-F5344CB8AC3E}">
        <p14:creationId xmlns:p14="http://schemas.microsoft.com/office/powerpoint/2010/main" val="203985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E8215211-AED8-0CBA-7C7B-3C318B5B4F1C}"/>
              </a:ext>
            </a:extLst>
          </p:cNvPr>
          <p:cNvSpPr/>
          <p:nvPr/>
        </p:nvSpPr>
        <p:spPr>
          <a:xfrm rot="-10800000">
            <a:off x="9428906" y="-2546180"/>
            <a:ext cx="4301899" cy="3730919"/>
          </a:xfrm>
          <a:custGeom>
            <a:avLst/>
            <a:gdLst/>
            <a:ahLst/>
            <a:cxnLst/>
            <a:rect l="l" t="t" r="r" b="b"/>
            <a:pathLst>
              <a:path w="6452848" h="5596379">
                <a:moveTo>
                  <a:pt x="0" y="0"/>
                </a:moveTo>
                <a:lnTo>
                  <a:pt x="6452849" y="0"/>
                </a:lnTo>
                <a:lnTo>
                  <a:pt x="6452849" y="5596380"/>
                </a:lnTo>
                <a:lnTo>
                  <a:pt x="0" y="5596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6" name="Freeform 23">
            <a:extLst>
              <a:ext uri="{FF2B5EF4-FFF2-40B4-BE49-F238E27FC236}">
                <a16:creationId xmlns:a16="http://schemas.microsoft.com/office/drawing/2014/main" id="{D3893111-1253-E1E5-CF0D-E57998AEC067}"/>
              </a:ext>
            </a:extLst>
          </p:cNvPr>
          <p:cNvSpPr/>
          <p:nvPr/>
        </p:nvSpPr>
        <p:spPr>
          <a:xfrm flipV="1">
            <a:off x="554182" y="267573"/>
            <a:ext cx="3637673" cy="474630"/>
          </a:xfrm>
          <a:custGeom>
            <a:avLst/>
            <a:gdLst>
              <a:gd name="connsiteX0" fmla="*/ 121170 w 3962400"/>
              <a:gd name="connsiteY0" fmla="*/ 695981 h 695981"/>
              <a:gd name="connsiteX1" fmla="*/ 3841230 w 3962400"/>
              <a:gd name="connsiteY1" fmla="*/ 695981 h 695981"/>
              <a:gd name="connsiteX2" fmla="*/ 3962400 w 3962400"/>
              <a:gd name="connsiteY2" fmla="*/ 574811 h 695981"/>
              <a:gd name="connsiteX3" fmla="*/ 3962400 w 3962400"/>
              <a:gd name="connsiteY3" fmla="*/ 0 h 695981"/>
              <a:gd name="connsiteX4" fmla="*/ 0 w 3962400"/>
              <a:gd name="connsiteY4" fmla="*/ 0 h 695981"/>
              <a:gd name="connsiteX5" fmla="*/ 0 w 3962400"/>
              <a:gd name="connsiteY5" fmla="*/ 574811 h 695981"/>
              <a:gd name="connsiteX6" fmla="*/ 121170 w 3962400"/>
              <a:gd name="connsiteY6" fmla="*/ 695981 h 69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2400" h="695981">
                <a:moveTo>
                  <a:pt x="121170" y="695981"/>
                </a:moveTo>
                <a:lnTo>
                  <a:pt x="3841230" y="695981"/>
                </a:lnTo>
                <a:cubicBezTo>
                  <a:pt x="3908150" y="695981"/>
                  <a:pt x="3962400" y="641731"/>
                  <a:pt x="3962400" y="574811"/>
                </a:cubicBezTo>
                <a:lnTo>
                  <a:pt x="3962400" y="0"/>
                </a:lnTo>
                <a:lnTo>
                  <a:pt x="0" y="0"/>
                </a:lnTo>
                <a:lnTo>
                  <a:pt x="0" y="574811"/>
                </a:lnTo>
                <a:cubicBezTo>
                  <a:pt x="0" y="641731"/>
                  <a:pt x="54250" y="695981"/>
                  <a:pt x="121170" y="695981"/>
                </a:cubicBezTo>
                <a:close/>
              </a:path>
            </a:pathLst>
          </a:custGeom>
          <a:solidFill>
            <a:srgbClr val="F78B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p:cNvSpPr>
            <a:spLocks noGrp="1"/>
          </p:cNvSpPr>
          <p:nvPr>
            <p:ph type="title"/>
          </p:nvPr>
        </p:nvSpPr>
        <p:spPr>
          <a:xfrm>
            <a:off x="554182" y="106485"/>
            <a:ext cx="3637674" cy="899306"/>
          </a:xfrm>
        </p:spPr>
        <p:txBody>
          <a:bodyPr>
            <a:normAutofit/>
          </a:bodyPr>
          <a:lstStyle/>
          <a:p>
            <a:pPr algn="ctr"/>
            <a:r>
              <a:rPr lang="en-US" sz="2400" dirty="0">
                <a:latin typeface="Poppins Medium" panose="00000600000000000000" pitchFamily="2" charset="0"/>
                <a:cs typeface="Poppins Medium" panose="00000600000000000000" pitchFamily="2" charset="0"/>
              </a:rPr>
              <a:t>Our SAP GRC Expertise</a:t>
            </a:r>
          </a:p>
        </p:txBody>
      </p:sp>
      <p:sp>
        <p:nvSpPr>
          <p:cNvPr id="10" name="Rectangle 9"/>
          <p:cNvSpPr/>
          <p:nvPr/>
        </p:nvSpPr>
        <p:spPr>
          <a:xfrm>
            <a:off x="554182" y="828140"/>
            <a:ext cx="11231520"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09728" indent="0">
              <a:buNone/>
            </a:pPr>
            <a:r>
              <a:rPr lang="en-US" sz="1600" b="1" dirty="0">
                <a:latin typeface="Helvetica" panose="020B0604020202020204" pitchFamily="34" charset="0"/>
                <a:cs typeface="Helvetica" panose="020B0604020202020204" pitchFamily="34" charset="0"/>
              </a:rPr>
              <a:t>SAP Change management: </a:t>
            </a:r>
            <a:r>
              <a:rPr lang="en-US" sz="1600" dirty="0">
                <a:latin typeface="Helvetica" panose="020B0604020202020204" pitchFamily="34" charset="0"/>
                <a:cs typeface="Helvetica" panose="020B0604020202020204" pitchFamily="34" charset="0"/>
              </a:rPr>
              <a:t>SAP R/3 change management and control and the related policies, processes, training, and implementation of the change control system for managing SAP R/3 system changes - both from a business and technology perspective. In the process, we manage and drive your SAP R/3 implementations toward “</a:t>
            </a:r>
            <a:r>
              <a:rPr lang="en-US" sz="1600" b="1" dirty="0">
                <a:latin typeface="Helvetica" panose="020B0604020202020204" pitchFamily="34" charset="0"/>
                <a:cs typeface="Helvetica" panose="020B0604020202020204" pitchFamily="34" charset="0"/>
              </a:rPr>
              <a:t>Governance</a:t>
            </a:r>
            <a:r>
              <a:rPr lang="en-US" sz="1600" dirty="0">
                <a:latin typeface="Helvetica" panose="020B0604020202020204" pitchFamily="34" charset="0"/>
                <a:cs typeface="Helvetica" panose="020B0604020202020204" pitchFamily="34" charset="0"/>
              </a:rPr>
              <a:t>”</a:t>
            </a:r>
          </a:p>
        </p:txBody>
      </p:sp>
      <p:sp>
        <p:nvSpPr>
          <p:cNvPr id="6" name="Rectangle 5">
            <a:extLst>
              <a:ext uri="{FF2B5EF4-FFF2-40B4-BE49-F238E27FC236}">
                <a16:creationId xmlns:a16="http://schemas.microsoft.com/office/drawing/2014/main" id="{FE4EFEB2-4290-D1EC-2CB7-375063830EE3}"/>
              </a:ext>
            </a:extLst>
          </p:cNvPr>
          <p:cNvSpPr/>
          <p:nvPr/>
        </p:nvSpPr>
        <p:spPr>
          <a:xfrm>
            <a:off x="554183" y="1919127"/>
            <a:ext cx="11231520" cy="37856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09728" indent="0">
              <a:buNone/>
            </a:pPr>
            <a:r>
              <a:rPr lang="en-US" sz="1600" b="1" dirty="0">
                <a:latin typeface="Helvetica" panose="020B0604020202020204" pitchFamily="34" charset="0"/>
                <a:cs typeface="Helvetica" panose="020B0604020202020204" pitchFamily="34" charset="0"/>
              </a:rPr>
              <a:t>SAP Security &amp; Authorizations: </a:t>
            </a:r>
            <a:r>
              <a:rPr lang="en-US" sz="1600" dirty="0">
                <a:latin typeface="Helvetica" panose="020B0604020202020204" pitchFamily="34" charset="0"/>
                <a:cs typeface="Helvetica" panose="020B0604020202020204" pitchFamily="34" charset="0"/>
              </a:rPr>
              <a:t>SAP R/3 security, authorizations, access control, and related process, policies, segregation of duties, design, review, audit, and implementation for very small to large multi-location, multi-language, multi-region SAP R/3 landscapes – both from a project perspective and from enhancement-support perspective. In the process, we have seen these implementations grow in size and complexity and transition from the initial version to the latest releases.  In the process, we manage and mitigate the access “</a:t>
            </a:r>
            <a:r>
              <a:rPr lang="en-US" sz="1600" b="1" dirty="0">
                <a:latin typeface="Helvetica" panose="020B0604020202020204" pitchFamily="34" charset="0"/>
                <a:cs typeface="Helvetica" panose="020B0604020202020204" pitchFamily="34" charset="0"/>
              </a:rPr>
              <a:t>Risk</a:t>
            </a:r>
            <a:r>
              <a:rPr lang="en-US" sz="1600" dirty="0">
                <a:latin typeface="Helvetica" panose="020B0604020202020204" pitchFamily="34" charset="0"/>
                <a:cs typeface="Helvetica" panose="020B0604020202020204" pitchFamily="34" charset="0"/>
              </a:rPr>
              <a:t>”</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Security &amp; access policies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User  access and provisioning process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User de-provisioning process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Role creation process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Role enhancement process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Role design documents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Policy and processes for managing background jobs for security</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 Periodic security audit review policies and processes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Security - Issue resolution process and supporting escalation processes.</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Security - Super-user access policies and process around exception authorizations</a:t>
            </a:r>
          </a:p>
        </p:txBody>
      </p:sp>
      <p:sp>
        <p:nvSpPr>
          <p:cNvPr id="3" name="Rectangle 2">
            <a:extLst>
              <a:ext uri="{FF2B5EF4-FFF2-40B4-BE49-F238E27FC236}">
                <a16:creationId xmlns:a16="http://schemas.microsoft.com/office/drawing/2014/main" id="{89E02B36-34F7-633C-5FB3-999427A42D50}"/>
              </a:ext>
            </a:extLst>
          </p:cNvPr>
          <p:cNvSpPr/>
          <p:nvPr/>
        </p:nvSpPr>
        <p:spPr>
          <a:xfrm>
            <a:off x="554182" y="5920518"/>
            <a:ext cx="11231520" cy="3385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09728" indent="0">
              <a:buNone/>
            </a:pPr>
            <a:r>
              <a:rPr lang="en-US" sz="1600" b="1" dirty="0">
                <a:latin typeface="Helvetica" panose="020B0604020202020204" pitchFamily="34" charset="0"/>
                <a:cs typeface="Helvetica" panose="020B0604020202020204" pitchFamily="34" charset="0"/>
              </a:rPr>
              <a:t>Compliance:</a:t>
            </a:r>
            <a:r>
              <a:rPr lang="en-US" sz="1600" dirty="0">
                <a:latin typeface="Helvetica" panose="020B0604020202020204" pitchFamily="34" charset="0"/>
                <a:cs typeface="Helvetica" panose="020B0604020202020204" pitchFamily="34" charset="0"/>
              </a:rPr>
              <a:t> Regulatory compliance of various industries and agencies.</a:t>
            </a:r>
          </a:p>
        </p:txBody>
      </p:sp>
    </p:spTree>
    <p:extLst>
      <p:ext uri="{BB962C8B-B14F-4D97-AF65-F5344CB8AC3E}">
        <p14:creationId xmlns:p14="http://schemas.microsoft.com/office/powerpoint/2010/main" val="3631018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350">
            <a:extLst>
              <a:ext uri="{FF2B5EF4-FFF2-40B4-BE49-F238E27FC236}">
                <a16:creationId xmlns:a16="http://schemas.microsoft.com/office/drawing/2014/main" id="{346897DB-FC6A-9E4D-8407-68CDBE74ACA4}"/>
              </a:ext>
            </a:extLst>
          </p:cNvPr>
          <p:cNvSpPr txBox="1"/>
          <p:nvPr/>
        </p:nvSpPr>
        <p:spPr>
          <a:xfrm>
            <a:off x="1491213" y="389097"/>
            <a:ext cx="9209572" cy="584775"/>
          </a:xfrm>
          <a:prstGeom prst="rect">
            <a:avLst/>
          </a:prstGeom>
          <a:noFill/>
        </p:spPr>
        <p:txBody>
          <a:bodyPr wrap="none" rtlCol="0">
            <a:spAutoFit/>
          </a:bodyPr>
          <a:lstStyle/>
          <a:p>
            <a:pPr marL="0" lvl="1" algn="ctr" defTabSz="408194">
              <a:spcAft>
                <a:spcPts val="600"/>
              </a:spcAft>
              <a:buClr>
                <a:srgbClr val="FFC000"/>
              </a:buClr>
            </a:pPr>
            <a:r>
              <a:rPr lang="en-US" sz="3200" dirty="0">
                <a:latin typeface="Poppins Medium" panose="00000600000000000000" pitchFamily="2" charset="0"/>
                <a:cs typeface="Poppins Medium" panose="00000600000000000000" pitchFamily="2" charset="0"/>
              </a:rPr>
              <a:t>SAP GRC (Governance, Risk &amp; Compliance) </a:t>
            </a:r>
            <a:endParaRPr lang="en-IN" sz="3200" b="1" dirty="0">
              <a:latin typeface="Poppins Medium" panose="00000600000000000000" pitchFamily="2" charset="0"/>
              <a:cs typeface="Poppins Medium" panose="00000600000000000000" pitchFamily="2" charset="0"/>
            </a:endParaRPr>
          </a:p>
        </p:txBody>
      </p:sp>
      <p:grpSp>
        <p:nvGrpSpPr>
          <p:cNvPr id="2" name="Group 1">
            <a:extLst>
              <a:ext uri="{FF2B5EF4-FFF2-40B4-BE49-F238E27FC236}">
                <a16:creationId xmlns:a16="http://schemas.microsoft.com/office/drawing/2014/main" id="{86C27782-B125-ABCD-052F-123A1BC34C43}"/>
              </a:ext>
            </a:extLst>
          </p:cNvPr>
          <p:cNvGrpSpPr/>
          <p:nvPr/>
        </p:nvGrpSpPr>
        <p:grpSpPr>
          <a:xfrm>
            <a:off x="5730020" y="1155606"/>
            <a:ext cx="727306" cy="94339"/>
            <a:chOff x="10390909" y="2667045"/>
            <a:chExt cx="1922607" cy="249382"/>
          </a:xfrm>
        </p:grpSpPr>
        <p:sp>
          <p:nvSpPr>
            <p:cNvPr id="4" name="Oval 3">
              <a:extLst>
                <a:ext uri="{FF2B5EF4-FFF2-40B4-BE49-F238E27FC236}">
                  <a16:creationId xmlns:a16="http://schemas.microsoft.com/office/drawing/2014/main" id="{1325F675-00D6-0061-BA17-51A72E8DA668}"/>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Oval 5">
              <a:extLst>
                <a:ext uri="{FF2B5EF4-FFF2-40B4-BE49-F238E27FC236}">
                  <a16:creationId xmlns:a16="http://schemas.microsoft.com/office/drawing/2014/main" id="{D058464F-0F39-7153-6E38-9583F5F085F8}"/>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Oval 6">
              <a:extLst>
                <a:ext uri="{FF2B5EF4-FFF2-40B4-BE49-F238E27FC236}">
                  <a16:creationId xmlns:a16="http://schemas.microsoft.com/office/drawing/2014/main" id="{847E0D03-71C8-9D7C-34E4-14A59BF9068F}"/>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Oval 7">
              <a:extLst>
                <a:ext uri="{FF2B5EF4-FFF2-40B4-BE49-F238E27FC236}">
                  <a16:creationId xmlns:a16="http://schemas.microsoft.com/office/drawing/2014/main" id="{C7965A4A-7E4A-E4B7-9336-CECAE2C4F61F}"/>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aphicFrame>
        <p:nvGraphicFramePr>
          <p:cNvPr id="5" name="Content Placeholder 4">
            <a:extLst>
              <a:ext uri="{FF2B5EF4-FFF2-40B4-BE49-F238E27FC236}">
                <a16:creationId xmlns:a16="http://schemas.microsoft.com/office/drawing/2014/main" id="{7027F461-A4E2-C6A4-557C-400F6FC8B1BF}"/>
              </a:ext>
            </a:extLst>
          </p:cNvPr>
          <p:cNvGraphicFramePr>
            <a:graphicFrameLocks/>
          </p:cNvGraphicFramePr>
          <p:nvPr/>
        </p:nvGraphicFramePr>
        <p:xfrm>
          <a:off x="1178637" y="1592298"/>
          <a:ext cx="10134600" cy="4449763"/>
        </p:xfrm>
        <a:graphic>
          <a:graphicData uri="http://schemas.openxmlformats.org/drawingml/2006/table">
            <a:tbl>
              <a:tblPr firstRow="1" bandRow="1">
                <a:tableStyleId>{5C22544A-7EE6-4342-B048-85BDC9FD1C3A}</a:tableStyleId>
              </a:tblPr>
              <a:tblGrid>
                <a:gridCol w="3352266">
                  <a:extLst>
                    <a:ext uri="{9D8B030D-6E8A-4147-A177-3AD203B41FA5}">
                      <a16:colId xmlns:a16="http://schemas.microsoft.com/office/drawing/2014/main" val="20000"/>
                    </a:ext>
                  </a:extLst>
                </a:gridCol>
                <a:gridCol w="2804845">
                  <a:extLst>
                    <a:ext uri="{9D8B030D-6E8A-4147-A177-3AD203B41FA5}">
                      <a16:colId xmlns:a16="http://schemas.microsoft.com/office/drawing/2014/main" val="20001"/>
                    </a:ext>
                  </a:extLst>
                </a:gridCol>
                <a:gridCol w="3977489">
                  <a:extLst>
                    <a:ext uri="{9D8B030D-6E8A-4147-A177-3AD203B41FA5}">
                      <a16:colId xmlns:a16="http://schemas.microsoft.com/office/drawing/2014/main" val="20002"/>
                    </a:ext>
                  </a:extLst>
                </a:gridCol>
              </a:tblGrid>
              <a:tr h="766535">
                <a:tc>
                  <a:txBody>
                    <a:bodyPr/>
                    <a:lstStyle/>
                    <a:p>
                      <a:pPr marL="0" indent="0" algn="ctr">
                        <a:buFont typeface="Arial" panose="020B0604020202020204" pitchFamily="34" charset="0"/>
                        <a:buNone/>
                      </a:pPr>
                      <a:endParaRPr kumimoji="0" lang="en-US" sz="1400" b="1" kern="1200" baseline="0" dirty="0">
                        <a:solidFill>
                          <a:schemeClr val="lt1"/>
                        </a:solidFill>
                        <a:latin typeface="+mn-lt"/>
                        <a:ea typeface="+mn-ea"/>
                        <a:cs typeface="+mn-cs"/>
                      </a:endParaRPr>
                    </a:p>
                    <a:p>
                      <a:pPr marL="0" indent="0" algn="ctr">
                        <a:buFont typeface="Arial" panose="020B0604020202020204" pitchFamily="34" charset="0"/>
                        <a:buNone/>
                      </a:pPr>
                      <a:r>
                        <a:rPr kumimoji="0" lang="en-US" sz="1400" b="1" kern="1200" baseline="0" dirty="0">
                          <a:solidFill>
                            <a:schemeClr val="lt1"/>
                          </a:solidFill>
                          <a:latin typeface="+mn-lt"/>
                          <a:ea typeface="+mn-ea"/>
                          <a:cs typeface="+mn-cs"/>
                        </a:rPr>
                        <a:t>Risk Management </a:t>
                      </a:r>
                      <a:endParaRPr lang="en-US" sz="1400" dirty="0"/>
                    </a:p>
                  </a:txBody>
                  <a:tcPr/>
                </a:tc>
                <a:tc>
                  <a:txBody>
                    <a:bodyPr/>
                    <a:lstStyle/>
                    <a:p>
                      <a:pPr marL="0" indent="0" algn="ctr">
                        <a:buFont typeface="Arial" panose="020B0604020202020204" pitchFamily="34" charset="0"/>
                        <a:buNone/>
                      </a:pPr>
                      <a:endParaRPr kumimoji="0" lang="en-US" sz="1400" b="1" kern="1200" baseline="0" dirty="0">
                        <a:solidFill>
                          <a:schemeClr val="lt1"/>
                        </a:solidFill>
                        <a:latin typeface="+mn-lt"/>
                        <a:ea typeface="+mn-ea"/>
                        <a:cs typeface="+mn-cs"/>
                      </a:endParaRPr>
                    </a:p>
                    <a:p>
                      <a:pPr marL="0" indent="0" algn="ctr">
                        <a:buFont typeface="Arial" panose="020B0604020202020204" pitchFamily="34" charset="0"/>
                        <a:buNone/>
                      </a:pPr>
                      <a:r>
                        <a:rPr kumimoji="0" lang="en-US" sz="1400" b="1" kern="1200" baseline="0" dirty="0">
                          <a:solidFill>
                            <a:schemeClr val="lt1"/>
                          </a:solidFill>
                          <a:latin typeface="+mn-lt"/>
                          <a:ea typeface="+mn-ea"/>
                          <a:cs typeface="+mn-cs"/>
                        </a:rPr>
                        <a:t>Access Control </a:t>
                      </a:r>
                      <a:endParaRPr lang="en-US" sz="1400" dirty="0"/>
                    </a:p>
                  </a:txBody>
                  <a:tcPr/>
                </a:tc>
                <a:tc>
                  <a:txBody>
                    <a:bodyPr/>
                    <a:lstStyle/>
                    <a:p>
                      <a:pPr marL="0" indent="0" algn="ctr">
                        <a:buFont typeface="Arial" panose="020B0604020202020204" pitchFamily="34" charset="0"/>
                        <a:buNone/>
                      </a:pPr>
                      <a:endParaRPr kumimoji="0" lang="en-US" sz="1400" b="1" kern="1200" baseline="0" dirty="0">
                        <a:solidFill>
                          <a:schemeClr val="lt1"/>
                        </a:solidFill>
                        <a:latin typeface="+mn-lt"/>
                        <a:ea typeface="+mn-ea"/>
                        <a:cs typeface="+mn-cs"/>
                      </a:endParaRPr>
                    </a:p>
                    <a:p>
                      <a:pPr marL="0" indent="0" algn="ctr">
                        <a:buFont typeface="Arial" panose="020B0604020202020204" pitchFamily="34" charset="0"/>
                        <a:buNone/>
                      </a:pPr>
                      <a:r>
                        <a:rPr kumimoji="0" lang="en-US" sz="1400" b="1" kern="1200" baseline="0" dirty="0">
                          <a:solidFill>
                            <a:schemeClr val="lt1"/>
                          </a:solidFill>
                          <a:latin typeface="+mn-lt"/>
                          <a:ea typeface="+mn-ea"/>
                          <a:cs typeface="+mn-cs"/>
                        </a:rPr>
                        <a:t>Process Control </a:t>
                      </a:r>
                      <a:endParaRPr lang="en-US" sz="1400" dirty="0"/>
                    </a:p>
                  </a:txBody>
                  <a:tcPr/>
                </a:tc>
                <a:extLst>
                  <a:ext uri="{0D108BD9-81ED-4DB2-BD59-A6C34878D82A}">
                    <a16:rowId xmlns:a16="http://schemas.microsoft.com/office/drawing/2014/main" val="10000"/>
                  </a:ext>
                </a:extLst>
              </a:tr>
              <a:tr h="1064476">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Formal integration of risk management with strategy </a:t>
                      </a:r>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Segregation of duties </a:t>
                      </a:r>
                    </a:p>
                    <a:p>
                      <a:pPr marL="0" indent="0" algn="ctr">
                        <a:buFont typeface="Arial" panose="020B0604020202020204" pitchFamily="34" charset="0"/>
                        <a:buNone/>
                      </a:pPr>
                      <a:endParaRPr lang="en-US" sz="1400" dirty="0"/>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Automated control and transaction monitoring to evaluate compliance effectiveness and business process acceptability </a:t>
                      </a:r>
                    </a:p>
                  </a:txBody>
                  <a:tcPr/>
                </a:tc>
                <a:extLst>
                  <a:ext uri="{0D108BD9-81ED-4DB2-BD59-A6C34878D82A}">
                    <a16:rowId xmlns:a16="http://schemas.microsoft.com/office/drawing/2014/main" val="10001"/>
                  </a:ext>
                </a:extLst>
              </a:tr>
              <a:tr h="779068">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Repeatable framework to analyze and mitigate risk </a:t>
                      </a:r>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Fraud, safeguard of assets </a:t>
                      </a:r>
                    </a:p>
                    <a:p>
                      <a:pPr marL="0" indent="0" algn="ctr">
                        <a:buFont typeface="Arial" panose="020B0604020202020204" pitchFamily="34" charset="0"/>
                        <a:buNone/>
                      </a:pPr>
                      <a:endParaRPr lang="en-US" sz="1400" dirty="0"/>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Configuration </a:t>
                      </a:r>
                    </a:p>
                    <a:p>
                      <a:pPr marL="0" indent="0" algn="ctr">
                        <a:buFont typeface="Arial" panose="020B0604020202020204" pitchFamily="34" charset="0"/>
                        <a:buNone/>
                      </a:pPr>
                      <a:endParaRPr lang="en-US" sz="1400" dirty="0"/>
                    </a:p>
                  </a:txBody>
                  <a:tcPr/>
                </a:tc>
                <a:extLst>
                  <a:ext uri="{0D108BD9-81ED-4DB2-BD59-A6C34878D82A}">
                    <a16:rowId xmlns:a16="http://schemas.microsoft.com/office/drawing/2014/main" val="10002"/>
                  </a:ext>
                </a:extLst>
              </a:tr>
              <a:tr h="1073149">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Continuously monitor key risk indicators across strategic objectives </a:t>
                      </a:r>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User access management </a:t>
                      </a:r>
                    </a:p>
                    <a:p>
                      <a:pPr marL="0" indent="0" algn="ctr">
                        <a:buFont typeface="Arial" panose="020B0604020202020204" pitchFamily="34" charset="0"/>
                        <a:buNone/>
                      </a:pPr>
                      <a:endParaRPr lang="en-US" sz="1400" dirty="0"/>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Master Data </a:t>
                      </a:r>
                    </a:p>
                    <a:p>
                      <a:pPr marL="0" indent="0" algn="ctr">
                        <a:buFont typeface="Arial" panose="020B0604020202020204" pitchFamily="34" charset="0"/>
                        <a:buNone/>
                      </a:pPr>
                      <a:endParaRPr lang="en-US" sz="1400" dirty="0"/>
                    </a:p>
                  </a:txBody>
                  <a:tcPr/>
                </a:tc>
                <a:extLst>
                  <a:ext uri="{0D108BD9-81ED-4DB2-BD59-A6C34878D82A}">
                    <a16:rowId xmlns:a16="http://schemas.microsoft.com/office/drawing/2014/main" val="10003"/>
                  </a:ext>
                </a:extLst>
              </a:tr>
              <a:tr h="766535">
                <a:tc>
                  <a:txBody>
                    <a:bodyPr/>
                    <a:lstStyle/>
                    <a:p>
                      <a:pPr marL="0" indent="0" algn="ctr">
                        <a:buFont typeface="Arial" panose="020B0604020202020204" pitchFamily="34" charset="0"/>
                        <a:buNone/>
                      </a:pPr>
                      <a:endParaRPr lang="en-US" sz="1400" dirty="0"/>
                    </a:p>
                  </a:txBody>
                  <a:tcPr/>
                </a:tc>
                <a:tc>
                  <a:txBody>
                    <a:bodyPr/>
                    <a:lstStyle/>
                    <a:p>
                      <a:pPr marL="0" indent="0" algn="ctr">
                        <a:buFont typeface="Arial" panose="020B0604020202020204" pitchFamily="34" charset="0"/>
                        <a:buNone/>
                      </a:pPr>
                      <a:r>
                        <a:rPr kumimoji="0" lang="en-US" sz="1400" kern="1200" baseline="0" dirty="0">
                          <a:solidFill>
                            <a:schemeClr val="dk1"/>
                          </a:solidFill>
                          <a:latin typeface="+mn-lt"/>
                          <a:ea typeface="+mn-ea"/>
                          <a:cs typeface="+mn-cs"/>
                        </a:rPr>
                        <a:t>Compliance </a:t>
                      </a:r>
                    </a:p>
                  </a:txBody>
                  <a:tcPr/>
                </a:tc>
                <a:tc>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kern="1200" baseline="0" dirty="0">
                          <a:solidFill>
                            <a:schemeClr val="dk1"/>
                          </a:solidFill>
                          <a:latin typeface="+mn-lt"/>
                          <a:ea typeface="+mn-ea"/>
                          <a:cs typeface="+mn-cs"/>
                        </a:rPr>
                        <a:t>Business transactions </a:t>
                      </a:r>
                    </a:p>
                    <a:p>
                      <a:pPr marL="0" indent="0" algn="ctr">
                        <a:buFont typeface="Arial" panose="020B0604020202020204" pitchFamily="34" charset="0"/>
                        <a:buNone/>
                      </a:pPr>
                      <a:endParaRPr lang="en-US" sz="1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40247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350">
            <a:extLst>
              <a:ext uri="{FF2B5EF4-FFF2-40B4-BE49-F238E27FC236}">
                <a16:creationId xmlns:a16="http://schemas.microsoft.com/office/drawing/2014/main" id="{346897DB-FC6A-9E4D-8407-68CDBE74ACA4}"/>
              </a:ext>
            </a:extLst>
          </p:cNvPr>
          <p:cNvSpPr txBox="1"/>
          <p:nvPr/>
        </p:nvSpPr>
        <p:spPr>
          <a:xfrm>
            <a:off x="4129756" y="389097"/>
            <a:ext cx="3932488" cy="584775"/>
          </a:xfrm>
          <a:prstGeom prst="rect">
            <a:avLst/>
          </a:prstGeom>
          <a:noFill/>
        </p:spPr>
        <p:txBody>
          <a:bodyPr wrap="none" rtlCol="0">
            <a:spAutoFit/>
          </a:bodyPr>
          <a:lstStyle/>
          <a:p>
            <a:pPr marL="0" lvl="1" algn="ctr" defTabSz="408194">
              <a:spcAft>
                <a:spcPts val="600"/>
              </a:spcAft>
              <a:buClr>
                <a:srgbClr val="FFC000"/>
              </a:buClr>
            </a:pPr>
            <a:r>
              <a:rPr lang="en-US" sz="3200" dirty="0">
                <a:latin typeface="Poppins Medium" panose="00000600000000000000" pitchFamily="2" charset="0"/>
                <a:cs typeface="Poppins Medium" panose="00000600000000000000" pitchFamily="2" charset="0"/>
              </a:rPr>
              <a:t>Our </a:t>
            </a:r>
            <a:r>
              <a:rPr lang="en-US" sz="3200" dirty="0">
                <a:solidFill>
                  <a:schemeClr val="tx1"/>
                </a:solidFill>
                <a:effectLst/>
                <a:latin typeface="Poppins Medium" panose="00000600000000000000" pitchFamily="2" charset="0"/>
                <a:cs typeface="Poppins Medium" panose="00000600000000000000" pitchFamily="2" charset="0"/>
              </a:rPr>
              <a:t>GRC Solutions</a:t>
            </a:r>
            <a:endParaRPr lang="en-IN" sz="3200" b="1" dirty="0">
              <a:latin typeface="Poppins Medium" panose="00000600000000000000" pitchFamily="2" charset="0"/>
              <a:cs typeface="Poppins Medium" panose="00000600000000000000" pitchFamily="2" charset="0"/>
            </a:endParaRPr>
          </a:p>
        </p:txBody>
      </p:sp>
      <p:grpSp>
        <p:nvGrpSpPr>
          <p:cNvPr id="2" name="Group 1">
            <a:extLst>
              <a:ext uri="{FF2B5EF4-FFF2-40B4-BE49-F238E27FC236}">
                <a16:creationId xmlns:a16="http://schemas.microsoft.com/office/drawing/2014/main" id="{86C27782-B125-ABCD-052F-123A1BC34C43}"/>
              </a:ext>
            </a:extLst>
          </p:cNvPr>
          <p:cNvGrpSpPr/>
          <p:nvPr/>
        </p:nvGrpSpPr>
        <p:grpSpPr>
          <a:xfrm>
            <a:off x="5730020" y="1155606"/>
            <a:ext cx="727306" cy="94339"/>
            <a:chOff x="10390909" y="2667045"/>
            <a:chExt cx="1922607" cy="249382"/>
          </a:xfrm>
        </p:grpSpPr>
        <p:sp>
          <p:nvSpPr>
            <p:cNvPr id="4" name="Oval 3">
              <a:extLst>
                <a:ext uri="{FF2B5EF4-FFF2-40B4-BE49-F238E27FC236}">
                  <a16:creationId xmlns:a16="http://schemas.microsoft.com/office/drawing/2014/main" id="{1325F675-00D6-0061-BA17-51A72E8DA668}"/>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Oval 5">
              <a:extLst>
                <a:ext uri="{FF2B5EF4-FFF2-40B4-BE49-F238E27FC236}">
                  <a16:creationId xmlns:a16="http://schemas.microsoft.com/office/drawing/2014/main" id="{D058464F-0F39-7153-6E38-9583F5F085F8}"/>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Oval 6">
              <a:extLst>
                <a:ext uri="{FF2B5EF4-FFF2-40B4-BE49-F238E27FC236}">
                  <a16:creationId xmlns:a16="http://schemas.microsoft.com/office/drawing/2014/main" id="{847E0D03-71C8-9D7C-34E4-14A59BF9068F}"/>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Oval 7">
              <a:extLst>
                <a:ext uri="{FF2B5EF4-FFF2-40B4-BE49-F238E27FC236}">
                  <a16:creationId xmlns:a16="http://schemas.microsoft.com/office/drawing/2014/main" id="{C7965A4A-7E4A-E4B7-9336-CECAE2C4F61F}"/>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16" name="TextBox 15">
            <a:extLst>
              <a:ext uri="{FF2B5EF4-FFF2-40B4-BE49-F238E27FC236}">
                <a16:creationId xmlns:a16="http://schemas.microsoft.com/office/drawing/2014/main" id="{0AC3E76A-F405-06A6-3848-2A607D047607}"/>
              </a:ext>
            </a:extLst>
          </p:cNvPr>
          <p:cNvSpPr txBox="1"/>
          <p:nvPr/>
        </p:nvSpPr>
        <p:spPr>
          <a:xfrm>
            <a:off x="783191" y="1431679"/>
            <a:ext cx="10826607" cy="50167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buFont typeface="Wingdings" panose="05000000000000000000" pitchFamily="2" charset="2"/>
              <a:buChar char="§"/>
            </a:pPr>
            <a:r>
              <a:rPr lang="en-US" sz="1600" b="1" dirty="0">
                <a:latin typeface="Helvetica" panose="020B0604020202020204" pitchFamily="34" charset="0"/>
                <a:cs typeface="Helvetica" panose="020B0604020202020204" pitchFamily="34" charset="0"/>
              </a:rPr>
              <a:t>SAP Security &amp; Authorizations: </a:t>
            </a:r>
            <a:r>
              <a:rPr lang="en-US" sz="1600" dirty="0">
                <a:latin typeface="Helvetica" panose="020B0604020202020204" pitchFamily="34" charset="0"/>
                <a:cs typeface="Helvetica" panose="020B0604020202020204" pitchFamily="34" charset="0"/>
              </a:rPr>
              <a:t>SAP R/3, BI security, authorizations, access control, and related process, policies, segregation of duties, design, review, audit, and implementation for very small to large multi-location, multi-language, multi-region SAP R/3 landscapes – both from project perspective and from enhancement-support perspective. </a:t>
            </a:r>
          </a:p>
          <a:p>
            <a:pPr marL="285750" indent="-285750">
              <a:buFont typeface="Wingdings" panose="05000000000000000000" pitchFamily="2" charset="2"/>
              <a:buChar char="§"/>
            </a:pPr>
            <a:endParaRPr lang="en-US" sz="1600"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dirty="0">
                <a:latin typeface="Helvetica" panose="020B0604020202020204" pitchFamily="34" charset="0"/>
                <a:cs typeface="Helvetica" panose="020B0604020202020204" pitchFamily="34" charset="0"/>
              </a:rPr>
              <a:t>BI Security by creating Analysis Authorizations using </a:t>
            </a:r>
            <a:r>
              <a:rPr lang="en-US" sz="1600" b="1" dirty="0">
                <a:latin typeface="Helvetica" panose="020B0604020202020204" pitchFamily="34" charset="0"/>
                <a:cs typeface="Helvetica" panose="020B0604020202020204" pitchFamily="34" charset="0"/>
              </a:rPr>
              <a:t>RSECADMIN</a:t>
            </a:r>
            <a:r>
              <a:rPr lang="en-US" sz="1600" dirty="0">
                <a:latin typeface="Helvetica" panose="020B0604020202020204" pitchFamily="34" charset="0"/>
                <a:cs typeface="Helvetica" panose="020B0604020202020204" pitchFamily="34" charset="0"/>
              </a:rPr>
              <a:t>, and running the reports for different users through </a:t>
            </a:r>
            <a:r>
              <a:rPr lang="en-US" sz="1600" b="1" dirty="0">
                <a:latin typeface="Helvetica" panose="020B0604020202020204" pitchFamily="34" charset="0"/>
                <a:cs typeface="Helvetica" panose="020B0604020202020204" pitchFamily="34" charset="0"/>
              </a:rPr>
              <a:t>RSECADMIN</a:t>
            </a:r>
            <a:r>
              <a:rPr lang="en-US" sz="1600" dirty="0">
                <a:latin typeface="Helvetica" panose="020B0604020202020204" pitchFamily="34" charset="0"/>
                <a:cs typeface="Helvetica" panose="020B0604020202020204" pitchFamily="34" charset="0"/>
              </a:rPr>
              <a:t>.</a:t>
            </a:r>
          </a:p>
          <a:p>
            <a:pPr marL="285750" indent="-285750">
              <a:buFont typeface="Wingdings" panose="05000000000000000000" pitchFamily="2" charset="2"/>
              <a:buChar char="§"/>
            </a:pPr>
            <a:endParaRPr lang="en-US" sz="1600"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b="1" dirty="0">
                <a:latin typeface="Helvetica" panose="020B0604020202020204" pitchFamily="34" charset="0"/>
                <a:cs typeface="Helvetica" panose="020B0604020202020204" pitchFamily="34" charset="0"/>
              </a:rPr>
              <a:t>Expertise</a:t>
            </a:r>
            <a:r>
              <a:rPr lang="en-US" sz="1600" dirty="0">
                <a:latin typeface="Helvetica" panose="020B0604020202020204" pitchFamily="34" charset="0"/>
                <a:cs typeface="Helvetica" panose="020B0604020202020204" pitchFamily="34" charset="0"/>
              </a:rPr>
              <a:t> in implementing GRC AC 10.1 components such as ARM, ARA, and Emergency Access.</a:t>
            </a:r>
          </a:p>
          <a:p>
            <a:pPr marL="285750" indent="-285750">
              <a:buFont typeface="Wingdings" panose="05000000000000000000" pitchFamily="2" charset="2"/>
              <a:buChar char="§"/>
            </a:pPr>
            <a:endParaRPr lang="en-US" sz="1600"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b="1" dirty="0">
                <a:latin typeface="Helvetica" panose="020B0604020202020204" pitchFamily="34" charset="0"/>
                <a:cs typeface="Helvetica" panose="020B0604020202020204" pitchFamily="34" charset="0"/>
              </a:rPr>
              <a:t>Expertise</a:t>
            </a:r>
            <a:r>
              <a:rPr lang="en-US" sz="1600" dirty="0">
                <a:latin typeface="Helvetica" panose="020B0604020202020204" pitchFamily="34" charset="0"/>
                <a:cs typeface="Helvetica" panose="020B0604020202020204" pitchFamily="34" charset="0"/>
              </a:rPr>
              <a:t> in  SAP security in terms of creating (users, profiles &amp; roles), and assigning (profiles, roles, authorization) to users using Profile Generator [PFCG].</a:t>
            </a:r>
          </a:p>
          <a:p>
            <a:pPr marL="285750" indent="-285750">
              <a:buFont typeface="Wingdings" panose="05000000000000000000" pitchFamily="2" charset="2"/>
              <a:buChar char="§"/>
            </a:pPr>
            <a:endParaRPr lang="en-US" sz="1600"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dirty="0">
                <a:latin typeface="Helvetica" panose="020B0604020202020204" pitchFamily="34" charset="0"/>
                <a:cs typeface="Helvetica" panose="020B0604020202020204" pitchFamily="34" charset="0"/>
              </a:rPr>
              <a:t>We have good knowledge and work experience in </a:t>
            </a:r>
            <a:r>
              <a:rPr lang="en-US" sz="1600" b="1" dirty="0">
                <a:latin typeface="Helvetica" panose="020B0604020202020204" pitchFamily="34" charset="0"/>
                <a:cs typeface="Helvetica" panose="020B0604020202020204" pitchFamily="34" charset="0"/>
              </a:rPr>
              <a:t>Virtual authorization</a:t>
            </a:r>
          </a:p>
          <a:p>
            <a:pPr marL="285750" indent="-285750">
              <a:buFont typeface="Wingdings" panose="05000000000000000000" pitchFamily="2" charset="2"/>
              <a:buChar char="§"/>
            </a:pPr>
            <a:endParaRPr lang="en-US" sz="1600" b="1"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dirty="0">
                <a:latin typeface="Helvetica" panose="020B0604020202020204" pitchFamily="34" charset="0"/>
                <a:cs typeface="Helvetica" panose="020B0604020202020204" pitchFamily="34" charset="0"/>
              </a:rPr>
              <a:t> The team has Worked extensively on </a:t>
            </a:r>
            <a:r>
              <a:rPr lang="en-US" sz="1600" b="1" dirty="0">
                <a:latin typeface="Helvetica" panose="020B0604020202020204" pitchFamily="34" charset="0"/>
                <a:cs typeface="Helvetica" panose="020B0604020202020204" pitchFamily="34" charset="0"/>
              </a:rPr>
              <a:t>Analysis Authorization</a:t>
            </a:r>
          </a:p>
          <a:p>
            <a:pPr marL="285750" indent="-285750">
              <a:buFont typeface="Wingdings" panose="05000000000000000000" pitchFamily="2" charset="2"/>
              <a:buChar char="§"/>
            </a:pPr>
            <a:endParaRPr lang="en-US" sz="1600" b="1"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dirty="0">
                <a:latin typeface="Helvetica" panose="020B0604020202020204" pitchFamily="34" charset="0"/>
                <a:cs typeface="Helvetica" panose="020B0604020202020204" pitchFamily="34" charset="0"/>
              </a:rPr>
              <a:t>Maintaining </a:t>
            </a:r>
            <a:r>
              <a:rPr lang="en-US" sz="1600" b="1" dirty="0">
                <a:latin typeface="Helvetica" panose="020B0604020202020204" pitchFamily="34" charset="0"/>
                <a:cs typeface="Helvetica" panose="020B0604020202020204" pitchFamily="34" charset="0"/>
              </a:rPr>
              <a:t>SLAs</a:t>
            </a:r>
            <a:r>
              <a:rPr lang="en-US" sz="1600" dirty="0">
                <a:latin typeface="Helvetica" panose="020B0604020202020204" pitchFamily="34" charset="0"/>
                <a:cs typeface="Helvetica" panose="020B0604020202020204" pitchFamily="34" charset="0"/>
              </a:rPr>
              <a:t> for all the issues</a:t>
            </a:r>
          </a:p>
          <a:p>
            <a:pPr marL="285750" indent="-285750">
              <a:buFont typeface="Wingdings" panose="05000000000000000000" pitchFamily="2" charset="2"/>
              <a:buChar char="§"/>
            </a:pPr>
            <a:endParaRPr lang="en-US" sz="1600"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r>
              <a:rPr lang="en-US" sz="1600" dirty="0">
                <a:latin typeface="Helvetica" panose="020B0604020202020204" pitchFamily="34" charset="0"/>
                <a:cs typeface="Helvetica" panose="020B0604020202020204" pitchFamily="34" charset="0"/>
              </a:rPr>
              <a:t>User management defining multilevel security privileges for the users.</a:t>
            </a:r>
          </a:p>
        </p:txBody>
      </p:sp>
      <p:sp>
        <p:nvSpPr>
          <p:cNvPr id="3" name="Freeform 8">
            <a:extLst>
              <a:ext uri="{FF2B5EF4-FFF2-40B4-BE49-F238E27FC236}">
                <a16:creationId xmlns:a16="http://schemas.microsoft.com/office/drawing/2014/main" id="{FAF8C17A-33BA-61CB-A5F2-F24EF29DF145}"/>
              </a:ext>
            </a:extLst>
          </p:cNvPr>
          <p:cNvSpPr/>
          <p:nvPr/>
        </p:nvSpPr>
        <p:spPr>
          <a:xfrm rot="-10800000">
            <a:off x="9428906" y="-2546180"/>
            <a:ext cx="4301899" cy="3730919"/>
          </a:xfrm>
          <a:custGeom>
            <a:avLst/>
            <a:gdLst/>
            <a:ahLst/>
            <a:cxnLst/>
            <a:rect l="l" t="t" r="r" b="b"/>
            <a:pathLst>
              <a:path w="6452848" h="5596379">
                <a:moveTo>
                  <a:pt x="0" y="0"/>
                </a:moveTo>
                <a:lnTo>
                  <a:pt x="6452849" y="0"/>
                </a:lnTo>
                <a:lnTo>
                  <a:pt x="6452849" y="5596380"/>
                </a:lnTo>
                <a:lnTo>
                  <a:pt x="0" y="5596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21550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8">
            <a:extLst>
              <a:ext uri="{FF2B5EF4-FFF2-40B4-BE49-F238E27FC236}">
                <a16:creationId xmlns:a16="http://schemas.microsoft.com/office/drawing/2014/main" id="{EA77E524-F43F-2209-2740-664A4B996207}"/>
              </a:ext>
            </a:extLst>
          </p:cNvPr>
          <p:cNvSpPr/>
          <p:nvPr/>
        </p:nvSpPr>
        <p:spPr>
          <a:xfrm rot="-10800000">
            <a:off x="9428906" y="-2546180"/>
            <a:ext cx="4301899" cy="3730919"/>
          </a:xfrm>
          <a:custGeom>
            <a:avLst/>
            <a:gdLst/>
            <a:ahLst/>
            <a:cxnLst/>
            <a:rect l="l" t="t" r="r" b="b"/>
            <a:pathLst>
              <a:path w="6452848" h="5596379">
                <a:moveTo>
                  <a:pt x="0" y="0"/>
                </a:moveTo>
                <a:lnTo>
                  <a:pt x="6452849" y="0"/>
                </a:lnTo>
                <a:lnTo>
                  <a:pt x="6452849" y="5596380"/>
                </a:lnTo>
                <a:lnTo>
                  <a:pt x="0" y="5596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CuadroTexto 350">
            <a:extLst>
              <a:ext uri="{FF2B5EF4-FFF2-40B4-BE49-F238E27FC236}">
                <a16:creationId xmlns:a16="http://schemas.microsoft.com/office/drawing/2014/main" id="{346897DB-FC6A-9E4D-8407-68CDBE74ACA4}"/>
              </a:ext>
            </a:extLst>
          </p:cNvPr>
          <p:cNvSpPr txBox="1"/>
          <p:nvPr/>
        </p:nvSpPr>
        <p:spPr>
          <a:xfrm>
            <a:off x="790034" y="335554"/>
            <a:ext cx="10723128" cy="584775"/>
          </a:xfrm>
          <a:prstGeom prst="rect">
            <a:avLst/>
          </a:prstGeom>
          <a:noFill/>
        </p:spPr>
        <p:txBody>
          <a:bodyPr wrap="none" rtlCol="0">
            <a:spAutoFit/>
          </a:bodyPr>
          <a:lstStyle/>
          <a:p>
            <a:pPr marL="109728" indent="0" algn="ctr">
              <a:buNone/>
            </a:pPr>
            <a:r>
              <a:rPr lang="en-US" sz="3200" dirty="0">
                <a:latin typeface="Poppins Medium" panose="00000600000000000000" pitchFamily="2" charset="0"/>
                <a:cs typeface="Poppins Medium" panose="00000600000000000000" pitchFamily="2" charset="0"/>
              </a:rPr>
              <a:t>Key integration benefits of the SAP GRC solutions</a:t>
            </a:r>
          </a:p>
        </p:txBody>
      </p:sp>
      <p:grpSp>
        <p:nvGrpSpPr>
          <p:cNvPr id="2" name="Group 1">
            <a:extLst>
              <a:ext uri="{FF2B5EF4-FFF2-40B4-BE49-F238E27FC236}">
                <a16:creationId xmlns:a16="http://schemas.microsoft.com/office/drawing/2014/main" id="{86C27782-B125-ABCD-052F-123A1BC34C43}"/>
              </a:ext>
            </a:extLst>
          </p:cNvPr>
          <p:cNvGrpSpPr/>
          <p:nvPr/>
        </p:nvGrpSpPr>
        <p:grpSpPr>
          <a:xfrm>
            <a:off x="5730020" y="1155606"/>
            <a:ext cx="727306" cy="94339"/>
            <a:chOff x="10390909" y="2667045"/>
            <a:chExt cx="1922607" cy="249382"/>
          </a:xfrm>
        </p:grpSpPr>
        <p:sp>
          <p:nvSpPr>
            <p:cNvPr id="4" name="Oval 3">
              <a:extLst>
                <a:ext uri="{FF2B5EF4-FFF2-40B4-BE49-F238E27FC236}">
                  <a16:creationId xmlns:a16="http://schemas.microsoft.com/office/drawing/2014/main" id="{1325F675-00D6-0061-BA17-51A72E8DA668}"/>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Oval 5">
              <a:extLst>
                <a:ext uri="{FF2B5EF4-FFF2-40B4-BE49-F238E27FC236}">
                  <a16:creationId xmlns:a16="http://schemas.microsoft.com/office/drawing/2014/main" id="{D058464F-0F39-7153-6E38-9583F5F085F8}"/>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Oval 6">
              <a:extLst>
                <a:ext uri="{FF2B5EF4-FFF2-40B4-BE49-F238E27FC236}">
                  <a16:creationId xmlns:a16="http://schemas.microsoft.com/office/drawing/2014/main" id="{847E0D03-71C8-9D7C-34E4-14A59BF9068F}"/>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Oval 7">
              <a:extLst>
                <a:ext uri="{FF2B5EF4-FFF2-40B4-BE49-F238E27FC236}">
                  <a16:creationId xmlns:a16="http://schemas.microsoft.com/office/drawing/2014/main" id="{C7965A4A-7E4A-E4B7-9336-CECAE2C4F61F}"/>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16" name="TextBox 15">
            <a:extLst>
              <a:ext uri="{FF2B5EF4-FFF2-40B4-BE49-F238E27FC236}">
                <a16:creationId xmlns:a16="http://schemas.microsoft.com/office/drawing/2014/main" id="{0AC3E76A-F405-06A6-3848-2A607D047607}"/>
              </a:ext>
            </a:extLst>
          </p:cNvPr>
          <p:cNvSpPr txBox="1"/>
          <p:nvPr/>
        </p:nvSpPr>
        <p:spPr>
          <a:xfrm>
            <a:off x="783191" y="1431679"/>
            <a:ext cx="10826607" cy="18158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09728"/>
            <a:r>
              <a:rPr lang="en-US" sz="1600" b="1" dirty="0">
                <a:solidFill>
                  <a:srgbClr val="008BD4"/>
                </a:solidFill>
                <a:latin typeface="Helvetica" panose="020B0604020202020204" pitchFamily="34" charset="0"/>
                <a:cs typeface="Helvetica" panose="020B0604020202020204" pitchFamily="34" charset="0"/>
              </a:rPr>
              <a:t>Master data</a:t>
            </a:r>
            <a:endParaRPr lang="en-US" sz="1600" dirty="0">
              <a:solidFill>
                <a:srgbClr val="008BD4"/>
              </a:solidFill>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Organizations can be shared between SAP GRC Process Control, SAP GRC Risk Management and SAP GRC Access Control. Some organization data may be shared, and other data may be specific to a single application; Controls may be shared between SAP GRC Process Control and SAP GRC Access Control. </a:t>
            </a:r>
          </a:p>
          <a:p>
            <a:pPr marL="742950" lvl="1" indent="-285750">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There is application-specific information for SAP GRC Process Control and SAP GRC Access Control applications. The access to this data is controlled by the user’s authorizations.</a:t>
            </a:r>
          </a:p>
        </p:txBody>
      </p:sp>
      <p:sp>
        <p:nvSpPr>
          <p:cNvPr id="3" name="TextBox 2">
            <a:extLst>
              <a:ext uri="{FF2B5EF4-FFF2-40B4-BE49-F238E27FC236}">
                <a16:creationId xmlns:a16="http://schemas.microsoft.com/office/drawing/2014/main" id="{39E2C6FC-565A-B92C-07A5-2F3C55B27DCF}"/>
              </a:ext>
            </a:extLst>
          </p:cNvPr>
          <p:cNvSpPr txBox="1"/>
          <p:nvPr/>
        </p:nvSpPr>
        <p:spPr>
          <a:xfrm>
            <a:off x="783190" y="3610439"/>
            <a:ext cx="10826607" cy="280076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09728"/>
            <a:r>
              <a:rPr lang="en-US" sz="1600" b="1" dirty="0">
                <a:solidFill>
                  <a:srgbClr val="008BD4"/>
                </a:solidFill>
                <a:latin typeface="Helvetica" panose="020B0604020202020204" pitchFamily="34" charset="0"/>
                <a:cs typeface="Helvetica" panose="020B0604020202020204" pitchFamily="34" charset="0"/>
              </a:rPr>
              <a:t>Integration of SAP GRC Process Control with Access Control</a:t>
            </a: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SAP GRC Process Control is integrated with the Access Risk Analysis component in SAP GRC Access Control to monitor Segregation of Duties (</a:t>
            </a:r>
            <a:r>
              <a:rPr lang="en-US" sz="1600" dirty="0" err="1">
                <a:latin typeface="Helvetica" panose="020B0604020202020204" pitchFamily="34" charset="0"/>
                <a:cs typeface="Helvetica" panose="020B0604020202020204" pitchFamily="34" charset="0"/>
              </a:rPr>
              <a:t>SoD</a:t>
            </a:r>
            <a:r>
              <a:rPr lang="en-US" sz="1600" dirty="0">
                <a:latin typeface="Helvetica" panose="020B0604020202020204" pitchFamily="34" charset="0"/>
                <a:cs typeface="Helvetica" panose="020B0604020202020204" pitchFamily="34" charset="0"/>
              </a:rPr>
              <a:t>) violations;</a:t>
            </a:r>
          </a:p>
          <a:p>
            <a:pPr marL="742950" lvl="1" indent="-285750">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Controls in SAP GRC Process Control can be used as mitigation controls in SAP GRC Access Control and vice versa;</a:t>
            </a:r>
          </a:p>
          <a:p>
            <a:pPr marL="742950" lvl="1" indent="-285750">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Processes in SAP GRC Process Control can be used as business processes in SAP GRC Access Control.</a:t>
            </a:r>
          </a:p>
          <a:p>
            <a:pPr marL="742950" lvl="1" indent="-285750">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The shared Risk Catalog is by SAP GRC Process Control and SAP GRC Risk Management. There is application-specific information for SAP GRC Process Control and SAP GRC Access Control applications</a:t>
            </a:r>
          </a:p>
        </p:txBody>
      </p:sp>
    </p:spTree>
    <p:extLst>
      <p:ext uri="{BB962C8B-B14F-4D97-AF65-F5344CB8AC3E}">
        <p14:creationId xmlns:p14="http://schemas.microsoft.com/office/powerpoint/2010/main" val="395878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47635B-B7FF-4C66-95A2-05895274091F}" type="slidenum">
              <a:rPr lang="en-US" smtClean="0">
                <a:latin typeface="Helvetica" panose="020B0604020202020204" pitchFamily="34" charset="0"/>
                <a:cs typeface="Helvetica" panose="020B0604020202020204" pitchFamily="34" charset="0"/>
              </a:rPr>
              <a:pPr/>
              <a:t>8</a:t>
            </a:fld>
            <a:endParaRPr lang="en-US" dirty="0">
              <a:latin typeface="Helvetica" panose="020B0604020202020204" pitchFamily="34" charset="0"/>
              <a:cs typeface="Helvetica" panose="020B0604020202020204" pitchFamily="34" charset="0"/>
            </a:endParaRPr>
          </a:p>
        </p:txBody>
      </p:sp>
      <p:sp>
        <p:nvSpPr>
          <p:cNvPr id="14" name="Rectangle 13">
            <a:extLst>
              <a:ext uri="{FF2B5EF4-FFF2-40B4-BE49-F238E27FC236}">
                <a16:creationId xmlns:a16="http://schemas.microsoft.com/office/drawing/2014/main" id="{19D20D91-F306-AEC0-266C-72A93BA171FC}"/>
              </a:ext>
            </a:extLst>
          </p:cNvPr>
          <p:cNvSpPr/>
          <p:nvPr/>
        </p:nvSpPr>
        <p:spPr>
          <a:xfrm rot="5400000" flipV="1">
            <a:off x="5469778" y="135069"/>
            <a:ext cx="1252449" cy="12192003"/>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
        <p:nvSpPr>
          <p:cNvPr id="2" name="Title 1"/>
          <p:cNvSpPr>
            <a:spLocks noGrp="1"/>
          </p:cNvSpPr>
          <p:nvPr>
            <p:ph type="title" idx="4294967295"/>
          </p:nvPr>
        </p:nvSpPr>
        <p:spPr>
          <a:xfrm>
            <a:off x="1307210" y="223725"/>
            <a:ext cx="9144000" cy="914400"/>
          </a:xfrm>
        </p:spPr>
        <p:txBody>
          <a:bodyPr>
            <a:normAutofit/>
          </a:bodyPr>
          <a:lstStyle/>
          <a:p>
            <a:pPr algn="ctr"/>
            <a:r>
              <a:rPr lang="en-US" sz="2400" b="1" dirty="0">
                <a:latin typeface="Poppins Medium" panose="00000600000000000000" pitchFamily="2" charset="0"/>
                <a:cs typeface="Poppins Medium" panose="00000600000000000000" pitchFamily="2" charset="0"/>
              </a:rPr>
              <a:t>Projects &amp; Case Studies –I  - MLT (Marketing Leadership Team)</a:t>
            </a:r>
            <a:endParaRPr lang="en-IN" sz="2400" b="1" dirty="0">
              <a:latin typeface="Poppins Medium" panose="00000600000000000000" pitchFamily="2" charset="0"/>
              <a:cs typeface="Poppins Medium" panose="00000600000000000000" pitchFamily="2" charset="0"/>
            </a:endParaRPr>
          </a:p>
        </p:txBody>
      </p:sp>
      <p:sp>
        <p:nvSpPr>
          <p:cNvPr id="8" name="Content Placeholder 2"/>
          <p:cNvSpPr txBox="1">
            <a:spLocks/>
          </p:cNvSpPr>
          <p:nvPr/>
        </p:nvSpPr>
        <p:spPr>
          <a:xfrm>
            <a:off x="851391" y="1567489"/>
            <a:ext cx="4355610" cy="3757604"/>
          </a:xfrm>
          <a:prstGeom prst="rect">
            <a:avLst/>
          </a:prstGeom>
        </p:spPr>
        <p:txBody>
          <a:bodyPr/>
          <a:lstStyle/>
          <a:p>
            <a:pPr marL="285750" indent="-285750" algn="just">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In this Project BI team developed a mobile (iPad) compatible BI solution which allowed the MLT (Marketing Leadership Team) to easily access and understand year to date KPI and results. </a:t>
            </a:r>
          </a:p>
          <a:p>
            <a:pPr marL="285750" indent="-285750" algn="just">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This solution is now embedded in the performance management process for the Marketing organization. </a:t>
            </a:r>
          </a:p>
          <a:p>
            <a:pPr marL="285750" indent="-285750" algn="just">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There is a need to automate the data-access process and streamline the information access through the dashboard</a:t>
            </a:r>
          </a:p>
          <a:p>
            <a:pPr marL="285750" indent="-285750" algn="just">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lvl="0" indent="-285750" algn="just">
              <a:buClr>
                <a:srgbClr val="0081E2"/>
              </a:buClr>
              <a:buFont typeface="Wingdings" panose="05000000000000000000" pitchFamily="2" charset="2"/>
              <a:buChar char="q"/>
            </a:pPr>
            <a:r>
              <a:rPr lang="en-GB" sz="1400" dirty="0">
                <a:latin typeface="Helvetica" panose="020B0604020202020204" pitchFamily="34" charset="0"/>
                <a:cs typeface="Helvetica" panose="020B0604020202020204" pitchFamily="34" charset="0"/>
              </a:rPr>
              <a:t>We delivered Security and Modelling concept based on HANA  DB</a:t>
            </a:r>
            <a:endParaRPr lang="en-US" sz="1400" dirty="0">
              <a:latin typeface="Helvetica" panose="020B0604020202020204" pitchFamily="34" charset="0"/>
              <a:cs typeface="Helvetica" panose="020B0604020202020204" pitchFamily="34" charset="0"/>
            </a:endParaRPr>
          </a:p>
        </p:txBody>
      </p:sp>
      <p:sp>
        <p:nvSpPr>
          <p:cNvPr id="9" name="Content Placeholder 2"/>
          <p:cNvSpPr txBox="1">
            <a:spLocks/>
          </p:cNvSpPr>
          <p:nvPr/>
        </p:nvSpPr>
        <p:spPr>
          <a:xfrm>
            <a:off x="1126863" y="5696080"/>
            <a:ext cx="10226937" cy="934067"/>
          </a:xfrm>
          <a:prstGeom prst="rect">
            <a:avLst/>
          </a:prstGeom>
        </p:spPr>
        <p:txBody>
          <a:bodyPr/>
          <a:lstStyle/>
          <a:p>
            <a:pPr marL="285750" indent="-285750">
              <a:buFont typeface="Wingdings" panose="05000000000000000000" pitchFamily="2" charset="2"/>
              <a:buChar char="Ø"/>
            </a:pPr>
            <a:endParaRPr lang="en-US" sz="1400" dirty="0">
              <a:solidFill>
                <a:schemeClr val="bg1"/>
              </a:solidFill>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r>
              <a:rPr lang="en-US" sz="1400" dirty="0">
                <a:solidFill>
                  <a:schemeClr val="bg1"/>
                </a:solidFill>
                <a:latin typeface="Helvetica" panose="020B0604020202020204" pitchFamily="34" charset="0"/>
                <a:cs typeface="Helvetica" panose="020B0604020202020204" pitchFamily="34" charset="0"/>
              </a:rPr>
              <a:t>Our Team worked on Analyzing  the proponents and Stakeholders, Build Security Concept  for Role based access to System. Designed  Roles, Profiles, Analysis Authorizations using SAP </a:t>
            </a:r>
            <a:r>
              <a:rPr lang="en-GB" sz="1400" dirty="0">
                <a:solidFill>
                  <a:schemeClr val="bg1"/>
                </a:solidFill>
                <a:latin typeface="Helvetica" panose="020B0604020202020204" pitchFamily="34" charset="0"/>
                <a:cs typeface="Helvetica" panose="020B0604020202020204" pitchFamily="34" charset="0"/>
              </a:rPr>
              <a:t>GRC 10.0 ARM and SAP BI 7.3</a:t>
            </a:r>
            <a:endParaRPr lang="en-US" sz="1400" dirty="0">
              <a:solidFill>
                <a:schemeClr val="bg1"/>
              </a:solidFill>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endParaRPr lang="en-IN" sz="1400" dirty="0">
              <a:solidFill>
                <a:schemeClr val="bg1"/>
              </a:solidFill>
              <a:latin typeface="Helvetica" panose="020B0604020202020204" pitchFamily="34" charset="0"/>
              <a:cs typeface="Helvetica" panose="020B0604020202020204" pitchFamily="34" charset="0"/>
            </a:endParaRPr>
          </a:p>
        </p:txBody>
      </p:sp>
      <p:pic>
        <p:nvPicPr>
          <p:cNvPr id="12" name="Picture 4"/>
          <p:cNvPicPr>
            <a:picLocks noChangeAspect="1" noChangeArrowheads="1"/>
          </p:cNvPicPr>
          <p:nvPr/>
        </p:nvPicPr>
        <p:blipFill>
          <a:blip r:embed="rId2" cstate="print"/>
          <a:srcRect/>
          <a:stretch>
            <a:fillRect/>
          </a:stretch>
        </p:blipFill>
        <p:spPr bwMode="auto">
          <a:xfrm>
            <a:off x="5453714" y="1366768"/>
            <a:ext cx="6146799" cy="4159046"/>
          </a:xfrm>
          <a:prstGeom prst="rect">
            <a:avLst/>
          </a:prstGeom>
          <a:noFill/>
          <a:ln w="9525">
            <a:noFill/>
            <a:miter lim="800000"/>
            <a:headEnd/>
            <a:tailEnd/>
          </a:ln>
        </p:spPr>
      </p:pic>
      <p:sp>
        <p:nvSpPr>
          <p:cNvPr id="3" name="Rectangle 2">
            <a:extLst>
              <a:ext uri="{FF2B5EF4-FFF2-40B4-BE49-F238E27FC236}">
                <a16:creationId xmlns:a16="http://schemas.microsoft.com/office/drawing/2014/main" id="{15355BB2-B756-021D-22FB-07E8912F26D0}"/>
              </a:ext>
            </a:extLst>
          </p:cNvPr>
          <p:cNvSpPr/>
          <p:nvPr/>
        </p:nvSpPr>
        <p:spPr>
          <a:xfrm rot="10800000" flipV="1">
            <a:off x="11847226" y="-1"/>
            <a:ext cx="343187" cy="6858001"/>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latin typeface="Helvetica" panose="020B0604020202020204" pitchFamily="34" charset="0"/>
              <a:cs typeface="Helvetica" panose="020B0604020202020204" pitchFamily="34" charset="0"/>
            </a:endParaRPr>
          </a:p>
        </p:txBody>
      </p:sp>
      <p:sp>
        <p:nvSpPr>
          <p:cNvPr id="5" name="Rectangle 4">
            <a:extLst>
              <a:ext uri="{FF2B5EF4-FFF2-40B4-BE49-F238E27FC236}">
                <a16:creationId xmlns:a16="http://schemas.microsoft.com/office/drawing/2014/main" id="{0E8B2F4B-2DC5-F6DE-7B37-F099EDFBC9CF}"/>
              </a:ext>
            </a:extLst>
          </p:cNvPr>
          <p:cNvSpPr/>
          <p:nvPr/>
        </p:nvSpPr>
        <p:spPr>
          <a:xfrm>
            <a:off x="10451210" y="-1"/>
            <a:ext cx="1416403" cy="8707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Helvetica" panose="020B0604020202020204" pitchFamily="34" charset="0"/>
              <a:cs typeface="Helvetica" panose="020B0604020202020204" pitchFamily="34" charset="0"/>
            </a:endParaRPr>
          </a:p>
        </p:txBody>
      </p:sp>
      <p:grpSp>
        <p:nvGrpSpPr>
          <p:cNvPr id="6" name="Group 5">
            <a:extLst>
              <a:ext uri="{FF2B5EF4-FFF2-40B4-BE49-F238E27FC236}">
                <a16:creationId xmlns:a16="http://schemas.microsoft.com/office/drawing/2014/main" id="{28BE9075-5D38-518C-59BA-C91E908810FF}"/>
              </a:ext>
            </a:extLst>
          </p:cNvPr>
          <p:cNvGrpSpPr/>
          <p:nvPr/>
        </p:nvGrpSpPr>
        <p:grpSpPr>
          <a:xfrm>
            <a:off x="5523049" y="1211298"/>
            <a:ext cx="727306" cy="94339"/>
            <a:chOff x="10390909" y="2667045"/>
            <a:chExt cx="1922607" cy="249382"/>
          </a:xfrm>
        </p:grpSpPr>
        <p:sp>
          <p:nvSpPr>
            <p:cNvPr id="7" name="Oval 6">
              <a:extLst>
                <a:ext uri="{FF2B5EF4-FFF2-40B4-BE49-F238E27FC236}">
                  <a16:creationId xmlns:a16="http://schemas.microsoft.com/office/drawing/2014/main" id="{D9CA69AB-157D-A898-3889-BBAC3A68EF7A}"/>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Oval 9">
              <a:extLst>
                <a:ext uri="{FF2B5EF4-FFF2-40B4-BE49-F238E27FC236}">
                  <a16:creationId xmlns:a16="http://schemas.microsoft.com/office/drawing/2014/main" id="{737675A2-525A-3FA1-23D8-C70F54CA4379}"/>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0B247405-6E26-418F-7489-350F1E2762E5}"/>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Oval 12">
              <a:extLst>
                <a:ext uri="{FF2B5EF4-FFF2-40B4-BE49-F238E27FC236}">
                  <a16:creationId xmlns:a16="http://schemas.microsoft.com/office/drawing/2014/main" id="{253D37BA-ADFA-64AB-B372-18049045A740}"/>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4AFCDD1-C52C-7651-65E5-EEB7CFCDF109}"/>
              </a:ext>
            </a:extLst>
          </p:cNvPr>
          <p:cNvSpPr/>
          <p:nvPr/>
        </p:nvSpPr>
        <p:spPr>
          <a:xfrm rot="5400000" flipV="1">
            <a:off x="5288635" y="-46074"/>
            <a:ext cx="1614735" cy="12192003"/>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
        <p:nvSpPr>
          <p:cNvPr id="2" name="Title 1"/>
          <p:cNvSpPr>
            <a:spLocks noGrp="1"/>
          </p:cNvSpPr>
          <p:nvPr>
            <p:ph type="title"/>
          </p:nvPr>
        </p:nvSpPr>
        <p:spPr>
          <a:xfrm>
            <a:off x="1230352" y="-18456"/>
            <a:ext cx="9144000" cy="1143000"/>
          </a:xfrm>
        </p:spPr>
        <p:txBody>
          <a:bodyPr>
            <a:normAutofit/>
          </a:bodyPr>
          <a:lstStyle/>
          <a:p>
            <a:r>
              <a:rPr lang="en-US" sz="2400" b="1" dirty="0">
                <a:latin typeface="Poppins Medium" panose="00000600000000000000" pitchFamily="2" charset="0"/>
                <a:cs typeface="Poppins Medium" panose="00000600000000000000" pitchFamily="2" charset="0"/>
              </a:rPr>
              <a:t>Projects &amp; Case Studies –II (Global Customer Experience) </a:t>
            </a:r>
            <a:endParaRPr lang="en-IN" sz="2400" b="1" dirty="0">
              <a:latin typeface="Poppins Medium" panose="00000600000000000000" pitchFamily="2" charset="0"/>
              <a:cs typeface="Poppins Medium" panose="00000600000000000000" pitchFamily="2" charset="0"/>
            </a:endParaRPr>
          </a:p>
        </p:txBody>
      </p:sp>
      <p:sp>
        <p:nvSpPr>
          <p:cNvPr id="4" name="Slide Number Placeholder 3"/>
          <p:cNvSpPr>
            <a:spLocks noGrp="1"/>
          </p:cNvSpPr>
          <p:nvPr>
            <p:ph type="sldNum" sz="quarter" idx="12"/>
          </p:nvPr>
        </p:nvSpPr>
        <p:spPr/>
        <p:txBody>
          <a:bodyPr/>
          <a:lstStyle/>
          <a:p>
            <a:fld id="{4647635B-B7FF-4C66-95A2-05895274091F}" type="slidenum">
              <a:rPr lang="en-US" smtClean="0"/>
              <a:pPr/>
              <a:t>9</a:t>
            </a:fld>
            <a:endParaRPr lang="en-US" dirty="0"/>
          </a:p>
        </p:txBody>
      </p:sp>
      <p:sp>
        <p:nvSpPr>
          <p:cNvPr id="6" name="Content Placeholder 2"/>
          <p:cNvSpPr txBox="1">
            <a:spLocks/>
          </p:cNvSpPr>
          <p:nvPr/>
        </p:nvSpPr>
        <p:spPr>
          <a:xfrm>
            <a:off x="558800" y="1729244"/>
            <a:ext cx="5022174" cy="3600289"/>
          </a:xfrm>
          <a:prstGeom prst="rect">
            <a:avLst/>
          </a:prstGeom>
        </p:spPr>
        <p:txBody>
          <a:bodyPr/>
          <a:lstStyle/>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The SAP Global Customer Experience (GCE) goal is to provide timely, understandable, and actionable insight into the state of customer / partner satisfaction and loyalty and its impact on SAP‘s growth.</a:t>
            </a:r>
          </a:p>
          <a:p>
            <a:pPr marL="285750" indent="-285750" algn="just">
              <a:buClr>
                <a:srgbClr val="0081E2"/>
              </a:buClr>
              <a:buFont typeface="Wingdings" panose="05000000000000000000" pitchFamily="2" charset="2"/>
              <a:buChar char="q"/>
            </a:pPr>
            <a:endParaRPr lang="en-IN"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GB" sz="1400" dirty="0">
                <a:latin typeface="Helvetica" panose="020B0604020202020204" pitchFamily="34" charset="0"/>
                <a:cs typeface="Helvetica" panose="020B0604020202020204" pitchFamily="34" charset="0"/>
              </a:rPr>
              <a:t>In this project the entire security concept which was based on profiles were replaced with new security based on roles.</a:t>
            </a:r>
          </a:p>
          <a:p>
            <a:pPr marL="285750" indent="-285750" algn="just">
              <a:buClr>
                <a:srgbClr val="0081E2"/>
              </a:buClr>
              <a:buFont typeface="Wingdings" panose="05000000000000000000" pitchFamily="2" charset="2"/>
              <a:buChar char="q"/>
            </a:pPr>
            <a:endParaRPr lang="en-GB"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GB" sz="1400" dirty="0">
                <a:latin typeface="Helvetica" panose="020B0604020202020204" pitchFamily="34" charset="0"/>
                <a:cs typeface="Helvetica" panose="020B0604020202020204" pitchFamily="34" charset="0"/>
              </a:rPr>
              <a:t>We introduce SAP IDM for better User management </a:t>
            </a:r>
          </a:p>
          <a:p>
            <a:pPr marL="285750" indent="-285750" algn="just">
              <a:buClr>
                <a:srgbClr val="0081E2"/>
              </a:buClr>
              <a:buFont typeface="Wingdings" panose="05000000000000000000" pitchFamily="2" charset="2"/>
              <a:buChar char="q"/>
            </a:pPr>
            <a:endParaRPr lang="en-GB"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GB" sz="1400" dirty="0">
                <a:latin typeface="Helvetica" panose="020B0604020202020204" pitchFamily="34" charset="0"/>
                <a:cs typeface="Helvetica" panose="020B0604020202020204" pitchFamily="34" charset="0"/>
              </a:rPr>
              <a:t>This is inline with the new Authorization concept from SAP called Virtual Authorization.</a:t>
            </a:r>
          </a:p>
        </p:txBody>
      </p:sp>
      <p:sp>
        <p:nvSpPr>
          <p:cNvPr id="8" name="Content Placeholder 2"/>
          <p:cNvSpPr txBox="1">
            <a:spLocks/>
          </p:cNvSpPr>
          <p:nvPr/>
        </p:nvSpPr>
        <p:spPr>
          <a:xfrm>
            <a:off x="892573" y="5494780"/>
            <a:ext cx="9565480" cy="984909"/>
          </a:xfrm>
          <a:prstGeom prst="rect">
            <a:avLst/>
          </a:prstGeom>
        </p:spPr>
        <p:txBody>
          <a:bodyPr/>
          <a:lstStyle/>
          <a:p>
            <a:pPr marL="285750" lvl="0" indent="-285750">
              <a:buFont typeface="Wingdings" panose="05000000000000000000" pitchFamily="2" charset="2"/>
              <a:buChar char="Ø"/>
            </a:pPr>
            <a:r>
              <a:rPr lang="en-GB" sz="1400" dirty="0">
                <a:solidFill>
                  <a:schemeClr val="bg1"/>
                </a:solidFill>
                <a:latin typeface="Helvetica" panose="020B0604020202020204" pitchFamily="34" charset="0"/>
                <a:cs typeface="Helvetica" panose="020B0604020202020204" pitchFamily="34" charset="0"/>
              </a:rPr>
              <a:t>Provided Data  access restriction on top of views by creating Analytical Privileges</a:t>
            </a:r>
            <a:endParaRPr lang="en-IN" sz="1400" dirty="0">
              <a:solidFill>
                <a:schemeClr val="bg1"/>
              </a:solidFill>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endParaRPr lang="en-US" sz="1400" dirty="0">
              <a:solidFill>
                <a:schemeClr val="bg1"/>
              </a:solidFill>
              <a:latin typeface="Helvetica" panose="020B0604020202020204" pitchFamily="34" charset="0"/>
              <a:cs typeface="Helvetica" panose="020B0604020202020204" pitchFamily="34" charset="0"/>
            </a:endParaRPr>
          </a:p>
          <a:p>
            <a:pPr marL="285750" lvl="0" indent="-285750">
              <a:buFont typeface="Wingdings" panose="05000000000000000000" pitchFamily="2" charset="2"/>
              <a:buChar char="Ø"/>
            </a:pPr>
            <a:r>
              <a:rPr lang="en-GB" sz="1400" dirty="0">
                <a:solidFill>
                  <a:schemeClr val="bg1"/>
                </a:solidFill>
                <a:latin typeface="Helvetica" panose="020B0604020202020204" pitchFamily="34" charset="0"/>
                <a:cs typeface="Helvetica" panose="020B0604020202020204" pitchFamily="34" charset="0"/>
              </a:rPr>
              <a:t>Worked on Profile Administration Process(PAP) for Roles availability in ARM so that end user can request these roles through CUP</a:t>
            </a:r>
            <a:endParaRPr lang="en-IN" sz="1400" dirty="0">
              <a:solidFill>
                <a:schemeClr val="bg1"/>
              </a:solidFill>
              <a:latin typeface="Helvetica" panose="020B0604020202020204" pitchFamily="34" charset="0"/>
              <a:cs typeface="Helvetica" panose="020B0604020202020204" pitchFamily="34" charset="0"/>
            </a:endParaRPr>
          </a:p>
        </p:txBody>
      </p:sp>
      <p:pic>
        <p:nvPicPr>
          <p:cNvPr id="10" name="Picture 3"/>
          <p:cNvPicPr>
            <a:picLocks noChangeAspect="1" noChangeArrowheads="1"/>
          </p:cNvPicPr>
          <p:nvPr/>
        </p:nvPicPr>
        <p:blipFill>
          <a:blip r:embed="rId2" cstate="print"/>
          <a:srcRect/>
          <a:stretch>
            <a:fillRect/>
          </a:stretch>
        </p:blipFill>
        <p:spPr bwMode="auto">
          <a:xfrm>
            <a:off x="5628625" y="838201"/>
            <a:ext cx="5436932" cy="4267200"/>
          </a:xfrm>
          <a:prstGeom prst="rect">
            <a:avLst/>
          </a:prstGeom>
          <a:noFill/>
          <a:ln w="9525">
            <a:noFill/>
            <a:miter lim="800000"/>
            <a:headEnd/>
            <a:tailEnd/>
          </a:ln>
        </p:spPr>
      </p:pic>
      <p:sp>
        <p:nvSpPr>
          <p:cNvPr id="3" name="Rectangle 2">
            <a:extLst>
              <a:ext uri="{FF2B5EF4-FFF2-40B4-BE49-F238E27FC236}">
                <a16:creationId xmlns:a16="http://schemas.microsoft.com/office/drawing/2014/main" id="{F3DA10AB-9563-BA1E-78F3-9FD575DCB38E}"/>
              </a:ext>
            </a:extLst>
          </p:cNvPr>
          <p:cNvSpPr/>
          <p:nvPr/>
        </p:nvSpPr>
        <p:spPr>
          <a:xfrm rot="10800000" flipV="1">
            <a:off x="11847226" y="-1"/>
            <a:ext cx="343187" cy="6858001"/>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
        <p:nvSpPr>
          <p:cNvPr id="5" name="Rectangle 4">
            <a:extLst>
              <a:ext uri="{FF2B5EF4-FFF2-40B4-BE49-F238E27FC236}">
                <a16:creationId xmlns:a16="http://schemas.microsoft.com/office/drawing/2014/main" id="{C7773616-6108-2A19-FCAF-BCFDEF860107}"/>
              </a:ext>
            </a:extLst>
          </p:cNvPr>
          <p:cNvSpPr/>
          <p:nvPr/>
        </p:nvSpPr>
        <p:spPr>
          <a:xfrm>
            <a:off x="10451210" y="-1"/>
            <a:ext cx="1416403" cy="8707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7" name="Group 6">
            <a:extLst>
              <a:ext uri="{FF2B5EF4-FFF2-40B4-BE49-F238E27FC236}">
                <a16:creationId xmlns:a16="http://schemas.microsoft.com/office/drawing/2014/main" id="{BA798191-2D1E-DFFF-6D16-E188A804DF60}"/>
              </a:ext>
            </a:extLst>
          </p:cNvPr>
          <p:cNvGrpSpPr/>
          <p:nvPr/>
        </p:nvGrpSpPr>
        <p:grpSpPr>
          <a:xfrm>
            <a:off x="5580974" y="870765"/>
            <a:ext cx="727306" cy="94339"/>
            <a:chOff x="10390909" y="2667045"/>
            <a:chExt cx="1922607" cy="249382"/>
          </a:xfrm>
        </p:grpSpPr>
        <p:sp>
          <p:nvSpPr>
            <p:cNvPr id="9" name="Oval 8">
              <a:extLst>
                <a:ext uri="{FF2B5EF4-FFF2-40B4-BE49-F238E27FC236}">
                  <a16:creationId xmlns:a16="http://schemas.microsoft.com/office/drawing/2014/main" id="{A89CFF0A-5F87-2E74-DC20-276554B7B55C}"/>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F3528338-7D62-6359-A08A-E0AA20C73F2A}"/>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22A570BE-F1B9-B427-A730-D383A2C853D9}"/>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Oval 12">
              <a:extLst>
                <a:ext uri="{FF2B5EF4-FFF2-40B4-BE49-F238E27FC236}">
                  <a16:creationId xmlns:a16="http://schemas.microsoft.com/office/drawing/2014/main" id="{5F9D48A6-8186-9D78-03FA-999C287E94AE}"/>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442" y="44060"/>
            <a:ext cx="9630693" cy="1219200"/>
          </a:xfrm>
        </p:spPr>
        <p:txBody>
          <a:bodyPr>
            <a:normAutofit/>
          </a:bodyPr>
          <a:lstStyle/>
          <a:p>
            <a:r>
              <a:rPr lang="en-US" sz="2400" b="1" dirty="0">
                <a:latin typeface="Poppins Medium" panose="00000600000000000000" pitchFamily="2" charset="0"/>
                <a:cs typeface="Poppins Medium" panose="00000600000000000000" pitchFamily="2" charset="0"/>
              </a:rPr>
              <a:t>Projects</a:t>
            </a:r>
            <a:r>
              <a:rPr lang="en-US" sz="3200" dirty="0"/>
              <a:t> </a:t>
            </a:r>
            <a:r>
              <a:rPr lang="en-US" sz="2400" b="1" dirty="0">
                <a:latin typeface="Poppins Medium" panose="00000600000000000000" pitchFamily="2" charset="0"/>
                <a:cs typeface="Poppins Medium" panose="00000600000000000000" pitchFamily="2" charset="0"/>
              </a:rPr>
              <a:t>&amp; Case Studies –III (Intellectual Property Management Reporting )</a:t>
            </a:r>
            <a:endParaRPr lang="en-IN" sz="2400" b="1" dirty="0">
              <a:latin typeface="Poppins Medium" panose="00000600000000000000" pitchFamily="2" charset="0"/>
              <a:cs typeface="Poppins Medium" panose="00000600000000000000" pitchFamily="2" charset="0"/>
            </a:endParaRPr>
          </a:p>
        </p:txBody>
      </p:sp>
      <p:sp>
        <p:nvSpPr>
          <p:cNvPr id="14" name="Rectangle 13">
            <a:extLst>
              <a:ext uri="{FF2B5EF4-FFF2-40B4-BE49-F238E27FC236}">
                <a16:creationId xmlns:a16="http://schemas.microsoft.com/office/drawing/2014/main" id="{F4B29715-30F1-A5E6-4E19-B66201BA44CD}"/>
              </a:ext>
            </a:extLst>
          </p:cNvPr>
          <p:cNvSpPr/>
          <p:nvPr/>
        </p:nvSpPr>
        <p:spPr>
          <a:xfrm rot="5400000" flipV="1">
            <a:off x="5156555" y="-178154"/>
            <a:ext cx="1878895" cy="12192003"/>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
        <p:nvSpPr>
          <p:cNvPr id="4" name="Slide Number Placeholder 3"/>
          <p:cNvSpPr>
            <a:spLocks noGrp="1"/>
          </p:cNvSpPr>
          <p:nvPr>
            <p:ph type="sldNum" sz="quarter" idx="12"/>
          </p:nvPr>
        </p:nvSpPr>
        <p:spPr/>
        <p:txBody>
          <a:bodyPr/>
          <a:lstStyle/>
          <a:p>
            <a:fld id="{4647635B-B7FF-4C66-95A2-05895274091F}" type="slidenum">
              <a:rPr lang="en-US" smtClean="0"/>
              <a:pPr/>
              <a:t>10</a:t>
            </a:fld>
            <a:endParaRPr lang="en-US" dirty="0"/>
          </a:p>
        </p:txBody>
      </p:sp>
      <p:sp>
        <p:nvSpPr>
          <p:cNvPr id="6" name="Content Placeholder 2"/>
          <p:cNvSpPr txBox="1">
            <a:spLocks/>
          </p:cNvSpPr>
          <p:nvPr/>
        </p:nvSpPr>
        <p:spPr>
          <a:xfrm>
            <a:off x="1037307" y="1532142"/>
            <a:ext cx="4793224" cy="2951359"/>
          </a:xfrm>
          <a:prstGeom prst="rect">
            <a:avLst/>
          </a:prstGeom>
        </p:spPr>
        <p:txBody>
          <a:bodyPr/>
          <a:lstStyle/>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Intellectual Property Management Reporting Project is Based on IPM@SAP.</a:t>
            </a:r>
          </a:p>
          <a:p>
            <a:pPr marL="285750" indent="-285750" algn="just">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It was required to provide full visibility and analytical support to all relevant SAP Development Units (Global IP department, Global F&amp;A TIP, etc.) around available IP, 3rd Party and Opensource technologies via searchable IP Assets Database and related analytic dashboards</a:t>
            </a:r>
            <a:endParaRPr lang="en-IN" sz="1400" dirty="0">
              <a:latin typeface="Helvetica" panose="020B0604020202020204" pitchFamily="34" charset="0"/>
              <a:cs typeface="Helvetica" panose="020B0604020202020204" pitchFamily="34" charset="0"/>
            </a:endParaRPr>
          </a:p>
          <a:p>
            <a:pPr algn="just">
              <a:buClr>
                <a:srgbClr val="0081E2"/>
              </a:buClr>
            </a:pPr>
            <a:endParaRPr lang="en-US" sz="1400" dirty="0">
              <a:latin typeface="Helvetica" panose="020B0604020202020204" pitchFamily="34" charset="0"/>
              <a:cs typeface="Helvetica" panose="020B0604020202020204" pitchFamily="34" charset="0"/>
            </a:endParaRPr>
          </a:p>
          <a:p>
            <a:pPr marL="285750" indent="-285750" algn="just">
              <a:buClr>
                <a:srgbClr val="0081E2"/>
              </a:buClr>
              <a:buFont typeface="Wingdings" panose="05000000000000000000" pitchFamily="2" charset="2"/>
              <a:buChar char="q"/>
            </a:pPr>
            <a:r>
              <a:rPr lang="en-US" sz="1400" dirty="0">
                <a:latin typeface="Helvetica" panose="020B0604020202020204" pitchFamily="34" charset="0"/>
                <a:cs typeface="Helvetica" panose="020B0604020202020204" pitchFamily="34" charset="0"/>
              </a:rPr>
              <a:t>Here BI security is based on 4 main profiles which can control the entire flow</a:t>
            </a:r>
          </a:p>
          <a:p>
            <a:pPr marL="285750" indent="-285750">
              <a:buClr>
                <a:srgbClr val="0081E2"/>
              </a:buClr>
              <a:buFont typeface="Wingdings" panose="05000000000000000000" pitchFamily="2" charset="2"/>
              <a:buChar char="q"/>
            </a:pPr>
            <a:endParaRPr lang="en-US" sz="1400" dirty="0">
              <a:latin typeface="Helvetica" panose="020B0604020202020204" pitchFamily="34" charset="0"/>
              <a:cs typeface="Helvetica" panose="020B0604020202020204" pitchFamily="34" charset="0"/>
            </a:endParaRPr>
          </a:p>
          <a:p>
            <a:pPr marL="285750" indent="-285750">
              <a:buClr>
                <a:srgbClr val="0081E2"/>
              </a:buClr>
              <a:buFont typeface="Wingdings" panose="05000000000000000000" pitchFamily="2" charset="2"/>
              <a:buChar char="q"/>
            </a:pPr>
            <a:endParaRPr lang="en-IN" sz="1400" dirty="0">
              <a:latin typeface="Helvetica" panose="020B0604020202020204" pitchFamily="34" charset="0"/>
              <a:cs typeface="Helvetica" panose="020B0604020202020204" pitchFamily="34" charset="0"/>
            </a:endParaRPr>
          </a:p>
        </p:txBody>
      </p:sp>
      <p:pic>
        <p:nvPicPr>
          <p:cNvPr id="5" name="Picture 4" descr="Gcex 2.jpg"/>
          <p:cNvPicPr>
            <a:picLocks noChangeAspect="1"/>
          </p:cNvPicPr>
          <p:nvPr/>
        </p:nvPicPr>
        <p:blipFill>
          <a:blip r:embed="rId2" cstate="print"/>
          <a:stretch>
            <a:fillRect/>
          </a:stretch>
        </p:blipFill>
        <p:spPr>
          <a:xfrm>
            <a:off x="5874775" y="1189456"/>
            <a:ext cx="5555225" cy="3717823"/>
          </a:xfrm>
          <a:prstGeom prst="rect">
            <a:avLst/>
          </a:prstGeom>
        </p:spPr>
      </p:pic>
      <p:sp>
        <p:nvSpPr>
          <p:cNvPr id="7" name="Content Placeholder 2"/>
          <p:cNvSpPr txBox="1">
            <a:spLocks/>
          </p:cNvSpPr>
          <p:nvPr/>
        </p:nvSpPr>
        <p:spPr>
          <a:xfrm>
            <a:off x="675974" y="5300099"/>
            <a:ext cx="10495280" cy="1371600"/>
          </a:xfrm>
          <a:prstGeom prst="rect">
            <a:avLst/>
          </a:prstGeom>
        </p:spPr>
        <p:txBody>
          <a:bodyPr/>
          <a:lstStyle/>
          <a:p>
            <a:pPr marL="285750" lvl="0" indent="-285750">
              <a:buFont typeface="Wingdings" panose="05000000000000000000" pitchFamily="2" charset="2"/>
              <a:buChar char="Ø"/>
            </a:pPr>
            <a:r>
              <a:rPr lang="en-GB" sz="1400" dirty="0">
                <a:solidFill>
                  <a:schemeClr val="bg1"/>
                </a:solidFill>
                <a:latin typeface="Helvetica" panose="020B0604020202020204" pitchFamily="34" charset="0"/>
                <a:cs typeface="Helvetica" panose="020B0604020202020204" pitchFamily="34" charset="0"/>
              </a:rPr>
              <a:t>We designed the Security concept to understand the Business Requirement. Designed the profiles with Analysis Authorizations and assigned to required users </a:t>
            </a:r>
            <a:endParaRPr lang="en-IN" sz="1400" dirty="0">
              <a:solidFill>
                <a:schemeClr val="bg1"/>
              </a:solidFill>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endParaRPr lang="en-US" sz="1400" dirty="0">
              <a:solidFill>
                <a:schemeClr val="bg1"/>
              </a:solidFill>
              <a:latin typeface="Helvetica" panose="020B0604020202020204" pitchFamily="34" charset="0"/>
              <a:cs typeface="Helvetica" panose="020B0604020202020204" pitchFamily="34" charset="0"/>
            </a:endParaRPr>
          </a:p>
          <a:p>
            <a:pPr marL="285750" lvl="0" indent="-285750">
              <a:buFont typeface="Wingdings" panose="05000000000000000000" pitchFamily="2" charset="2"/>
              <a:buChar char="Ø"/>
            </a:pPr>
            <a:r>
              <a:rPr lang="en-GB" sz="1400" dirty="0">
                <a:solidFill>
                  <a:schemeClr val="bg1"/>
                </a:solidFill>
                <a:latin typeface="Helvetica" panose="020B0604020202020204" pitchFamily="34" charset="0"/>
                <a:cs typeface="Helvetica" panose="020B0604020202020204" pitchFamily="34" charset="0"/>
              </a:rPr>
              <a:t>Worked on Analysis Authorization based on Exit variables.  Used GRC tools like CUP and ARM to streamline the approval process.</a:t>
            </a:r>
          </a:p>
          <a:p>
            <a:pPr marL="285750" lvl="0" indent="-285750">
              <a:buFont typeface="Wingdings" panose="05000000000000000000" pitchFamily="2" charset="2"/>
              <a:buChar char="Ø"/>
            </a:pPr>
            <a:endParaRPr lang="en-IN" sz="1400" dirty="0">
              <a:solidFill>
                <a:schemeClr val="bg1"/>
              </a:solidFill>
              <a:latin typeface="Helvetica" panose="020B0604020202020204" pitchFamily="34" charset="0"/>
              <a:cs typeface="Helvetica" panose="020B0604020202020204" pitchFamily="34" charset="0"/>
            </a:endParaRPr>
          </a:p>
        </p:txBody>
      </p:sp>
      <p:sp>
        <p:nvSpPr>
          <p:cNvPr id="3" name="Rectangle 2">
            <a:extLst>
              <a:ext uri="{FF2B5EF4-FFF2-40B4-BE49-F238E27FC236}">
                <a16:creationId xmlns:a16="http://schemas.microsoft.com/office/drawing/2014/main" id="{437E049A-EE9A-C0D4-4314-734FF0A34321}"/>
              </a:ext>
            </a:extLst>
          </p:cNvPr>
          <p:cNvSpPr/>
          <p:nvPr/>
        </p:nvSpPr>
        <p:spPr>
          <a:xfrm rot="10800000" flipV="1">
            <a:off x="11847226" y="-1"/>
            <a:ext cx="343187" cy="6858001"/>
          </a:xfrm>
          <a:prstGeom prst="rect">
            <a:avLst/>
          </a:prstGeom>
          <a:gradFill flip="none" rotWithShape="1">
            <a:gsLst>
              <a:gs pos="0">
                <a:srgbClr val="0081E2">
                  <a:shade val="30000"/>
                  <a:satMod val="115000"/>
                </a:srgbClr>
              </a:gs>
              <a:gs pos="50000">
                <a:srgbClr val="0081E2">
                  <a:shade val="67500"/>
                  <a:satMod val="115000"/>
                </a:srgbClr>
              </a:gs>
              <a:gs pos="100000">
                <a:srgbClr val="0081E2">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p:txBody>
      </p:sp>
      <p:sp>
        <p:nvSpPr>
          <p:cNvPr id="8" name="Rectangle 7">
            <a:extLst>
              <a:ext uri="{FF2B5EF4-FFF2-40B4-BE49-F238E27FC236}">
                <a16:creationId xmlns:a16="http://schemas.microsoft.com/office/drawing/2014/main" id="{742663DF-7E5E-FB74-97FE-415280DD93E2}"/>
              </a:ext>
            </a:extLst>
          </p:cNvPr>
          <p:cNvSpPr/>
          <p:nvPr/>
        </p:nvSpPr>
        <p:spPr>
          <a:xfrm>
            <a:off x="10451210" y="-1"/>
            <a:ext cx="1416403" cy="8707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9" name="Group 8">
            <a:extLst>
              <a:ext uri="{FF2B5EF4-FFF2-40B4-BE49-F238E27FC236}">
                <a16:creationId xmlns:a16="http://schemas.microsoft.com/office/drawing/2014/main" id="{CD25883F-ED3D-7BC9-D0F7-FFBB59E8EB8F}"/>
              </a:ext>
            </a:extLst>
          </p:cNvPr>
          <p:cNvGrpSpPr/>
          <p:nvPr/>
        </p:nvGrpSpPr>
        <p:grpSpPr>
          <a:xfrm>
            <a:off x="5418550" y="982941"/>
            <a:ext cx="727306" cy="94339"/>
            <a:chOff x="10390909" y="2667045"/>
            <a:chExt cx="1922607" cy="249382"/>
          </a:xfrm>
        </p:grpSpPr>
        <p:sp>
          <p:nvSpPr>
            <p:cNvPr id="10" name="Oval 9">
              <a:extLst>
                <a:ext uri="{FF2B5EF4-FFF2-40B4-BE49-F238E27FC236}">
                  <a16:creationId xmlns:a16="http://schemas.microsoft.com/office/drawing/2014/main" id="{9BACE8BA-92E6-EF15-3556-A05F08D58698}"/>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873B6BA3-8B48-C609-A5AF-EC1A0B9AEEB8}"/>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20E11665-C2F2-85E8-993B-AC9E31711BAC}"/>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Oval 12">
              <a:extLst>
                <a:ext uri="{FF2B5EF4-FFF2-40B4-BE49-F238E27FC236}">
                  <a16:creationId xmlns:a16="http://schemas.microsoft.com/office/drawing/2014/main" id="{18B49AEB-163E-1193-1927-8FED7301B718}"/>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350">
            <a:extLst>
              <a:ext uri="{FF2B5EF4-FFF2-40B4-BE49-F238E27FC236}">
                <a16:creationId xmlns:a16="http://schemas.microsoft.com/office/drawing/2014/main" id="{346897DB-FC6A-9E4D-8407-68CDBE74ACA4}"/>
              </a:ext>
            </a:extLst>
          </p:cNvPr>
          <p:cNvSpPr txBox="1"/>
          <p:nvPr/>
        </p:nvSpPr>
        <p:spPr>
          <a:xfrm>
            <a:off x="3595211" y="429054"/>
            <a:ext cx="5301451" cy="584775"/>
          </a:xfrm>
          <a:prstGeom prst="rect">
            <a:avLst/>
          </a:prstGeom>
          <a:noFill/>
        </p:spPr>
        <p:txBody>
          <a:bodyPr wrap="none" rtlCol="0">
            <a:spAutoFit/>
          </a:bodyPr>
          <a:lstStyle/>
          <a:p>
            <a:r>
              <a:rPr lang="en-US" sz="3200" dirty="0">
                <a:latin typeface="Poppins Medium" panose="00000600000000000000" pitchFamily="2" charset="0"/>
                <a:cs typeface="Poppins Medium" panose="00000600000000000000" pitchFamily="2" charset="0"/>
              </a:rPr>
              <a:t>Our Engagement Models</a:t>
            </a:r>
          </a:p>
        </p:txBody>
      </p:sp>
      <p:grpSp>
        <p:nvGrpSpPr>
          <p:cNvPr id="2" name="Group 1">
            <a:extLst>
              <a:ext uri="{FF2B5EF4-FFF2-40B4-BE49-F238E27FC236}">
                <a16:creationId xmlns:a16="http://schemas.microsoft.com/office/drawing/2014/main" id="{86C27782-B125-ABCD-052F-123A1BC34C43}"/>
              </a:ext>
            </a:extLst>
          </p:cNvPr>
          <p:cNvGrpSpPr/>
          <p:nvPr/>
        </p:nvGrpSpPr>
        <p:grpSpPr>
          <a:xfrm>
            <a:off x="5730020" y="1155606"/>
            <a:ext cx="727306" cy="94339"/>
            <a:chOff x="10390909" y="2667045"/>
            <a:chExt cx="1922607" cy="249382"/>
          </a:xfrm>
        </p:grpSpPr>
        <p:sp>
          <p:nvSpPr>
            <p:cNvPr id="4" name="Oval 3">
              <a:extLst>
                <a:ext uri="{FF2B5EF4-FFF2-40B4-BE49-F238E27FC236}">
                  <a16:creationId xmlns:a16="http://schemas.microsoft.com/office/drawing/2014/main" id="{1325F675-00D6-0061-BA17-51A72E8DA668}"/>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Oval 5">
              <a:extLst>
                <a:ext uri="{FF2B5EF4-FFF2-40B4-BE49-F238E27FC236}">
                  <a16:creationId xmlns:a16="http://schemas.microsoft.com/office/drawing/2014/main" id="{D058464F-0F39-7153-6E38-9583F5F085F8}"/>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Oval 6">
              <a:extLst>
                <a:ext uri="{FF2B5EF4-FFF2-40B4-BE49-F238E27FC236}">
                  <a16:creationId xmlns:a16="http://schemas.microsoft.com/office/drawing/2014/main" id="{847E0D03-71C8-9D7C-34E4-14A59BF9068F}"/>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Oval 7">
              <a:extLst>
                <a:ext uri="{FF2B5EF4-FFF2-40B4-BE49-F238E27FC236}">
                  <a16:creationId xmlns:a16="http://schemas.microsoft.com/office/drawing/2014/main" id="{C7965A4A-7E4A-E4B7-9336-CECAE2C4F61F}"/>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3" name="TextBox 2">
            <a:extLst>
              <a:ext uri="{FF2B5EF4-FFF2-40B4-BE49-F238E27FC236}">
                <a16:creationId xmlns:a16="http://schemas.microsoft.com/office/drawing/2014/main" id="{CE72C454-A843-C4BE-BC6C-995CAE905C6D}"/>
              </a:ext>
            </a:extLst>
          </p:cNvPr>
          <p:cNvSpPr txBox="1"/>
          <p:nvPr/>
        </p:nvSpPr>
        <p:spPr>
          <a:xfrm>
            <a:off x="783191" y="1431679"/>
            <a:ext cx="10826607"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12700" marR="12700" algn="just">
              <a:lnSpc>
                <a:spcPct val="100099"/>
              </a:lnSpc>
            </a:pPr>
            <a:r>
              <a:rPr lang="en-US" sz="1600" spc="-10" dirty="0">
                <a:latin typeface="Helvetica" panose="020B0604020202020204" pitchFamily="34" charset="0"/>
                <a:cs typeface="Helvetica" panose="020B0604020202020204" pitchFamily="34" charset="0"/>
              </a:rPr>
              <a:t>Lumbini o</a:t>
            </a:r>
            <a:r>
              <a:rPr lang="en-US" sz="1600" spc="-20" dirty="0">
                <a:latin typeface="Helvetica" panose="020B0604020202020204" pitchFamily="34" charset="0"/>
                <a:cs typeface="Helvetica" panose="020B0604020202020204" pitchFamily="34" charset="0"/>
              </a:rPr>
              <a:t>f</a:t>
            </a:r>
            <a:r>
              <a:rPr lang="en-US" sz="1600" spc="-40" dirty="0">
                <a:latin typeface="Helvetica" panose="020B0604020202020204" pitchFamily="34" charset="0"/>
                <a:cs typeface="Helvetica" panose="020B0604020202020204" pitchFamily="34" charset="0"/>
              </a:rPr>
              <a:t>f</a:t>
            </a:r>
            <a:r>
              <a:rPr lang="en-US" sz="1600" spc="-10" dirty="0">
                <a:latin typeface="Helvetica" panose="020B0604020202020204" pitchFamily="34" charset="0"/>
                <a:cs typeface="Helvetica" panose="020B0604020202020204" pitchFamily="34" charset="0"/>
              </a:rPr>
              <a:t>e</a:t>
            </a:r>
            <a:r>
              <a:rPr lang="en-US" sz="1600" spc="-45" dirty="0">
                <a:latin typeface="Helvetica" panose="020B0604020202020204" pitchFamily="34" charset="0"/>
                <a:cs typeface="Helvetica" panose="020B0604020202020204" pitchFamily="34" charset="0"/>
              </a:rPr>
              <a:t>r</a:t>
            </a:r>
            <a:r>
              <a:rPr lang="en-US" sz="1600" spc="-10" dirty="0">
                <a:latin typeface="Helvetica" panose="020B0604020202020204" pitchFamily="34" charset="0"/>
                <a:cs typeface="Helvetica" panose="020B0604020202020204" pitchFamily="34" charset="0"/>
              </a:rPr>
              <a:t>s t</a:t>
            </a:r>
            <a:r>
              <a:rPr lang="en-US" sz="1600" spc="5" dirty="0">
                <a:latin typeface="Helvetica" panose="020B0604020202020204" pitchFamily="34" charset="0"/>
                <a:cs typeface="Helvetica" panose="020B0604020202020204" pitchFamily="34" charset="0"/>
              </a:rPr>
              <a:t>h</a:t>
            </a:r>
            <a:r>
              <a:rPr lang="en-US" sz="1600" spc="-40" dirty="0">
                <a:latin typeface="Helvetica" panose="020B0604020202020204" pitchFamily="34" charset="0"/>
                <a:cs typeface="Helvetica" panose="020B0604020202020204" pitchFamily="34" charset="0"/>
              </a:rPr>
              <a:t>r</a:t>
            </a:r>
            <a:r>
              <a:rPr lang="en-US" sz="1600" spc="-5" dirty="0">
                <a:latin typeface="Helvetica" panose="020B0604020202020204" pitchFamily="34" charset="0"/>
                <a:cs typeface="Helvetica" panose="020B0604020202020204" pitchFamily="34" charset="0"/>
              </a:rPr>
              <a:t>e</a:t>
            </a:r>
            <a:r>
              <a:rPr lang="en-US" sz="1600" spc="-10" dirty="0">
                <a:latin typeface="Helvetica" panose="020B0604020202020204" pitchFamily="34" charset="0"/>
                <a:cs typeface="Helvetica" panose="020B0604020202020204" pitchFamily="34" charset="0"/>
              </a:rPr>
              <a:t>e s</a:t>
            </a:r>
            <a:r>
              <a:rPr lang="en-US" sz="1600" spc="-5" dirty="0">
                <a:latin typeface="Helvetica" panose="020B0604020202020204" pitchFamily="34" charset="0"/>
                <a:cs typeface="Helvetica" panose="020B0604020202020204" pitchFamily="34" charset="0"/>
              </a:rPr>
              <a:t>er</a:t>
            </a:r>
            <a:r>
              <a:rPr lang="en-US" sz="1600" spc="-10" dirty="0">
                <a:latin typeface="Helvetica" panose="020B0604020202020204" pitchFamily="34" charset="0"/>
                <a:cs typeface="Helvetica" panose="020B0604020202020204" pitchFamily="34" charset="0"/>
              </a:rPr>
              <a:t>vice </a:t>
            </a:r>
            <a:r>
              <a:rPr lang="en-US" sz="1600" dirty="0">
                <a:latin typeface="Helvetica" panose="020B0604020202020204" pitchFamily="34" charset="0"/>
                <a:cs typeface="Helvetica" panose="020B0604020202020204" pitchFamily="34" charset="0"/>
              </a:rPr>
              <a:t>d</a:t>
            </a:r>
            <a:r>
              <a:rPr lang="en-US" sz="1600" spc="-5" dirty="0">
                <a:latin typeface="Helvetica" panose="020B0604020202020204" pitchFamily="34" charset="0"/>
                <a:cs typeface="Helvetica" panose="020B0604020202020204" pitchFamily="34" charset="0"/>
              </a:rPr>
              <a:t>eli</a:t>
            </a:r>
            <a:r>
              <a:rPr lang="en-US" sz="1600" spc="-20" dirty="0">
                <a:latin typeface="Helvetica" panose="020B0604020202020204" pitchFamily="34" charset="0"/>
                <a:cs typeface="Helvetica" panose="020B0604020202020204" pitchFamily="34" charset="0"/>
              </a:rPr>
              <a:t>v</a:t>
            </a:r>
            <a:r>
              <a:rPr lang="en-US" sz="1600" spc="-10" dirty="0">
                <a:latin typeface="Helvetica" panose="020B0604020202020204" pitchFamily="34" charset="0"/>
                <a:cs typeface="Helvetica" panose="020B0604020202020204" pitchFamily="34" charset="0"/>
              </a:rPr>
              <a:t>ery </a:t>
            </a:r>
            <a:r>
              <a:rPr lang="en-US" sz="1600" spc="-20" dirty="0">
                <a:latin typeface="Helvetica" panose="020B0604020202020204" pitchFamily="34" charset="0"/>
                <a:cs typeface="Helvetica" panose="020B0604020202020204" pitchFamily="34" charset="0"/>
              </a:rPr>
              <a:t>m</a:t>
            </a:r>
            <a:r>
              <a:rPr lang="en-US" sz="1600" spc="-10" dirty="0">
                <a:latin typeface="Helvetica" panose="020B0604020202020204" pitchFamily="34" charset="0"/>
                <a:cs typeface="Helvetica" panose="020B0604020202020204" pitchFamily="34" charset="0"/>
              </a:rPr>
              <a:t>o</a:t>
            </a:r>
            <a:r>
              <a:rPr lang="en-US" sz="1600" spc="-5" dirty="0">
                <a:latin typeface="Helvetica" panose="020B0604020202020204" pitchFamily="34" charset="0"/>
                <a:cs typeface="Helvetica" panose="020B0604020202020204" pitchFamily="34" charset="0"/>
              </a:rPr>
              <a:t>d</a:t>
            </a:r>
            <a:r>
              <a:rPr lang="en-US" sz="1600" spc="-10" dirty="0">
                <a:latin typeface="Helvetica" panose="020B0604020202020204" pitchFamily="34" charset="0"/>
                <a:cs typeface="Helvetica" panose="020B0604020202020204" pitchFamily="34" charset="0"/>
              </a:rPr>
              <a:t>els, </a:t>
            </a:r>
            <a:r>
              <a:rPr lang="en-US" sz="1600" spc="-4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which clients </a:t>
            </a:r>
            <a:r>
              <a:rPr lang="en-US" sz="1600" spc="-30" dirty="0">
                <a:latin typeface="Helvetica" panose="020B0604020202020204" pitchFamily="34" charset="0"/>
                <a:cs typeface="Helvetica" panose="020B0604020202020204" pitchFamily="34" charset="0"/>
              </a:rPr>
              <a:t>c</a:t>
            </a:r>
            <a:r>
              <a:rPr lang="en-US" sz="1600" spc="-10" dirty="0">
                <a:latin typeface="Helvetica" panose="020B0604020202020204" pitchFamily="34" charset="0"/>
                <a:cs typeface="Helvetica" panose="020B0604020202020204" pitchFamily="34" charset="0"/>
              </a:rPr>
              <a:t>an ch</a:t>
            </a:r>
            <a:r>
              <a:rPr lang="en-US" sz="1600" spc="-20" dirty="0">
                <a:latin typeface="Helvetica" panose="020B0604020202020204" pitchFamily="34" charset="0"/>
                <a:cs typeface="Helvetica" panose="020B0604020202020204" pitchFamily="34" charset="0"/>
              </a:rPr>
              <a:t>o</a:t>
            </a:r>
            <a:r>
              <a:rPr lang="en-US" sz="1600" spc="-10" dirty="0">
                <a:latin typeface="Helvetica" panose="020B0604020202020204" pitchFamily="34" charset="0"/>
                <a:cs typeface="Helvetica" panose="020B0604020202020204" pitchFamily="34" charset="0"/>
              </a:rPr>
              <a:t>ose </a:t>
            </a:r>
            <a:r>
              <a:rPr lang="en-US" sz="1600" spc="-5" dirty="0">
                <a:latin typeface="Helvetica" panose="020B0604020202020204" pitchFamily="34" charset="0"/>
                <a:cs typeface="Helvetica" panose="020B0604020202020204" pitchFamily="34" charset="0"/>
              </a:rPr>
              <a:t>f</a:t>
            </a:r>
            <a:r>
              <a:rPr lang="en-US" sz="1600" spc="-30" dirty="0">
                <a:latin typeface="Helvetica" panose="020B0604020202020204" pitchFamily="34" charset="0"/>
                <a:cs typeface="Helvetica" panose="020B0604020202020204" pitchFamily="34" charset="0"/>
              </a:rPr>
              <a:t>r</a:t>
            </a:r>
            <a:r>
              <a:rPr lang="en-US" sz="1600" spc="-15" dirty="0">
                <a:latin typeface="Helvetica" panose="020B0604020202020204" pitchFamily="34" charset="0"/>
                <a:cs typeface="Helvetica" panose="020B0604020202020204" pitchFamily="34" charset="0"/>
              </a:rPr>
              <a:t>om </a:t>
            </a:r>
            <a:r>
              <a:rPr lang="en-US" sz="1600" spc="-10" dirty="0">
                <a:latin typeface="Helvetica" panose="020B0604020202020204" pitchFamily="34" charset="0"/>
                <a:cs typeface="Helvetica" panose="020B0604020202020204" pitchFamily="34" charset="0"/>
              </a:rPr>
              <a:t>de</a:t>
            </a:r>
            <a:r>
              <a:rPr lang="en-US" sz="1600" spc="-5" dirty="0">
                <a:latin typeface="Helvetica" panose="020B0604020202020204" pitchFamily="34" charset="0"/>
                <a:cs typeface="Helvetica" panose="020B0604020202020204" pitchFamily="34" charset="0"/>
              </a:rPr>
              <a:t>p</a:t>
            </a:r>
            <a:r>
              <a:rPr lang="en-US" sz="1600" spc="-10" dirty="0">
                <a:latin typeface="Helvetica" panose="020B0604020202020204" pitchFamily="34" charset="0"/>
                <a:cs typeface="Helvetica" panose="020B0604020202020204" pitchFamily="34" charset="0"/>
              </a:rPr>
              <a:t>ending </a:t>
            </a:r>
            <a:r>
              <a:rPr lang="en-US" sz="1600" spc="-15" dirty="0">
                <a:latin typeface="Helvetica" panose="020B0604020202020204" pitchFamily="34" charset="0"/>
                <a:cs typeface="Helvetica" panose="020B0604020202020204" pitchFamily="34" charset="0"/>
              </a:rPr>
              <a:t>o</a:t>
            </a:r>
            <a:r>
              <a:rPr lang="en-US" sz="1600" spc="-10" dirty="0">
                <a:latin typeface="Helvetica" panose="020B0604020202020204" pitchFamily="34" charset="0"/>
                <a:cs typeface="Helvetica" panose="020B0604020202020204" pitchFamily="34" charset="0"/>
              </a:rPr>
              <a:t>n the </a:t>
            </a:r>
            <a:r>
              <a:rPr lang="en-US" sz="1600" spc="-5" dirty="0">
                <a:latin typeface="Helvetica" panose="020B0604020202020204" pitchFamily="34" charset="0"/>
                <a:cs typeface="Helvetica" panose="020B0604020202020204" pitchFamily="34" charset="0"/>
              </a:rPr>
              <a:t>l</a:t>
            </a:r>
            <a:r>
              <a:rPr lang="en-US" sz="1600" spc="-20" dirty="0">
                <a:latin typeface="Helvetica" panose="020B0604020202020204" pitchFamily="34" charset="0"/>
                <a:cs typeface="Helvetica" panose="020B0604020202020204" pitchFamily="34" charset="0"/>
              </a:rPr>
              <a:t>e</a:t>
            </a:r>
            <a:r>
              <a:rPr lang="en-US" sz="1600" spc="-25" dirty="0">
                <a:latin typeface="Helvetica" panose="020B0604020202020204" pitchFamily="34" charset="0"/>
                <a:cs typeface="Helvetica" panose="020B0604020202020204" pitchFamily="34" charset="0"/>
              </a:rPr>
              <a:t>v</a:t>
            </a:r>
            <a:r>
              <a:rPr lang="en-US" sz="1600" spc="-10" dirty="0">
                <a:latin typeface="Helvetica" panose="020B0604020202020204" pitchFamily="34" charset="0"/>
                <a:cs typeface="Helvetica" panose="020B0604020202020204" pitchFamily="34" charset="0"/>
              </a:rPr>
              <a:t>el </a:t>
            </a:r>
            <a:r>
              <a:rPr lang="en-US" sz="1600" spc="-15" dirty="0">
                <a:latin typeface="Helvetica" panose="020B0604020202020204" pitchFamily="34" charset="0"/>
                <a:cs typeface="Helvetica" panose="020B0604020202020204" pitchFamily="34" charset="0"/>
              </a:rPr>
              <a:t>of</a:t>
            </a:r>
            <a:r>
              <a:rPr lang="en-US" sz="1600" spc="-10" dirty="0">
                <a:latin typeface="Helvetica" panose="020B0604020202020204" pitchFamily="34" charset="0"/>
                <a:cs typeface="Helvetica" panose="020B0604020202020204" pitchFamily="34" charset="0"/>
              </a:rPr>
              <a:t> </a:t>
            </a:r>
            <a:r>
              <a:rPr lang="en-US" sz="1600" spc="-25" dirty="0">
                <a:latin typeface="Helvetica" panose="020B0604020202020204" pitchFamily="34" charset="0"/>
                <a:cs typeface="Helvetica" panose="020B0604020202020204" pitchFamily="34" charset="0"/>
              </a:rPr>
              <a:t>c</a:t>
            </a:r>
            <a:r>
              <a:rPr lang="en-US" sz="1600" spc="-10" dirty="0">
                <a:latin typeface="Helvetica" panose="020B0604020202020204" pitchFamily="34" charset="0"/>
                <a:cs typeface="Helvetica" panose="020B0604020202020204" pitchFamily="34" charset="0"/>
              </a:rPr>
              <a:t>o</a:t>
            </a:r>
            <a:r>
              <a:rPr lang="en-US" sz="1600" spc="-25" dirty="0">
                <a:latin typeface="Helvetica" panose="020B0604020202020204" pitchFamily="34" charset="0"/>
                <a:cs typeface="Helvetica" panose="020B0604020202020204" pitchFamily="34" charset="0"/>
              </a:rPr>
              <a:t>n</a:t>
            </a:r>
            <a:r>
              <a:rPr lang="en-US" sz="1600" spc="-10" dirty="0">
                <a:latin typeface="Helvetica" panose="020B0604020202020204" pitchFamily="34" charset="0"/>
                <a:cs typeface="Helvetica" panose="020B0604020202020204" pitchFamily="34" charset="0"/>
              </a:rPr>
              <a:t>t</a:t>
            </a:r>
            <a:r>
              <a:rPr lang="en-US" sz="1600" spc="-30" dirty="0">
                <a:latin typeface="Helvetica" panose="020B0604020202020204" pitchFamily="34" charset="0"/>
                <a:cs typeface="Helvetica" panose="020B0604020202020204" pitchFamily="34" charset="0"/>
              </a:rPr>
              <a:t>r</a:t>
            </a:r>
            <a:r>
              <a:rPr lang="en-US" sz="1600" spc="-10" dirty="0">
                <a:latin typeface="Helvetica" panose="020B0604020202020204" pitchFamily="34" charset="0"/>
                <a:cs typeface="Helvetica" panose="020B0604020202020204" pitchFamily="34" charset="0"/>
              </a:rPr>
              <a:t>ol</a:t>
            </a:r>
            <a:r>
              <a:rPr lang="en-US" sz="1600" spc="-35" dirty="0">
                <a:latin typeface="Helvetica" panose="020B0604020202020204" pitchFamily="34" charset="0"/>
                <a:cs typeface="Helvetica" panose="020B0604020202020204" pitchFamily="34" charset="0"/>
              </a:rPr>
              <a:t>/</a:t>
            </a:r>
            <a:r>
              <a:rPr lang="en-US" sz="1600" spc="-25" dirty="0">
                <a:latin typeface="Helvetica" panose="020B0604020202020204" pitchFamily="34" charset="0"/>
                <a:cs typeface="Helvetica" panose="020B0604020202020204" pitchFamily="34" charset="0"/>
              </a:rPr>
              <a:t>o</a:t>
            </a:r>
            <a:r>
              <a:rPr lang="en-US" sz="1600" spc="-10" dirty="0">
                <a:latin typeface="Helvetica" panose="020B0604020202020204" pitchFamily="34" charset="0"/>
                <a:cs typeface="Helvetica" panose="020B0604020202020204" pitchFamily="34" charset="0"/>
              </a:rPr>
              <a:t>ve</a:t>
            </a:r>
            <a:r>
              <a:rPr lang="en-US" sz="1600" spc="-45" dirty="0">
                <a:latin typeface="Helvetica" panose="020B0604020202020204" pitchFamily="34" charset="0"/>
                <a:cs typeface="Helvetica" panose="020B0604020202020204" pitchFamily="34" charset="0"/>
              </a:rPr>
              <a:t>r</a:t>
            </a:r>
            <a:r>
              <a:rPr lang="en-US" sz="1600" spc="-10" dirty="0">
                <a:latin typeface="Helvetica" panose="020B0604020202020204" pitchFamily="34" charset="0"/>
                <a:cs typeface="Helvetica" panose="020B0604020202020204" pitchFamily="34" charset="0"/>
              </a:rPr>
              <a:t>sig</a:t>
            </a:r>
            <a:r>
              <a:rPr lang="en-US" sz="1600" spc="-20" dirty="0">
                <a:latin typeface="Helvetica" panose="020B0604020202020204" pitchFamily="34" charset="0"/>
                <a:cs typeface="Helvetica" panose="020B0604020202020204" pitchFamily="34" charset="0"/>
              </a:rPr>
              <a:t>h</a:t>
            </a:r>
            <a:r>
              <a:rPr lang="en-US" sz="1600" spc="-10" dirty="0">
                <a:latin typeface="Helvetica" panose="020B0604020202020204" pitchFamily="34" charset="0"/>
                <a:cs typeface="Helvetica" panose="020B0604020202020204" pitchFamily="34" charset="0"/>
              </a:rPr>
              <a:t>t</a:t>
            </a:r>
            <a:r>
              <a:rPr lang="en-US" sz="1600" spc="150" dirty="0">
                <a:latin typeface="Helvetica" panose="020B0604020202020204" pitchFamily="34" charset="0"/>
                <a:cs typeface="Helvetica" panose="020B0604020202020204" pitchFamily="34" charset="0"/>
              </a:rPr>
              <a:t> </a:t>
            </a:r>
            <a:r>
              <a:rPr lang="en-US" sz="1600" spc="-20" dirty="0">
                <a:latin typeface="Helvetica" panose="020B0604020202020204" pitchFamily="34" charset="0"/>
                <a:cs typeface="Helvetica" panose="020B0604020202020204" pitchFamily="34" charset="0"/>
              </a:rPr>
              <a:t>t</a:t>
            </a:r>
            <a:r>
              <a:rPr lang="en-US" sz="1600" spc="-10" dirty="0">
                <a:latin typeface="Helvetica" panose="020B0604020202020204" pitchFamily="34" charset="0"/>
                <a:cs typeface="Helvetica" panose="020B0604020202020204" pitchFamily="34" charset="0"/>
              </a:rPr>
              <a:t>h</a:t>
            </a:r>
            <a:r>
              <a:rPr lang="en-US" sz="1600" spc="-20" dirty="0">
                <a:latin typeface="Helvetica" panose="020B0604020202020204" pitchFamily="34" charset="0"/>
                <a:cs typeface="Helvetica" panose="020B0604020202020204" pitchFamily="34" charset="0"/>
              </a:rPr>
              <a:t>a</a:t>
            </a:r>
            <a:r>
              <a:rPr lang="en-US" sz="1600" spc="-10" dirty="0">
                <a:latin typeface="Helvetica" panose="020B0604020202020204" pitchFamily="34" charset="0"/>
                <a:cs typeface="Helvetica" panose="020B0604020202020204" pitchFamily="34" charset="0"/>
              </a:rPr>
              <a:t>t</a:t>
            </a:r>
            <a:r>
              <a:rPr lang="en-US" sz="1600" spc="14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the</a:t>
            </a:r>
            <a:r>
              <a:rPr lang="en-US" sz="1600" spc="140"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c</a:t>
            </a:r>
            <a:r>
              <a:rPr lang="en-US" sz="1600" spc="-15" dirty="0">
                <a:latin typeface="Helvetica" panose="020B0604020202020204" pitchFamily="34" charset="0"/>
                <a:cs typeface="Helvetica" panose="020B0604020202020204" pitchFamily="34" charset="0"/>
              </a:rPr>
              <a:t>l</a:t>
            </a:r>
            <a:r>
              <a:rPr lang="en-US" sz="1600" spc="-10" dirty="0">
                <a:latin typeface="Helvetica" panose="020B0604020202020204" pitchFamily="34" charset="0"/>
                <a:cs typeface="Helvetica" panose="020B0604020202020204" pitchFamily="34" charset="0"/>
              </a:rPr>
              <a:t>ie</a:t>
            </a:r>
            <a:r>
              <a:rPr lang="en-US" sz="1600" spc="-25" dirty="0">
                <a:latin typeface="Helvetica" panose="020B0604020202020204" pitchFamily="34" charset="0"/>
                <a:cs typeface="Helvetica" panose="020B0604020202020204" pitchFamily="34" charset="0"/>
              </a:rPr>
              <a:t>n</a:t>
            </a:r>
            <a:r>
              <a:rPr lang="en-US" sz="1600" spc="-10" dirty="0">
                <a:latin typeface="Helvetica" panose="020B0604020202020204" pitchFamily="34" charset="0"/>
                <a:cs typeface="Helvetica" panose="020B0604020202020204" pitchFamily="34" charset="0"/>
              </a:rPr>
              <a:t>ts</a:t>
            </a:r>
            <a:r>
              <a:rPr lang="en-US" sz="1600" spc="145" dirty="0">
                <a:latin typeface="Helvetica" panose="020B0604020202020204" pitchFamily="34" charset="0"/>
                <a:cs typeface="Helvetica" panose="020B0604020202020204" pitchFamily="34" charset="0"/>
              </a:rPr>
              <a:t> </a:t>
            </a:r>
            <a:r>
              <a:rPr lang="en-US" sz="1600" spc="-30" dirty="0">
                <a:latin typeface="Helvetica" panose="020B0604020202020204" pitchFamily="34" charset="0"/>
                <a:cs typeface="Helvetica" panose="020B0604020202020204" pitchFamily="34" charset="0"/>
              </a:rPr>
              <a:t>w</a:t>
            </a:r>
            <a:r>
              <a:rPr lang="en-US" sz="1600" spc="-5" dirty="0">
                <a:latin typeface="Helvetica" panose="020B0604020202020204" pitchFamily="34" charset="0"/>
                <a:cs typeface="Helvetica" panose="020B0604020202020204" pitchFamily="34" charset="0"/>
              </a:rPr>
              <a:t>o</a:t>
            </a:r>
            <a:r>
              <a:rPr lang="en-US" sz="1600" spc="-10" dirty="0">
                <a:latin typeface="Helvetica" panose="020B0604020202020204" pitchFamily="34" charset="0"/>
                <a:cs typeface="Helvetica" panose="020B0604020202020204" pitchFamily="34" charset="0"/>
              </a:rPr>
              <a:t>u</a:t>
            </a:r>
            <a:r>
              <a:rPr lang="en-US" sz="1600" dirty="0">
                <a:latin typeface="Helvetica" panose="020B0604020202020204" pitchFamily="34" charset="0"/>
                <a:cs typeface="Helvetica" panose="020B0604020202020204" pitchFamily="34" charset="0"/>
              </a:rPr>
              <a:t>l</a:t>
            </a:r>
            <a:r>
              <a:rPr lang="en-US" sz="1600" spc="-10" dirty="0">
                <a:latin typeface="Helvetica" panose="020B0604020202020204" pitchFamily="34" charset="0"/>
                <a:cs typeface="Helvetica" panose="020B0604020202020204" pitchFamily="34" charset="0"/>
              </a:rPr>
              <a:t>d</a:t>
            </a:r>
            <a:r>
              <a:rPr lang="en-US" sz="1600" spc="135" dirty="0">
                <a:latin typeface="Helvetica" panose="020B0604020202020204" pitchFamily="34" charset="0"/>
                <a:cs typeface="Helvetica" panose="020B0604020202020204" pitchFamily="34" charset="0"/>
              </a:rPr>
              <a:t> </a:t>
            </a:r>
            <a:r>
              <a:rPr lang="en-US" sz="1600" spc="-15" dirty="0">
                <a:latin typeface="Helvetica" panose="020B0604020202020204" pitchFamily="34" charset="0"/>
                <a:cs typeface="Helvetica" panose="020B0604020202020204" pitchFamily="34" charset="0"/>
              </a:rPr>
              <a:t>l</a:t>
            </a:r>
            <a:r>
              <a:rPr lang="en-US" sz="1600" spc="-5" dirty="0">
                <a:latin typeface="Helvetica" panose="020B0604020202020204" pitchFamily="34" charset="0"/>
                <a:cs typeface="Helvetica" panose="020B0604020202020204" pitchFamily="34" charset="0"/>
              </a:rPr>
              <a:t>i</a:t>
            </a:r>
            <a:r>
              <a:rPr lang="en-US" sz="1600" spc="-65" dirty="0">
                <a:latin typeface="Helvetica" panose="020B0604020202020204" pitchFamily="34" charset="0"/>
                <a:cs typeface="Helvetica" panose="020B0604020202020204" pitchFamily="34" charset="0"/>
              </a:rPr>
              <a:t>k</a:t>
            </a:r>
            <a:r>
              <a:rPr lang="en-US" sz="1600" spc="-15" dirty="0">
                <a:latin typeface="Helvetica" panose="020B0604020202020204" pitchFamily="34" charset="0"/>
                <a:cs typeface="Helvetica" panose="020B0604020202020204" pitchFamily="34" charset="0"/>
              </a:rPr>
              <a:t>e</a:t>
            </a:r>
            <a:r>
              <a:rPr lang="en-US" sz="1600" spc="-5" dirty="0">
                <a:latin typeface="Helvetica" panose="020B0604020202020204" pitchFamily="34" charset="0"/>
                <a:cs typeface="Helvetica" panose="020B0604020202020204" pitchFamily="34" charset="0"/>
              </a:rPr>
              <a:t>.</a:t>
            </a:r>
            <a:r>
              <a:rPr lang="en-US" sz="1600" spc="14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T</a:t>
            </a:r>
            <a:r>
              <a:rPr lang="en-US" sz="1600" spc="-20" dirty="0">
                <a:latin typeface="Helvetica" panose="020B0604020202020204" pitchFamily="34" charset="0"/>
                <a:cs typeface="Helvetica" panose="020B0604020202020204" pitchFamily="34" charset="0"/>
              </a:rPr>
              <a:t>h</a:t>
            </a:r>
            <a:r>
              <a:rPr lang="en-US" sz="1600" spc="-5" dirty="0">
                <a:latin typeface="Helvetica" panose="020B0604020202020204" pitchFamily="34" charset="0"/>
                <a:cs typeface="Helvetica" panose="020B0604020202020204" pitchFamily="34" charset="0"/>
              </a:rPr>
              <a:t>is</a:t>
            </a:r>
            <a:r>
              <a:rPr lang="en-US" sz="1600" spc="14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typi</a:t>
            </a:r>
            <a:r>
              <a:rPr lang="en-US" sz="1600" spc="-35" dirty="0">
                <a:latin typeface="Helvetica" panose="020B0604020202020204" pitchFamily="34" charset="0"/>
                <a:cs typeface="Helvetica" panose="020B0604020202020204" pitchFamily="34" charset="0"/>
              </a:rPr>
              <a:t>c</a:t>
            </a:r>
            <a:r>
              <a:rPr lang="en-US" sz="1600" spc="-10" dirty="0">
                <a:latin typeface="Helvetica" panose="020B0604020202020204" pitchFamily="34" charset="0"/>
                <a:cs typeface="Helvetica" panose="020B0604020202020204" pitchFamily="34" charset="0"/>
              </a:rPr>
              <a:t>ally</a:t>
            </a:r>
            <a:r>
              <a:rPr lang="en-US" sz="1600" spc="140"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depends</a:t>
            </a:r>
            <a:r>
              <a:rPr lang="en-US" sz="1600" spc="140" dirty="0">
                <a:latin typeface="Helvetica" panose="020B0604020202020204" pitchFamily="34" charset="0"/>
                <a:cs typeface="Helvetica" panose="020B0604020202020204" pitchFamily="34" charset="0"/>
              </a:rPr>
              <a:t> </a:t>
            </a:r>
            <a:r>
              <a:rPr lang="en-US" sz="1600" spc="-15" dirty="0">
                <a:latin typeface="Helvetica" panose="020B0604020202020204" pitchFamily="34" charset="0"/>
                <a:cs typeface="Helvetica" panose="020B0604020202020204" pitchFamily="34" charset="0"/>
              </a:rPr>
              <a:t>o</a:t>
            </a:r>
            <a:r>
              <a:rPr lang="en-US" sz="1600" spc="-10" dirty="0">
                <a:latin typeface="Helvetica" panose="020B0604020202020204" pitchFamily="34" charset="0"/>
                <a:cs typeface="Helvetica" panose="020B0604020202020204" pitchFamily="34" charset="0"/>
              </a:rPr>
              <a:t>n</a:t>
            </a:r>
            <a:r>
              <a:rPr lang="en-US" sz="1600" spc="145" dirty="0">
                <a:latin typeface="Helvetica" panose="020B0604020202020204" pitchFamily="34" charset="0"/>
                <a:cs typeface="Helvetica" panose="020B0604020202020204" pitchFamily="34" charset="0"/>
              </a:rPr>
              <a:t> </a:t>
            </a:r>
            <a:r>
              <a:rPr lang="en-US" sz="1600" spc="5" dirty="0">
                <a:latin typeface="Helvetica" panose="020B0604020202020204" pitchFamily="34" charset="0"/>
                <a:cs typeface="Helvetica" panose="020B0604020202020204" pitchFamily="34" charset="0"/>
              </a:rPr>
              <a:t>t</a:t>
            </a:r>
            <a:r>
              <a:rPr lang="en-US" sz="1600" spc="-10" dirty="0">
                <a:latin typeface="Helvetica" panose="020B0604020202020204" pitchFamily="34" charset="0"/>
                <a:cs typeface="Helvetica" panose="020B0604020202020204" pitchFamily="34" charset="0"/>
              </a:rPr>
              <a:t>he</a:t>
            </a:r>
            <a:r>
              <a:rPr lang="en-US" sz="1600" spc="140"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n</a:t>
            </a:r>
            <a:r>
              <a:rPr lang="en-US" sz="1600" spc="-20" dirty="0">
                <a:latin typeface="Helvetica" panose="020B0604020202020204" pitchFamily="34" charset="0"/>
                <a:cs typeface="Helvetica" panose="020B0604020202020204" pitchFamily="34" charset="0"/>
              </a:rPr>
              <a:t>a</a:t>
            </a:r>
            <a:r>
              <a:rPr lang="en-US" sz="1600" spc="-10" dirty="0">
                <a:latin typeface="Helvetica" panose="020B0604020202020204" pitchFamily="34" charset="0"/>
                <a:cs typeface="Helvetica" panose="020B0604020202020204" pitchFamily="34" charset="0"/>
              </a:rPr>
              <a:t>tu</a:t>
            </a:r>
            <a:r>
              <a:rPr lang="en-US" sz="1600" spc="-40" dirty="0">
                <a:latin typeface="Helvetica" panose="020B0604020202020204" pitchFamily="34" charset="0"/>
                <a:cs typeface="Helvetica" panose="020B0604020202020204" pitchFamily="34" charset="0"/>
              </a:rPr>
              <a:t>r</a:t>
            </a:r>
            <a:r>
              <a:rPr lang="en-US" sz="1600" spc="-10" dirty="0">
                <a:latin typeface="Helvetica" panose="020B0604020202020204" pitchFamily="34" charset="0"/>
                <a:cs typeface="Helvetica" panose="020B0604020202020204" pitchFamily="34" charset="0"/>
              </a:rPr>
              <a:t>e</a:t>
            </a:r>
            <a:r>
              <a:rPr lang="en-US" sz="1600" spc="150" dirty="0">
                <a:latin typeface="Helvetica" panose="020B0604020202020204" pitchFamily="34" charset="0"/>
                <a:cs typeface="Helvetica" panose="020B0604020202020204" pitchFamily="34" charset="0"/>
              </a:rPr>
              <a:t> </a:t>
            </a:r>
            <a:r>
              <a:rPr lang="en-US" sz="1600" spc="-15" dirty="0">
                <a:latin typeface="Helvetica" panose="020B0604020202020204" pitchFamily="34" charset="0"/>
                <a:cs typeface="Helvetica" panose="020B0604020202020204" pitchFamily="34" charset="0"/>
              </a:rPr>
              <a:t>o</a:t>
            </a:r>
            <a:r>
              <a:rPr lang="en-US" sz="1600" spc="-5" dirty="0">
                <a:latin typeface="Helvetica" panose="020B0604020202020204" pitchFamily="34" charset="0"/>
                <a:cs typeface="Helvetica" panose="020B0604020202020204" pitchFamily="34" charset="0"/>
              </a:rPr>
              <a:t>f</a:t>
            </a:r>
            <a:r>
              <a:rPr lang="en-US" sz="1600" spc="14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the</a:t>
            </a:r>
            <a:r>
              <a:rPr lang="en-US" sz="1600" spc="155" dirty="0">
                <a:latin typeface="Helvetica" panose="020B0604020202020204" pitchFamily="34" charset="0"/>
                <a:cs typeface="Helvetica" panose="020B0604020202020204" pitchFamily="34" charset="0"/>
              </a:rPr>
              <a:t> </a:t>
            </a:r>
            <a:r>
              <a:rPr lang="en-US" sz="1600" dirty="0">
                <a:latin typeface="Helvetica" panose="020B0604020202020204" pitchFamily="34" charset="0"/>
                <a:cs typeface="Helvetica" panose="020B0604020202020204" pitchFamily="34" charset="0"/>
              </a:rPr>
              <a:t>e</a:t>
            </a:r>
            <a:r>
              <a:rPr lang="en-US" sz="1600" spc="-10" dirty="0">
                <a:latin typeface="Helvetica" panose="020B0604020202020204" pitchFamily="34" charset="0"/>
                <a:cs typeface="Helvetica" panose="020B0604020202020204" pitchFamily="34" charset="0"/>
              </a:rPr>
              <a:t>n</a:t>
            </a:r>
            <a:r>
              <a:rPr lang="en-US" sz="1600" spc="-40" dirty="0">
                <a:latin typeface="Helvetica" panose="020B0604020202020204" pitchFamily="34" charset="0"/>
                <a:cs typeface="Helvetica" panose="020B0604020202020204" pitchFamily="34" charset="0"/>
              </a:rPr>
              <a:t>g</a:t>
            </a:r>
            <a:r>
              <a:rPr lang="en-US" sz="1600" spc="-10" dirty="0">
                <a:latin typeface="Helvetica" panose="020B0604020202020204" pitchFamily="34" charset="0"/>
                <a:cs typeface="Helvetica" panose="020B0604020202020204" pitchFamily="34" charset="0"/>
              </a:rPr>
              <a:t>a</a:t>
            </a:r>
            <a:r>
              <a:rPr lang="en-US" sz="1600" spc="-15" dirty="0">
                <a:latin typeface="Helvetica" panose="020B0604020202020204" pitchFamily="34" charset="0"/>
                <a:cs typeface="Helvetica" panose="020B0604020202020204" pitchFamily="34" charset="0"/>
              </a:rPr>
              <a:t>g</a:t>
            </a:r>
            <a:r>
              <a:rPr lang="en-US" sz="1600" spc="-10" dirty="0">
                <a:latin typeface="Helvetica" panose="020B0604020202020204" pitchFamily="34" charset="0"/>
                <a:cs typeface="Helvetica" panose="020B0604020202020204" pitchFamily="34" charset="0"/>
              </a:rPr>
              <a:t>eme</a:t>
            </a:r>
            <a:r>
              <a:rPr lang="en-US" sz="1600" spc="-20" dirty="0">
                <a:latin typeface="Helvetica" panose="020B0604020202020204" pitchFamily="34" charset="0"/>
                <a:cs typeface="Helvetica" panose="020B0604020202020204" pitchFamily="34" charset="0"/>
              </a:rPr>
              <a:t>n</a:t>
            </a:r>
            <a:r>
              <a:rPr lang="en-US" sz="1600" spc="-5" dirty="0">
                <a:latin typeface="Helvetica" panose="020B0604020202020204" pitchFamily="34" charset="0"/>
                <a:cs typeface="Helvetica" panose="020B0604020202020204" pitchFamily="34" charset="0"/>
              </a:rPr>
              <a:t>t, the li</a:t>
            </a:r>
            <a:r>
              <a:rPr lang="en-US" sz="1600" spc="-40" dirty="0">
                <a:latin typeface="Helvetica" panose="020B0604020202020204" pitchFamily="34" charset="0"/>
                <a:cs typeface="Helvetica" panose="020B0604020202020204" pitchFamily="34" charset="0"/>
              </a:rPr>
              <a:t>f</a:t>
            </a:r>
            <a:r>
              <a:rPr lang="en-US" sz="1600" spc="-10" dirty="0">
                <a:latin typeface="Helvetica" panose="020B0604020202020204" pitchFamily="34" charset="0"/>
                <a:cs typeface="Helvetica" panose="020B0604020202020204" pitchFamily="34" charset="0"/>
              </a:rPr>
              <a:t>e</a:t>
            </a:r>
            <a:r>
              <a:rPr lang="en-US" sz="1600" spc="-20" dirty="0">
                <a:latin typeface="Helvetica" panose="020B0604020202020204" pitchFamily="34" charset="0"/>
                <a:cs typeface="Helvetica" panose="020B0604020202020204" pitchFamily="34" charset="0"/>
              </a:rPr>
              <a:t>c</a:t>
            </a:r>
            <a:r>
              <a:rPr lang="en-US" sz="1600" spc="-40" dirty="0">
                <a:latin typeface="Helvetica" panose="020B0604020202020204" pitchFamily="34" charset="0"/>
                <a:cs typeface="Helvetica" panose="020B0604020202020204" pitchFamily="34" charset="0"/>
              </a:rPr>
              <a:t>y</a:t>
            </a:r>
            <a:r>
              <a:rPr lang="en-US" sz="1600" spc="-10" dirty="0">
                <a:latin typeface="Helvetica" panose="020B0604020202020204" pitchFamily="34" charset="0"/>
                <a:cs typeface="Helvetica" panose="020B0604020202020204" pitchFamily="34" charset="0"/>
              </a:rPr>
              <a:t>cle</a:t>
            </a:r>
            <a:r>
              <a:rPr lang="en-US" sz="1600" spc="5" dirty="0">
                <a:latin typeface="Helvetica" panose="020B0604020202020204" pitchFamily="34" charset="0"/>
                <a:cs typeface="Helvetica" panose="020B0604020202020204" pitchFamily="34" charset="0"/>
              </a:rPr>
              <a:t> </a:t>
            </a:r>
            <a:r>
              <a:rPr lang="en-US" sz="1600" spc="-15" dirty="0">
                <a:latin typeface="Helvetica" panose="020B0604020202020204" pitchFamily="34" charset="0"/>
                <a:cs typeface="Helvetica" panose="020B0604020202020204" pitchFamily="34" charset="0"/>
              </a:rPr>
              <a:t>o</a:t>
            </a:r>
            <a:r>
              <a:rPr lang="en-US" sz="1600" spc="-5" dirty="0">
                <a:latin typeface="Helvetica" panose="020B0604020202020204" pitchFamily="34" charset="0"/>
                <a:cs typeface="Helvetica" panose="020B0604020202020204" pitchFamily="34" charset="0"/>
              </a:rPr>
              <a:t>f </a:t>
            </a:r>
            <a:r>
              <a:rPr lang="en-US" sz="1600" spc="-10" dirty="0">
                <a:latin typeface="Helvetica" panose="020B0604020202020204" pitchFamily="34" charset="0"/>
                <a:cs typeface="Helvetica" panose="020B0604020202020204" pitchFamily="34" charset="0"/>
              </a:rPr>
              <a:t>the</a:t>
            </a:r>
            <a:r>
              <a:rPr lang="en-US" sz="1600" spc="10"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app</a:t>
            </a:r>
            <a:r>
              <a:rPr lang="en-US" sz="1600" dirty="0">
                <a:latin typeface="Helvetica" panose="020B0604020202020204" pitchFamily="34" charset="0"/>
                <a:cs typeface="Helvetica" panose="020B0604020202020204" pitchFamily="34" charset="0"/>
              </a:rPr>
              <a:t>l</a:t>
            </a:r>
            <a:r>
              <a:rPr lang="en-US" sz="1600" spc="-5" dirty="0">
                <a:latin typeface="Helvetica" panose="020B0604020202020204" pitchFamily="34" charset="0"/>
                <a:cs typeface="Helvetica" panose="020B0604020202020204" pitchFamily="34" charset="0"/>
              </a:rPr>
              <a:t>i</a:t>
            </a:r>
            <a:r>
              <a:rPr lang="en-US" sz="1600" spc="-25" dirty="0">
                <a:latin typeface="Helvetica" panose="020B0604020202020204" pitchFamily="34" charset="0"/>
                <a:cs typeface="Helvetica" panose="020B0604020202020204" pitchFamily="34" charset="0"/>
              </a:rPr>
              <a:t>c</a:t>
            </a:r>
            <a:r>
              <a:rPr lang="en-US" sz="1600" spc="-20" dirty="0">
                <a:latin typeface="Helvetica" panose="020B0604020202020204" pitchFamily="34" charset="0"/>
                <a:cs typeface="Helvetica" panose="020B0604020202020204" pitchFamily="34" charset="0"/>
              </a:rPr>
              <a:t>a</a:t>
            </a:r>
            <a:r>
              <a:rPr lang="en-US" sz="1600" spc="-10" dirty="0">
                <a:latin typeface="Helvetica" panose="020B0604020202020204" pitchFamily="34" charset="0"/>
                <a:cs typeface="Helvetica" panose="020B0604020202020204" pitchFamily="34" charset="0"/>
              </a:rPr>
              <a:t>t</a:t>
            </a:r>
            <a:r>
              <a:rPr lang="en-US" sz="1600" spc="-15" dirty="0">
                <a:latin typeface="Helvetica" panose="020B0604020202020204" pitchFamily="34" charset="0"/>
                <a:cs typeface="Helvetica" panose="020B0604020202020204" pitchFamily="34" charset="0"/>
              </a:rPr>
              <a:t>i</a:t>
            </a:r>
            <a:r>
              <a:rPr lang="en-US" sz="1600" spc="-10" dirty="0">
                <a:latin typeface="Helvetica" panose="020B0604020202020204" pitchFamily="34" charset="0"/>
                <a:cs typeface="Helvetica" panose="020B0604020202020204" pitchFamily="34" charset="0"/>
              </a:rPr>
              <a:t>on,</a:t>
            </a:r>
            <a:r>
              <a:rPr lang="en-US" sz="1600" spc="-25" dirty="0">
                <a:latin typeface="Helvetica" panose="020B0604020202020204" pitchFamily="34" charset="0"/>
                <a:cs typeface="Helvetica" panose="020B0604020202020204" pitchFamily="34" charset="0"/>
              </a:rPr>
              <a:t> </a:t>
            </a:r>
            <a:r>
              <a:rPr lang="en-US" sz="1600" spc="-10" dirty="0">
                <a:latin typeface="Helvetica" panose="020B0604020202020204" pitchFamily="34" charset="0"/>
                <a:cs typeface="Helvetica" panose="020B0604020202020204" pitchFamily="34" charset="0"/>
              </a:rPr>
              <a:t>and cl</a:t>
            </a:r>
            <a:r>
              <a:rPr lang="en-US" sz="1600" dirty="0">
                <a:latin typeface="Helvetica" panose="020B0604020202020204" pitchFamily="34" charset="0"/>
                <a:cs typeface="Helvetica" panose="020B0604020202020204" pitchFamily="34" charset="0"/>
              </a:rPr>
              <a:t>i</a:t>
            </a:r>
            <a:r>
              <a:rPr lang="en-US" sz="1600" spc="-10" dirty="0">
                <a:latin typeface="Helvetica" panose="020B0604020202020204" pitchFamily="34" charset="0"/>
                <a:cs typeface="Helvetica" panose="020B0604020202020204" pitchFamily="34" charset="0"/>
              </a:rPr>
              <a:t>e</a:t>
            </a:r>
            <a:r>
              <a:rPr lang="en-US" sz="1600" spc="-25" dirty="0">
                <a:latin typeface="Helvetica" panose="020B0604020202020204" pitchFamily="34" charset="0"/>
                <a:cs typeface="Helvetica" panose="020B0604020202020204" pitchFamily="34" charset="0"/>
              </a:rPr>
              <a:t>n</a:t>
            </a:r>
            <a:r>
              <a:rPr lang="en-US" sz="1600" spc="-10" dirty="0">
                <a:latin typeface="Helvetica" panose="020B0604020202020204" pitchFamily="34" charset="0"/>
                <a:cs typeface="Helvetica" panose="020B0604020202020204" pitchFamily="34" charset="0"/>
              </a:rPr>
              <a:t>ts </a:t>
            </a:r>
            <a:r>
              <a:rPr lang="en-US" sz="1600" spc="-20" dirty="0">
                <a:latin typeface="Helvetica" panose="020B0604020202020204" pitchFamily="34" charset="0"/>
                <a:cs typeface="Helvetica" panose="020B0604020202020204" pitchFamily="34" charset="0"/>
              </a:rPr>
              <a:t>g</a:t>
            </a:r>
            <a:r>
              <a:rPr lang="en-US" sz="1600" spc="-10" dirty="0">
                <a:latin typeface="Helvetica" panose="020B0604020202020204" pitchFamily="34" charset="0"/>
                <a:cs typeface="Helvetica" panose="020B0604020202020204" pitchFamily="34" charset="0"/>
              </a:rPr>
              <a:t>oa</a:t>
            </a:r>
            <a:r>
              <a:rPr lang="en-US" sz="1600" dirty="0">
                <a:latin typeface="Helvetica" panose="020B0604020202020204" pitchFamily="34" charset="0"/>
                <a:cs typeface="Helvetica" panose="020B0604020202020204" pitchFamily="34" charset="0"/>
              </a:rPr>
              <a:t>l</a:t>
            </a:r>
            <a:r>
              <a:rPr lang="en-US" sz="1600" spc="-5" dirty="0">
                <a:latin typeface="Helvetica" panose="020B0604020202020204" pitchFamily="34" charset="0"/>
                <a:cs typeface="Helvetica" panose="020B0604020202020204" pitchFamily="34" charset="0"/>
              </a:rPr>
              <a:t>s.</a:t>
            </a:r>
            <a:endParaRPr lang="en-US" sz="1600" dirty="0">
              <a:latin typeface="Helvetica" panose="020B0604020202020204" pitchFamily="34" charset="0"/>
              <a:cs typeface="Helvetica" panose="020B0604020202020204" pitchFamily="34" charset="0"/>
            </a:endParaRPr>
          </a:p>
        </p:txBody>
      </p:sp>
      <p:sp>
        <p:nvSpPr>
          <p:cNvPr id="5" name="object 3">
            <a:extLst>
              <a:ext uri="{FF2B5EF4-FFF2-40B4-BE49-F238E27FC236}">
                <a16:creationId xmlns:a16="http://schemas.microsoft.com/office/drawing/2014/main" id="{7AE93EA2-C9B8-4F52-EE9D-785AD03D240B}"/>
              </a:ext>
            </a:extLst>
          </p:cNvPr>
          <p:cNvSpPr/>
          <p:nvPr/>
        </p:nvSpPr>
        <p:spPr>
          <a:xfrm>
            <a:off x="1934974" y="2541847"/>
            <a:ext cx="1484122" cy="1228344"/>
          </a:xfrm>
          <a:custGeom>
            <a:avLst/>
            <a:gdLst/>
            <a:ahLst/>
            <a:cxnLst/>
            <a:rect l="l" t="t" r="r" b="b"/>
            <a:pathLst>
              <a:path w="1471422" h="1228344">
                <a:moveTo>
                  <a:pt x="0" y="147132"/>
                </a:moveTo>
                <a:lnTo>
                  <a:pt x="14469" y="110657"/>
                </a:lnTo>
                <a:lnTo>
                  <a:pt x="40899" y="71506"/>
                </a:lnTo>
                <a:lnTo>
                  <a:pt x="75435" y="39510"/>
                </a:lnTo>
                <a:lnTo>
                  <a:pt x="116654" y="16093"/>
                </a:lnTo>
                <a:lnTo>
                  <a:pt x="163135" y="2680"/>
                </a:lnTo>
                <a:lnTo>
                  <a:pt x="196342" y="0"/>
                </a:lnTo>
                <a:lnTo>
                  <a:pt x="1266698" y="0"/>
                </a:lnTo>
                <a:lnTo>
                  <a:pt x="1315883" y="5951"/>
                </a:lnTo>
                <a:lnTo>
                  <a:pt x="1360764" y="22857"/>
                </a:lnTo>
                <a:lnTo>
                  <a:pt x="1399915" y="49292"/>
                </a:lnTo>
                <a:lnTo>
                  <a:pt x="1431911" y="83832"/>
                </a:lnTo>
                <a:lnTo>
                  <a:pt x="1455328" y="125051"/>
                </a:lnTo>
                <a:lnTo>
                  <a:pt x="1468741" y="171525"/>
                </a:lnTo>
                <a:lnTo>
                  <a:pt x="1471422" y="204724"/>
                </a:lnTo>
                <a:lnTo>
                  <a:pt x="1471422" y="1023620"/>
                </a:lnTo>
                <a:lnTo>
                  <a:pt x="1465470" y="1072805"/>
                </a:lnTo>
                <a:lnTo>
                  <a:pt x="1448564" y="1117686"/>
                </a:lnTo>
                <a:lnTo>
                  <a:pt x="1422129" y="1156837"/>
                </a:lnTo>
                <a:lnTo>
                  <a:pt x="1387589" y="1188833"/>
                </a:lnTo>
                <a:lnTo>
                  <a:pt x="1346370" y="1212250"/>
                </a:lnTo>
                <a:lnTo>
                  <a:pt x="1299896" y="1225663"/>
                </a:lnTo>
                <a:lnTo>
                  <a:pt x="1266698" y="1228344"/>
                </a:lnTo>
                <a:lnTo>
                  <a:pt x="196342" y="1228344"/>
                </a:lnTo>
                <a:lnTo>
                  <a:pt x="147144" y="1222392"/>
                </a:lnTo>
                <a:lnTo>
                  <a:pt x="102260" y="1205486"/>
                </a:lnTo>
                <a:lnTo>
                  <a:pt x="63110" y="1179051"/>
                </a:lnTo>
                <a:lnTo>
                  <a:pt x="31118" y="1144511"/>
                </a:lnTo>
                <a:lnTo>
                  <a:pt x="7706" y="1103292"/>
                </a:lnTo>
                <a:lnTo>
                  <a:pt x="0" y="1081211"/>
                </a:lnTo>
              </a:path>
            </a:pathLst>
          </a:custGeom>
          <a:ln w="19812">
            <a:solidFill>
              <a:srgbClr val="000000"/>
            </a:solidFill>
          </a:ln>
        </p:spPr>
        <p:txBody>
          <a:bodyPr wrap="square" lIns="0" tIns="0" rIns="0" bIns="0" rtlCol="0">
            <a:noAutofit/>
          </a:bodyPr>
          <a:lstStyle/>
          <a:p>
            <a:endParaRPr dirty="0"/>
          </a:p>
        </p:txBody>
      </p:sp>
      <p:sp>
        <p:nvSpPr>
          <p:cNvPr id="9" name="object 4">
            <a:extLst>
              <a:ext uri="{FF2B5EF4-FFF2-40B4-BE49-F238E27FC236}">
                <a16:creationId xmlns:a16="http://schemas.microsoft.com/office/drawing/2014/main" id="{0F02A92F-4964-F56D-BBA0-476ED01C2745}"/>
              </a:ext>
            </a:extLst>
          </p:cNvPr>
          <p:cNvSpPr txBox="1"/>
          <p:nvPr/>
        </p:nvSpPr>
        <p:spPr>
          <a:xfrm>
            <a:off x="2148764" y="3037530"/>
            <a:ext cx="1062762" cy="235585"/>
          </a:xfrm>
          <a:prstGeom prst="rect">
            <a:avLst/>
          </a:prstGeom>
        </p:spPr>
        <p:txBody>
          <a:bodyPr vert="horz" wrap="square" lIns="0" tIns="0" rIns="0" bIns="0" rtlCol="0">
            <a:noAutofit/>
          </a:bodyPr>
          <a:lstStyle/>
          <a:p>
            <a:pPr marL="12700"/>
            <a:r>
              <a:rPr sz="1200" b="1" spc="-15" dirty="0">
                <a:latin typeface="Cambria" panose="02040503050406030204" pitchFamily="18" charset="0"/>
                <a:cs typeface="Calibri"/>
              </a:rPr>
              <a:t>C</a:t>
            </a:r>
            <a:r>
              <a:rPr sz="1200" b="1" dirty="0">
                <a:latin typeface="Cambria" panose="02040503050406030204" pitchFamily="18" charset="0"/>
                <a:cs typeface="Calibri"/>
              </a:rPr>
              <a:t>ON</a:t>
            </a:r>
            <a:r>
              <a:rPr sz="1200" b="1" spc="-10" dirty="0">
                <a:latin typeface="Cambria" panose="02040503050406030204" pitchFamily="18" charset="0"/>
                <a:cs typeface="Calibri"/>
              </a:rPr>
              <a:t>S</a:t>
            </a:r>
            <a:r>
              <a:rPr sz="1200" b="1" spc="-5" dirty="0">
                <a:latin typeface="Cambria" panose="02040503050406030204" pitchFamily="18" charset="0"/>
                <a:cs typeface="Calibri"/>
              </a:rPr>
              <a:t>U</a:t>
            </a:r>
            <a:r>
              <a:rPr sz="1200" b="1" spc="-114" dirty="0">
                <a:latin typeface="Cambria" panose="02040503050406030204" pitchFamily="18" charset="0"/>
                <a:cs typeface="Calibri"/>
              </a:rPr>
              <a:t>L</a:t>
            </a:r>
            <a:r>
              <a:rPr sz="1200" b="1" dirty="0">
                <a:latin typeface="Cambria" panose="02040503050406030204" pitchFamily="18" charset="0"/>
                <a:cs typeface="Calibri"/>
              </a:rPr>
              <a:t>TING</a:t>
            </a:r>
            <a:endParaRPr sz="1200" dirty="0">
              <a:latin typeface="Cambria" panose="02040503050406030204" pitchFamily="18" charset="0"/>
              <a:cs typeface="Calibri"/>
            </a:endParaRPr>
          </a:p>
        </p:txBody>
      </p:sp>
      <p:sp>
        <p:nvSpPr>
          <p:cNvPr id="10" name="object 5">
            <a:extLst>
              <a:ext uri="{FF2B5EF4-FFF2-40B4-BE49-F238E27FC236}">
                <a16:creationId xmlns:a16="http://schemas.microsoft.com/office/drawing/2014/main" id="{7D73EAF9-CBE7-CFD7-276A-C845F0A06FDF}"/>
              </a:ext>
            </a:extLst>
          </p:cNvPr>
          <p:cNvSpPr/>
          <p:nvPr/>
        </p:nvSpPr>
        <p:spPr>
          <a:xfrm>
            <a:off x="3452115" y="2541847"/>
            <a:ext cx="4002024" cy="1228344"/>
          </a:xfrm>
          <a:custGeom>
            <a:avLst/>
            <a:gdLst/>
            <a:ahLst/>
            <a:cxnLst/>
            <a:rect l="l" t="t" r="r" b="b"/>
            <a:pathLst>
              <a:path w="4002024" h="1228344">
                <a:moveTo>
                  <a:pt x="0" y="204724"/>
                </a:moveTo>
                <a:lnTo>
                  <a:pt x="5951" y="155538"/>
                </a:lnTo>
                <a:lnTo>
                  <a:pt x="22857" y="110657"/>
                </a:lnTo>
                <a:lnTo>
                  <a:pt x="49292" y="71506"/>
                </a:lnTo>
                <a:lnTo>
                  <a:pt x="83832" y="39510"/>
                </a:lnTo>
                <a:lnTo>
                  <a:pt x="125051" y="16093"/>
                </a:lnTo>
                <a:lnTo>
                  <a:pt x="171525" y="2680"/>
                </a:lnTo>
                <a:lnTo>
                  <a:pt x="204724" y="0"/>
                </a:lnTo>
                <a:lnTo>
                  <a:pt x="3797300" y="0"/>
                </a:lnTo>
                <a:lnTo>
                  <a:pt x="3846485" y="5951"/>
                </a:lnTo>
                <a:lnTo>
                  <a:pt x="3891366" y="22857"/>
                </a:lnTo>
                <a:lnTo>
                  <a:pt x="3930517" y="49292"/>
                </a:lnTo>
                <a:lnTo>
                  <a:pt x="3962513" y="83832"/>
                </a:lnTo>
                <a:lnTo>
                  <a:pt x="3985930" y="125051"/>
                </a:lnTo>
                <a:lnTo>
                  <a:pt x="3999343" y="171525"/>
                </a:lnTo>
                <a:lnTo>
                  <a:pt x="4002024" y="204724"/>
                </a:lnTo>
                <a:lnTo>
                  <a:pt x="4002024" y="1023620"/>
                </a:lnTo>
                <a:lnTo>
                  <a:pt x="3996072" y="1072805"/>
                </a:lnTo>
                <a:lnTo>
                  <a:pt x="3979166" y="1117686"/>
                </a:lnTo>
                <a:lnTo>
                  <a:pt x="3952731" y="1156837"/>
                </a:lnTo>
                <a:lnTo>
                  <a:pt x="3918191" y="1188833"/>
                </a:lnTo>
                <a:lnTo>
                  <a:pt x="3876972" y="1212250"/>
                </a:lnTo>
                <a:lnTo>
                  <a:pt x="3830498" y="1225663"/>
                </a:lnTo>
                <a:lnTo>
                  <a:pt x="3797300" y="1228344"/>
                </a:lnTo>
                <a:lnTo>
                  <a:pt x="204724" y="1228344"/>
                </a:lnTo>
                <a:lnTo>
                  <a:pt x="155538" y="1222392"/>
                </a:lnTo>
                <a:lnTo>
                  <a:pt x="110657" y="1205486"/>
                </a:lnTo>
                <a:lnTo>
                  <a:pt x="71506" y="1179051"/>
                </a:lnTo>
                <a:lnTo>
                  <a:pt x="39510" y="1144511"/>
                </a:lnTo>
                <a:lnTo>
                  <a:pt x="16093" y="1103292"/>
                </a:lnTo>
                <a:lnTo>
                  <a:pt x="2680" y="1056818"/>
                </a:lnTo>
                <a:lnTo>
                  <a:pt x="0" y="1023620"/>
                </a:lnTo>
                <a:lnTo>
                  <a:pt x="0" y="204724"/>
                </a:lnTo>
                <a:close/>
              </a:path>
            </a:pathLst>
          </a:custGeom>
          <a:ln w="19812">
            <a:solidFill>
              <a:srgbClr val="FF6600"/>
            </a:solidFill>
          </a:ln>
        </p:spPr>
        <p:txBody>
          <a:bodyPr wrap="square" lIns="0" tIns="0" rIns="0" bIns="0" rtlCol="0">
            <a:noAutofit/>
          </a:bodyPr>
          <a:lstStyle/>
          <a:p>
            <a:endParaRPr dirty="0"/>
          </a:p>
        </p:txBody>
      </p:sp>
      <p:sp>
        <p:nvSpPr>
          <p:cNvPr id="11" name="object 6">
            <a:extLst>
              <a:ext uri="{FF2B5EF4-FFF2-40B4-BE49-F238E27FC236}">
                <a16:creationId xmlns:a16="http://schemas.microsoft.com/office/drawing/2014/main" id="{C921FBB5-478C-6130-6044-3923E98FF52D}"/>
              </a:ext>
            </a:extLst>
          </p:cNvPr>
          <p:cNvSpPr txBox="1"/>
          <p:nvPr/>
        </p:nvSpPr>
        <p:spPr>
          <a:xfrm>
            <a:off x="3566416" y="2717489"/>
            <a:ext cx="3725545" cy="875665"/>
          </a:xfrm>
          <a:prstGeom prst="rect">
            <a:avLst/>
          </a:prstGeom>
        </p:spPr>
        <p:txBody>
          <a:bodyPr vert="horz" wrap="square" lIns="0" tIns="0" rIns="0" bIns="0" rtlCol="0">
            <a:noAutofit/>
          </a:bodyPr>
          <a:lstStyle/>
          <a:p>
            <a:pPr marL="12700" marR="12700" algn="just"/>
            <a:r>
              <a:rPr sz="1200" spc="-10" dirty="0">
                <a:solidFill>
                  <a:schemeClr val="dk1"/>
                </a:solidFill>
                <a:latin typeface="Helvetica" panose="020B0604020202020204" pitchFamily="34" charset="0"/>
                <a:cs typeface="Helvetica" panose="020B0604020202020204" pitchFamily="34" charset="0"/>
              </a:rPr>
              <a:t>Client  controls   the   project   while   engaging   </a:t>
            </a:r>
            <a:r>
              <a:rPr lang="en-US" sz="1200" spc="-10" dirty="0">
                <a:solidFill>
                  <a:schemeClr val="dk1"/>
                </a:solidFill>
                <a:latin typeface="Helvetica" panose="020B0604020202020204" pitchFamily="34" charset="0"/>
                <a:cs typeface="Helvetica" panose="020B0604020202020204" pitchFamily="34" charset="0"/>
              </a:rPr>
              <a:t>Lumbini</a:t>
            </a:r>
            <a:r>
              <a:rPr lang="fa-IR" sz="1200" spc="-10" dirty="0">
                <a:solidFill>
                  <a:schemeClr val="dk1"/>
                </a:solidFill>
                <a:latin typeface="Helvetica" panose="020B0604020202020204" pitchFamily="34" charset="0"/>
                <a:cs typeface="Helvetica" panose="020B0604020202020204" pitchFamily="34" charset="0"/>
              </a:rPr>
              <a:t> </a:t>
            </a:r>
            <a:r>
              <a:rPr sz="1200" spc="-10" dirty="0">
                <a:solidFill>
                  <a:schemeClr val="dk1"/>
                </a:solidFill>
                <a:latin typeface="Helvetica" panose="020B0604020202020204" pitchFamily="34" charset="0"/>
                <a:cs typeface="Helvetica" panose="020B0604020202020204" pitchFamily="34" charset="0"/>
              </a:rPr>
              <a:t>consultants for specific services   exclusively   or among  multiple  vendor  partners,  each  meeting their specific project requirements</a:t>
            </a:r>
          </a:p>
        </p:txBody>
      </p:sp>
      <p:sp>
        <p:nvSpPr>
          <p:cNvPr id="12" name="object 7">
            <a:extLst>
              <a:ext uri="{FF2B5EF4-FFF2-40B4-BE49-F238E27FC236}">
                <a16:creationId xmlns:a16="http://schemas.microsoft.com/office/drawing/2014/main" id="{E9FC13C5-C9FC-7B6E-B114-AC6D6D4CE59C}"/>
              </a:ext>
            </a:extLst>
          </p:cNvPr>
          <p:cNvSpPr/>
          <p:nvPr/>
        </p:nvSpPr>
        <p:spPr>
          <a:xfrm>
            <a:off x="1934974" y="3806767"/>
            <a:ext cx="1471422" cy="1190244"/>
          </a:xfrm>
          <a:custGeom>
            <a:avLst/>
            <a:gdLst/>
            <a:ahLst/>
            <a:cxnLst/>
            <a:rect l="l" t="t" r="r" b="b"/>
            <a:pathLst>
              <a:path w="1471422" h="1190244">
                <a:moveTo>
                  <a:pt x="0" y="141642"/>
                </a:moveTo>
                <a:lnTo>
                  <a:pt x="21339" y="93860"/>
                </a:lnTo>
                <a:lnTo>
                  <a:pt x="49721" y="58086"/>
                </a:lnTo>
                <a:lnTo>
                  <a:pt x="85498" y="29710"/>
                </a:lnTo>
                <a:lnTo>
                  <a:pt x="127291" y="10109"/>
                </a:lnTo>
                <a:lnTo>
                  <a:pt x="173722" y="657"/>
                </a:lnTo>
                <a:lnTo>
                  <a:pt x="189992" y="0"/>
                </a:lnTo>
                <a:lnTo>
                  <a:pt x="1273048" y="0"/>
                </a:lnTo>
                <a:lnTo>
                  <a:pt x="1320733" y="5762"/>
                </a:lnTo>
                <a:lnTo>
                  <a:pt x="1364230" y="22134"/>
                </a:lnTo>
                <a:lnTo>
                  <a:pt x="1402164" y="47738"/>
                </a:lnTo>
                <a:lnTo>
                  <a:pt x="1433159" y="81198"/>
                </a:lnTo>
                <a:lnTo>
                  <a:pt x="1455838" y="121140"/>
                </a:lnTo>
                <a:lnTo>
                  <a:pt x="1468826" y="166186"/>
                </a:lnTo>
                <a:lnTo>
                  <a:pt x="1471422" y="198374"/>
                </a:lnTo>
                <a:lnTo>
                  <a:pt x="1471422" y="991869"/>
                </a:lnTo>
                <a:lnTo>
                  <a:pt x="1465659" y="1039555"/>
                </a:lnTo>
                <a:lnTo>
                  <a:pt x="1449287" y="1083052"/>
                </a:lnTo>
                <a:lnTo>
                  <a:pt x="1423683" y="1120986"/>
                </a:lnTo>
                <a:lnTo>
                  <a:pt x="1390223" y="1151981"/>
                </a:lnTo>
                <a:lnTo>
                  <a:pt x="1350281" y="1174660"/>
                </a:lnTo>
                <a:lnTo>
                  <a:pt x="1305235" y="1187648"/>
                </a:lnTo>
                <a:lnTo>
                  <a:pt x="1273048" y="1190244"/>
                </a:lnTo>
                <a:lnTo>
                  <a:pt x="189992" y="1190244"/>
                </a:lnTo>
                <a:lnTo>
                  <a:pt x="142321" y="1184481"/>
                </a:lnTo>
                <a:lnTo>
                  <a:pt x="98828" y="1168109"/>
                </a:lnTo>
                <a:lnTo>
                  <a:pt x="60893" y="1142505"/>
                </a:lnTo>
                <a:lnTo>
                  <a:pt x="29893" y="1109045"/>
                </a:lnTo>
                <a:lnTo>
                  <a:pt x="7207" y="1069103"/>
                </a:lnTo>
                <a:lnTo>
                  <a:pt x="0" y="1048601"/>
                </a:lnTo>
              </a:path>
            </a:pathLst>
          </a:custGeom>
          <a:ln w="19812">
            <a:solidFill>
              <a:srgbClr val="000000"/>
            </a:solidFill>
          </a:ln>
        </p:spPr>
        <p:txBody>
          <a:bodyPr wrap="square" lIns="0" tIns="0" rIns="0" bIns="0" rtlCol="0">
            <a:noAutofit/>
          </a:bodyPr>
          <a:lstStyle/>
          <a:p>
            <a:endParaRPr dirty="0"/>
          </a:p>
        </p:txBody>
      </p:sp>
      <p:sp>
        <p:nvSpPr>
          <p:cNvPr id="13" name="object 8">
            <a:extLst>
              <a:ext uri="{FF2B5EF4-FFF2-40B4-BE49-F238E27FC236}">
                <a16:creationId xmlns:a16="http://schemas.microsoft.com/office/drawing/2014/main" id="{3DA32DDD-8324-9BD6-6ACF-725E403BFBAC}"/>
              </a:ext>
            </a:extLst>
          </p:cNvPr>
          <p:cNvSpPr txBox="1"/>
          <p:nvPr/>
        </p:nvSpPr>
        <p:spPr>
          <a:xfrm>
            <a:off x="2122222" y="4283779"/>
            <a:ext cx="1329893" cy="313246"/>
          </a:xfrm>
          <a:prstGeom prst="rect">
            <a:avLst/>
          </a:prstGeom>
        </p:spPr>
        <p:txBody>
          <a:bodyPr vert="horz" wrap="square" lIns="0" tIns="0" rIns="0" bIns="0" rtlCol="0">
            <a:noAutofit/>
          </a:bodyPr>
          <a:lstStyle/>
          <a:p>
            <a:pPr marL="12700"/>
            <a:r>
              <a:rPr sz="1200" b="1" spc="-15" dirty="0">
                <a:latin typeface="Cambria" panose="02040503050406030204" pitchFamily="18" charset="0"/>
                <a:cs typeface="Calibri"/>
              </a:rPr>
              <a:t>C</a:t>
            </a:r>
            <a:r>
              <a:rPr sz="1200" b="1" spc="-5" dirty="0">
                <a:latin typeface="Cambria" panose="02040503050406030204" pitchFamily="18" charset="0"/>
                <a:cs typeface="Calibri"/>
              </a:rPr>
              <a:t>O</a:t>
            </a:r>
            <a:r>
              <a:rPr sz="1200" b="1" dirty="0">
                <a:latin typeface="Cambria" panose="02040503050406030204" pitchFamily="18" charset="0"/>
                <a:cs typeface="Calibri"/>
              </a:rPr>
              <a:t>-</a:t>
            </a:r>
            <a:r>
              <a:rPr sz="1200" b="1" spc="-10" dirty="0">
                <a:latin typeface="Cambria" panose="02040503050406030204" pitchFamily="18" charset="0"/>
                <a:cs typeface="Calibri"/>
              </a:rPr>
              <a:t>S</a:t>
            </a:r>
            <a:r>
              <a:rPr sz="1200" b="1" dirty="0">
                <a:latin typeface="Cambria" panose="02040503050406030204" pitchFamily="18" charset="0"/>
                <a:cs typeface="Calibri"/>
              </a:rPr>
              <a:t>O</a:t>
            </a:r>
            <a:r>
              <a:rPr sz="1200" b="1" spc="-10" dirty="0">
                <a:latin typeface="Cambria" panose="02040503050406030204" pitchFamily="18" charset="0"/>
                <a:cs typeface="Calibri"/>
              </a:rPr>
              <a:t>U</a:t>
            </a:r>
            <a:r>
              <a:rPr sz="1200" b="1" spc="-15" dirty="0">
                <a:latin typeface="Cambria" panose="02040503050406030204" pitchFamily="18" charset="0"/>
                <a:cs typeface="Calibri"/>
              </a:rPr>
              <a:t>R</a:t>
            </a:r>
            <a:r>
              <a:rPr sz="1200" b="1" dirty="0">
                <a:latin typeface="Cambria" panose="02040503050406030204" pitchFamily="18" charset="0"/>
                <a:cs typeface="Calibri"/>
              </a:rPr>
              <a:t>CI</a:t>
            </a:r>
            <a:r>
              <a:rPr sz="1200" b="1" spc="-5" dirty="0">
                <a:latin typeface="Cambria" panose="02040503050406030204" pitchFamily="18" charset="0"/>
                <a:cs typeface="Calibri"/>
              </a:rPr>
              <a:t>N</a:t>
            </a:r>
            <a:r>
              <a:rPr sz="1200" b="1" dirty="0">
                <a:latin typeface="Cambria" panose="02040503050406030204" pitchFamily="18" charset="0"/>
                <a:cs typeface="Calibri"/>
              </a:rPr>
              <a:t>G</a:t>
            </a:r>
            <a:endParaRPr sz="1200" dirty="0">
              <a:latin typeface="Cambria" panose="02040503050406030204" pitchFamily="18" charset="0"/>
              <a:cs typeface="Calibri"/>
            </a:endParaRPr>
          </a:p>
        </p:txBody>
      </p:sp>
      <p:sp>
        <p:nvSpPr>
          <p:cNvPr id="17" name="object 9">
            <a:extLst>
              <a:ext uri="{FF2B5EF4-FFF2-40B4-BE49-F238E27FC236}">
                <a16:creationId xmlns:a16="http://schemas.microsoft.com/office/drawing/2014/main" id="{F96EC932-30CE-5C4D-1F35-39FFF5F72622}"/>
              </a:ext>
            </a:extLst>
          </p:cNvPr>
          <p:cNvSpPr/>
          <p:nvPr/>
        </p:nvSpPr>
        <p:spPr>
          <a:xfrm>
            <a:off x="3428365" y="3806767"/>
            <a:ext cx="4002024" cy="1190244"/>
          </a:xfrm>
          <a:custGeom>
            <a:avLst/>
            <a:gdLst/>
            <a:ahLst/>
            <a:cxnLst/>
            <a:rect l="l" t="t" r="r" b="b"/>
            <a:pathLst>
              <a:path w="4002024" h="1190244">
                <a:moveTo>
                  <a:pt x="0" y="198374"/>
                </a:moveTo>
                <a:lnTo>
                  <a:pt x="5762" y="150688"/>
                </a:lnTo>
                <a:lnTo>
                  <a:pt x="22134" y="107191"/>
                </a:lnTo>
                <a:lnTo>
                  <a:pt x="47738" y="69257"/>
                </a:lnTo>
                <a:lnTo>
                  <a:pt x="81198" y="38262"/>
                </a:lnTo>
                <a:lnTo>
                  <a:pt x="121140" y="15583"/>
                </a:lnTo>
                <a:lnTo>
                  <a:pt x="166186" y="2595"/>
                </a:lnTo>
                <a:lnTo>
                  <a:pt x="198374" y="0"/>
                </a:lnTo>
                <a:lnTo>
                  <a:pt x="3803650" y="0"/>
                </a:lnTo>
                <a:lnTo>
                  <a:pt x="3851335" y="5762"/>
                </a:lnTo>
                <a:lnTo>
                  <a:pt x="3894832" y="22134"/>
                </a:lnTo>
                <a:lnTo>
                  <a:pt x="3932766" y="47738"/>
                </a:lnTo>
                <a:lnTo>
                  <a:pt x="3963761" y="81198"/>
                </a:lnTo>
                <a:lnTo>
                  <a:pt x="3986440" y="121140"/>
                </a:lnTo>
                <a:lnTo>
                  <a:pt x="3999428" y="166186"/>
                </a:lnTo>
                <a:lnTo>
                  <a:pt x="4002024" y="198374"/>
                </a:lnTo>
                <a:lnTo>
                  <a:pt x="4002024" y="991869"/>
                </a:lnTo>
                <a:lnTo>
                  <a:pt x="3996261" y="1039555"/>
                </a:lnTo>
                <a:lnTo>
                  <a:pt x="3979889" y="1083052"/>
                </a:lnTo>
                <a:lnTo>
                  <a:pt x="3954285" y="1120986"/>
                </a:lnTo>
                <a:lnTo>
                  <a:pt x="3920825" y="1151981"/>
                </a:lnTo>
                <a:lnTo>
                  <a:pt x="3880883" y="1174660"/>
                </a:lnTo>
                <a:lnTo>
                  <a:pt x="3835837" y="1187648"/>
                </a:lnTo>
                <a:lnTo>
                  <a:pt x="3803650" y="1190244"/>
                </a:lnTo>
                <a:lnTo>
                  <a:pt x="198374" y="1190244"/>
                </a:lnTo>
                <a:lnTo>
                  <a:pt x="150688" y="1184481"/>
                </a:lnTo>
                <a:lnTo>
                  <a:pt x="107191" y="1168109"/>
                </a:lnTo>
                <a:lnTo>
                  <a:pt x="69257" y="1142505"/>
                </a:lnTo>
                <a:lnTo>
                  <a:pt x="38262" y="1109045"/>
                </a:lnTo>
                <a:lnTo>
                  <a:pt x="15583" y="1069103"/>
                </a:lnTo>
                <a:lnTo>
                  <a:pt x="2595" y="1024057"/>
                </a:lnTo>
                <a:lnTo>
                  <a:pt x="0" y="991869"/>
                </a:lnTo>
                <a:lnTo>
                  <a:pt x="0" y="198374"/>
                </a:lnTo>
                <a:close/>
              </a:path>
            </a:pathLst>
          </a:custGeom>
          <a:ln w="19812">
            <a:solidFill>
              <a:srgbClr val="FF6600"/>
            </a:solidFill>
          </a:ln>
        </p:spPr>
        <p:txBody>
          <a:bodyPr wrap="square" lIns="0" tIns="0" rIns="0" bIns="0" rtlCol="0">
            <a:noAutofit/>
          </a:bodyPr>
          <a:lstStyle/>
          <a:p>
            <a:endParaRPr dirty="0"/>
          </a:p>
        </p:txBody>
      </p:sp>
      <p:sp>
        <p:nvSpPr>
          <p:cNvPr id="18" name="object 10">
            <a:extLst>
              <a:ext uri="{FF2B5EF4-FFF2-40B4-BE49-F238E27FC236}">
                <a16:creationId xmlns:a16="http://schemas.microsoft.com/office/drawing/2014/main" id="{36D4D68D-1CD5-E2E7-2A5E-E5766E8111A8}"/>
              </a:ext>
            </a:extLst>
          </p:cNvPr>
          <p:cNvSpPr txBox="1"/>
          <p:nvPr/>
        </p:nvSpPr>
        <p:spPr>
          <a:xfrm>
            <a:off x="3588260" y="3857061"/>
            <a:ext cx="3728085" cy="1089025"/>
          </a:xfrm>
          <a:prstGeom prst="rect">
            <a:avLst/>
          </a:prstGeom>
        </p:spPr>
        <p:txBody>
          <a:bodyPr vert="horz" wrap="square" lIns="0" tIns="0" rIns="0" bIns="0" rtlCol="0">
            <a:noAutofit/>
          </a:bodyPr>
          <a:lstStyle/>
          <a:p>
            <a:pPr marL="12700" marR="12700" algn="just"/>
            <a:r>
              <a:rPr sz="1200" spc="-10" dirty="0">
                <a:solidFill>
                  <a:schemeClr val="dk1"/>
                </a:solidFill>
                <a:latin typeface="Helvetica" panose="020B0604020202020204" pitchFamily="34" charset="0"/>
                <a:cs typeface="Helvetica" panose="020B0604020202020204" pitchFamily="34" charset="0"/>
              </a:rPr>
              <a:t>Client  and  </a:t>
            </a:r>
            <a:r>
              <a:rPr lang="en-US" sz="1200" spc="-10" dirty="0">
                <a:solidFill>
                  <a:schemeClr val="dk1"/>
                </a:solidFill>
                <a:latin typeface="Helvetica" panose="020B0604020202020204" pitchFamily="34" charset="0"/>
                <a:cs typeface="Helvetica" panose="020B0604020202020204" pitchFamily="34" charset="0"/>
              </a:rPr>
              <a:t>Lumbini</a:t>
            </a:r>
            <a:r>
              <a:rPr sz="1200" spc="-10" dirty="0">
                <a:solidFill>
                  <a:schemeClr val="dk1"/>
                </a:solidFill>
                <a:latin typeface="Helvetica" panose="020B0604020202020204" pitchFamily="34" charset="0"/>
                <a:cs typeface="Helvetica" panose="020B0604020202020204" pitchFamily="34" charset="0"/>
              </a:rPr>
              <a:t>  both  have  acute  insight  on  the engagement. Client is responsible for engagement planning   and  user  coordination,  while  the  </a:t>
            </a:r>
            <a:r>
              <a:rPr lang="en-US" sz="1200" spc="-10" dirty="0">
                <a:solidFill>
                  <a:schemeClr val="dk1"/>
                </a:solidFill>
                <a:latin typeface="Helvetica" panose="020B0604020202020204" pitchFamily="34" charset="0"/>
                <a:cs typeface="Helvetica" panose="020B0604020202020204" pitchFamily="34" charset="0"/>
              </a:rPr>
              <a:t>Lumbini</a:t>
            </a:r>
            <a:r>
              <a:rPr sz="1200" spc="-10" dirty="0">
                <a:solidFill>
                  <a:schemeClr val="dk1"/>
                </a:solidFill>
                <a:latin typeface="Helvetica" panose="020B0604020202020204" pitchFamily="34" charset="0"/>
                <a:cs typeface="Helvetica" panose="020B0604020202020204" pitchFamily="34" charset="0"/>
              </a:rPr>
              <a:t> team  is  responsible  for  deliverables  and  resource planning</a:t>
            </a:r>
          </a:p>
        </p:txBody>
      </p:sp>
      <p:sp>
        <p:nvSpPr>
          <p:cNvPr id="19" name="object 11">
            <a:extLst>
              <a:ext uri="{FF2B5EF4-FFF2-40B4-BE49-F238E27FC236}">
                <a16:creationId xmlns:a16="http://schemas.microsoft.com/office/drawing/2014/main" id="{72E9D5E3-3B25-2131-F8ED-1414DD2EA1F6}"/>
              </a:ext>
            </a:extLst>
          </p:cNvPr>
          <p:cNvSpPr/>
          <p:nvPr/>
        </p:nvSpPr>
        <p:spPr>
          <a:xfrm>
            <a:off x="1934974" y="5038160"/>
            <a:ext cx="1471422" cy="1242060"/>
          </a:xfrm>
          <a:custGeom>
            <a:avLst/>
            <a:gdLst/>
            <a:ahLst/>
            <a:cxnLst/>
            <a:rect l="l" t="t" r="r" b="b"/>
            <a:pathLst>
              <a:path w="1471422" h="1242060">
                <a:moveTo>
                  <a:pt x="0" y="149095"/>
                </a:moveTo>
                <a:lnTo>
                  <a:pt x="14724" y="111889"/>
                </a:lnTo>
                <a:lnTo>
                  <a:pt x="41449" y="72301"/>
                </a:lnTo>
                <a:lnTo>
                  <a:pt x="76371" y="39949"/>
                </a:lnTo>
                <a:lnTo>
                  <a:pt x="118051" y="16271"/>
                </a:lnTo>
                <a:lnTo>
                  <a:pt x="165050" y="2710"/>
                </a:lnTo>
                <a:lnTo>
                  <a:pt x="198628" y="0"/>
                </a:lnTo>
                <a:lnTo>
                  <a:pt x="1264412" y="0"/>
                </a:lnTo>
                <a:lnTo>
                  <a:pt x="1314149" y="6017"/>
                </a:lnTo>
                <a:lnTo>
                  <a:pt x="1359532" y="23111"/>
                </a:lnTo>
                <a:lnTo>
                  <a:pt x="1399120" y="49840"/>
                </a:lnTo>
                <a:lnTo>
                  <a:pt x="1431472" y="84764"/>
                </a:lnTo>
                <a:lnTo>
                  <a:pt x="1455150" y="126444"/>
                </a:lnTo>
                <a:lnTo>
                  <a:pt x="1468711" y="173438"/>
                </a:lnTo>
                <a:lnTo>
                  <a:pt x="1471422" y="207010"/>
                </a:lnTo>
                <a:lnTo>
                  <a:pt x="1471422" y="1035050"/>
                </a:lnTo>
                <a:lnTo>
                  <a:pt x="1465404" y="1084795"/>
                </a:lnTo>
                <a:lnTo>
                  <a:pt x="1448310" y="1130181"/>
                </a:lnTo>
                <a:lnTo>
                  <a:pt x="1421581" y="1169768"/>
                </a:lnTo>
                <a:lnTo>
                  <a:pt x="1386657" y="1202118"/>
                </a:lnTo>
                <a:lnTo>
                  <a:pt x="1344977" y="1225791"/>
                </a:lnTo>
                <a:lnTo>
                  <a:pt x="1297983" y="1239350"/>
                </a:lnTo>
                <a:lnTo>
                  <a:pt x="1264412" y="1242060"/>
                </a:lnTo>
                <a:lnTo>
                  <a:pt x="198628" y="1242060"/>
                </a:lnTo>
                <a:lnTo>
                  <a:pt x="148881" y="1236043"/>
                </a:lnTo>
                <a:lnTo>
                  <a:pt x="103495" y="1218953"/>
                </a:lnTo>
                <a:lnTo>
                  <a:pt x="63908" y="1192227"/>
                </a:lnTo>
                <a:lnTo>
                  <a:pt x="31559" y="1157306"/>
                </a:lnTo>
                <a:lnTo>
                  <a:pt x="7886" y="1115626"/>
                </a:lnTo>
                <a:lnTo>
                  <a:pt x="0" y="1092973"/>
                </a:lnTo>
              </a:path>
            </a:pathLst>
          </a:custGeom>
          <a:ln w="19812">
            <a:solidFill>
              <a:srgbClr val="000000"/>
            </a:solidFill>
          </a:ln>
        </p:spPr>
        <p:txBody>
          <a:bodyPr wrap="square" lIns="0" tIns="0" rIns="0" bIns="0" rtlCol="0">
            <a:noAutofit/>
          </a:bodyPr>
          <a:lstStyle/>
          <a:p>
            <a:endParaRPr dirty="0"/>
          </a:p>
        </p:txBody>
      </p:sp>
      <p:sp>
        <p:nvSpPr>
          <p:cNvPr id="20" name="object 12">
            <a:extLst>
              <a:ext uri="{FF2B5EF4-FFF2-40B4-BE49-F238E27FC236}">
                <a16:creationId xmlns:a16="http://schemas.microsoft.com/office/drawing/2014/main" id="{D223EE94-86F5-DC2A-205B-09EB79223C23}"/>
              </a:ext>
            </a:extLst>
          </p:cNvPr>
          <p:cNvSpPr txBox="1"/>
          <p:nvPr/>
        </p:nvSpPr>
        <p:spPr>
          <a:xfrm>
            <a:off x="2050925" y="5552090"/>
            <a:ext cx="1204477" cy="235585"/>
          </a:xfrm>
          <a:prstGeom prst="rect">
            <a:avLst/>
          </a:prstGeom>
        </p:spPr>
        <p:txBody>
          <a:bodyPr vert="horz" wrap="square" lIns="0" tIns="0" rIns="0" bIns="0" rtlCol="0">
            <a:noAutofit/>
          </a:bodyPr>
          <a:lstStyle/>
          <a:p>
            <a:pPr marL="12700"/>
            <a:r>
              <a:rPr sz="1200" b="1" dirty="0">
                <a:latin typeface="Cambria" panose="02040503050406030204" pitchFamily="18" charset="0"/>
                <a:cs typeface="Calibri"/>
              </a:rPr>
              <a:t>O</a:t>
            </a:r>
            <a:r>
              <a:rPr sz="1200" b="1" spc="-10" dirty="0">
                <a:latin typeface="Cambria" panose="02040503050406030204" pitchFamily="18" charset="0"/>
                <a:cs typeface="Calibri"/>
              </a:rPr>
              <a:t>U</a:t>
            </a:r>
            <a:r>
              <a:rPr sz="1200" b="1" spc="-15" dirty="0">
                <a:latin typeface="Cambria" panose="02040503050406030204" pitchFamily="18" charset="0"/>
                <a:cs typeface="Calibri"/>
              </a:rPr>
              <a:t>T</a:t>
            </a:r>
            <a:r>
              <a:rPr sz="1200" b="1" dirty="0">
                <a:latin typeface="Cambria" panose="02040503050406030204" pitchFamily="18" charset="0"/>
                <a:cs typeface="Calibri"/>
              </a:rPr>
              <a:t>S</a:t>
            </a:r>
            <a:r>
              <a:rPr sz="1200" b="1" spc="-10" dirty="0">
                <a:latin typeface="Cambria" panose="02040503050406030204" pitchFamily="18" charset="0"/>
                <a:cs typeface="Calibri"/>
              </a:rPr>
              <a:t>O</a:t>
            </a:r>
            <a:r>
              <a:rPr sz="1200" b="1" spc="-5" dirty="0">
                <a:latin typeface="Cambria" panose="02040503050406030204" pitchFamily="18" charset="0"/>
                <a:cs typeface="Calibri"/>
              </a:rPr>
              <a:t>U</a:t>
            </a:r>
            <a:r>
              <a:rPr sz="1200" b="1" spc="-10" dirty="0">
                <a:latin typeface="Cambria" panose="02040503050406030204" pitchFamily="18" charset="0"/>
                <a:cs typeface="Calibri"/>
              </a:rPr>
              <a:t>R</a:t>
            </a:r>
            <a:r>
              <a:rPr sz="1200" b="1" dirty="0">
                <a:latin typeface="Cambria" panose="02040503050406030204" pitchFamily="18" charset="0"/>
                <a:cs typeface="Calibri"/>
              </a:rPr>
              <a:t>CING</a:t>
            </a:r>
            <a:endParaRPr sz="1200" dirty="0">
              <a:latin typeface="Cambria" panose="02040503050406030204" pitchFamily="18" charset="0"/>
              <a:cs typeface="Calibri"/>
            </a:endParaRPr>
          </a:p>
        </p:txBody>
      </p:sp>
      <p:sp>
        <p:nvSpPr>
          <p:cNvPr id="21" name="object 13">
            <a:extLst>
              <a:ext uri="{FF2B5EF4-FFF2-40B4-BE49-F238E27FC236}">
                <a16:creationId xmlns:a16="http://schemas.microsoft.com/office/drawing/2014/main" id="{1330DD9C-1B2C-6D6D-8EC6-B08CE6589982}"/>
              </a:ext>
            </a:extLst>
          </p:cNvPr>
          <p:cNvSpPr/>
          <p:nvPr/>
        </p:nvSpPr>
        <p:spPr>
          <a:xfrm>
            <a:off x="3428365" y="5038160"/>
            <a:ext cx="4002024" cy="1242060"/>
          </a:xfrm>
          <a:custGeom>
            <a:avLst/>
            <a:gdLst/>
            <a:ahLst/>
            <a:cxnLst/>
            <a:rect l="l" t="t" r="r" b="b"/>
            <a:pathLst>
              <a:path w="4002024" h="1242060">
                <a:moveTo>
                  <a:pt x="0" y="207010"/>
                </a:moveTo>
                <a:lnTo>
                  <a:pt x="6017" y="157272"/>
                </a:lnTo>
                <a:lnTo>
                  <a:pt x="23111" y="111889"/>
                </a:lnTo>
                <a:lnTo>
                  <a:pt x="49840" y="72301"/>
                </a:lnTo>
                <a:lnTo>
                  <a:pt x="84764" y="39949"/>
                </a:lnTo>
                <a:lnTo>
                  <a:pt x="126444" y="16271"/>
                </a:lnTo>
                <a:lnTo>
                  <a:pt x="173438" y="2710"/>
                </a:lnTo>
                <a:lnTo>
                  <a:pt x="207009" y="0"/>
                </a:lnTo>
                <a:lnTo>
                  <a:pt x="3795014" y="0"/>
                </a:lnTo>
                <a:lnTo>
                  <a:pt x="3844751" y="6017"/>
                </a:lnTo>
                <a:lnTo>
                  <a:pt x="3890134" y="23111"/>
                </a:lnTo>
                <a:lnTo>
                  <a:pt x="3929722" y="49840"/>
                </a:lnTo>
                <a:lnTo>
                  <a:pt x="3962074" y="84764"/>
                </a:lnTo>
                <a:lnTo>
                  <a:pt x="3985752" y="126444"/>
                </a:lnTo>
                <a:lnTo>
                  <a:pt x="3999313" y="173438"/>
                </a:lnTo>
                <a:lnTo>
                  <a:pt x="4002024" y="207010"/>
                </a:lnTo>
                <a:lnTo>
                  <a:pt x="4002024" y="1035050"/>
                </a:lnTo>
                <a:lnTo>
                  <a:pt x="3996006" y="1084795"/>
                </a:lnTo>
                <a:lnTo>
                  <a:pt x="3978912" y="1130181"/>
                </a:lnTo>
                <a:lnTo>
                  <a:pt x="3952183" y="1169768"/>
                </a:lnTo>
                <a:lnTo>
                  <a:pt x="3917259" y="1202118"/>
                </a:lnTo>
                <a:lnTo>
                  <a:pt x="3875579" y="1225791"/>
                </a:lnTo>
                <a:lnTo>
                  <a:pt x="3828585" y="1239350"/>
                </a:lnTo>
                <a:lnTo>
                  <a:pt x="3795014" y="1242060"/>
                </a:lnTo>
                <a:lnTo>
                  <a:pt x="207009" y="1242060"/>
                </a:lnTo>
                <a:lnTo>
                  <a:pt x="157272" y="1236043"/>
                </a:lnTo>
                <a:lnTo>
                  <a:pt x="111889" y="1218953"/>
                </a:lnTo>
                <a:lnTo>
                  <a:pt x="72301" y="1192227"/>
                </a:lnTo>
                <a:lnTo>
                  <a:pt x="39949" y="1157306"/>
                </a:lnTo>
                <a:lnTo>
                  <a:pt x="16271" y="1115626"/>
                </a:lnTo>
                <a:lnTo>
                  <a:pt x="2710" y="1068627"/>
                </a:lnTo>
                <a:lnTo>
                  <a:pt x="0" y="1035050"/>
                </a:lnTo>
                <a:lnTo>
                  <a:pt x="0" y="207010"/>
                </a:lnTo>
                <a:close/>
              </a:path>
            </a:pathLst>
          </a:custGeom>
          <a:ln w="19812">
            <a:solidFill>
              <a:srgbClr val="FF6600"/>
            </a:solidFill>
          </a:ln>
        </p:spPr>
        <p:txBody>
          <a:bodyPr wrap="square" lIns="0" tIns="0" rIns="0" bIns="0" rtlCol="0">
            <a:noAutofit/>
          </a:bodyPr>
          <a:lstStyle/>
          <a:p>
            <a:endParaRPr dirty="0"/>
          </a:p>
        </p:txBody>
      </p:sp>
      <p:sp>
        <p:nvSpPr>
          <p:cNvPr id="22" name="object 14">
            <a:extLst>
              <a:ext uri="{FF2B5EF4-FFF2-40B4-BE49-F238E27FC236}">
                <a16:creationId xmlns:a16="http://schemas.microsoft.com/office/drawing/2014/main" id="{8E44DF5E-D4CE-ADDB-6F64-39AF5678473B}"/>
              </a:ext>
            </a:extLst>
          </p:cNvPr>
          <p:cNvSpPr txBox="1"/>
          <p:nvPr/>
        </p:nvSpPr>
        <p:spPr>
          <a:xfrm>
            <a:off x="3567050" y="5328101"/>
            <a:ext cx="3723640" cy="662305"/>
          </a:xfrm>
          <a:prstGeom prst="rect">
            <a:avLst/>
          </a:prstGeom>
        </p:spPr>
        <p:txBody>
          <a:bodyPr vert="horz" wrap="square" lIns="0" tIns="0" rIns="0" bIns="0" rtlCol="0">
            <a:noAutofit/>
          </a:bodyPr>
          <a:lstStyle/>
          <a:p>
            <a:pPr marL="12700" marR="12700" algn="just"/>
            <a:r>
              <a:rPr lang="en-US" sz="1200" spc="-10" dirty="0">
                <a:solidFill>
                  <a:schemeClr val="dk1"/>
                </a:solidFill>
                <a:latin typeface="Helvetica" panose="020B0604020202020204" pitchFamily="34" charset="0"/>
                <a:cs typeface="Helvetica" panose="020B0604020202020204" pitchFamily="34" charset="0"/>
              </a:rPr>
              <a:t>Lumbini</a:t>
            </a:r>
            <a:r>
              <a:rPr sz="1200" spc="-10" dirty="0">
                <a:solidFill>
                  <a:schemeClr val="dk1"/>
                </a:solidFill>
                <a:latin typeface="Helvetica" panose="020B0604020202020204" pitchFamily="34" charset="0"/>
                <a:cs typeface="Helvetica" panose="020B0604020202020204" pitchFamily="34" charset="0"/>
              </a:rPr>
              <a:t> is given the control as the outsourced vendor partner. Engagement is usually managed through a set of service level agreements (SLAs).</a:t>
            </a:r>
          </a:p>
        </p:txBody>
      </p:sp>
      <p:sp>
        <p:nvSpPr>
          <p:cNvPr id="23" name="object 16">
            <a:extLst>
              <a:ext uri="{FF2B5EF4-FFF2-40B4-BE49-F238E27FC236}">
                <a16:creationId xmlns:a16="http://schemas.microsoft.com/office/drawing/2014/main" id="{EC4F465D-4544-6742-57ED-84FE2F506CF7}"/>
              </a:ext>
            </a:extLst>
          </p:cNvPr>
          <p:cNvSpPr/>
          <p:nvPr/>
        </p:nvSpPr>
        <p:spPr>
          <a:xfrm>
            <a:off x="7965060" y="3474664"/>
            <a:ext cx="2893567" cy="2244725"/>
          </a:xfrm>
          <a:custGeom>
            <a:avLst/>
            <a:gdLst/>
            <a:ahLst/>
            <a:cxnLst/>
            <a:rect l="l" t="t" r="r" b="b"/>
            <a:pathLst>
              <a:path w="2893567" h="2244725">
                <a:moveTo>
                  <a:pt x="2532969" y="2102186"/>
                </a:moveTo>
                <a:lnTo>
                  <a:pt x="2415920" y="2244725"/>
                </a:lnTo>
                <a:lnTo>
                  <a:pt x="2774322" y="2108073"/>
                </a:lnTo>
                <a:lnTo>
                  <a:pt x="2581402" y="2108073"/>
                </a:lnTo>
                <a:lnTo>
                  <a:pt x="2532969" y="2102186"/>
                </a:lnTo>
                <a:close/>
              </a:path>
              <a:path w="2893567" h="2244725">
                <a:moveTo>
                  <a:pt x="2590217" y="2032471"/>
                </a:moveTo>
                <a:lnTo>
                  <a:pt x="2532969" y="2102186"/>
                </a:lnTo>
                <a:lnTo>
                  <a:pt x="2581402" y="2108073"/>
                </a:lnTo>
                <a:lnTo>
                  <a:pt x="2590217" y="2032471"/>
                </a:lnTo>
                <a:close/>
              </a:path>
              <a:path w="2893567" h="2244725">
                <a:moveTo>
                  <a:pt x="2461260" y="1789811"/>
                </a:moveTo>
                <a:lnTo>
                  <a:pt x="2546637" y="1950314"/>
                </a:lnTo>
                <a:lnTo>
                  <a:pt x="2599055" y="1956689"/>
                </a:lnTo>
                <a:lnTo>
                  <a:pt x="2581402" y="2108073"/>
                </a:lnTo>
                <a:lnTo>
                  <a:pt x="2774322" y="2108073"/>
                </a:lnTo>
                <a:lnTo>
                  <a:pt x="2893567" y="2062607"/>
                </a:lnTo>
                <a:lnTo>
                  <a:pt x="2461260" y="1789811"/>
                </a:lnTo>
                <a:close/>
              </a:path>
              <a:path w="2893567" h="2244725">
                <a:moveTo>
                  <a:pt x="139191" y="0"/>
                </a:moveTo>
                <a:lnTo>
                  <a:pt x="0" y="62230"/>
                </a:lnTo>
                <a:lnTo>
                  <a:pt x="105537" y="297942"/>
                </a:lnTo>
                <a:lnTo>
                  <a:pt x="159258" y="415290"/>
                </a:lnTo>
                <a:lnTo>
                  <a:pt x="213740" y="531368"/>
                </a:lnTo>
                <a:lnTo>
                  <a:pt x="269748" y="646049"/>
                </a:lnTo>
                <a:lnTo>
                  <a:pt x="327025" y="758825"/>
                </a:lnTo>
                <a:lnTo>
                  <a:pt x="386334" y="869442"/>
                </a:lnTo>
                <a:lnTo>
                  <a:pt x="447675" y="977265"/>
                </a:lnTo>
                <a:lnTo>
                  <a:pt x="511429" y="1081913"/>
                </a:lnTo>
                <a:lnTo>
                  <a:pt x="577977" y="1183005"/>
                </a:lnTo>
                <a:lnTo>
                  <a:pt x="647699" y="1280033"/>
                </a:lnTo>
                <a:lnTo>
                  <a:pt x="720852" y="1372743"/>
                </a:lnTo>
                <a:lnTo>
                  <a:pt x="797687" y="1460500"/>
                </a:lnTo>
                <a:lnTo>
                  <a:pt x="878586" y="1542923"/>
                </a:lnTo>
                <a:lnTo>
                  <a:pt x="921638" y="1582801"/>
                </a:lnTo>
                <a:lnTo>
                  <a:pt x="964945" y="1620266"/>
                </a:lnTo>
                <a:lnTo>
                  <a:pt x="1009522" y="1656334"/>
                </a:lnTo>
                <a:lnTo>
                  <a:pt x="1055242" y="1690497"/>
                </a:lnTo>
                <a:lnTo>
                  <a:pt x="1105154" y="1723898"/>
                </a:lnTo>
                <a:lnTo>
                  <a:pt x="1160398" y="1756156"/>
                </a:lnTo>
                <a:lnTo>
                  <a:pt x="1219327" y="1786255"/>
                </a:lnTo>
                <a:lnTo>
                  <a:pt x="1281303" y="1814703"/>
                </a:lnTo>
                <a:lnTo>
                  <a:pt x="1346835" y="1841373"/>
                </a:lnTo>
                <a:lnTo>
                  <a:pt x="1414653" y="1866646"/>
                </a:lnTo>
                <a:lnTo>
                  <a:pt x="1484757" y="1890395"/>
                </a:lnTo>
                <a:lnTo>
                  <a:pt x="1556892" y="1912747"/>
                </a:lnTo>
                <a:lnTo>
                  <a:pt x="1630807" y="1933829"/>
                </a:lnTo>
                <a:lnTo>
                  <a:pt x="1705864" y="1953641"/>
                </a:lnTo>
                <a:lnTo>
                  <a:pt x="1857247" y="1989455"/>
                </a:lnTo>
                <a:lnTo>
                  <a:pt x="2010156" y="2020824"/>
                </a:lnTo>
                <a:lnTo>
                  <a:pt x="2160142" y="2048002"/>
                </a:lnTo>
                <a:lnTo>
                  <a:pt x="2233548" y="2060067"/>
                </a:lnTo>
                <a:lnTo>
                  <a:pt x="2373757" y="2081149"/>
                </a:lnTo>
                <a:lnTo>
                  <a:pt x="2532969" y="2102186"/>
                </a:lnTo>
                <a:lnTo>
                  <a:pt x="2590217" y="2032471"/>
                </a:lnTo>
                <a:lnTo>
                  <a:pt x="2590239" y="2032283"/>
                </a:lnTo>
                <a:lnTo>
                  <a:pt x="2546637" y="1950314"/>
                </a:lnTo>
                <a:lnTo>
                  <a:pt x="2395728" y="1930400"/>
                </a:lnTo>
                <a:lnTo>
                  <a:pt x="2258314" y="1909699"/>
                </a:lnTo>
                <a:lnTo>
                  <a:pt x="2187193" y="1898015"/>
                </a:lnTo>
                <a:lnTo>
                  <a:pt x="2040763" y="1871599"/>
                </a:lnTo>
                <a:lnTo>
                  <a:pt x="1892427" y="1841246"/>
                </a:lnTo>
                <a:lnTo>
                  <a:pt x="1744598" y="1806194"/>
                </a:lnTo>
                <a:lnTo>
                  <a:pt x="1672589" y="1787271"/>
                </a:lnTo>
                <a:lnTo>
                  <a:pt x="1602105" y="1767205"/>
                </a:lnTo>
                <a:lnTo>
                  <a:pt x="1533652" y="1745996"/>
                </a:lnTo>
                <a:lnTo>
                  <a:pt x="1467612" y="1723644"/>
                </a:lnTo>
                <a:lnTo>
                  <a:pt x="1404365" y="1700276"/>
                </a:lnTo>
                <a:lnTo>
                  <a:pt x="1344675" y="1676019"/>
                </a:lnTo>
                <a:lnTo>
                  <a:pt x="1288541" y="1650492"/>
                </a:lnTo>
                <a:lnTo>
                  <a:pt x="1236725" y="1624203"/>
                </a:lnTo>
                <a:lnTo>
                  <a:pt x="1189736" y="1597152"/>
                </a:lnTo>
                <a:lnTo>
                  <a:pt x="1146556" y="1568450"/>
                </a:lnTo>
                <a:lnTo>
                  <a:pt x="1105154" y="1537589"/>
                </a:lnTo>
                <a:lnTo>
                  <a:pt x="1064640" y="1504950"/>
                </a:lnTo>
                <a:lnTo>
                  <a:pt x="1025016" y="1470914"/>
                </a:lnTo>
                <a:lnTo>
                  <a:pt x="987297" y="1435989"/>
                </a:lnTo>
                <a:lnTo>
                  <a:pt x="912240" y="1360043"/>
                </a:lnTo>
                <a:lnTo>
                  <a:pt x="840359" y="1278128"/>
                </a:lnTo>
                <a:lnTo>
                  <a:pt x="771524" y="1191260"/>
                </a:lnTo>
                <a:lnTo>
                  <a:pt x="705358" y="1099185"/>
                </a:lnTo>
                <a:lnTo>
                  <a:pt x="641604" y="1002538"/>
                </a:lnTo>
                <a:lnTo>
                  <a:pt x="580009" y="901827"/>
                </a:lnTo>
                <a:lnTo>
                  <a:pt x="520572" y="797433"/>
                </a:lnTo>
                <a:lnTo>
                  <a:pt x="462914" y="689864"/>
                </a:lnTo>
                <a:lnTo>
                  <a:pt x="406653" y="579374"/>
                </a:lnTo>
                <a:lnTo>
                  <a:pt x="351789" y="466598"/>
                </a:lnTo>
                <a:lnTo>
                  <a:pt x="297814" y="351790"/>
                </a:lnTo>
                <a:lnTo>
                  <a:pt x="244728" y="235585"/>
                </a:lnTo>
                <a:lnTo>
                  <a:pt x="139191" y="0"/>
                </a:lnTo>
                <a:close/>
              </a:path>
              <a:path w="2893567" h="2244725">
                <a:moveTo>
                  <a:pt x="2546637" y="1950314"/>
                </a:moveTo>
                <a:lnTo>
                  <a:pt x="2590239" y="2032283"/>
                </a:lnTo>
                <a:lnTo>
                  <a:pt x="2599055" y="1956689"/>
                </a:lnTo>
                <a:lnTo>
                  <a:pt x="2546637" y="1950314"/>
                </a:lnTo>
                <a:close/>
              </a:path>
            </a:pathLst>
          </a:custGeom>
          <a:solidFill>
            <a:srgbClr val="FF6600"/>
          </a:solidFill>
        </p:spPr>
        <p:txBody>
          <a:bodyPr wrap="square" lIns="0" tIns="0" rIns="0" bIns="0" rtlCol="0">
            <a:noAutofit/>
          </a:bodyPr>
          <a:lstStyle/>
          <a:p>
            <a:endParaRPr dirty="0"/>
          </a:p>
        </p:txBody>
      </p:sp>
      <p:sp>
        <p:nvSpPr>
          <p:cNvPr id="24" name="object 17">
            <a:extLst>
              <a:ext uri="{FF2B5EF4-FFF2-40B4-BE49-F238E27FC236}">
                <a16:creationId xmlns:a16="http://schemas.microsoft.com/office/drawing/2014/main" id="{CD9D4E9B-09E2-38B2-7E34-930928CC6A09}"/>
              </a:ext>
            </a:extLst>
          </p:cNvPr>
          <p:cNvSpPr/>
          <p:nvPr/>
        </p:nvSpPr>
        <p:spPr>
          <a:xfrm>
            <a:off x="7791578" y="2928944"/>
            <a:ext cx="54863" cy="3023616"/>
          </a:xfrm>
          <a:custGeom>
            <a:avLst/>
            <a:gdLst/>
            <a:ahLst/>
            <a:cxnLst/>
            <a:rect l="l" t="t" r="r" b="b"/>
            <a:pathLst>
              <a:path w="54863" h="3023616">
                <a:moveTo>
                  <a:pt x="54863" y="36575"/>
                </a:moveTo>
                <a:lnTo>
                  <a:pt x="18287" y="36575"/>
                </a:lnTo>
                <a:lnTo>
                  <a:pt x="18287" y="3023616"/>
                </a:lnTo>
                <a:lnTo>
                  <a:pt x="54863" y="3023616"/>
                </a:lnTo>
                <a:lnTo>
                  <a:pt x="54863" y="36575"/>
                </a:lnTo>
                <a:close/>
              </a:path>
              <a:path w="54863" h="3023616">
                <a:moveTo>
                  <a:pt x="36575" y="0"/>
                </a:moveTo>
                <a:lnTo>
                  <a:pt x="0" y="36575"/>
                </a:lnTo>
                <a:lnTo>
                  <a:pt x="73151" y="36575"/>
                </a:lnTo>
                <a:lnTo>
                  <a:pt x="36575" y="0"/>
                </a:lnTo>
                <a:close/>
              </a:path>
            </a:pathLst>
          </a:custGeom>
          <a:solidFill>
            <a:srgbClr val="000000"/>
          </a:solidFill>
        </p:spPr>
        <p:txBody>
          <a:bodyPr wrap="square" lIns="0" tIns="0" rIns="0" bIns="0" rtlCol="0">
            <a:noAutofit/>
          </a:bodyPr>
          <a:lstStyle/>
          <a:p>
            <a:endParaRPr dirty="0"/>
          </a:p>
        </p:txBody>
      </p:sp>
      <p:sp>
        <p:nvSpPr>
          <p:cNvPr id="25" name="object 18">
            <a:extLst>
              <a:ext uri="{FF2B5EF4-FFF2-40B4-BE49-F238E27FC236}">
                <a16:creationId xmlns:a16="http://schemas.microsoft.com/office/drawing/2014/main" id="{BEA8E097-859B-1579-BC83-0E35602215F1}"/>
              </a:ext>
            </a:extLst>
          </p:cNvPr>
          <p:cNvSpPr/>
          <p:nvPr/>
        </p:nvSpPr>
        <p:spPr>
          <a:xfrm>
            <a:off x="7791578" y="2928944"/>
            <a:ext cx="73151" cy="3023616"/>
          </a:xfrm>
          <a:custGeom>
            <a:avLst/>
            <a:gdLst/>
            <a:ahLst/>
            <a:cxnLst/>
            <a:rect l="l" t="t" r="r" b="b"/>
            <a:pathLst>
              <a:path w="73151" h="3023616">
                <a:moveTo>
                  <a:pt x="0" y="36575"/>
                </a:moveTo>
                <a:lnTo>
                  <a:pt x="36575" y="0"/>
                </a:lnTo>
                <a:lnTo>
                  <a:pt x="73151" y="36575"/>
                </a:lnTo>
                <a:lnTo>
                  <a:pt x="54863" y="36575"/>
                </a:lnTo>
                <a:lnTo>
                  <a:pt x="54863" y="3023616"/>
                </a:lnTo>
                <a:lnTo>
                  <a:pt x="18287" y="3023616"/>
                </a:lnTo>
                <a:lnTo>
                  <a:pt x="18287" y="36575"/>
                </a:lnTo>
                <a:lnTo>
                  <a:pt x="0" y="36575"/>
                </a:lnTo>
                <a:close/>
              </a:path>
            </a:pathLst>
          </a:custGeom>
          <a:ln w="19812">
            <a:solidFill>
              <a:srgbClr val="000000"/>
            </a:solidFill>
          </a:ln>
        </p:spPr>
        <p:txBody>
          <a:bodyPr wrap="square" lIns="0" tIns="0" rIns="0" bIns="0" rtlCol="0">
            <a:noAutofit/>
          </a:bodyPr>
          <a:lstStyle/>
          <a:p>
            <a:endParaRPr dirty="0"/>
          </a:p>
        </p:txBody>
      </p:sp>
      <p:sp>
        <p:nvSpPr>
          <p:cNvPr id="26" name="object 19">
            <a:extLst>
              <a:ext uri="{FF2B5EF4-FFF2-40B4-BE49-F238E27FC236}">
                <a16:creationId xmlns:a16="http://schemas.microsoft.com/office/drawing/2014/main" id="{7E2B6B42-3EFB-261B-7393-12DAE6CB0AEE}"/>
              </a:ext>
            </a:extLst>
          </p:cNvPr>
          <p:cNvSpPr/>
          <p:nvPr/>
        </p:nvSpPr>
        <p:spPr>
          <a:xfrm>
            <a:off x="7799959" y="5915222"/>
            <a:ext cx="3051048" cy="97536"/>
          </a:xfrm>
          <a:prstGeom prst="rect">
            <a:avLst/>
          </a:prstGeom>
          <a:blipFill>
            <a:blip r:embed="rId2" cstate="print"/>
            <a:stretch>
              <a:fillRect/>
            </a:stretch>
          </a:blipFill>
        </p:spPr>
        <p:txBody>
          <a:bodyPr wrap="square" lIns="0" tIns="0" rIns="0" bIns="0" rtlCol="0">
            <a:noAutofit/>
          </a:bodyPr>
          <a:lstStyle/>
          <a:p>
            <a:endParaRPr dirty="0"/>
          </a:p>
        </p:txBody>
      </p:sp>
      <p:sp>
        <p:nvSpPr>
          <p:cNvPr id="27" name="object 20">
            <a:extLst>
              <a:ext uri="{FF2B5EF4-FFF2-40B4-BE49-F238E27FC236}">
                <a16:creationId xmlns:a16="http://schemas.microsoft.com/office/drawing/2014/main" id="{044DD7A8-E67D-787E-EDC1-230102B71298}"/>
              </a:ext>
            </a:extLst>
          </p:cNvPr>
          <p:cNvSpPr txBox="1"/>
          <p:nvPr/>
        </p:nvSpPr>
        <p:spPr>
          <a:xfrm>
            <a:off x="7518528" y="3402155"/>
            <a:ext cx="235585" cy="2182495"/>
          </a:xfrm>
          <a:prstGeom prst="rect">
            <a:avLst/>
          </a:prstGeom>
        </p:spPr>
        <p:txBody>
          <a:bodyPr vert="vert270" wrap="square" lIns="0" tIns="0" rIns="0" bIns="0" rtlCol="0">
            <a:noAutofit/>
          </a:bodyPr>
          <a:lstStyle/>
          <a:p>
            <a:pPr marL="12700"/>
            <a:r>
              <a:rPr sz="1400" b="1" dirty="0">
                <a:latin typeface="Calibri"/>
                <a:cs typeface="Calibri"/>
              </a:rPr>
              <a:t>Cl</a:t>
            </a:r>
            <a:r>
              <a:rPr sz="1400" b="1" spc="5" dirty="0">
                <a:latin typeface="Calibri"/>
                <a:cs typeface="Calibri"/>
              </a:rPr>
              <a:t>i</a:t>
            </a:r>
            <a:r>
              <a:rPr sz="1400" b="1" dirty="0">
                <a:latin typeface="Calibri"/>
                <a:cs typeface="Calibri"/>
              </a:rPr>
              <a:t>e</a:t>
            </a:r>
            <a:r>
              <a:rPr sz="1400" b="1" spc="-10" dirty="0">
                <a:latin typeface="Calibri"/>
                <a:cs typeface="Calibri"/>
              </a:rPr>
              <a:t>n</a:t>
            </a:r>
            <a:r>
              <a:rPr sz="1400" b="1" dirty="0">
                <a:latin typeface="Calibri"/>
                <a:cs typeface="Calibri"/>
              </a:rPr>
              <a:t>t</a:t>
            </a:r>
            <a:r>
              <a:rPr sz="1400" b="1" spc="-30" dirty="0">
                <a:latin typeface="Calibri"/>
                <a:cs typeface="Calibri"/>
              </a:rPr>
              <a:t> </a:t>
            </a:r>
            <a:r>
              <a:rPr sz="1400" b="1" dirty="0">
                <a:latin typeface="Calibri"/>
                <a:cs typeface="Calibri"/>
              </a:rPr>
              <a:t>Co</a:t>
            </a:r>
            <a:r>
              <a:rPr sz="1400" b="1" spc="-10" dirty="0">
                <a:latin typeface="Calibri"/>
                <a:cs typeface="Calibri"/>
              </a:rPr>
              <a:t>n</a:t>
            </a:r>
            <a:r>
              <a:rPr sz="1400" b="1" dirty="0">
                <a:latin typeface="Calibri"/>
                <a:cs typeface="Calibri"/>
              </a:rPr>
              <a:t>t</a:t>
            </a:r>
            <a:r>
              <a:rPr sz="1400" b="1" spc="-10" dirty="0">
                <a:latin typeface="Calibri"/>
                <a:cs typeface="Calibri"/>
              </a:rPr>
              <a:t>r</a:t>
            </a:r>
            <a:r>
              <a:rPr sz="1400" b="1" dirty="0">
                <a:latin typeface="Calibri"/>
                <a:cs typeface="Calibri"/>
              </a:rPr>
              <a:t>ol</a:t>
            </a:r>
            <a:r>
              <a:rPr sz="1400" b="1" spc="-40" dirty="0">
                <a:latin typeface="Calibri"/>
                <a:cs typeface="Calibri"/>
              </a:rPr>
              <a:t> </a:t>
            </a:r>
            <a:r>
              <a:rPr sz="1400" b="1" dirty="0">
                <a:latin typeface="Calibri"/>
                <a:cs typeface="Calibri"/>
              </a:rPr>
              <a:t>/</a:t>
            </a:r>
            <a:r>
              <a:rPr sz="1400" b="1" spc="-10" dirty="0">
                <a:latin typeface="Calibri"/>
                <a:cs typeface="Calibri"/>
              </a:rPr>
              <a:t> </a:t>
            </a:r>
            <a:r>
              <a:rPr sz="1400" b="1" dirty="0">
                <a:latin typeface="Calibri"/>
                <a:cs typeface="Calibri"/>
              </a:rPr>
              <a:t>Mana</a:t>
            </a:r>
            <a:r>
              <a:rPr sz="1400" b="1" spc="-15" dirty="0">
                <a:latin typeface="Calibri"/>
                <a:cs typeface="Calibri"/>
              </a:rPr>
              <a:t>g</a:t>
            </a:r>
            <a:r>
              <a:rPr sz="1400" b="1" dirty="0">
                <a:latin typeface="Calibri"/>
                <a:cs typeface="Calibri"/>
              </a:rPr>
              <a:t>eme</a:t>
            </a:r>
            <a:r>
              <a:rPr sz="1400" b="1" spc="-25" dirty="0">
                <a:latin typeface="Calibri"/>
                <a:cs typeface="Calibri"/>
              </a:rPr>
              <a:t>n</a:t>
            </a:r>
            <a:r>
              <a:rPr sz="1400" b="1" dirty="0">
                <a:latin typeface="Calibri"/>
                <a:cs typeface="Calibri"/>
              </a:rPr>
              <a:t>t</a:t>
            </a:r>
            <a:endParaRPr sz="1400" dirty="0">
              <a:latin typeface="Calibri"/>
              <a:cs typeface="Calibri"/>
            </a:endParaRPr>
          </a:p>
        </p:txBody>
      </p:sp>
      <p:sp>
        <p:nvSpPr>
          <p:cNvPr id="28" name="object 21">
            <a:extLst>
              <a:ext uri="{FF2B5EF4-FFF2-40B4-BE49-F238E27FC236}">
                <a16:creationId xmlns:a16="http://schemas.microsoft.com/office/drawing/2014/main" id="{EB10A7BA-CA0C-E2AA-1812-CD79046DA086}"/>
              </a:ext>
            </a:extLst>
          </p:cNvPr>
          <p:cNvSpPr txBox="1"/>
          <p:nvPr/>
        </p:nvSpPr>
        <p:spPr>
          <a:xfrm>
            <a:off x="8149972" y="6086723"/>
            <a:ext cx="2294255" cy="235585"/>
          </a:xfrm>
          <a:prstGeom prst="rect">
            <a:avLst/>
          </a:prstGeom>
        </p:spPr>
        <p:txBody>
          <a:bodyPr vert="horz" wrap="square" lIns="0" tIns="0" rIns="0" bIns="0" rtlCol="0">
            <a:noAutofit/>
          </a:bodyPr>
          <a:lstStyle/>
          <a:p>
            <a:pPr marL="12700"/>
            <a:r>
              <a:rPr sz="1400" b="1" dirty="0">
                <a:latin typeface="Calibri"/>
                <a:cs typeface="Calibri"/>
              </a:rPr>
              <a:t>En</a:t>
            </a:r>
            <a:r>
              <a:rPr sz="1400" b="1" spc="-30" dirty="0">
                <a:latin typeface="Calibri"/>
                <a:cs typeface="Calibri"/>
              </a:rPr>
              <a:t>g</a:t>
            </a:r>
            <a:r>
              <a:rPr sz="1400" b="1" dirty="0">
                <a:latin typeface="Calibri"/>
                <a:cs typeface="Calibri"/>
              </a:rPr>
              <a:t>a</a:t>
            </a:r>
            <a:r>
              <a:rPr sz="1400" b="1" spc="-20" dirty="0">
                <a:latin typeface="Calibri"/>
                <a:cs typeface="Calibri"/>
              </a:rPr>
              <a:t>g</a:t>
            </a:r>
            <a:r>
              <a:rPr sz="1400" b="1" dirty="0">
                <a:latin typeface="Calibri"/>
                <a:cs typeface="Calibri"/>
              </a:rPr>
              <a:t>eme</a:t>
            </a:r>
            <a:r>
              <a:rPr sz="1400" b="1" spc="-10" dirty="0">
                <a:latin typeface="Calibri"/>
                <a:cs typeface="Calibri"/>
              </a:rPr>
              <a:t>n</a:t>
            </a:r>
            <a:r>
              <a:rPr sz="1400" b="1" dirty="0">
                <a:latin typeface="Calibri"/>
                <a:cs typeface="Calibri"/>
              </a:rPr>
              <a:t>t</a:t>
            </a:r>
            <a:r>
              <a:rPr sz="1400" b="1" spc="-40" dirty="0">
                <a:latin typeface="Calibri"/>
                <a:cs typeface="Calibri"/>
              </a:rPr>
              <a:t> </a:t>
            </a:r>
            <a:r>
              <a:rPr sz="1400" b="1" spc="-75" dirty="0">
                <a:latin typeface="Calibri"/>
                <a:cs typeface="Calibri"/>
              </a:rPr>
              <a:t>V</a:t>
            </a:r>
            <a:r>
              <a:rPr sz="1400" b="1" dirty="0">
                <a:latin typeface="Calibri"/>
                <a:cs typeface="Calibri"/>
              </a:rPr>
              <a:t>a</a:t>
            </a:r>
            <a:r>
              <a:rPr sz="1400" b="1" spc="5" dirty="0">
                <a:latin typeface="Calibri"/>
                <a:cs typeface="Calibri"/>
              </a:rPr>
              <a:t>l</a:t>
            </a:r>
            <a:r>
              <a:rPr sz="1400" b="1" dirty="0">
                <a:latin typeface="Calibri"/>
                <a:cs typeface="Calibri"/>
              </a:rPr>
              <a:t>ue</a:t>
            </a:r>
            <a:r>
              <a:rPr sz="1400" b="1" spc="-40" dirty="0">
                <a:latin typeface="Calibri"/>
                <a:cs typeface="Calibri"/>
              </a:rPr>
              <a:t> </a:t>
            </a:r>
            <a:r>
              <a:rPr sz="1400" b="1" dirty="0">
                <a:latin typeface="Calibri"/>
                <a:cs typeface="Calibri"/>
              </a:rPr>
              <a:t>/</a:t>
            </a:r>
            <a:r>
              <a:rPr sz="1400" b="1" spc="-10" dirty="0">
                <a:latin typeface="Calibri"/>
                <a:cs typeface="Calibri"/>
              </a:rPr>
              <a:t> </a:t>
            </a:r>
            <a:r>
              <a:rPr sz="1400" b="1" dirty="0">
                <a:latin typeface="Calibri"/>
                <a:cs typeface="Calibri"/>
              </a:rPr>
              <a:t>S</a:t>
            </a:r>
            <a:r>
              <a:rPr sz="1400" b="1" spc="-20" dirty="0">
                <a:latin typeface="Calibri"/>
                <a:cs typeface="Calibri"/>
              </a:rPr>
              <a:t>c</a:t>
            </a:r>
            <a:r>
              <a:rPr sz="1400" b="1" dirty="0">
                <a:latin typeface="Calibri"/>
                <a:cs typeface="Calibri"/>
              </a:rPr>
              <a:t>a</a:t>
            </a:r>
            <a:r>
              <a:rPr sz="1400" b="1" spc="5" dirty="0">
                <a:latin typeface="Calibri"/>
                <a:cs typeface="Calibri"/>
              </a:rPr>
              <a:t>l</a:t>
            </a:r>
            <a:r>
              <a:rPr sz="1400" b="1" dirty="0">
                <a:latin typeface="Calibri"/>
                <a:cs typeface="Calibri"/>
              </a:rPr>
              <a:t>abi</a:t>
            </a:r>
            <a:r>
              <a:rPr sz="1400" b="1" spc="5" dirty="0">
                <a:latin typeface="Calibri"/>
                <a:cs typeface="Calibri"/>
              </a:rPr>
              <a:t>l</a:t>
            </a:r>
            <a:r>
              <a:rPr sz="1400" b="1" dirty="0">
                <a:latin typeface="Calibri"/>
                <a:cs typeface="Calibri"/>
              </a:rPr>
              <a:t>i</a:t>
            </a:r>
            <a:r>
              <a:rPr sz="1400" b="1" spc="5" dirty="0">
                <a:latin typeface="Calibri"/>
                <a:cs typeface="Calibri"/>
              </a:rPr>
              <a:t>t</a:t>
            </a:r>
            <a:r>
              <a:rPr sz="1400" b="1" dirty="0">
                <a:latin typeface="Calibri"/>
                <a:cs typeface="Calibri"/>
              </a:rPr>
              <a:t>y</a:t>
            </a:r>
            <a:endParaRPr sz="1400" dirty="0">
              <a:latin typeface="Calibri"/>
              <a:cs typeface="Calibri"/>
            </a:endParaRPr>
          </a:p>
        </p:txBody>
      </p:sp>
      <p:sp>
        <p:nvSpPr>
          <p:cNvPr id="29" name="object 22">
            <a:extLst>
              <a:ext uri="{FF2B5EF4-FFF2-40B4-BE49-F238E27FC236}">
                <a16:creationId xmlns:a16="http://schemas.microsoft.com/office/drawing/2014/main" id="{E22A3692-8133-39DE-D7B3-8906A5D9D50C}"/>
              </a:ext>
            </a:extLst>
          </p:cNvPr>
          <p:cNvSpPr/>
          <p:nvPr/>
        </p:nvSpPr>
        <p:spPr>
          <a:xfrm>
            <a:off x="8370698" y="3116396"/>
            <a:ext cx="399287" cy="1362456"/>
          </a:xfrm>
          <a:custGeom>
            <a:avLst/>
            <a:gdLst/>
            <a:ahLst/>
            <a:cxnLst/>
            <a:rect l="l" t="t" r="r" b="b"/>
            <a:pathLst>
              <a:path w="399287" h="1362455">
                <a:moveTo>
                  <a:pt x="332740" y="0"/>
                </a:moveTo>
                <a:lnTo>
                  <a:pt x="60515" y="270"/>
                </a:lnTo>
                <a:lnTo>
                  <a:pt x="22471" y="16723"/>
                </a:lnTo>
                <a:lnTo>
                  <a:pt x="1573" y="52120"/>
                </a:lnTo>
                <a:lnTo>
                  <a:pt x="0" y="66548"/>
                </a:lnTo>
                <a:lnTo>
                  <a:pt x="270" y="1301940"/>
                </a:lnTo>
                <a:lnTo>
                  <a:pt x="16723" y="1339984"/>
                </a:lnTo>
                <a:lnTo>
                  <a:pt x="52120" y="1360882"/>
                </a:lnTo>
                <a:lnTo>
                  <a:pt x="66548" y="1362456"/>
                </a:lnTo>
                <a:lnTo>
                  <a:pt x="338772" y="1362185"/>
                </a:lnTo>
                <a:lnTo>
                  <a:pt x="376816" y="1345732"/>
                </a:lnTo>
                <a:lnTo>
                  <a:pt x="397714" y="1310335"/>
                </a:lnTo>
                <a:lnTo>
                  <a:pt x="399287" y="1295908"/>
                </a:lnTo>
                <a:lnTo>
                  <a:pt x="399017" y="60515"/>
                </a:lnTo>
                <a:lnTo>
                  <a:pt x="382564" y="22471"/>
                </a:lnTo>
                <a:lnTo>
                  <a:pt x="347167" y="1573"/>
                </a:lnTo>
                <a:lnTo>
                  <a:pt x="332740" y="0"/>
                </a:lnTo>
                <a:close/>
              </a:path>
            </a:pathLst>
          </a:custGeom>
          <a:solidFill>
            <a:srgbClr val="FFFFFF"/>
          </a:solidFill>
        </p:spPr>
        <p:txBody>
          <a:bodyPr wrap="square" lIns="0" tIns="0" rIns="0" bIns="0" rtlCol="0">
            <a:noAutofit/>
          </a:bodyPr>
          <a:lstStyle/>
          <a:p>
            <a:endParaRPr dirty="0"/>
          </a:p>
        </p:txBody>
      </p:sp>
      <p:sp>
        <p:nvSpPr>
          <p:cNvPr id="30" name="object 23">
            <a:extLst>
              <a:ext uri="{FF2B5EF4-FFF2-40B4-BE49-F238E27FC236}">
                <a16:creationId xmlns:a16="http://schemas.microsoft.com/office/drawing/2014/main" id="{98C4205E-402A-ECFB-BE8E-089B25D97AA8}"/>
              </a:ext>
            </a:extLst>
          </p:cNvPr>
          <p:cNvSpPr/>
          <p:nvPr/>
        </p:nvSpPr>
        <p:spPr>
          <a:xfrm>
            <a:off x="8370698" y="3116396"/>
            <a:ext cx="399287" cy="1362456"/>
          </a:xfrm>
          <a:custGeom>
            <a:avLst/>
            <a:gdLst/>
            <a:ahLst/>
            <a:cxnLst/>
            <a:rect l="l" t="t" r="r" b="b"/>
            <a:pathLst>
              <a:path w="399287" h="1362455">
                <a:moveTo>
                  <a:pt x="0" y="66548"/>
                </a:moveTo>
                <a:lnTo>
                  <a:pt x="13148" y="26869"/>
                </a:lnTo>
                <a:lnTo>
                  <a:pt x="46494" y="3085"/>
                </a:lnTo>
                <a:lnTo>
                  <a:pt x="332740" y="0"/>
                </a:lnTo>
                <a:lnTo>
                  <a:pt x="347167" y="1573"/>
                </a:lnTo>
                <a:lnTo>
                  <a:pt x="382564" y="22471"/>
                </a:lnTo>
                <a:lnTo>
                  <a:pt x="399017" y="60515"/>
                </a:lnTo>
                <a:lnTo>
                  <a:pt x="399287" y="1295908"/>
                </a:lnTo>
                <a:lnTo>
                  <a:pt x="397714" y="1310335"/>
                </a:lnTo>
                <a:lnTo>
                  <a:pt x="376816" y="1345732"/>
                </a:lnTo>
                <a:lnTo>
                  <a:pt x="338772" y="1362185"/>
                </a:lnTo>
                <a:lnTo>
                  <a:pt x="66548" y="1362456"/>
                </a:lnTo>
                <a:lnTo>
                  <a:pt x="52120" y="1360882"/>
                </a:lnTo>
                <a:lnTo>
                  <a:pt x="16723" y="1339984"/>
                </a:lnTo>
                <a:lnTo>
                  <a:pt x="270" y="1301940"/>
                </a:lnTo>
                <a:lnTo>
                  <a:pt x="0" y="66548"/>
                </a:lnTo>
                <a:close/>
              </a:path>
            </a:pathLst>
          </a:custGeom>
          <a:ln w="19812">
            <a:solidFill>
              <a:srgbClr val="FF6600"/>
            </a:solidFill>
          </a:ln>
        </p:spPr>
        <p:txBody>
          <a:bodyPr wrap="square" lIns="0" tIns="0" rIns="0" bIns="0" rtlCol="0">
            <a:noAutofit/>
          </a:bodyPr>
          <a:lstStyle/>
          <a:p>
            <a:endParaRPr dirty="0"/>
          </a:p>
        </p:txBody>
      </p:sp>
      <p:sp>
        <p:nvSpPr>
          <p:cNvPr id="31" name="object 24">
            <a:extLst>
              <a:ext uri="{FF2B5EF4-FFF2-40B4-BE49-F238E27FC236}">
                <a16:creationId xmlns:a16="http://schemas.microsoft.com/office/drawing/2014/main" id="{7D8E028D-B660-003A-5225-168CEFEA30EF}"/>
              </a:ext>
            </a:extLst>
          </p:cNvPr>
          <p:cNvSpPr txBox="1"/>
          <p:nvPr/>
        </p:nvSpPr>
        <p:spPr>
          <a:xfrm>
            <a:off x="8475091" y="3337724"/>
            <a:ext cx="194310" cy="922019"/>
          </a:xfrm>
          <a:prstGeom prst="rect">
            <a:avLst/>
          </a:prstGeom>
        </p:spPr>
        <p:txBody>
          <a:bodyPr vert="vert270" wrap="square" lIns="0" tIns="0" rIns="0" bIns="0" rtlCol="0">
            <a:noAutofit/>
          </a:bodyPr>
          <a:lstStyle/>
          <a:p>
            <a:pPr marL="12700"/>
            <a:r>
              <a:rPr sz="1200" b="1" dirty="0">
                <a:latin typeface="Trebuchet MS"/>
                <a:cs typeface="Trebuchet MS"/>
              </a:rPr>
              <a:t>C</a:t>
            </a:r>
            <a:r>
              <a:rPr sz="1200" b="1" spc="-10" dirty="0">
                <a:latin typeface="Trebuchet MS"/>
                <a:cs typeface="Trebuchet MS"/>
              </a:rPr>
              <a:t>O</a:t>
            </a:r>
            <a:r>
              <a:rPr sz="1200" b="1" dirty="0">
                <a:latin typeface="Trebuchet MS"/>
                <a:cs typeface="Trebuchet MS"/>
              </a:rPr>
              <a:t>NSU</a:t>
            </a:r>
            <a:r>
              <a:rPr sz="1200" b="1" spc="-90" dirty="0">
                <a:latin typeface="Trebuchet MS"/>
                <a:cs typeface="Trebuchet MS"/>
              </a:rPr>
              <a:t>L</a:t>
            </a:r>
            <a:r>
              <a:rPr sz="1200" b="1" dirty="0">
                <a:latin typeface="Trebuchet MS"/>
                <a:cs typeface="Trebuchet MS"/>
              </a:rPr>
              <a:t>TING</a:t>
            </a:r>
            <a:endParaRPr sz="1200" dirty="0">
              <a:latin typeface="Trebuchet MS"/>
              <a:cs typeface="Trebuchet MS"/>
            </a:endParaRPr>
          </a:p>
        </p:txBody>
      </p:sp>
      <p:sp>
        <p:nvSpPr>
          <p:cNvPr id="32" name="object 25">
            <a:extLst>
              <a:ext uri="{FF2B5EF4-FFF2-40B4-BE49-F238E27FC236}">
                <a16:creationId xmlns:a16="http://schemas.microsoft.com/office/drawing/2014/main" id="{5A776C54-E8E7-E598-A847-13C965B786A6}"/>
              </a:ext>
            </a:extLst>
          </p:cNvPr>
          <p:cNvSpPr/>
          <p:nvPr/>
        </p:nvSpPr>
        <p:spPr>
          <a:xfrm>
            <a:off x="9868791" y="4224343"/>
            <a:ext cx="399287" cy="1362456"/>
          </a:xfrm>
          <a:custGeom>
            <a:avLst/>
            <a:gdLst/>
            <a:ahLst/>
            <a:cxnLst/>
            <a:rect l="l" t="t" r="r" b="b"/>
            <a:pathLst>
              <a:path w="399287" h="1362455">
                <a:moveTo>
                  <a:pt x="332739" y="0"/>
                </a:moveTo>
                <a:lnTo>
                  <a:pt x="60515" y="270"/>
                </a:lnTo>
                <a:lnTo>
                  <a:pt x="22471" y="16723"/>
                </a:lnTo>
                <a:lnTo>
                  <a:pt x="1573" y="52120"/>
                </a:lnTo>
                <a:lnTo>
                  <a:pt x="0" y="66547"/>
                </a:lnTo>
                <a:lnTo>
                  <a:pt x="270" y="1301940"/>
                </a:lnTo>
                <a:lnTo>
                  <a:pt x="16723" y="1339984"/>
                </a:lnTo>
                <a:lnTo>
                  <a:pt x="52120" y="1360882"/>
                </a:lnTo>
                <a:lnTo>
                  <a:pt x="66548" y="1362456"/>
                </a:lnTo>
                <a:lnTo>
                  <a:pt x="338772" y="1362185"/>
                </a:lnTo>
                <a:lnTo>
                  <a:pt x="376816" y="1345732"/>
                </a:lnTo>
                <a:lnTo>
                  <a:pt x="397714" y="1310335"/>
                </a:lnTo>
                <a:lnTo>
                  <a:pt x="399287" y="1295908"/>
                </a:lnTo>
                <a:lnTo>
                  <a:pt x="399017" y="60515"/>
                </a:lnTo>
                <a:lnTo>
                  <a:pt x="382564" y="22471"/>
                </a:lnTo>
                <a:lnTo>
                  <a:pt x="347167" y="1573"/>
                </a:lnTo>
                <a:lnTo>
                  <a:pt x="332739" y="0"/>
                </a:lnTo>
                <a:close/>
              </a:path>
            </a:pathLst>
          </a:custGeom>
          <a:solidFill>
            <a:srgbClr val="FFFFFF"/>
          </a:solidFill>
        </p:spPr>
        <p:txBody>
          <a:bodyPr wrap="square" lIns="0" tIns="0" rIns="0" bIns="0" rtlCol="0">
            <a:noAutofit/>
          </a:bodyPr>
          <a:lstStyle/>
          <a:p>
            <a:endParaRPr dirty="0"/>
          </a:p>
        </p:txBody>
      </p:sp>
      <p:sp>
        <p:nvSpPr>
          <p:cNvPr id="33" name="object 26">
            <a:extLst>
              <a:ext uri="{FF2B5EF4-FFF2-40B4-BE49-F238E27FC236}">
                <a16:creationId xmlns:a16="http://schemas.microsoft.com/office/drawing/2014/main" id="{61B929DE-F404-E7E3-06C9-9970969FB71D}"/>
              </a:ext>
            </a:extLst>
          </p:cNvPr>
          <p:cNvSpPr/>
          <p:nvPr/>
        </p:nvSpPr>
        <p:spPr>
          <a:xfrm>
            <a:off x="9868791" y="4224343"/>
            <a:ext cx="399287" cy="1362456"/>
          </a:xfrm>
          <a:custGeom>
            <a:avLst/>
            <a:gdLst/>
            <a:ahLst/>
            <a:cxnLst/>
            <a:rect l="l" t="t" r="r" b="b"/>
            <a:pathLst>
              <a:path w="399287" h="1362455">
                <a:moveTo>
                  <a:pt x="0" y="66547"/>
                </a:moveTo>
                <a:lnTo>
                  <a:pt x="13148" y="26869"/>
                </a:lnTo>
                <a:lnTo>
                  <a:pt x="46494" y="3085"/>
                </a:lnTo>
                <a:lnTo>
                  <a:pt x="332739" y="0"/>
                </a:lnTo>
                <a:lnTo>
                  <a:pt x="347167" y="1573"/>
                </a:lnTo>
                <a:lnTo>
                  <a:pt x="382564" y="22471"/>
                </a:lnTo>
                <a:lnTo>
                  <a:pt x="399017" y="60515"/>
                </a:lnTo>
                <a:lnTo>
                  <a:pt x="399287" y="1295908"/>
                </a:lnTo>
                <a:lnTo>
                  <a:pt x="397714" y="1310335"/>
                </a:lnTo>
                <a:lnTo>
                  <a:pt x="376816" y="1345732"/>
                </a:lnTo>
                <a:lnTo>
                  <a:pt x="338772" y="1362185"/>
                </a:lnTo>
                <a:lnTo>
                  <a:pt x="66548" y="1362456"/>
                </a:lnTo>
                <a:lnTo>
                  <a:pt x="52120" y="1360882"/>
                </a:lnTo>
                <a:lnTo>
                  <a:pt x="16723" y="1339984"/>
                </a:lnTo>
                <a:lnTo>
                  <a:pt x="270" y="1301940"/>
                </a:lnTo>
                <a:lnTo>
                  <a:pt x="0" y="66547"/>
                </a:lnTo>
                <a:close/>
              </a:path>
            </a:pathLst>
          </a:custGeom>
          <a:ln w="19812">
            <a:solidFill>
              <a:srgbClr val="FF6600"/>
            </a:solidFill>
          </a:ln>
        </p:spPr>
        <p:txBody>
          <a:bodyPr wrap="square" lIns="0" tIns="0" rIns="0" bIns="0" rtlCol="0">
            <a:noAutofit/>
          </a:bodyPr>
          <a:lstStyle/>
          <a:p>
            <a:endParaRPr dirty="0"/>
          </a:p>
        </p:txBody>
      </p:sp>
      <p:sp>
        <p:nvSpPr>
          <p:cNvPr id="34" name="object 27">
            <a:extLst>
              <a:ext uri="{FF2B5EF4-FFF2-40B4-BE49-F238E27FC236}">
                <a16:creationId xmlns:a16="http://schemas.microsoft.com/office/drawing/2014/main" id="{DC75B04A-31F3-3973-E7B9-127B06ACB6AB}"/>
              </a:ext>
            </a:extLst>
          </p:cNvPr>
          <p:cNvSpPr txBox="1"/>
          <p:nvPr/>
        </p:nvSpPr>
        <p:spPr>
          <a:xfrm>
            <a:off x="9972549" y="4380622"/>
            <a:ext cx="194310" cy="1049655"/>
          </a:xfrm>
          <a:prstGeom prst="rect">
            <a:avLst/>
          </a:prstGeom>
        </p:spPr>
        <p:txBody>
          <a:bodyPr vert="vert270" wrap="square" lIns="0" tIns="0" rIns="0" bIns="0" rtlCol="0">
            <a:noAutofit/>
          </a:bodyPr>
          <a:lstStyle/>
          <a:p>
            <a:pPr marL="12700"/>
            <a:r>
              <a:rPr sz="1200" b="1" spc="-5" dirty="0">
                <a:latin typeface="Trebuchet MS"/>
                <a:cs typeface="Trebuchet MS"/>
              </a:rPr>
              <a:t>O</a:t>
            </a:r>
            <a:r>
              <a:rPr sz="1200" b="1" dirty="0">
                <a:latin typeface="Trebuchet MS"/>
                <a:cs typeface="Trebuchet MS"/>
              </a:rPr>
              <a:t>UTS</a:t>
            </a:r>
            <a:r>
              <a:rPr sz="1200" b="1" spc="-5" dirty="0">
                <a:latin typeface="Trebuchet MS"/>
                <a:cs typeface="Trebuchet MS"/>
              </a:rPr>
              <a:t>O</a:t>
            </a:r>
            <a:r>
              <a:rPr sz="1200" b="1" dirty="0">
                <a:latin typeface="Trebuchet MS"/>
                <a:cs typeface="Trebuchet MS"/>
              </a:rPr>
              <a:t>URCING</a:t>
            </a:r>
            <a:endParaRPr sz="1200" dirty="0">
              <a:latin typeface="Trebuchet MS"/>
              <a:cs typeface="Trebuchet MS"/>
            </a:endParaRPr>
          </a:p>
        </p:txBody>
      </p:sp>
      <p:sp>
        <p:nvSpPr>
          <p:cNvPr id="35" name="object 28">
            <a:extLst>
              <a:ext uri="{FF2B5EF4-FFF2-40B4-BE49-F238E27FC236}">
                <a16:creationId xmlns:a16="http://schemas.microsoft.com/office/drawing/2014/main" id="{006359AE-F4E9-150F-160C-45E5653B6041}"/>
              </a:ext>
            </a:extLst>
          </p:cNvPr>
          <p:cNvSpPr/>
          <p:nvPr/>
        </p:nvSpPr>
        <p:spPr>
          <a:xfrm>
            <a:off x="9079357" y="3825055"/>
            <a:ext cx="399288" cy="1362456"/>
          </a:xfrm>
          <a:custGeom>
            <a:avLst/>
            <a:gdLst/>
            <a:ahLst/>
            <a:cxnLst/>
            <a:rect l="l" t="t" r="r" b="b"/>
            <a:pathLst>
              <a:path w="399288" h="1362455">
                <a:moveTo>
                  <a:pt x="332740" y="0"/>
                </a:moveTo>
                <a:lnTo>
                  <a:pt x="60515" y="270"/>
                </a:lnTo>
                <a:lnTo>
                  <a:pt x="22471" y="16723"/>
                </a:lnTo>
                <a:lnTo>
                  <a:pt x="1573" y="52120"/>
                </a:lnTo>
                <a:lnTo>
                  <a:pt x="0" y="66548"/>
                </a:lnTo>
                <a:lnTo>
                  <a:pt x="270" y="1301940"/>
                </a:lnTo>
                <a:lnTo>
                  <a:pt x="16723" y="1339984"/>
                </a:lnTo>
                <a:lnTo>
                  <a:pt x="52120" y="1360882"/>
                </a:lnTo>
                <a:lnTo>
                  <a:pt x="66548" y="1362456"/>
                </a:lnTo>
                <a:lnTo>
                  <a:pt x="338772" y="1362185"/>
                </a:lnTo>
                <a:lnTo>
                  <a:pt x="376816" y="1345732"/>
                </a:lnTo>
                <a:lnTo>
                  <a:pt x="397714" y="1310335"/>
                </a:lnTo>
                <a:lnTo>
                  <a:pt x="399288" y="1295908"/>
                </a:lnTo>
                <a:lnTo>
                  <a:pt x="399017" y="60515"/>
                </a:lnTo>
                <a:lnTo>
                  <a:pt x="382564" y="22471"/>
                </a:lnTo>
                <a:lnTo>
                  <a:pt x="347167" y="1573"/>
                </a:lnTo>
                <a:lnTo>
                  <a:pt x="332740" y="0"/>
                </a:lnTo>
                <a:close/>
              </a:path>
            </a:pathLst>
          </a:custGeom>
          <a:solidFill>
            <a:srgbClr val="FFFFFF"/>
          </a:solidFill>
        </p:spPr>
        <p:txBody>
          <a:bodyPr wrap="square" lIns="0" tIns="0" rIns="0" bIns="0" rtlCol="0">
            <a:noAutofit/>
          </a:bodyPr>
          <a:lstStyle/>
          <a:p>
            <a:endParaRPr dirty="0"/>
          </a:p>
        </p:txBody>
      </p:sp>
      <p:sp>
        <p:nvSpPr>
          <p:cNvPr id="36" name="object 29">
            <a:extLst>
              <a:ext uri="{FF2B5EF4-FFF2-40B4-BE49-F238E27FC236}">
                <a16:creationId xmlns:a16="http://schemas.microsoft.com/office/drawing/2014/main" id="{4DBC771B-655C-B9D7-F718-DE4F78116090}"/>
              </a:ext>
            </a:extLst>
          </p:cNvPr>
          <p:cNvSpPr/>
          <p:nvPr/>
        </p:nvSpPr>
        <p:spPr>
          <a:xfrm>
            <a:off x="9079357" y="3825055"/>
            <a:ext cx="399288" cy="1362456"/>
          </a:xfrm>
          <a:custGeom>
            <a:avLst/>
            <a:gdLst/>
            <a:ahLst/>
            <a:cxnLst/>
            <a:rect l="l" t="t" r="r" b="b"/>
            <a:pathLst>
              <a:path w="399288" h="1362455">
                <a:moveTo>
                  <a:pt x="0" y="66548"/>
                </a:moveTo>
                <a:lnTo>
                  <a:pt x="13148" y="26869"/>
                </a:lnTo>
                <a:lnTo>
                  <a:pt x="46494" y="3085"/>
                </a:lnTo>
                <a:lnTo>
                  <a:pt x="332740" y="0"/>
                </a:lnTo>
                <a:lnTo>
                  <a:pt x="347167" y="1573"/>
                </a:lnTo>
                <a:lnTo>
                  <a:pt x="382564" y="22471"/>
                </a:lnTo>
                <a:lnTo>
                  <a:pt x="399017" y="60515"/>
                </a:lnTo>
                <a:lnTo>
                  <a:pt x="399288" y="1295908"/>
                </a:lnTo>
                <a:lnTo>
                  <a:pt x="397714" y="1310335"/>
                </a:lnTo>
                <a:lnTo>
                  <a:pt x="376816" y="1345732"/>
                </a:lnTo>
                <a:lnTo>
                  <a:pt x="338772" y="1362185"/>
                </a:lnTo>
                <a:lnTo>
                  <a:pt x="66548" y="1362456"/>
                </a:lnTo>
                <a:lnTo>
                  <a:pt x="52120" y="1360882"/>
                </a:lnTo>
                <a:lnTo>
                  <a:pt x="16723" y="1339984"/>
                </a:lnTo>
                <a:lnTo>
                  <a:pt x="270" y="1301940"/>
                </a:lnTo>
                <a:lnTo>
                  <a:pt x="0" y="66548"/>
                </a:lnTo>
                <a:close/>
              </a:path>
            </a:pathLst>
          </a:custGeom>
          <a:ln w="19812">
            <a:solidFill>
              <a:srgbClr val="FF6600"/>
            </a:solidFill>
          </a:ln>
        </p:spPr>
        <p:txBody>
          <a:bodyPr wrap="square" lIns="0" tIns="0" rIns="0" bIns="0" rtlCol="0">
            <a:noAutofit/>
          </a:bodyPr>
          <a:lstStyle/>
          <a:p>
            <a:endParaRPr dirty="0"/>
          </a:p>
        </p:txBody>
      </p:sp>
      <p:sp>
        <p:nvSpPr>
          <p:cNvPr id="37" name="object 30">
            <a:extLst>
              <a:ext uri="{FF2B5EF4-FFF2-40B4-BE49-F238E27FC236}">
                <a16:creationId xmlns:a16="http://schemas.microsoft.com/office/drawing/2014/main" id="{FC2C178C-B2D9-479A-14A2-5CF7FD8F7AD1}"/>
              </a:ext>
            </a:extLst>
          </p:cNvPr>
          <p:cNvSpPr txBox="1"/>
          <p:nvPr/>
        </p:nvSpPr>
        <p:spPr>
          <a:xfrm>
            <a:off x="9183497" y="4005972"/>
            <a:ext cx="194310" cy="1002665"/>
          </a:xfrm>
          <a:prstGeom prst="rect">
            <a:avLst/>
          </a:prstGeom>
        </p:spPr>
        <p:txBody>
          <a:bodyPr vert="vert270" wrap="square" lIns="0" tIns="0" rIns="0" bIns="0" rtlCol="0">
            <a:noAutofit/>
          </a:bodyPr>
          <a:lstStyle/>
          <a:p>
            <a:pPr marL="12700"/>
            <a:r>
              <a:rPr sz="1200" b="1" spc="-5" dirty="0">
                <a:latin typeface="Trebuchet MS"/>
                <a:cs typeface="Trebuchet MS"/>
              </a:rPr>
              <a:t>CO</a:t>
            </a:r>
            <a:r>
              <a:rPr sz="1200" b="1" dirty="0">
                <a:latin typeface="Trebuchet MS"/>
                <a:cs typeface="Trebuchet MS"/>
              </a:rPr>
              <a:t>-S</a:t>
            </a:r>
            <a:r>
              <a:rPr sz="1200" b="1" spc="-10" dirty="0">
                <a:latin typeface="Trebuchet MS"/>
                <a:cs typeface="Trebuchet MS"/>
              </a:rPr>
              <a:t>O</a:t>
            </a:r>
            <a:r>
              <a:rPr sz="1200" b="1" dirty="0">
                <a:latin typeface="Trebuchet MS"/>
                <a:cs typeface="Trebuchet MS"/>
              </a:rPr>
              <a:t>URCING</a:t>
            </a:r>
            <a:endParaRPr sz="1200" dirty="0">
              <a:latin typeface="Trebuchet MS"/>
              <a:cs typeface="Trebuchet MS"/>
            </a:endParaRPr>
          </a:p>
        </p:txBody>
      </p:sp>
      <p:sp>
        <p:nvSpPr>
          <p:cNvPr id="14" name="Freeform 8">
            <a:extLst>
              <a:ext uri="{FF2B5EF4-FFF2-40B4-BE49-F238E27FC236}">
                <a16:creationId xmlns:a16="http://schemas.microsoft.com/office/drawing/2014/main" id="{9C677437-F452-1BC5-5F0C-E079DFB58F49}"/>
              </a:ext>
            </a:extLst>
          </p:cNvPr>
          <p:cNvSpPr/>
          <p:nvPr/>
        </p:nvSpPr>
        <p:spPr>
          <a:xfrm rot="-10800000">
            <a:off x="9428906" y="-2546180"/>
            <a:ext cx="4301899" cy="3730919"/>
          </a:xfrm>
          <a:custGeom>
            <a:avLst/>
            <a:gdLst/>
            <a:ahLst/>
            <a:cxnLst/>
            <a:rect l="l" t="t" r="r" b="b"/>
            <a:pathLst>
              <a:path w="6452848" h="5596379">
                <a:moveTo>
                  <a:pt x="0" y="0"/>
                </a:moveTo>
                <a:lnTo>
                  <a:pt x="6452849" y="0"/>
                </a:lnTo>
                <a:lnTo>
                  <a:pt x="6452849" y="5596380"/>
                </a:lnTo>
                <a:lnTo>
                  <a:pt x="0" y="55963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210624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8">
            <a:extLst>
              <a:ext uri="{FF2B5EF4-FFF2-40B4-BE49-F238E27FC236}">
                <a16:creationId xmlns:a16="http://schemas.microsoft.com/office/drawing/2014/main" id="{3744FE4B-3C7C-4B86-B3AC-2A92555AFEC4}"/>
              </a:ext>
            </a:extLst>
          </p:cNvPr>
          <p:cNvSpPr/>
          <p:nvPr/>
        </p:nvSpPr>
        <p:spPr>
          <a:xfrm rot="-10800000">
            <a:off x="9428906" y="-2546180"/>
            <a:ext cx="4301899" cy="3730919"/>
          </a:xfrm>
          <a:custGeom>
            <a:avLst/>
            <a:gdLst/>
            <a:ahLst/>
            <a:cxnLst/>
            <a:rect l="l" t="t" r="r" b="b"/>
            <a:pathLst>
              <a:path w="6452848" h="5596379">
                <a:moveTo>
                  <a:pt x="0" y="0"/>
                </a:moveTo>
                <a:lnTo>
                  <a:pt x="6452849" y="0"/>
                </a:lnTo>
                <a:lnTo>
                  <a:pt x="6452849" y="5596380"/>
                </a:lnTo>
                <a:lnTo>
                  <a:pt x="0" y="5596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 2">
            <a:extLst>
              <a:ext uri="{FF2B5EF4-FFF2-40B4-BE49-F238E27FC236}">
                <a16:creationId xmlns:a16="http://schemas.microsoft.com/office/drawing/2014/main" id="{C774A5C7-1104-3897-F1D8-DF7A9975B440}"/>
              </a:ext>
            </a:extLst>
          </p:cNvPr>
          <p:cNvSpPr/>
          <p:nvPr/>
        </p:nvSpPr>
        <p:spPr>
          <a:xfrm>
            <a:off x="3269328" y="218943"/>
            <a:ext cx="5065073" cy="497185"/>
          </a:xfrm>
          <a:prstGeom prst="rect">
            <a:avLst/>
          </a:prstGeom>
          <a:noFill/>
          <a:ln/>
        </p:spPr>
        <p:txBody>
          <a:bodyPr wrap="none" rtlCol="0" anchor="t"/>
          <a:lstStyle/>
          <a:p>
            <a:pPr algn="ctr">
              <a:lnSpc>
                <a:spcPts val="3730"/>
              </a:lnSpc>
            </a:pPr>
            <a:r>
              <a:rPr lang="en-US" sz="2400" dirty="0">
                <a:latin typeface="Poppins Medium" panose="00000600000000000000" pitchFamily="2" charset="0"/>
                <a:cs typeface="Poppins Medium" panose="00000600000000000000" pitchFamily="2" charset="0"/>
              </a:rPr>
              <a:t>OUR CLIENTS &amp; PARTNERS</a:t>
            </a:r>
          </a:p>
          <a:p>
            <a:pPr algn="ctr">
              <a:lnSpc>
                <a:spcPts val="3730"/>
              </a:lnSpc>
            </a:pPr>
            <a:endParaRPr lang="en-US" sz="2400" dirty="0">
              <a:latin typeface="Poppins Medium" panose="00000600000000000000" pitchFamily="2" charset="0"/>
              <a:cs typeface="Poppins Medium" panose="00000600000000000000" pitchFamily="2" charset="0"/>
            </a:endParaRPr>
          </a:p>
        </p:txBody>
      </p:sp>
      <p:pic>
        <p:nvPicPr>
          <p:cNvPr id="4" name="Picture 3">
            <a:extLst>
              <a:ext uri="{FF2B5EF4-FFF2-40B4-BE49-F238E27FC236}">
                <a16:creationId xmlns:a16="http://schemas.microsoft.com/office/drawing/2014/main" id="{BED0B8FB-1AD3-4CA3-8E7F-CDEEB77222D0}"/>
              </a:ext>
            </a:extLst>
          </p:cNvPr>
          <p:cNvPicPr>
            <a:picLocks noChangeAspect="1"/>
          </p:cNvPicPr>
          <p:nvPr/>
        </p:nvPicPr>
        <p:blipFill>
          <a:blip r:embed="rId4"/>
          <a:stretch>
            <a:fillRect/>
          </a:stretch>
        </p:blipFill>
        <p:spPr>
          <a:xfrm>
            <a:off x="761365" y="1014023"/>
            <a:ext cx="1879600" cy="917129"/>
          </a:xfrm>
          <a:prstGeom prst="rect">
            <a:avLst/>
          </a:prstGeom>
        </p:spPr>
      </p:pic>
      <p:pic>
        <p:nvPicPr>
          <p:cNvPr id="9" name="Picture 8">
            <a:extLst>
              <a:ext uri="{FF2B5EF4-FFF2-40B4-BE49-F238E27FC236}">
                <a16:creationId xmlns:a16="http://schemas.microsoft.com/office/drawing/2014/main" id="{B8483DDC-A048-4806-8FC5-3D07C476B448}"/>
              </a:ext>
            </a:extLst>
          </p:cNvPr>
          <p:cNvPicPr>
            <a:picLocks noChangeAspect="1"/>
          </p:cNvPicPr>
          <p:nvPr/>
        </p:nvPicPr>
        <p:blipFill>
          <a:blip r:embed="rId5">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val="0"/>
              </a:ext>
            </a:extLst>
          </a:blip>
          <a:stretch>
            <a:fillRect/>
          </a:stretch>
        </p:blipFill>
        <p:spPr>
          <a:xfrm>
            <a:off x="3065592" y="1316425"/>
            <a:ext cx="1950724" cy="292609"/>
          </a:xfrm>
          <a:prstGeom prst="rect">
            <a:avLst/>
          </a:prstGeom>
        </p:spPr>
      </p:pic>
      <p:pic>
        <p:nvPicPr>
          <p:cNvPr id="11" name="Picture 10">
            <a:extLst>
              <a:ext uri="{FF2B5EF4-FFF2-40B4-BE49-F238E27FC236}">
                <a16:creationId xmlns:a16="http://schemas.microsoft.com/office/drawing/2014/main" id="{A0338751-BEF2-412C-BA2E-66E8DD6EE0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01486" y="1153032"/>
            <a:ext cx="2489200" cy="743466"/>
          </a:xfrm>
          <a:prstGeom prst="rect">
            <a:avLst/>
          </a:prstGeom>
        </p:spPr>
      </p:pic>
      <p:pic>
        <p:nvPicPr>
          <p:cNvPr id="13" name="Picture 12">
            <a:extLst>
              <a:ext uri="{FF2B5EF4-FFF2-40B4-BE49-F238E27FC236}">
                <a16:creationId xmlns:a16="http://schemas.microsoft.com/office/drawing/2014/main" id="{E93CBAFD-0DB1-477D-A301-1E1409D091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89039" y="2380450"/>
            <a:ext cx="1747093" cy="948422"/>
          </a:xfrm>
          <a:prstGeom prst="rect">
            <a:avLst/>
          </a:prstGeom>
        </p:spPr>
      </p:pic>
      <p:pic>
        <p:nvPicPr>
          <p:cNvPr id="3" name="Picture 2">
            <a:extLst>
              <a:ext uri="{FF2B5EF4-FFF2-40B4-BE49-F238E27FC236}">
                <a16:creationId xmlns:a16="http://schemas.microsoft.com/office/drawing/2014/main" id="{005EB32C-09A7-4978-8543-96CE4F47820B}"/>
              </a:ext>
            </a:extLst>
          </p:cNvPr>
          <p:cNvPicPr>
            <a:picLocks noChangeAspect="1"/>
          </p:cNvPicPr>
          <p:nvPr/>
        </p:nvPicPr>
        <p:blipFill>
          <a:blip r:embed="rId9"/>
          <a:stretch>
            <a:fillRect/>
          </a:stretch>
        </p:blipFill>
        <p:spPr>
          <a:xfrm>
            <a:off x="2514600" y="2305146"/>
            <a:ext cx="2082800" cy="1006521"/>
          </a:xfrm>
          <a:prstGeom prst="rect">
            <a:avLst/>
          </a:prstGeom>
        </p:spPr>
      </p:pic>
      <p:pic>
        <p:nvPicPr>
          <p:cNvPr id="7" name="Picture 6">
            <a:extLst>
              <a:ext uri="{FF2B5EF4-FFF2-40B4-BE49-F238E27FC236}">
                <a16:creationId xmlns:a16="http://schemas.microsoft.com/office/drawing/2014/main" id="{72AA765C-F466-4F16-B7B4-FAC6FC467F7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852529" y="4103048"/>
            <a:ext cx="2503071" cy="498060"/>
          </a:xfrm>
          <a:prstGeom prst="rect">
            <a:avLst/>
          </a:prstGeom>
        </p:spPr>
      </p:pic>
      <p:pic>
        <p:nvPicPr>
          <p:cNvPr id="10" name="Picture 9">
            <a:extLst>
              <a:ext uri="{FF2B5EF4-FFF2-40B4-BE49-F238E27FC236}">
                <a16:creationId xmlns:a16="http://schemas.microsoft.com/office/drawing/2014/main" id="{93EF00D0-52C1-42C8-A81A-374ACB12BE9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4920" y="3482749"/>
            <a:ext cx="1986045" cy="1098743"/>
          </a:xfrm>
          <a:prstGeom prst="rect">
            <a:avLst/>
          </a:prstGeom>
        </p:spPr>
      </p:pic>
      <p:pic>
        <p:nvPicPr>
          <p:cNvPr id="14" name="Picture 13">
            <a:extLst>
              <a:ext uri="{FF2B5EF4-FFF2-40B4-BE49-F238E27FC236}">
                <a16:creationId xmlns:a16="http://schemas.microsoft.com/office/drawing/2014/main" id="{01854464-0131-4B50-9F94-918727945B4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776508" y="3903593"/>
            <a:ext cx="2647043" cy="776738"/>
          </a:xfrm>
          <a:prstGeom prst="rect">
            <a:avLst/>
          </a:prstGeom>
        </p:spPr>
      </p:pic>
      <p:pic>
        <p:nvPicPr>
          <p:cNvPr id="16" name="Picture 15">
            <a:extLst>
              <a:ext uri="{FF2B5EF4-FFF2-40B4-BE49-F238E27FC236}">
                <a16:creationId xmlns:a16="http://schemas.microsoft.com/office/drawing/2014/main" id="{11BB944B-21CA-4397-872B-45E2BB3519B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27771" y="2233403"/>
            <a:ext cx="1560048" cy="1242516"/>
          </a:xfrm>
          <a:prstGeom prst="rect">
            <a:avLst/>
          </a:prstGeom>
        </p:spPr>
      </p:pic>
      <p:pic>
        <p:nvPicPr>
          <p:cNvPr id="18" name="Picture 17">
            <a:extLst>
              <a:ext uri="{FF2B5EF4-FFF2-40B4-BE49-F238E27FC236}">
                <a16:creationId xmlns:a16="http://schemas.microsoft.com/office/drawing/2014/main" id="{A8AABCB4-04E1-4C2D-9694-549F2ABDAB2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21728" y="2380450"/>
            <a:ext cx="1379894" cy="931217"/>
          </a:xfrm>
          <a:prstGeom prst="rect">
            <a:avLst/>
          </a:prstGeom>
        </p:spPr>
      </p:pic>
      <p:pic>
        <p:nvPicPr>
          <p:cNvPr id="2" name="Picture 1">
            <a:extLst>
              <a:ext uri="{FF2B5EF4-FFF2-40B4-BE49-F238E27FC236}">
                <a16:creationId xmlns:a16="http://schemas.microsoft.com/office/drawing/2014/main" id="{9F6299C7-3268-E624-5BE0-831243B610C8}"/>
              </a:ext>
            </a:extLst>
          </p:cNvPr>
          <p:cNvPicPr>
            <a:picLocks noChangeAspect="1"/>
          </p:cNvPicPr>
          <p:nvPr/>
        </p:nvPicPr>
        <p:blipFill>
          <a:blip r:embed="rId15"/>
          <a:srcRect l="7039" t="31928" r="4833" b="36995"/>
          <a:stretch/>
        </p:blipFill>
        <p:spPr>
          <a:xfrm>
            <a:off x="8607186" y="3879282"/>
            <a:ext cx="3048000" cy="702210"/>
          </a:xfrm>
          <a:prstGeom prst="rect">
            <a:avLst/>
          </a:prstGeom>
        </p:spPr>
      </p:pic>
      <p:pic>
        <p:nvPicPr>
          <p:cNvPr id="8" name="Picture 7">
            <a:extLst>
              <a:ext uri="{FF2B5EF4-FFF2-40B4-BE49-F238E27FC236}">
                <a16:creationId xmlns:a16="http://schemas.microsoft.com/office/drawing/2014/main" id="{99BDB7B6-1A55-1714-E1C7-3C2942FE3A40}"/>
              </a:ext>
            </a:extLst>
          </p:cNvPr>
          <p:cNvPicPr>
            <a:picLocks noChangeAspect="1"/>
          </p:cNvPicPr>
          <p:nvPr/>
        </p:nvPicPr>
        <p:blipFill>
          <a:blip r:embed="rId16"/>
          <a:stretch>
            <a:fillRect/>
          </a:stretch>
        </p:blipFill>
        <p:spPr>
          <a:xfrm>
            <a:off x="4515351" y="2451875"/>
            <a:ext cx="1950724" cy="925070"/>
          </a:xfrm>
          <a:prstGeom prst="rect">
            <a:avLst/>
          </a:prstGeom>
        </p:spPr>
      </p:pic>
      <p:pic>
        <p:nvPicPr>
          <p:cNvPr id="6" name="Graphic 5">
            <a:extLst>
              <a:ext uri="{FF2B5EF4-FFF2-40B4-BE49-F238E27FC236}">
                <a16:creationId xmlns:a16="http://schemas.microsoft.com/office/drawing/2014/main" id="{962F3A39-D099-69E1-030E-876A9068CEC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23551" y="2719455"/>
            <a:ext cx="1352550" cy="381000"/>
          </a:xfrm>
          <a:prstGeom prst="rect">
            <a:avLst/>
          </a:prstGeom>
        </p:spPr>
      </p:pic>
      <p:pic>
        <p:nvPicPr>
          <p:cNvPr id="15" name="Picture 14">
            <a:extLst>
              <a:ext uri="{FF2B5EF4-FFF2-40B4-BE49-F238E27FC236}">
                <a16:creationId xmlns:a16="http://schemas.microsoft.com/office/drawing/2014/main" id="{18B085C3-68B3-7FA4-449B-08B341499070}"/>
              </a:ext>
            </a:extLst>
          </p:cNvPr>
          <p:cNvPicPr>
            <a:picLocks noChangeAspect="1"/>
          </p:cNvPicPr>
          <p:nvPr/>
        </p:nvPicPr>
        <p:blipFill>
          <a:blip r:embed="rId19"/>
          <a:stretch>
            <a:fillRect/>
          </a:stretch>
        </p:blipFill>
        <p:spPr>
          <a:xfrm>
            <a:off x="654920" y="5064744"/>
            <a:ext cx="1790792" cy="609631"/>
          </a:xfrm>
          <a:prstGeom prst="rect">
            <a:avLst/>
          </a:prstGeom>
        </p:spPr>
      </p:pic>
      <p:pic>
        <p:nvPicPr>
          <p:cNvPr id="21" name="Picture 20">
            <a:extLst>
              <a:ext uri="{FF2B5EF4-FFF2-40B4-BE49-F238E27FC236}">
                <a16:creationId xmlns:a16="http://schemas.microsoft.com/office/drawing/2014/main" id="{689F5D98-15BD-5AE3-2BCB-D14DFA213B92}"/>
              </a:ext>
            </a:extLst>
          </p:cNvPr>
          <p:cNvPicPr>
            <a:picLocks noChangeAspect="1"/>
          </p:cNvPicPr>
          <p:nvPr/>
        </p:nvPicPr>
        <p:blipFill>
          <a:blip r:embed="rId20"/>
          <a:stretch>
            <a:fillRect/>
          </a:stretch>
        </p:blipFill>
        <p:spPr>
          <a:xfrm>
            <a:off x="6175132" y="3553310"/>
            <a:ext cx="1213868" cy="440027"/>
          </a:xfrm>
          <a:prstGeom prst="rect">
            <a:avLst/>
          </a:prstGeom>
        </p:spPr>
      </p:pic>
      <p:pic>
        <p:nvPicPr>
          <p:cNvPr id="23" name="Picture 22">
            <a:extLst>
              <a:ext uri="{FF2B5EF4-FFF2-40B4-BE49-F238E27FC236}">
                <a16:creationId xmlns:a16="http://schemas.microsoft.com/office/drawing/2014/main" id="{179E66E6-78FF-B407-208E-F180D700B675}"/>
              </a:ext>
            </a:extLst>
          </p:cNvPr>
          <p:cNvPicPr>
            <a:picLocks noChangeAspect="1"/>
          </p:cNvPicPr>
          <p:nvPr/>
        </p:nvPicPr>
        <p:blipFill>
          <a:blip r:embed="rId21"/>
          <a:stretch>
            <a:fillRect/>
          </a:stretch>
        </p:blipFill>
        <p:spPr>
          <a:xfrm>
            <a:off x="3065592" y="4818416"/>
            <a:ext cx="2647044" cy="1279308"/>
          </a:xfrm>
          <a:prstGeom prst="rect">
            <a:avLst/>
          </a:prstGeom>
        </p:spPr>
      </p:pic>
      <p:pic>
        <p:nvPicPr>
          <p:cNvPr id="25" name="Picture 24">
            <a:extLst>
              <a:ext uri="{FF2B5EF4-FFF2-40B4-BE49-F238E27FC236}">
                <a16:creationId xmlns:a16="http://schemas.microsoft.com/office/drawing/2014/main" id="{73EBA102-9224-D263-3778-65385596F810}"/>
              </a:ext>
            </a:extLst>
          </p:cNvPr>
          <p:cNvPicPr>
            <a:picLocks noChangeAspect="1"/>
          </p:cNvPicPr>
          <p:nvPr/>
        </p:nvPicPr>
        <p:blipFill>
          <a:blip r:embed="rId22">
            <a:extLst>
              <a:ext uri="{BEBA8EAE-BF5A-486C-A8C5-ECC9F3942E4B}">
                <a14:imgProps xmlns:a14="http://schemas.microsoft.com/office/drawing/2010/main">
                  <a14:imgLayer r:embed="rId23">
                    <a14:imgEffect>
                      <a14:brightnessContrast bright="-40000" contrast="-40000"/>
                    </a14:imgEffect>
                  </a14:imgLayer>
                </a14:imgProps>
              </a:ext>
            </a:extLst>
          </a:blip>
          <a:stretch>
            <a:fillRect/>
          </a:stretch>
        </p:blipFill>
        <p:spPr>
          <a:xfrm>
            <a:off x="10611938" y="5902777"/>
            <a:ext cx="1305078" cy="424204"/>
          </a:xfrm>
          <a:prstGeom prst="rect">
            <a:avLst/>
          </a:prstGeom>
        </p:spPr>
      </p:pic>
      <p:pic>
        <p:nvPicPr>
          <p:cNvPr id="27" name="Graphic 26">
            <a:extLst>
              <a:ext uri="{FF2B5EF4-FFF2-40B4-BE49-F238E27FC236}">
                <a16:creationId xmlns:a16="http://schemas.microsoft.com/office/drawing/2014/main" id="{7854F9AB-7B8C-9710-D9F0-F9D0DBCDC68F}"/>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209961" y="1213285"/>
            <a:ext cx="1369894" cy="718951"/>
          </a:xfrm>
          <a:prstGeom prst="rect">
            <a:avLst/>
          </a:prstGeom>
        </p:spPr>
      </p:pic>
      <p:pic>
        <p:nvPicPr>
          <p:cNvPr id="29" name="Picture 28">
            <a:extLst>
              <a:ext uri="{FF2B5EF4-FFF2-40B4-BE49-F238E27FC236}">
                <a16:creationId xmlns:a16="http://schemas.microsoft.com/office/drawing/2014/main" id="{10E75FA7-4A99-2DDA-F64B-F970F40B0156}"/>
              </a:ext>
            </a:extLst>
          </p:cNvPr>
          <p:cNvPicPr>
            <a:picLocks noChangeAspect="1"/>
          </p:cNvPicPr>
          <p:nvPr/>
        </p:nvPicPr>
        <p:blipFill>
          <a:blip r:embed="rId26"/>
          <a:stretch>
            <a:fillRect/>
          </a:stretch>
        </p:blipFill>
        <p:spPr>
          <a:xfrm>
            <a:off x="4223111" y="6167873"/>
            <a:ext cx="2319801" cy="353868"/>
          </a:xfrm>
          <a:prstGeom prst="rect">
            <a:avLst/>
          </a:prstGeom>
        </p:spPr>
      </p:pic>
      <p:pic>
        <p:nvPicPr>
          <p:cNvPr id="35" name="Picture 34">
            <a:extLst>
              <a:ext uri="{FF2B5EF4-FFF2-40B4-BE49-F238E27FC236}">
                <a16:creationId xmlns:a16="http://schemas.microsoft.com/office/drawing/2014/main" id="{BA33E8CF-043C-4298-F526-BFEE060CD9E5}"/>
              </a:ext>
            </a:extLst>
          </p:cNvPr>
          <p:cNvPicPr>
            <a:picLocks noChangeAspect="1"/>
          </p:cNvPicPr>
          <p:nvPr/>
        </p:nvPicPr>
        <p:blipFill>
          <a:blip r:embed="rId27"/>
          <a:stretch>
            <a:fillRect/>
          </a:stretch>
        </p:blipFill>
        <p:spPr>
          <a:xfrm>
            <a:off x="6969583" y="6112026"/>
            <a:ext cx="3469635" cy="429911"/>
          </a:xfrm>
          <a:prstGeom prst="rect">
            <a:avLst/>
          </a:prstGeom>
        </p:spPr>
      </p:pic>
      <p:pic>
        <p:nvPicPr>
          <p:cNvPr id="37" name="Picture 36">
            <a:extLst>
              <a:ext uri="{FF2B5EF4-FFF2-40B4-BE49-F238E27FC236}">
                <a16:creationId xmlns:a16="http://schemas.microsoft.com/office/drawing/2014/main" id="{AB53D3DF-57C0-FE8D-C298-6CCA57DBFC1E}"/>
              </a:ext>
            </a:extLst>
          </p:cNvPr>
          <p:cNvPicPr>
            <a:picLocks noChangeAspect="1"/>
          </p:cNvPicPr>
          <p:nvPr/>
        </p:nvPicPr>
        <p:blipFill>
          <a:blip r:embed="rId28"/>
          <a:stretch>
            <a:fillRect/>
          </a:stretch>
        </p:blipFill>
        <p:spPr>
          <a:xfrm>
            <a:off x="454816" y="6157627"/>
            <a:ext cx="3499541" cy="364114"/>
          </a:xfrm>
          <a:prstGeom prst="rect">
            <a:avLst/>
          </a:prstGeom>
        </p:spPr>
      </p:pic>
      <p:pic>
        <p:nvPicPr>
          <p:cNvPr id="12" name="Picture 11">
            <a:extLst>
              <a:ext uri="{FF2B5EF4-FFF2-40B4-BE49-F238E27FC236}">
                <a16:creationId xmlns:a16="http://schemas.microsoft.com/office/drawing/2014/main" id="{F36C4B97-2889-9C29-C667-3E0E4B7FDC9A}"/>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88298" y="1266134"/>
            <a:ext cx="1924050" cy="685800"/>
          </a:xfrm>
          <a:prstGeom prst="rect">
            <a:avLst/>
          </a:prstGeom>
        </p:spPr>
      </p:pic>
      <p:pic>
        <p:nvPicPr>
          <p:cNvPr id="17" name="Picture 16">
            <a:extLst>
              <a:ext uri="{FF2B5EF4-FFF2-40B4-BE49-F238E27FC236}">
                <a16:creationId xmlns:a16="http://schemas.microsoft.com/office/drawing/2014/main" id="{AE03E052-3A3A-4CED-4163-21F701CB2455}"/>
              </a:ext>
            </a:extLst>
          </p:cNvPr>
          <p:cNvPicPr>
            <a:picLocks noChangeAspect="1"/>
          </p:cNvPicPr>
          <p:nvPr/>
        </p:nvPicPr>
        <p:blipFill>
          <a:blip r:embed="rId31"/>
          <a:stretch>
            <a:fillRect/>
          </a:stretch>
        </p:blipFill>
        <p:spPr>
          <a:xfrm>
            <a:off x="6246702" y="4818416"/>
            <a:ext cx="2087699" cy="787465"/>
          </a:xfrm>
          <a:prstGeom prst="rect">
            <a:avLst/>
          </a:prstGeom>
        </p:spPr>
      </p:pic>
      <p:pic>
        <p:nvPicPr>
          <p:cNvPr id="20" name="Picture 19">
            <a:extLst>
              <a:ext uri="{FF2B5EF4-FFF2-40B4-BE49-F238E27FC236}">
                <a16:creationId xmlns:a16="http://schemas.microsoft.com/office/drawing/2014/main" id="{EE992862-9510-8C46-B6A9-2AB6E54C11D4}"/>
              </a:ext>
            </a:extLst>
          </p:cNvPr>
          <p:cNvPicPr>
            <a:picLocks noChangeAspect="1"/>
          </p:cNvPicPr>
          <p:nvPr/>
        </p:nvPicPr>
        <p:blipFill>
          <a:blip r:embed="rId32"/>
          <a:stretch>
            <a:fillRect/>
          </a:stretch>
        </p:blipFill>
        <p:spPr>
          <a:xfrm>
            <a:off x="8423551" y="4698639"/>
            <a:ext cx="3607668" cy="877742"/>
          </a:xfrm>
          <a:prstGeom prst="rect">
            <a:avLst/>
          </a:prstGeom>
        </p:spPr>
      </p:pic>
    </p:spTree>
    <p:extLst>
      <p:ext uri="{BB962C8B-B14F-4D97-AF65-F5344CB8AC3E}">
        <p14:creationId xmlns:p14="http://schemas.microsoft.com/office/powerpoint/2010/main" val="4117352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2192000" cy="1885715"/>
          </a:xfrm>
          <a:custGeom>
            <a:avLst/>
            <a:gdLst/>
            <a:ahLst/>
            <a:cxnLst/>
            <a:rect l="l" t="t" r="r" b="b"/>
            <a:pathLst>
              <a:path w="18288000" h="2828573">
                <a:moveTo>
                  <a:pt x="0" y="0"/>
                </a:moveTo>
                <a:lnTo>
                  <a:pt x="18288000" y="0"/>
                </a:lnTo>
                <a:lnTo>
                  <a:pt x="18288000" y="2828573"/>
                </a:lnTo>
                <a:lnTo>
                  <a:pt x="0" y="2828573"/>
                </a:lnTo>
                <a:lnTo>
                  <a:pt x="0" y="0"/>
                </a:lnTo>
                <a:close/>
              </a:path>
            </a:pathLst>
          </a:custGeom>
          <a:blipFill>
            <a:blip r:embed="rId2"/>
            <a:stretch>
              <a:fillRect t="-289546" b="-95362"/>
            </a:stretch>
          </a:blipFill>
        </p:spPr>
      </p:sp>
      <p:grpSp>
        <p:nvGrpSpPr>
          <p:cNvPr id="3" name="Group 3"/>
          <p:cNvGrpSpPr/>
          <p:nvPr/>
        </p:nvGrpSpPr>
        <p:grpSpPr>
          <a:xfrm>
            <a:off x="2324980" y="0"/>
            <a:ext cx="7542041" cy="6857999"/>
            <a:chOff x="0" y="0"/>
            <a:chExt cx="2979572" cy="2767422"/>
          </a:xfrm>
          <a:solidFill>
            <a:schemeClr val="bg1">
              <a:lumMod val="95000"/>
            </a:schemeClr>
          </a:solidFill>
        </p:grpSpPr>
        <p:sp>
          <p:nvSpPr>
            <p:cNvPr id="4" name="Freeform 4"/>
            <p:cNvSpPr/>
            <p:nvPr/>
          </p:nvSpPr>
          <p:spPr>
            <a:xfrm>
              <a:off x="0" y="0"/>
              <a:ext cx="2979572" cy="2767422"/>
            </a:xfrm>
            <a:custGeom>
              <a:avLst/>
              <a:gdLst/>
              <a:ahLst/>
              <a:cxnLst/>
              <a:rect l="l" t="t" r="r" b="b"/>
              <a:pathLst>
                <a:path w="2979572" h="2767422">
                  <a:moveTo>
                    <a:pt x="0" y="0"/>
                  </a:moveTo>
                  <a:lnTo>
                    <a:pt x="2979572" y="0"/>
                  </a:lnTo>
                  <a:lnTo>
                    <a:pt x="2979572" y="2767422"/>
                  </a:lnTo>
                  <a:lnTo>
                    <a:pt x="0" y="2767422"/>
                  </a:lnTo>
                  <a:close/>
                </a:path>
              </a:pathLst>
            </a:custGeom>
            <a:grpFill/>
          </p:spPr>
        </p:sp>
        <p:sp>
          <p:nvSpPr>
            <p:cNvPr id="5" name="TextBox 5"/>
            <p:cNvSpPr txBox="1"/>
            <p:nvPr/>
          </p:nvSpPr>
          <p:spPr>
            <a:xfrm>
              <a:off x="0" y="-38100"/>
              <a:ext cx="2979572" cy="2805522"/>
            </a:xfrm>
            <a:prstGeom prst="rect">
              <a:avLst/>
            </a:prstGeom>
            <a:grpFill/>
          </p:spPr>
          <p:txBody>
            <a:bodyPr lIns="33867" tIns="33867" rIns="33867" bIns="33867" rtlCol="0" anchor="ctr"/>
            <a:lstStyle/>
            <a:p>
              <a:pPr algn="ctr">
                <a:lnSpc>
                  <a:spcPts val="1737"/>
                </a:lnSpc>
              </a:pPr>
              <a:endParaRPr sz="1200"/>
            </a:p>
          </p:txBody>
        </p:sp>
      </p:grpSp>
      <p:sp>
        <p:nvSpPr>
          <p:cNvPr id="6" name="TextBox 6"/>
          <p:cNvSpPr txBox="1"/>
          <p:nvPr/>
        </p:nvSpPr>
        <p:spPr>
          <a:xfrm>
            <a:off x="3443128" y="704963"/>
            <a:ext cx="5497133" cy="472437"/>
          </a:xfrm>
          <a:prstGeom prst="rect">
            <a:avLst/>
          </a:prstGeom>
        </p:spPr>
        <p:txBody>
          <a:bodyPr lIns="0" tIns="0" rIns="0" bIns="0" rtlCol="0" anchor="t">
            <a:spAutoFit/>
          </a:bodyPr>
          <a:lstStyle/>
          <a:p>
            <a:pPr algn="ctr">
              <a:lnSpc>
                <a:spcPts val="3792"/>
              </a:lnSpc>
              <a:spcBef>
                <a:spcPct val="0"/>
              </a:spcBef>
            </a:pPr>
            <a:r>
              <a:rPr lang="en-US" sz="3159" dirty="0">
                <a:latin typeface="Now Bold"/>
              </a:rPr>
              <a:t>WHY LUMBINI ELITE ?</a:t>
            </a:r>
          </a:p>
        </p:txBody>
      </p:sp>
      <p:sp>
        <p:nvSpPr>
          <p:cNvPr id="7" name="TextBox 7"/>
          <p:cNvSpPr txBox="1"/>
          <p:nvPr/>
        </p:nvSpPr>
        <p:spPr>
          <a:xfrm>
            <a:off x="3457787" y="2072371"/>
            <a:ext cx="5276426" cy="318421"/>
          </a:xfrm>
          <a:prstGeom prst="rect">
            <a:avLst/>
          </a:prstGeom>
        </p:spPr>
        <p:txBody>
          <a:bodyPr lIns="0" tIns="0" rIns="0" bIns="0" rtlCol="0" anchor="t">
            <a:spAutoFit/>
          </a:bodyPr>
          <a:lstStyle/>
          <a:p>
            <a:pPr algn="ctr">
              <a:lnSpc>
                <a:spcPts val="2575"/>
              </a:lnSpc>
              <a:spcBef>
                <a:spcPct val="0"/>
              </a:spcBef>
            </a:pPr>
            <a:r>
              <a:rPr lang="en-US" sz="1866" b="1" dirty="0">
                <a:solidFill>
                  <a:srgbClr val="F78B15"/>
                </a:solidFill>
                <a:latin typeface="DM Sans Bold"/>
              </a:rPr>
              <a:t>Company Overview and Expertise</a:t>
            </a:r>
          </a:p>
        </p:txBody>
      </p:sp>
      <p:sp>
        <p:nvSpPr>
          <p:cNvPr id="8" name="AutoShape 8"/>
          <p:cNvSpPr/>
          <p:nvPr/>
        </p:nvSpPr>
        <p:spPr>
          <a:xfrm>
            <a:off x="3184193" y="3444875"/>
            <a:ext cx="5823615" cy="0"/>
          </a:xfrm>
          <a:prstGeom prst="line">
            <a:avLst/>
          </a:prstGeom>
          <a:ln w="47625" cap="flat">
            <a:solidFill>
              <a:schemeClr val="bg1">
                <a:lumMod val="50000"/>
              </a:schemeClr>
            </a:solidFill>
            <a:prstDash val="solid"/>
            <a:headEnd type="none" w="sm" len="sm"/>
            <a:tailEnd type="none" w="sm" len="sm"/>
          </a:ln>
        </p:spPr>
      </p:sp>
      <p:sp>
        <p:nvSpPr>
          <p:cNvPr id="9" name="TextBox 9"/>
          <p:cNvSpPr txBox="1"/>
          <p:nvPr/>
        </p:nvSpPr>
        <p:spPr>
          <a:xfrm>
            <a:off x="3047451" y="2575799"/>
            <a:ext cx="6097099" cy="721351"/>
          </a:xfrm>
          <a:prstGeom prst="rect">
            <a:avLst/>
          </a:prstGeom>
        </p:spPr>
        <p:txBody>
          <a:bodyPr lIns="0" tIns="0" rIns="0" bIns="0" rtlCol="0" anchor="t">
            <a:spAutoFit/>
          </a:bodyPr>
          <a:lstStyle/>
          <a:p>
            <a:pPr algn="ctr">
              <a:lnSpc>
                <a:spcPts val="1931"/>
              </a:lnSpc>
              <a:spcBef>
                <a:spcPct val="0"/>
              </a:spcBef>
            </a:pPr>
            <a:r>
              <a:rPr lang="en-US" sz="1400" dirty="0">
                <a:solidFill>
                  <a:srgbClr val="002060"/>
                </a:solidFill>
                <a:latin typeface="DM Sans"/>
              </a:rPr>
              <a:t>12+ years of experience, focusing on SAP, PLM, and MES Product Suites, along with expertise in new Dimension areas like DevOps, Analytics, Mobility, Cloud, and IoT.</a:t>
            </a:r>
          </a:p>
        </p:txBody>
      </p:sp>
      <p:sp>
        <p:nvSpPr>
          <p:cNvPr id="10" name="AutoShape 10"/>
          <p:cNvSpPr/>
          <p:nvPr/>
        </p:nvSpPr>
        <p:spPr>
          <a:xfrm>
            <a:off x="3279887" y="5237633"/>
            <a:ext cx="5823615" cy="0"/>
          </a:xfrm>
          <a:prstGeom prst="line">
            <a:avLst/>
          </a:prstGeom>
          <a:ln w="47625" cap="flat">
            <a:solidFill>
              <a:schemeClr val="bg1">
                <a:lumMod val="50000"/>
              </a:schemeClr>
            </a:solidFill>
            <a:prstDash val="solid"/>
            <a:headEnd type="none" w="sm" len="sm"/>
            <a:tailEnd type="none" w="sm" len="sm"/>
          </a:ln>
        </p:spPr>
      </p:sp>
      <p:sp>
        <p:nvSpPr>
          <p:cNvPr id="11" name="TextBox 11"/>
          <p:cNvSpPr txBox="1"/>
          <p:nvPr/>
        </p:nvSpPr>
        <p:spPr>
          <a:xfrm>
            <a:off x="3457787" y="3615553"/>
            <a:ext cx="5276426" cy="318421"/>
          </a:xfrm>
          <a:prstGeom prst="rect">
            <a:avLst/>
          </a:prstGeom>
        </p:spPr>
        <p:txBody>
          <a:bodyPr lIns="0" tIns="0" rIns="0" bIns="0" rtlCol="0" anchor="t">
            <a:spAutoFit/>
          </a:bodyPr>
          <a:lstStyle/>
          <a:p>
            <a:pPr algn="ctr">
              <a:lnSpc>
                <a:spcPts val="2575"/>
              </a:lnSpc>
              <a:spcBef>
                <a:spcPct val="0"/>
              </a:spcBef>
            </a:pPr>
            <a:r>
              <a:rPr lang="en-US" sz="1866" b="1" dirty="0">
                <a:solidFill>
                  <a:srgbClr val="F1890E"/>
                </a:solidFill>
                <a:latin typeface="DM Sans Bold"/>
              </a:rPr>
              <a:t>Certifications and Partnerships</a:t>
            </a:r>
          </a:p>
        </p:txBody>
      </p:sp>
      <p:sp>
        <p:nvSpPr>
          <p:cNvPr id="12" name="TextBox 12"/>
          <p:cNvSpPr txBox="1"/>
          <p:nvPr/>
        </p:nvSpPr>
        <p:spPr>
          <a:xfrm>
            <a:off x="3184193" y="4087231"/>
            <a:ext cx="5972263" cy="965008"/>
          </a:xfrm>
          <a:prstGeom prst="rect">
            <a:avLst/>
          </a:prstGeom>
        </p:spPr>
        <p:txBody>
          <a:bodyPr lIns="0" tIns="0" rIns="0" bIns="0" rtlCol="0" anchor="t">
            <a:spAutoFit/>
          </a:bodyPr>
          <a:lstStyle/>
          <a:p>
            <a:pPr algn="ctr">
              <a:lnSpc>
                <a:spcPts val="1931"/>
              </a:lnSpc>
              <a:spcBef>
                <a:spcPct val="0"/>
              </a:spcBef>
            </a:pPr>
            <a:r>
              <a:rPr lang="en-US" sz="1400" dirty="0">
                <a:solidFill>
                  <a:srgbClr val="002060"/>
                </a:solidFill>
                <a:latin typeface="DM Sans"/>
              </a:rPr>
              <a:t> ISO-9001:2015/ISO-14001:2015 certifications, as well as its strong associations with German software product companies like SAP, Microsoft (as a </a:t>
            </a:r>
            <a:r>
              <a:rPr lang="en-US" sz="1400" dirty="0" err="1">
                <a:solidFill>
                  <a:srgbClr val="002060"/>
                </a:solidFill>
                <a:latin typeface="DM Sans"/>
              </a:rPr>
              <a:t>Bizspark</a:t>
            </a:r>
            <a:r>
              <a:rPr lang="en-US" sz="1400" dirty="0">
                <a:solidFill>
                  <a:srgbClr val="002060"/>
                </a:solidFill>
                <a:latin typeface="DM Sans"/>
              </a:rPr>
              <a:t> Member), and Siemens (as a consulting partner for </a:t>
            </a:r>
            <a:r>
              <a:rPr lang="en-US" sz="1400" dirty="0" err="1">
                <a:solidFill>
                  <a:srgbClr val="002060"/>
                </a:solidFill>
                <a:latin typeface="DM Sans"/>
              </a:rPr>
              <a:t>TeamCenter</a:t>
            </a:r>
            <a:r>
              <a:rPr lang="en-US" sz="1400" dirty="0">
                <a:solidFill>
                  <a:srgbClr val="002060"/>
                </a:solidFill>
                <a:latin typeface="DM Sans"/>
              </a:rPr>
              <a:t>).</a:t>
            </a:r>
          </a:p>
        </p:txBody>
      </p:sp>
      <p:sp>
        <p:nvSpPr>
          <p:cNvPr id="13" name="TextBox 13"/>
          <p:cNvSpPr txBox="1"/>
          <p:nvPr/>
        </p:nvSpPr>
        <p:spPr>
          <a:xfrm>
            <a:off x="3457787" y="5339296"/>
            <a:ext cx="5276426" cy="318421"/>
          </a:xfrm>
          <a:prstGeom prst="rect">
            <a:avLst/>
          </a:prstGeom>
        </p:spPr>
        <p:txBody>
          <a:bodyPr lIns="0" tIns="0" rIns="0" bIns="0" rtlCol="0" anchor="t">
            <a:spAutoFit/>
          </a:bodyPr>
          <a:lstStyle/>
          <a:p>
            <a:pPr algn="ctr">
              <a:lnSpc>
                <a:spcPts val="2575"/>
              </a:lnSpc>
              <a:spcBef>
                <a:spcPct val="0"/>
              </a:spcBef>
            </a:pPr>
            <a:r>
              <a:rPr lang="en-US" sz="1866" b="1" dirty="0">
                <a:solidFill>
                  <a:srgbClr val="F1890E"/>
                </a:solidFill>
                <a:latin typeface="DM Sans Bold"/>
              </a:rPr>
              <a:t>Geographical Presence</a:t>
            </a:r>
          </a:p>
        </p:txBody>
      </p:sp>
      <p:sp>
        <p:nvSpPr>
          <p:cNvPr id="14" name="TextBox 14"/>
          <p:cNvSpPr txBox="1"/>
          <p:nvPr/>
        </p:nvSpPr>
        <p:spPr>
          <a:xfrm>
            <a:off x="3279887" y="5744361"/>
            <a:ext cx="5972263" cy="721351"/>
          </a:xfrm>
          <a:prstGeom prst="rect">
            <a:avLst/>
          </a:prstGeom>
        </p:spPr>
        <p:txBody>
          <a:bodyPr lIns="0" tIns="0" rIns="0" bIns="0" rtlCol="0" anchor="t">
            <a:spAutoFit/>
          </a:bodyPr>
          <a:lstStyle/>
          <a:p>
            <a:pPr algn="ctr">
              <a:lnSpc>
                <a:spcPts val="1931"/>
              </a:lnSpc>
              <a:spcBef>
                <a:spcPct val="0"/>
              </a:spcBef>
            </a:pPr>
            <a:r>
              <a:rPr lang="en-US" sz="1400" dirty="0">
                <a:solidFill>
                  <a:srgbClr val="002060"/>
                </a:solidFill>
                <a:latin typeface="DM Sans"/>
              </a:rPr>
              <a:t>Presence in Bangalore, Jharkhand (Ranchi), Delhi (Noida), and  Qatar(Middle East) highlighting its strategic location in the IT hub of India and its ability to cater to clients across different regions.</a:t>
            </a:r>
          </a:p>
        </p:txBody>
      </p:sp>
      <p:grpSp>
        <p:nvGrpSpPr>
          <p:cNvPr id="15" name="Group 14">
            <a:extLst>
              <a:ext uri="{FF2B5EF4-FFF2-40B4-BE49-F238E27FC236}">
                <a16:creationId xmlns:a16="http://schemas.microsoft.com/office/drawing/2014/main" id="{17F871CE-4591-627C-9B3F-77E66F4CD1FF}"/>
              </a:ext>
            </a:extLst>
          </p:cNvPr>
          <p:cNvGrpSpPr/>
          <p:nvPr/>
        </p:nvGrpSpPr>
        <p:grpSpPr>
          <a:xfrm>
            <a:off x="5806671" y="1333533"/>
            <a:ext cx="727306" cy="94339"/>
            <a:chOff x="10390909" y="2667045"/>
            <a:chExt cx="1922607" cy="249382"/>
          </a:xfrm>
        </p:grpSpPr>
        <p:sp>
          <p:nvSpPr>
            <p:cNvPr id="16" name="Oval 15">
              <a:extLst>
                <a:ext uri="{FF2B5EF4-FFF2-40B4-BE49-F238E27FC236}">
                  <a16:creationId xmlns:a16="http://schemas.microsoft.com/office/drawing/2014/main" id="{851DB9C3-8A80-1614-4740-02725F1515F1}"/>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Oval 16">
              <a:extLst>
                <a:ext uri="{FF2B5EF4-FFF2-40B4-BE49-F238E27FC236}">
                  <a16:creationId xmlns:a16="http://schemas.microsoft.com/office/drawing/2014/main" id="{FC014069-8E14-76B0-CA91-977C1DDB7B7C}"/>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Oval 17">
              <a:extLst>
                <a:ext uri="{FF2B5EF4-FFF2-40B4-BE49-F238E27FC236}">
                  <a16:creationId xmlns:a16="http://schemas.microsoft.com/office/drawing/2014/main" id="{4D4C41A7-402E-EF3C-E7E5-3DCDAD78BFBE}"/>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Oval 18">
              <a:extLst>
                <a:ext uri="{FF2B5EF4-FFF2-40B4-BE49-F238E27FC236}">
                  <a16:creationId xmlns:a16="http://schemas.microsoft.com/office/drawing/2014/main" id="{68D7CB6A-395A-2A31-D45B-C52AC35617EC}"/>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ounded Rectangle 20">
            <a:extLst>
              <a:ext uri="{FF2B5EF4-FFF2-40B4-BE49-F238E27FC236}">
                <a16:creationId xmlns:a16="http://schemas.microsoft.com/office/drawing/2014/main" id="{06662C00-F7D2-0046-834B-1A51FBA50526}"/>
              </a:ext>
            </a:extLst>
          </p:cNvPr>
          <p:cNvSpPr/>
          <p:nvPr/>
        </p:nvSpPr>
        <p:spPr>
          <a:xfrm>
            <a:off x="969523" y="3254375"/>
            <a:ext cx="5119689" cy="1984845"/>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Rounded Rectangle 20">
            <a:extLst>
              <a:ext uri="{FF2B5EF4-FFF2-40B4-BE49-F238E27FC236}">
                <a16:creationId xmlns:a16="http://schemas.microsoft.com/office/drawing/2014/main" id="{F97F63B7-101B-9342-BE64-5B19DF314BC0}"/>
              </a:ext>
            </a:extLst>
          </p:cNvPr>
          <p:cNvSpPr/>
          <p:nvPr/>
        </p:nvSpPr>
        <p:spPr>
          <a:xfrm>
            <a:off x="6095999" y="3254375"/>
            <a:ext cx="5119689" cy="1984845"/>
          </a:xfrm>
          <a:prstGeom prst="roundRect">
            <a:avLst>
              <a:gd name="adj" fmla="val 50000"/>
            </a:avLst>
          </a:prstGeom>
          <a:solidFill>
            <a:srgbClr val="008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accent1"/>
              </a:solidFill>
            </a:endParaRPr>
          </a:p>
        </p:txBody>
      </p:sp>
      <p:sp>
        <p:nvSpPr>
          <p:cNvPr id="28" name="CuadroTexto 395">
            <a:extLst>
              <a:ext uri="{FF2B5EF4-FFF2-40B4-BE49-F238E27FC236}">
                <a16:creationId xmlns:a16="http://schemas.microsoft.com/office/drawing/2014/main" id="{1CD4C3E4-FA70-E545-95D1-92EA24AE63FC}"/>
              </a:ext>
            </a:extLst>
          </p:cNvPr>
          <p:cNvSpPr txBox="1"/>
          <p:nvPr/>
        </p:nvSpPr>
        <p:spPr>
          <a:xfrm>
            <a:off x="1576200" y="3630788"/>
            <a:ext cx="2112391" cy="338554"/>
          </a:xfrm>
          <a:prstGeom prst="rect">
            <a:avLst/>
          </a:prstGeom>
          <a:noFill/>
        </p:spPr>
        <p:txBody>
          <a:bodyPr wrap="square" rtlCol="0">
            <a:spAutoFit/>
          </a:bodyPr>
          <a:lstStyle/>
          <a:p>
            <a:pPr algn="l"/>
            <a:r>
              <a:rPr lang="en-IN" sz="1600" b="1" i="0" dirty="0">
                <a:effectLst/>
                <a:latin typeface="Sohne"/>
              </a:rPr>
              <a:t>CORPORATE OFFICE</a:t>
            </a:r>
          </a:p>
        </p:txBody>
      </p:sp>
      <p:sp>
        <p:nvSpPr>
          <p:cNvPr id="26" name="Forma libre 25">
            <a:extLst>
              <a:ext uri="{FF2B5EF4-FFF2-40B4-BE49-F238E27FC236}">
                <a16:creationId xmlns:a16="http://schemas.microsoft.com/office/drawing/2014/main" id="{4CFAA2E1-ED4C-B946-BE05-146A59DDECDC}"/>
              </a:ext>
            </a:extLst>
          </p:cNvPr>
          <p:cNvSpPr/>
          <p:nvPr/>
        </p:nvSpPr>
        <p:spPr>
          <a:xfrm>
            <a:off x="3716744" y="2291471"/>
            <a:ext cx="4657235" cy="4009544"/>
          </a:xfrm>
          <a:custGeom>
            <a:avLst/>
            <a:gdLst>
              <a:gd name="connsiteX0" fmla="*/ 3081464 w 4400550"/>
              <a:gd name="connsiteY0" fmla="*/ 5276088 h 5276850"/>
              <a:gd name="connsiteX1" fmla="*/ 1324801 w 4400550"/>
              <a:gd name="connsiteY1" fmla="*/ 5276088 h 5276850"/>
              <a:gd name="connsiteX2" fmla="*/ 1211961 w 4400550"/>
              <a:gd name="connsiteY2" fmla="*/ 4335463 h 5276850"/>
              <a:gd name="connsiteX3" fmla="*/ 3175 w 4400550"/>
              <a:gd name="connsiteY3" fmla="*/ 3175 h 5276850"/>
              <a:gd name="connsiteX4" fmla="*/ 4403090 w 4400550"/>
              <a:gd name="connsiteY4" fmla="*/ 3175 h 5276850"/>
              <a:gd name="connsiteX5" fmla="*/ 3213354 w 4400550"/>
              <a:gd name="connsiteY5" fmla="*/ 4186555 h 5276850"/>
              <a:gd name="connsiteX6" fmla="*/ 3081464 w 4400550"/>
              <a:gd name="connsiteY6" fmla="*/ 5276088 h 527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0550" h="5276850">
                <a:moveTo>
                  <a:pt x="3081464" y="5276088"/>
                </a:moveTo>
                <a:lnTo>
                  <a:pt x="1324801" y="5276088"/>
                </a:lnTo>
                <a:cubicBezTo>
                  <a:pt x="1296183" y="4971288"/>
                  <a:pt x="1258570" y="4657747"/>
                  <a:pt x="1211961" y="4335463"/>
                </a:cubicBezTo>
                <a:cubicBezTo>
                  <a:pt x="958533" y="2604580"/>
                  <a:pt x="491236" y="1154875"/>
                  <a:pt x="3175" y="3175"/>
                </a:cubicBezTo>
                <a:lnTo>
                  <a:pt x="4403090" y="3175"/>
                </a:lnTo>
                <a:cubicBezTo>
                  <a:pt x="3934968" y="1094042"/>
                  <a:pt x="3471037" y="2495042"/>
                  <a:pt x="3213354" y="4186555"/>
                </a:cubicBezTo>
                <a:cubicBezTo>
                  <a:pt x="3156204" y="4561967"/>
                  <a:pt x="3113088" y="4925632"/>
                  <a:pt x="3081464" y="5276088"/>
                </a:cubicBezTo>
                <a:close/>
              </a:path>
            </a:pathLst>
          </a:custGeom>
          <a:solidFill>
            <a:srgbClr val="D1CFD0"/>
          </a:solidFill>
          <a:ln w="6350" cap="flat">
            <a:noFill/>
            <a:prstDash val="solid"/>
            <a:miter/>
          </a:ln>
        </p:spPr>
        <p:txBody>
          <a:bodyPr rtlCol="0" anchor="ctr"/>
          <a:lstStyle/>
          <a:p>
            <a:endParaRPr lang="es-MX" sz="900" dirty="0"/>
          </a:p>
        </p:txBody>
      </p:sp>
      <p:sp>
        <p:nvSpPr>
          <p:cNvPr id="32" name="Forma libre 31">
            <a:extLst>
              <a:ext uri="{FF2B5EF4-FFF2-40B4-BE49-F238E27FC236}">
                <a16:creationId xmlns:a16="http://schemas.microsoft.com/office/drawing/2014/main" id="{3480578E-737F-314D-A081-EFBEF1CCC597}"/>
              </a:ext>
            </a:extLst>
          </p:cNvPr>
          <p:cNvSpPr/>
          <p:nvPr/>
        </p:nvSpPr>
        <p:spPr>
          <a:xfrm>
            <a:off x="3716744" y="1871604"/>
            <a:ext cx="4657235" cy="844369"/>
          </a:xfrm>
          <a:custGeom>
            <a:avLst/>
            <a:gdLst>
              <a:gd name="connsiteX0" fmla="*/ 4403090 w 4400550"/>
              <a:gd name="connsiteY0" fmla="*/ 555752 h 1111250"/>
              <a:gd name="connsiteX1" fmla="*/ 2203132 w 4400550"/>
              <a:gd name="connsiteY1" fmla="*/ 1108329 h 1111250"/>
              <a:gd name="connsiteX2" fmla="*/ 3175 w 4400550"/>
              <a:gd name="connsiteY2" fmla="*/ 555752 h 1111250"/>
              <a:gd name="connsiteX3" fmla="*/ 2203132 w 4400550"/>
              <a:gd name="connsiteY3" fmla="*/ 3175 h 1111250"/>
              <a:gd name="connsiteX4" fmla="*/ 4403090 w 4400550"/>
              <a:gd name="connsiteY4" fmla="*/ 555752 h 1111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0550" h="1111250">
                <a:moveTo>
                  <a:pt x="4403090" y="555752"/>
                </a:moveTo>
                <a:cubicBezTo>
                  <a:pt x="4403090" y="860932"/>
                  <a:pt x="3418135" y="1108329"/>
                  <a:pt x="2203132" y="1108329"/>
                </a:cubicBezTo>
                <a:cubicBezTo>
                  <a:pt x="988129" y="1108329"/>
                  <a:pt x="3175" y="860932"/>
                  <a:pt x="3175" y="555752"/>
                </a:cubicBezTo>
                <a:cubicBezTo>
                  <a:pt x="3175" y="250572"/>
                  <a:pt x="988129" y="3175"/>
                  <a:pt x="2203132" y="3175"/>
                </a:cubicBezTo>
                <a:cubicBezTo>
                  <a:pt x="3418135" y="3175"/>
                  <a:pt x="4403090" y="250572"/>
                  <a:pt x="4403090" y="555752"/>
                </a:cubicBezTo>
                <a:close/>
              </a:path>
            </a:pathLst>
          </a:custGeom>
          <a:solidFill>
            <a:srgbClr val="E5E5E5"/>
          </a:solidFill>
          <a:ln w="6350" cap="flat">
            <a:noFill/>
            <a:prstDash val="solid"/>
            <a:miter/>
          </a:ln>
        </p:spPr>
        <p:txBody>
          <a:bodyPr rtlCol="0" anchor="ctr"/>
          <a:lstStyle/>
          <a:p>
            <a:endParaRPr lang="es-MX" sz="900"/>
          </a:p>
        </p:txBody>
      </p:sp>
      <p:sp>
        <p:nvSpPr>
          <p:cNvPr id="33" name="Forma libre 32">
            <a:extLst>
              <a:ext uri="{FF2B5EF4-FFF2-40B4-BE49-F238E27FC236}">
                <a16:creationId xmlns:a16="http://schemas.microsoft.com/office/drawing/2014/main" id="{85763442-B656-9544-ABB1-96536521D9D0}"/>
              </a:ext>
            </a:extLst>
          </p:cNvPr>
          <p:cNvSpPr/>
          <p:nvPr/>
        </p:nvSpPr>
        <p:spPr>
          <a:xfrm>
            <a:off x="5112378" y="6094449"/>
            <a:ext cx="1865965" cy="413132"/>
          </a:xfrm>
          <a:custGeom>
            <a:avLst/>
            <a:gdLst>
              <a:gd name="connsiteX0" fmla="*/ 1759839 w 1758950"/>
              <a:gd name="connsiteY0" fmla="*/ 223838 h 444500"/>
              <a:gd name="connsiteX1" fmla="*/ 881507 w 1758950"/>
              <a:gd name="connsiteY1" fmla="*/ 444500 h 444500"/>
              <a:gd name="connsiteX2" fmla="*/ 3175 w 1758950"/>
              <a:gd name="connsiteY2" fmla="*/ 223838 h 444500"/>
              <a:gd name="connsiteX3" fmla="*/ 881507 w 1758950"/>
              <a:gd name="connsiteY3" fmla="*/ 3175 h 444500"/>
              <a:gd name="connsiteX4" fmla="*/ 1759839 w 1758950"/>
              <a:gd name="connsiteY4" fmla="*/ 223838 h 44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8950" h="444500">
                <a:moveTo>
                  <a:pt x="1759839" y="223838"/>
                </a:moveTo>
                <a:cubicBezTo>
                  <a:pt x="1759839" y="345706"/>
                  <a:pt x="1366596" y="444500"/>
                  <a:pt x="881507" y="444500"/>
                </a:cubicBezTo>
                <a:cubicBezTo>
                  <a:pt x="396417" y="444500"/>
                  <a:pt x="3175" y="345706"/>
                  <a:pt x="3175" y="223838"/>
                </a:cubicBezTo>
                <a:cubicBezTo>
                  <a:pt x="3175" y="101969"/>
                  <a:pt x="396417" y="3175"/>
                  <a:pt x="881507" y="3175"/>
                </a:cubicBezTo>
                <a:cubicBezTo>
                  <a:pt x="1366596" y="3175"/>
                  <a:pt x="1759839" y="101969"/>
                  <a:pt x="1759839" y="223838"/>
                </a:cubicBezTo>
                <a:close/>
              </a:path>
            </a:pathLst>
          </a:custGeom>
          <a:solidFill>
            <a:srgbClr val="D1CFD0"/>
          </a:solidFill>
          <a:ln w="6350" cap="flat">
            <a:noFill/>
            <a:prstDash val="solid"/>
            <a:miter/>
          </a:ln>
        </p:spPr>
        <p:txBody>
          <a:bodyPr rtlCol="0" anchor="ctr"/>
          <a:lstStyle/>
          <a:p>
            <a:endParaRPr lang="es-MX" sz="900"/>
          </a:p>
        </p:txBody>
      </p:sp>
      <p:sp>
        <p:nvSpPr>
          <p:cNvPr id="34" name="Rectangle 140">
            <a:extLst>
              <a:ext uri="{FF2B5EF4-FFF2-40B4-BE49-F238E27FC236}">
                <a16:creationId xmlns:a16="http://schemas.microsoft.com/office/drawing/2014/main" id="{84E693B6-F68F-4644-A580-FE8945B2744D}"/>
              </a:ext>
            </a:extLst>
          </p:cNvPr>
          <p:cNvSpPr/>
          <p:nvPr/>
        </p:nvSpPr>
        <p:spPr>
          <a:xfrm>
            <a:off x="7931518" y="5317634"/>
            <a:ext cx="2828318" cy="338554"/>
          </a:xfrm>
          <a:prstGeom prst="rect">
            <a:avLst/>
          </a:prstGeom>
        </p:spPr>
        <p:txBody>
          <a:bodyPr wrap="square">
            <a:spAutoFit/>
          </a:bodyPr>
          <a:lstStyle/>
          <a:p>
            <a:pPr algn="r"/>
            <a:r>
              <a:rPr lang="en-US" sz="1600" b="1" dirty="0">
                <a:solidFill>
                  <a:srgbClr val="0081E2"/>
                </a:solidFill>
                <a:latin typeface="Sohne"/>
                <a:hlinkClick r:id="rId2">
                  <a:extLst>
                    <a:ext uri="{A12FA001-AC4F-418D-AE19-62706E023703}">
                      <ahyp:hlinkClr xmlns:ahyp="http://schemas.microsoft.com/office/drawing/2018/hyperlinkcolor" val="tx"/>
                    </a:ext>
                  </a:extLst>
                </a:hlinkClick>
              </a:rPr>
              <a:t>Email:- info@lumbinielite.com</a:t>
            </a:r>
            <a:r>
              <a:rPr lang="en-US" sz="1600" b="1" dirty="0">
                <a:solidFill>
                  <a:srgbClr val="0081E2"/>
                </a:solidFill>
                <a:latin typeface="Sohne"/>
              </a:rPr>
              <a:t> </a:t>
            </a:r>
          </a:p>
        </p:txBody>
      </p:sp>
      <p:sp>
        <p:nvSpPr>
          <p:cNvPr id="43" name="CuadroTexto 350">
            <a:extLst>
              <a:ext uri="{FF2B5EF4-FFF2-40B4-BE49-F238E27FC236}">
                <a16:creationId xmlns:a16="http://schemas.microsoft.com/office/drawing/2014/main" id="{69258600-3C82-3540-9B99-EA96F0FDD3F7}"/>
              </a:ext>
            </a:extLst>
          </p:cNvPr>
          <p:cNvSpPr txBox="1"/>
          <p:nvPr/>
        </p:nvSpPr>
        <p:spPr>
          <a:xfrm>
            <a:off x="3101855" y="511095"/>
            <a:ext cx="5974713" cy="707886"/>
          </a:xfrm>
          <a:prstGeom prst="rect">
            <a:avLst/>
          </a:prstGeom>
          <a:noFill/>
        </p:spPr>
        <p:txBody>
          <a:bodyPr wrap="none" rtlCol="0">
            <a:spAutoFit/>
          </a:bodyPr>
          <a:lstStyle/>
          <a:p>
            <a:r>
              <a:rPr lang="en-US" sz="4000" b="1" dirty="0">
                <a:latin typeface="Poppins SemiBold" pitchFamily="2" charset="77"/>
                <a:ea typeface="Roboto Medium" panose="02000000000000000000" pitchFamily="2" charset="0"/>
                <a:cs typeface="Poppins SemiBold" pitchFamily="2" charset="77"/>
              </a:rPr>
              <a:t>GET IN TOUCH WITH US</a:t>
            </a:r>
          </a:p>
        </p:txBody>
      </p:sp>
      <p:grpSp>
        <p:nvGrpSpPr>
          <p:cNvPr id="2" name="Group 1">
            <a:extLst>
              <a:ext uri="{FF2B5EF4-FFF2-40B4-BE49-F238E27FC236}">
                <a16:creationId xmlns:a16="http://schemas.microsoft.com/office/drawing/2014/main" id="{B89C3A64-F860-FE80-0C40-F478DAF2C40D}"/>
              </a:ext>
            </a:extLst>
          </p:cNvPr>
          <p:cNvGrpSpPr/>
          <p:nvPr/>
        </p:nvGrpSpPr>
        <p:grpSpPr>
          <a:xfrm>
            <a:off x="5725558" y="1333533"/>
            <a:ext cx="727306" cy="94339"/>
            <a:chOff x="10390909" y="2667045"/>
            <a:chExt cx="1922607" cy="249382"/>
          </a:xfrm>
        </p:grpSpPr>
        <p:sp>
          <p:nvSpPr>
            <p:cNvPr id="3" name="Oval 2">
              <a:extLst>
                <a:ext uri="{FF2B5EF4-FFF2-40B4-BE49-F238E27FC236}">
                  <a16:creationId xmlns:a16="http://schemas.microsoft.com/office/drawing/2014/main" id="{BFDA0DEB-1035-21E9-44B8-09221767FBE5}"/>
                </a:ext>
              </a:extLst>
            </p:cNvPr>
            <p:cNvSpPr/>
            <p:nvPr/>
          </p:nvSpPr>
          <p:spPr>
            <a:xfrm>
              <a:off x="10390909" y="2667045"/>
              <a:ext cx="249382" cy="2493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 name="Oval 3">
              <a:extLst>
                <a:ext uri="{FF2B5EF4-FFF2-40B4-BE49-F238E27FC236}">
                  <a16:creationId xmlns:a16="http://schemas.microsoft.com/office/drawing/2014/main" id="{3D058838-1466-47EE-7D2B-35A286131989}"/>
                </a:ext>
              </a:extLst>
            </p:cNvPr>
            <p:cNvSpPr/>
            <p:nvPr/>
          </p:nvSpPr>
          <p:spPr>
            <a:xfrm>
              <a:off x="10948122" y="2667045"/>
              <a:ext cx="249382" cy="249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Oval 4">
              <a:extLst>
                <a:ext uri="{FF2B5EF4-FFF2-40B4-BE49-F238E27FC236}">
                  <a16:creationId xmlns:a16="http://schemas.microsoft.com/office/drawing/2014/main" id="{AF0A38DF-B258-2E51-8A34-1D9F1D6DFE99}"/>
                </a:ext>
              </a:extLst>
            </p:cNvPr>
            <p:cNvSpPr/>
            <p:nvPr/>
          </p:nvSpPr>
          <p:spPr>
            <a:xfrm>
              <a:off x="11505335" y="2667045"/>
              <a:ext cx="249382" cy="249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Oval 5">
              <a:extLst>
                <a:ext uri="{FF2B5EF4-FFF2-40B4-BE49-F238E27FC236}">
                  <a16:creationId xmlns:a16="http://schemas.microsoft.com/office/drawing/2014/main" id="{6F0EDC04-B15E-329A-75A4-CC27B636D268}"/>
                </a:ext>
              </a:extLst>
            </p:cNvPr>
            <p:cNvSpPr/>
            <p:nvPr/>
          </p:nvSpPr>
          <p:spPr>
            <a:xfrm>
              <a:off x="12064134" y="2667045"/>
              <a:ext cx="249382" cy="2493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8" name="TextBox 7">
            <a:extLst>
              <a:ext uri="{FF2B5EF4-FFF2-40B4-BE49-F238E27FC236}">
                <a16:creationId xmlns:a16="http://schemas.microsoft.com/office/drawing/2014/main" id="{E30A338A-CB23-A435-FD02-178056B7C6A6}"/>
              </a:ext>
            </a:extLst>
          </p:cNvPr>
          <p:cNvSpPr txBox="1"/>
          <p:nvPr/>
        </p:nvSpPr>
        <p:spPr>
          <a:xfrm>
            <a:off x="1548046" y="3926944"/>
            <a:ext cx="3066132" cy="1077218"/>
          </a:xfrm>
          <a:prstGeom prst="rect">
            <a:avLst/>
          </a:prstGeom>
          <a:noFill/>
        </p:spPr>
        <p:txBody>
          <a:bodyPr wrap="square">
            <a:spAutoFit/>
          </a:bodyPr>
          <a:lstStyle/>
          <a:p>
            <a:r>
              <a:rPr lang="en-IN" sz="1600" b="0" i="0" dirty="0">
                <a:solidFill>
                  <a:srgbClr val="2D4050"/>
                </a:solidFill>
                <a:effectLst/>
                <a:latin typeface="Sohne"/>
              </a:rPr>
              <a:t> #7, SJR Eternity, Phase 1</a:t>
            </a:r>
            <a:br>
              <a:rPr lang="en-IN" sz="1600" dirty="0">
                <a:latin typeface="Sohne"/>
              </a:rPr>
            </a:br>
            <a:r>
              <a:rPr lang="en-IN" sz="1600" b="0" i="0" dirty="0">
                <a:solidFill>
                  <a:srgbClr val="2D4050"/>
                </a:solidFill>
                <a:effectLst/>
                <a:latin typeface="Sohne"/>
              </a:rPr>
              <a:t> </a:t>
            </a:r>
            <a:r>
              <a:rPr lang="en-IN" sz="1600" b="0" i="0" dirty="0" err="1">
                <a:solidFill>
                  <a:srgbClr val="2D4050"/>
                </a:solidFill>
                <a:effectLst/>
                <a:latin typeface="Sohne"/>
              </a:rPr>
              <a:t>Kodigehalli</a:t>
            </a:r>
            <a:r>
              <a:rPr lang="en-IN" sz="1600" b="0" i="0" dirty="0">
                <a:solidFill>
                  <a:srgbClr val="2D4050"/>
                </a:solidFill>
                <a:effectLst/>
                <a:latin typeface="Sohne"/>
              </a:rPr>
              <a:t> Road, </a:t>
            </a:r>
            <a:r>
              <a:rPr lang="en-IN" sz="1600" b="0" i="0" dirty="0" err="1">
                <a:solidFill>
                  <a:srgbClr val="2D4050"/>
                </a:solidFill>
                <a:effectLst/>
                <a:latin typeface="Sohne"/>
              </a:rPr>
              <a:t>Hoodi</a:t>
            </a:r>
            <a:br>
              <a:rPr lang="en-IN" sz="1600" dirty="0">
                <a:latin typeface="Sohne"/>
              </a:rPr>
            </a:br>
            <a:r>
              <a:rPr lang="en-IN" sz="1600" b="0" i="0" dirty="0">
                <a:solidFill>
                  <a:srgbClr val="2D4050"/>
                </a:solidFill>
                <a:effectLst/>
                <a:latin typeface="Sohne"/>
              </a:rPr>
              <a:t> Bangalore</a:t>
            </a:r>
            <a:r>
              <a:rPr lang="en-IN" sz="1600" dirty="0">
                <a:solidFill>
                  <a:srgbClr val="2D4050"/>
                </a:solidFill>
                <a:latin typeface="Sohne"/>
              </a:rPr>
              <a:t>, Karnataka, India.</a:t>
            </a:r>
            <a:br>
              <a:rPr lang="en-IN" sz="1600" dirty="0">
                <a:latin typeface="Sohne"/>
              </a:rPr>
            </a:br>
            <a:r>
              <a:rPr lang="en-IN" sz="1600" b="0" i="0" dirty="0">
                <a:solidFill>
                  <a:srgbClr val="2D4050"/>
                </a:solidFill>
                <a:effectLst/>
                <a:latin typeface="Sohne"/>
              </a:rPr>
              <a:t> Pincode-560048</a:t>
            </a:r>
            <a:endParaRPr lang="en-IN" sz="1600" dirty="0">
              <a:latin typeface="Sohne"/>
            </a:endParaRPr>
          </a:p>
        </p:txBody>
      </p:sp>
      <p:sp>
        <p:nvSpPr>
          <p:cNvPr id="9" name="CuadroTexto 395">
            <a:extLst>
              <a:ext uri="{FF2B5EF4-FFF2-40B4-BE49-F238E27FC236}">
                <a16:creationId xmlns:a16="http://schemas.microsoft.com/office/drawing/2014/main" id="{A4761B99-10CE-63E1-8FBE-C743E87ECC56}"/>
              </a:ext>
            </a:extLst>
          </p:cNvPr>
          <p:cNvSpPr txBox="1"/>
          <p:nvPr/>
        </p:nvSpPr>
        <p:spPr>
          <a:xfrm>
            <a:off x="8574120" y="3630788"/>
            <a:ext cx="2441427" cy="338554"/>
          </a:xfrm>
          <a:prstGeom prst="rect">
            <a:avLst/>
          </a:prstGeom>
          <a:noFill/>
        </p:spPr>
        <p:txBody>
          <a:bodyPr wrap="square" rtlCol="0">
            <a:spAutoFit/>
          </a:bodyPr>
          <a:lstStyle/>
          <a:p>
            <a:pPr algn="l"/>
            <a:r>
              <a:rPr lang="en-IN" sz="1600" b="1" i="0" dirty="0">
                <a:solidFill>
                  <a:schemeClr val="bg1"/>
                </a:solidFill>
                <a:effectLst/>
                <a:latin typeface="calibri" panose="020F0502020204030204" pitchFamily="34" charset="0"/>
              </a:rPr>
              <a:t>DEVELOPMENT CENTER</a:t>
            </a:r>
          </a:p>
        </p:txBody>
      </p:sp>
      <p:sp>
        <p:nvSpPr>
          <p:cNvPr id="10" name="TextBox 9">
            <a:extLst>
              <a:ext uri="{FF2B5EF4-FFF2-40B4-BE49-F238E27FC236}">
                <a16:creationId xmlns:a16="http://schemas.microsoft.com/office/drawing/2014/main" id="{C5B5744F-F4D8-B3D6-0BF6-1211EA07DED8}"/>
              </a:ext>
            </a:extLst>
          </p:cNvPr>
          <p:cNvSpPr txBox="1"/>
          <p:nvPr/>
        </p:nvSpPr>
        <p:spPr>
          <a:xfrm>
            <a:off x="7693704" y="3926944"/>
            <a:ext cx="3066132" cy="1077218"/>
          </a:xfrm>
          <a:prstGeom prst="rect">
            <a:avLst/>
          </a:prstGeom>
          <a:noFill/>
        </p:spPr>
        <p:txBody>
          <a:bodyPr wrap="square">
            <a:spAutoFit/>
          </a:bodyPr>
          <a:lstStyle/>
          <a:p>
            <a:pPr algn="r"/>
            <a:r>
              <a:rPr lang="en-US" sz="1600" b="0" i="0" dirty="0">
                <a:solidFill>
                  <a:schemeClr val="bg1"/>
                </a:solidFill>
                <a:effectLst/>
                <a:latin typeface="Sohne"/>
              </a:rPr>
              <a:t>1102 &amp; 1103, 1st Floor, A - Block,</a:t>
            </a:r>
            <a:br>
              <a:rPr lang="en-US" sz="1600" dirty="0">
                <a:solidFill>
                  <a:schemeClr val="bg1"/>
                </a:solidFill>
                <a:latin typeface="Sohne"/>
              </a:rPr>
            </a:br>
            <a:r>
              <a:rPr lang="en-US" sz="1600" b="0" i="0" dirty="0">
                <a:solidFill>
                  <a:schemeClr val="bg1"/>
                </a:solidFill>
                <a:effectLst/>
                <a:latin typeface="Sohne"/>
              </a:rPr>
              <a:t>        Ardente Office One, Hoodi,</a:t>
            </a:r>
            <a:br>
              <a:rPr lang="en-US" sz="1600" dirty="0">
                <a:solidFill>
                  <a:schemeClr val="bg1"/>
                </a:solidFill>
                <a:latin typeface="Sohne"/>
              </a:rPr>
            </a:br>
            <a:r>
              <a:rPr lang="en-US" sz="1600" b="0" i="0" dirty="0">
                <a:solidFill>
                  <a:schemeClr val="bg1"/>
                </a:solidFill>
                <a:effectLst/>
                <a:latin typeface="Sohne"/>
              </a:rPr>
              <a:t>        Bangalore, Karnataka, India.</a:t>
            </a:r>
            <a:br>
              <a:rPr lang="en-US" sz="1600" dirty="0">
                <a:solidFill>
                  <a:schemeClr val="bg1"/>
                </a:solidFill>
                <a:latin typeface="Sohne"/>
              </a:rPr>
            </a:br>
            <a:r>
              <a:rPr lang="en-US" sz="1600" b="0" i="0" dirty="0">
                <a:solidFill>
                  <a:schemeClr val="bg1"/>
                </a:solidFill>
                <a:effectLst/>
                <a:latin typeface="Sohne"/>
              </a:rPr>
              <a:t>        Pincode-560048</a:t>
            </a:r>
            <a:endParaRPr lang="en-IN" sz="1600" dirty="0">
              <a:solidFill>
                <a:schemeClr val="bg1"/>
              </a:solidFill>
              <a:latin typeface="Sohne"/>
            </a:endParaRPr>
          </a:p>
        </p:txBody>
      </p:sp>
      <p:sp>
        <p:nvSpPr>
          <p:cNvPr id="12" name="TextBox 11">
            <a:extLst>
              <a:ext uri="{FF2B5EF4-FFF2-40B4-BE49-F238E27FC236}">
                <a16:creationId xmlns:a16="http://schemas.microsoft.com/office/drawing/2014/main" id="{EFCBEB8C-66E2-03B6-8709-02DF05F68B90}"/>
              </a:ext>
            </a:extLst>
          </p:cNvPr>
          <p:cNvSpPr txBox="1"/>
          <p:nvPr/>
        </p:nvSpPr>
        <p:spPr>
          <a:xfrm>
            <a:off x="1597704" y="5346851"/>
            <a:ext cx="6096000" cy="338554"/>
          </a:xfrm>
          <a:prstGeom prst="rect">
            <a:avLst/>
          </a:prstGeom>
          <a:noFill/>
        </p:spPr>
        <p:txBody>
          <a:bodyPr wrap="square">
            <a:spAutoFit/>
          </a:bodyPr>
          <a:lstStyle/>
          <a:p>
            <a:r>
              <a:rPr lang="en-US" sz="1600" b="1" dirty="0">
                <a:solidFill>
                  <a:srgbClr val="0081E2"/>
                </a:solidFill>
                <a:latin typeface="Sohne"/>
                <a:hlinkClick r:id="rId3">
                  <a:extLst>
                    <a:ext uri="{A12FA001-AC4F-418D-AE19-62706E023703}">
                      <ahyp:hlinkClr xmlns:ahyp="http://schemas.microsoft.com/office/drawing/2018/hyperlinkcolor" val="tx"/>
                    </a:ext>
                  </a:extLst>
                </a:hlinkClick>
              </a:rPr>
              <a:t>www.lumbinielite.com</a:t>
            </a:r>
            <a:endParaRPr lang="en-US" sz="1600" b="1" dirty="0">
              <a:solidFill>
                <a:srgbClr val="0081E2"/>
              </a:solidFill>
              <a:latin typeface="Sohne"/>
            </a:endParaRPr>
          </a:p>
        </p:txBody>
      </p:sp>
      <p:sp>
        <p:nvSpPr>
          <p:cNvPr id="13" name="TextBox 12">
            <a:extLst>
              <a:ext uri="{FF2B5EF4-FFF2-40B4-BE49-F238E27FC236}">
                <a16:creationId xmlns:a16="http://schemas.microsoft.com/office/drawing/2014/main" id="{C3C32599-7DF0-79B7-6121-8F64EA11169B}"/>
              </a:ext>
            </a:extLst>
          </p:cNvPr>
          <p:cNvSpPr txBox="1"/>
          <p:nvPr/>
        </p:nvSpPr>
        <p:spPr>
          <a:xfrm>
            <a:off x="5205226" y="3370234"/>
            <a:ext cx="1680268" cy="1323439"/>
          </a:xfrm>
          <a:prstGeom prst="rect">
            <a:avLst/>
          </a:prstGeom>
          <a:noFill/>
        </p:spPr>
        <p:txBody>
          <a:bodyPr wrap="none" rtlCol="0">
            <a:spAutoFit/>
          </a:bodyPr>
          <a:lstStyle/>
          <a:p>
            <a:r>
              <a:rPr lang="en-US" sz="4000" spc="150" dirty="0">
                <a:latin typeface="Lato Medium" panose="020F0502020204030203" pitchFamily="34" charset="0"/>
                <a:ea typeface="Lato Medium" panose="020F0502020204030203" pitchFamily="34" charset="0"/>
                <a:cs typeface="Lato Medium" panose="020F0502020204030203" pitchFamily="34" charset="0"/>
              </a:rPr>
              <a:t>Thank</a:t>
            </a:r>
          </a:p>
          <a:p>
            <a:pPr algn="ctr"/>
            <a:r>
              <a:rPr lang="en-US" sz="4000" spc="150" dirty="0">
                <a:latin typeface="Lato Medium" panose="020F0502020204030203" pitchFamily="34" charset="0"/>
                <a:ea typeface="Lato Medium" panose="020F0502020204030203" pitchFamily="34" charset="0"/>
                <a:cs typeface="Lato Medium" panose="020F0502020204030203" pitchFamily="34" charset="0"/>
              </a:rPr>
              <a:t>You</a:t>
            </a:r>
          </a:p>
        </p:txBody>
      </p:sp>
    </p:spTree>
    <p:extLst>
      <p:ext uri="{BB962C8B-B14F-4D97-AF65-F5344CB8AC3E}">
        <p14:creationId xmlns:p14="http://schemas.microsoft.com/office/powerpoint/2010/main" val="3221000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5766</TotalTime>
  <Words>1591</Words>
  <Application>Microsoft Office PowerPoint</Application>
  <PresentationFormat>Widescreen</PresentationFormat>
  <Paragraphs>149</Paragraphs>
  <Slides>14</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14</vt:i4>
      </vt:variant>
    </vt:vector>
  </HeadingPairs>
  <TitlesOfParts>
    <vt:vector size="33" baseType="lpstr">
      <vt:lpstr>Arial</vt:lpstr>
      <vt:lpstr>calibri</vt:lpstr>
      <vt:lpstr>calibri</vt:lpstr>
      <vt:lpstr>Calibri Light</vt:lpstr>
      <vt:lpstr>Cambria</vt:lpstr>
      <vt:lpstr>DM Sans</vt:lpstr>
      <vt:lpstr>DM Sans Bold</vt:lpstr>
      <vt:lpstr>Garet Bold</vt:lpstr>
      <vt:lpstr>Helvetica</vt:lpstr>
      <vt:lpstr>Lato Medium</vt:lpstr>
      <vt:lpstr>Now Bold</vt:lpstr>
      <vt:lpstr>Open Sans</vt:lpstr>
      <vt:lpstr>Poppins Medium</vt:lpstr>
      <vt:lpstr>Poppins SemiBold</vt:lpstr>
      <vt:lpstr>Roboto Light</vt:lpstr>
      <vt:lpstr>Sohne</vt:lpstr>
      <vt:lpstr>Trebuchet MS</vt:lpstr>
      <vt:lpstr>Wingdings</vt:lpstr>
      <vt:lpstr>Office Theme</vt:lpstr>
      <vt:lpstr>PowerPoint Presentation</vt:lpstr>
      <vt:lpstr>PowerPoint Presentation</vt:lpstr>
      <vt:lpstr>PowerPoint Presentation</vt:lpstr>
      <vt:lpstr>Our SAP GRC Expertise</vt:lpstr>
      <vt:lpstr>PowerPoint Presentation</vt:lpstr>
      <vt:lpstr>PowerPoint Presentation</vt:lpstr>
      <vt:lpstr>PowerPoint Presentation</vt:lpstr>
      <vt:lpstr>Projects &amp; Case Studies –I  - MLT (Marketing Leadership Team)</vt:lpstr>
      <vt:lpstr>Projects &amp; Case Studies –II (Global Customer Experience) </vt:lpstr>
      <vt:lpstr>Projects &amp; Case Studies –III (Intellectual Property Management Reporting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Hemanth Kumar</cp:lastModifiedBy>
  <cp:revision>442</cp:revision>
  <dcterms:created xsi:type="dcterms:W3CDTF">2017-02-10T04:39:50Z</dcterms:created>
  <dcterms:modified xsi:type="dcterms:W3CDTF">2026-08-17T09:26:35Z</dcterms:modified>
</cp:coreProperties>
</file>