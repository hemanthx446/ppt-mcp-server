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6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" name="Rectangle 2"/>
          <p:cNvSpPr/>
          <p:nvPr/>
        </p:nvSpPr>
        <p:spPr>
          <a:xfrm>
            <a:off x="731520" y="347472"/>
            <a:ext cx="2011680" cy="237744"/>
          </a:xfrm>
          <a:prstGeom prst="rect">
            <a:avLst/>
          </a:prstGeom>
          <a:solidFill>
            <a:srgbClr val="1C3159"/>
          </a:solidFill>
          <a:ln w="1270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8288" bIns="18288"/>
          <a:lstStyle/>
          <a:p>
            <a:pPr algn="ctr">
              <a:spcAft>
                <a:spcPts val="200"/>
              </a:spcAft>
              <a:defRPr/>
            </a:pPr>
            <a:r>
              <a:rPr sz="850" b="1" i="0">
                <a:solidFill>
                  <a:srgbClr val="00B4D8"/>
                </a:solidFill>
                <a:latin typeface="Inter"/>
              </a:rPr>
              <a:t>1. GOVERNANCE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03504"/>
            <a:ext cx="10728655" cy="40233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1900" b="1" i="0">
                <a:solidFill>
                  <a:srgbClr val="F8FAFC"/>
                </a:solidFill>
                <a:latin typeface="Inter"/>
              </a:rPr>
              <a:t>Multi-Level Program Governance &amp; Cadence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005840"/>
            <a:ext cx="10728655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100" b="0" i="1">
                <a:solidFill>
                  <a:srgbClr val="00B4D8"/>
                </a:solidFill>
                <a:latin typeface="Inter"/>
              </a:rPr>
              <a:t>Clear escalation channels connecting plant floor execution to the C-suite.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6355080"/>
            <a:ext cx="10728655" cy="9144"/>
          </a:xfrm>
          <a:prstGeom prst="rect">
            <a:avLst/>
          </a:prstGeom>
          <a:solidFill>
            <a:srgbClr val="263B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6419088"/>
            <a:ext cx="7772400" cy="2743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800" b="0" i="0">
                <a:solidFill>
                  <a:srgbClr val="94A3B8"/>
                </a:solidFill>
                <a:latin typeface="Inter"/>
              </a:rPr>
              <a:t>ABB Robotics • Enterprise Program Governance • Enterprise Architecture Advisory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62895" y="6419088"/>
            <a:ext cx="1097280" cy="274320"/>
          </a:xfrm>
          <a:prstGeom prst="rect">
            <a:avLst/>
          </a:prstGeom>
          <a:noFill/>
        </p:spPr>
        <p:txBody>
          <a:bodyPr wrap="none" rIns="0" tIns="0">
            <a:spAutoFit/>
          </a:bodyPr>
          <a:lstStyle/>
          <a:p>
            <a:pPr algn="r"/>
            <a:r>
              <a:rPr sz="800" b="1" i="0">
                <a:solidFill>
                  <a:srgbClr val="00B4D8"/>
                </a:solidFill>
                <a:latin typeface="Inter"/>
              </a:rPr>
              <a:t>01 / 03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1481328"/>
            <a:ext cx="10728655" cy="1484375"/>
          </a:xfrm>
          <a:prstGeom prst="rect">
            <a:avLst/>
          </a:prstGeom>
          <a:solidFill>
            <a:srgbClr val="132240"/>
          </a:solidFill>
          <a:ln w="12700">
            <a:solidFill>
              <a:srgbClr val="263B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31520" y="1481328"/>
            <a:ext cx="2377440" cy="1484375"/>
          </a:xfrm>
          <a:prstGeom prst="rect">
            <a:avLst/>
          </a:prstGeom>
          <a:solidFill>
            <a:srgbClr val="1C3159"/>
          </a:solidFill>
          <a:ln>
            <a:solidFill>
              <a:srgbClr val="263B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/>
          <a:lstStyle/>
          <a:p>
            <a:pPr algn="ctr">
              <a:spcAft>
                <a:spcPts val="200"/>
              </a:spcAft>
            </a:pPr>
            <a:r>
              <a:rPr sz="850" b="1" i="0">
                <a:solidFill>
                  <a:srgbClr val="00B4D8"/>
                </a:solidFill>
                <a:latin typeface="Inter"/>
              </a:rPr>
              <a:t>MONTHLY</a:t>
            </a:r>
          </a:p>
          <a:p>
            <a:r>
              <a:rPr sz="1050" b="1" i="0">
                <a:solidFill>
                  <a:srgbClr val="F8FAFC"/>
                </a:solidFill>
                <a:latin typeface="Inter"/>
              </a:rPr>
              <a:t>Executive Steering Committee</a:t>
            </a:r>
          </a:p>
          <a:p>
            <a:r>
              <a:rPr sz="750" b="0" i="1">
                <a:solidFill>
                  <a:srgbClr val="94A3B8"/>
                </a:solidFill>
                <a:latin typeface="Inter"/>
              </a:rPr>
              <a:t>Chair: Managing Director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00400" y="1572768"/>
            <a:ext cx="6339535" cy="13014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050" b="0" i="0">
                <a:solidFill>
                  <a:srgbClr val="F8FAFC"/>
                </a:solidFill>
                <a:latin typeface="Inter"/>
              </a:rPr>
              <a:t>• Budget allocation</a:t>
            </a:r>
          </a:p>
          <a:p>
            <a:pPr>
              <a:spcAft>
                <a:spcPts val="600"/>
              </a:spcAft>
            </a:pPr>
            <a:r>
              <a:rPr sz="1050" b="0" i="0">
                <a:solidFill>
                  <a:srgbClr val="F8FAFC"/>
                </a:solidFill>
                <a:latin typeface="Inter"/>
              </a:rPr>
              <a:t>• Strategic scope</a:t>
            </a:r>
          </a:p>
          <a:p>
            <a:pPr>
              <a:spcAft>
                <a:spcPts val="600"/>
              </a:spcAft>
            </a:pPr>
            <a:r>
              <a:rPr sz="1050" b="0" i="0">
                <a:solidFill>
                  <a:srgbClr val="F8FAFC"/>
                </a:solidFill>
                <a:latin typeface="Inter"/>
              </a:rPr>
              <a:t>• Executive escalations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22815" y="1591056"/>
            <a:ext cx="1645920" cy="1264919"/>
          </a:xfrm>
          <a:prstGeom prst="rect">
            <a:avLst/>
          </a:prstGeom>
          <a:solidFill>
            <a:srgbClr val="132240"/>
          </a:solidFill>
          <a:ln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200"/>
              </a:spcAft>
            </a:pPr>
            <a:r>
              <a:rPr sz="850" b="1" i="0">
                <a:solidFill>
                  <a:srgbClr val="00B4D8"/>
                </a:solidFill>
                <a:latin typeface="Inter"/>
              </a:rPr>
              <a:t>ESCALATES TO</a:t>
            </a:r>
          </a:p>
          <a:p>
            <a:r>
              <a:rPr sz="750" b="0" i="1">
                <a:solidFill>
                  <a:srgbClr val="94A3B8"/>
                </a:solidFill>
                <a:latin typeface="Inter"/>
              </a:rPr>
              <a:t>Board of Directors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31520" y="3130295"/>
            <a:ext cx="10728655" cy="1484375"/>
          </a:xfrm>
          <a:prstGeom prst="rect">
            <a:avLst/>
          </a:prstGeom>
          <a:solidFill>
            <a:srgbClr val="132240"/>
          </a:solidFill>
          <a:ln w="12700">
            <a:solidFill>
              <a:srgbClr val="263B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31520" y="3130295"/>
            <a:ext cx="2377440" cy="1484375"/>
          </a:xfrm>
          <a:prstGeom prst="rect">
            <a:avLst/>
          </a:prstGeom>
          <a:solidFill>
            <a:srgbClr val="1C3159"/>
          </a:solidFill>
          <a:ln>
            <a:solidFill>
              <a:srgbClr val="263B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/>
          <a:lstStyle/>
          <a:p>
            <a:pPr algn="ctr">
              <a:spcAft>
                <a:spcPts val="200"/>
              </a:spcAft>
            </a:pPr>
            <a:r>
              <a:rPr sz="850" b="1" i="0">
                <a:solidFill>
                  <a:srgbClr val="00B4D8"/>
                </a:solidFill>
                <a:latin typeface="Inter"/>
              </a:rPr>
              <a:t>BI-WEEKLY</a:t>
            </a:r>
          </a:p>
          <a:p>
            <a:r>
              <a:rPr sz="1050" b="1" i="0">
                <a:solidFill>
                  <a:srgbClr val="F8FAFC"/>
                </a:solidFill>
                <a:latin typeface="Inter"/>
              </a:rPr>
              <a:t>Architecture Review Board</a:t>
            </a:r>
          </a:p>
          <a:p>
            <a:r>
              <a:rPr sz="750" b="0" i="1">
                <a:solidFill>
                  <a:srgbClr val="94A3B8"/>
                </a:solidFill>
                <a:latin typeface="Inter"/>
              </a:rPr>
              <a:t>Chair: Chief Architect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00400" y="3221735"/>
            <a:ext cx="6339535" cy="13014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050" b="0" i="0">
                <a:solidFill>
                  <a:srgbClr val="F8FAFC"/>
                </a:solidFill>
                <a:latin typeface="Inter"/>
              </a:rPr>
              <a:t>• Clean-core compliance</a:t>
            </a:r>
          </a:p>
          <a:p>
            <a:pPr>
              <a:spcAft>
                <a:spcPts val="600"/>
              </a:spcAft>
            </a:pPr>
            <a:r>
              <a:rPr sz="1050" b="0" i="0">
                <a:solidFill>
                  <a:srgbClr val="F8FAFC"/>
                </a:solidFill>
                <a:latin typeface="Inter"/>
              </a:rPr>
              <a:t>• Interface standards</a:t>
            </a:r>
          </a:p>
          <a:p>
            <a:pPr>
              <a:spcAft>
                <a:spcPts val="600"/>
              </a:spcAft>
            </a:pPr>
            <a:r>
              <a:rPr sz="1050" b="0" i="0">
                <a:solidFill>
                  <a:srgbClr val="F8FAFC"/>
                </a:solidFill>
                <a:latin typeface="Inter"/>
              </a:rPr>
              <a:t>• Security sign-off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722815" y="3240023"/>
            <a:ext cx="1645920" cy="1264919"/>
          </a:xfrm>
          <a:prstGeom prst="rect">
            <a:avLst/>
          </a:prstGeom>
          <a:solidFill>
            <a:srgbClr val="132240"/>
          </a:solidFill>
          <a:ln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200"/>
              </a:spcAft>
            </a:pPr>
            <a:r>
              <a:rPr sz="850" b="1" i="0">
                <a:solidFill>
                  <a:srgbClr val="00B4D8"/>
                </a:solidFill>
                <a:latin typeface="Inter"/>
              </a:rPr>
              <a:t>ESCALATES TO</a:t>
            </a:r>
          </a:p>
          <a:p>
            <a:r>
              <a:rPr sz="750" b="0" i="1">
                <a:solidFill>
                  <a:srgbClr val="94A3B8"/>
                </a:solidFill>
                <a:latin typeface="Inter"/>
              </a:rPr>
              <a:t>Steering Committee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31520" y="4779264"/>
            <a:ext cx="10728655" cy="1484375"/>
          </a:xfrm>
          <a:prstGeom prst="rect">
            <a:avLst/>
          </a:prstGeom>
          <a:solidFill>
            <a:srgbClr val="132240"/>
          </a:solidFill>
          <a:ln w="12700">
            <a:solidFill>
              <a:srgbClr val="263B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31520" y="4779264"/>
            <a:ext cx="2377440" cy="1484375"/>
          </a:xfrm>
          <a:prstGeom prst="rect">
            <a:avLst/>
          </a:prstGeom>
          <a:solidFill>
            <a:srgbClr val="1C3159"/>
          </a:solidFill>
          <a:ln>
            <a:solidFill>
              <a:srgbClr val="263B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/>
          <a:lstStyle/>
          <a:p>
            <a:pPr algn="ctr">
              <a:spcAft>
                <a:spcPts val="200"/>
              </a:spcAft>
            </a:pPr>
            <a:r>
              <a:rPr sz="850" b="1" i="0">
                <a:solidFill>
                  <a:srgbClr val="00B4D8"/>
                </a:solidFill>
                <a:latin typeface="Inter"/>
              </a:rPr>
              <a:t>DAILY STANDUP</a:t>
            </a:r>
          </a:p>
          <a:p>
            <a:r>
              <a:rPr sz="1050" b="1" i="0">
                <a:solidFill>
                  <a:srgbClr val="F8FAFC"/>
                </a:solidFill>
                <a:latin typeface="Inter"/>
              </a:rPr>
              <a:t>Plant Working Teams</a:t>
            </a:r>
          </a:p>
          <a:p>
            <a:r>
              <a:rPr sz="750" b="0" i="1">
                <a:solidFill>
                  <a:srgbClr val="94A3B8"/>
                </a:solidFill>
                <a:latin typeface="Inter"/>
              </a:rPr>
              <a:t>Chair: Plant Operations Lead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200400" y="4870704"/>
            <a:ext cx="6339535" cy="13014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050" b="0" i="0">
                <a:solidFill>
                  <a:srgbClr val="F8FAFC"/>
                </a:solidFill>
                <a:latin typeface="Inter"/>
              </a:rPr>
              <a:t>• Line-level sprint backlog</a:t>
            </a:r>
          </a:p>
          <a:p>
            <a:pPr>
              <a:spcAft>
                <a:spcPts val="600"/>
              </a:spcAft>
            </a:pPr>
            <a:r>
              <a:rPr sz="1050" b="0" i="0">
                <a:solidFill>
                  <a:srgbClr val="F8FAFC"/>
                </a:solidFill>
                <a:latin typeface="Inter"/>
              </a:rPr>
              <a:t>• Operator enablement</a:t>
            </a:r>
          </a:p>
          <a:p>
            <a:pPr>
              <a:spcAft>
                <a:spcPts val="600"/>
              </a:spcAft>
            </a:pPr>
            <a:r>
              <a:rPr sz="1050" b="0" i="0">
                <a:solidFill>
                  <a:srgbClr val="F8FAFC"/>
                </a:solidFill>
                <a:latin typeface="Inter"/>
              </a:rPr>
              <a:t>• Defect remediation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722815" y="4888992"/>
            <a:ext cx="1645920" cy="1264919"/>
          </a:xfrm>
          <a:prstGeom prst="rect">
            <a:avLst/>
          </a:prstGeom>
          <a:solidFill>
            <a:srgbClr val="132240"/>
          </a:solidFill>
          <a:ln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200"/>
              </a:spcAft>
            </a:pPr>
            <a:r>
              <a:rPr sz="850" b="1" i="0">
                <a:solidFill>
                  <a:srgbClr val="00B4D8"/>
                </a:solidFill>
                <a:latin typeface="Inter"/>
              </a:rPr>
              <a:t>ESCALATES TO</a:t>
            </a:r>
          </a:p>
          <a:p>
            <a:r>
              <a:rPr sz="750" b="0" i="1">
                <a:solidFill>
                  <a:srgbClr val="94A3B8"/>
                </a:solidFill>
                <a:latin typeface="Inter"/>
              </a:rPr>
              <a:t>Architecture Board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" name="Rectangle 2"/>
          <p:cNvSpPr/>
          <p:nvPr/>
        </p:nvSpPr>
        <p:spPr>
          <a:xfrm>
            <a:off x="731520" y="347472"/>
            <a:ext cx="2011680" cy="237744"/>
          </a:xfrm>
          <a:prstGeom prst="rect">
            <a:avLst/>
          </a:prstGeom>
          <a:solidFill>
            <a:srgbClr val="EEF2FF"/>
          </a:solidFill>
          <a:ln w="12700"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8288" bIns="18288"/>
          <a:lstStyle/>
          <a:p>
            <a:pPr algn="ctr">
              <a:spcAft>
                <a:spcPts val="200"/>
              </a:spcAft>
              <a:defRPr/>
            </a:pPr>
            <a:r>
              <a:rPr sz="850" b="1" i="0">
                <a:solidFill>
                  <a:srgbClr val="0066CC"/>
                </a:solidFill>
                <a:latin typeface="Inter"/>
              </a:rPr>
              <a:t>2. APPROVAL GATES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03504"/>
            <a:ext cx="10728655" cy="40233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1900" b="1" i="0">
                <a:solidFill>
                  <a:srgbClr val="0F172A"/>
                </a:solidFill>
                <a:latin typeface="Inter"/>
              </a:rPr>
              <a:t>Multi-Tier Stage-Gate Sign-Off Criteria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005840"/>
            <a:ext cx="10728655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100" b="0" i="1">
                <a:solidFill>
                  <a:srgbClr val="0066CC"/>
                </a:solidFill>
                <a:latin typeface="Inter"/>
              </a:rPr>
              <a:t>Formally designated stakeholders certifying technical and operational readiness.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6355080"/>
            <a:ext cx="10728655" cy="914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6419088"/>
            <a:ext cx="7772400" cy="2743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800" b="0" i="0">
                <a:solidFill>
                  <a:srgbClr val="64748B"/>
                </a:solidFill>
                <a:latin typeface="Inter"/>
              </a:rPr>
              <a:t>ABB Robotics • Enterprise Program Governance • Enterprise Architecture Advisory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62895" y="6419088"/>
            <a:ext cx="1097280" cy="274320"/>
          </a:xfrm>
          <a:prstGeom prst="rect">
            <a:avLst/>
          </a:prstGeom>
          <a:noFill/>
        </p:spPr>
        <p:txBody>
          <a:bodyPr wrap="none" rIns="0" tIns="0">
            <a:spAutoFit/>
          </a:bodyPr>
          <a:lstStyle/>
          <a:p>
            <a:pPr algn="r"/>
            <a:r>
              <a:rPr sz="800" b="1" i="0">
                <a:solidFill>
                  <a:srgbClr val="0066CC"/>
                </a:solidFill>
                <a:latin typeface="Inter"/>
              </a:rPr>
              <a:t>02 / 03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1481328"/>
            <a:ext cx="2476423" cy="4782312"/>
          </a:xfrm>
          <a:prstGeom prst="rect">
            <a:avLst/>
          </a:prstGeom>
          <a:solidFill>
            <a:srgbClr val="FFFFFF"/>
          </a:solidFill>
          <a:ln w="12700"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31520" y="1481328"/>
            <a:ext cx="2476423" cy="365760"/>
          </a:xfrm>
          <a:prstGeom prst="rect">
            <a:avLst/>
          </a:prstGeom>
          <a:solidFill>
            <a:srgbClr val="EEF2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/>
          <a:lstStyle/>
          <a:p>
            <a:pPr algn="ctr">
              <a:spcAft>
                <a:spcPts val="200"/>
              </a:spcAft>
            </a:pPr>
            <a:r>
              <a:rPr sz="850" b="1" i="0">
                <a:solidFill>
                  <a:srgbClr val="0066CC"/>
                </a:solidFill>
                <a:latin typeface="Inter"/>
              </a:rPr>
              <a:t>GATE 1: ARCHITECTURE SIGN-OFF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9536" y="1901952"/>
            <a:ext cx="2220391" cy="42885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1" i="0">
                <a:solidFill>
                  <a:srgbClr val="0F172A"/>
                </a:solidFill>
                <a:latin typeface="Inter"/>
              </a:rPr>
              <a:t>Chief Enterprise Architect</a:t>
            </a:r>
          </a:p>
          <a:p>
            <a:pPr>
              <a:spcAft>
                <a:spcPts val="800"/>
              </a:spcAft>
            </a:pPr>
            <a:r>
              <a:rPr sz="750" b="0" i="1">
                <a:solidFill>
                  <a:srgbClr val="64748B"/>
                </a:solidFill>
                <a:latin typeface="Inter"/>
              </a:rPr>
              <a:t>Timing: Sprint 0</a:t>
            </a:r>
          </a:p>
          <a:p>
            <a:pPr>
              <a:spcAft>
                <a:spcPts val="400"/>
              </a:spcAft>
            </a:pPr>
            <a:r>
              <a:rPr sz="850" b="1" i="0">
                <a:solidFill>
                  <a:srgbClr val="64748B"/>
                </a:solidFill>
                <a:latin typeface="Inter"/>
              </a:rPr>
              <a:t>VERIFICATION CRITERIA</a:t>
            </a:r>
          </a:p>
          <a:p>
            <a:pPr>
              <a:spcAft>
                <a:spcPts val="600"/>
              </a:spcAft>
            </a:pPr>
            <a:r>
              <a:rPr sz="1050" b="0" i="0">
                <a:solidFill>
                  <a:srgbClr val="0F172A"/>
                </a:solidFill>
                <a:latin typeface="Inter"/>
              </a:rPr>
              <a:t>• Clean-core rules validated</a:t>
            </a:r>
          </a:p>
          <a:p>
            <a:pPr>
              <a:spcAft>
                <a:spcPts val="600"/>
              </a:spcAft>
            </a:pPr>
            <a:r>
              <a:rPr sz="1050" b="0" i="0">
                <a:solidFill>
                  <a:srgbClr val="0F172A"/>
                </a:solidFill>
                <a:latin typeface="Inter"/>
              </a:rPr>
              <a:t>• OT firewall verified</a:t>
            </a:r>
          </a:p>
          <a:p>
            <a:pPr>
              <a:spcAft>
                <a:spcPts val="600"/>
              </a:spcAft>
            </a:pPr>
            <a:r>
              <a:rPr sz="1050" b="0" i="0">
                <a:solidFill>
                  <a:srgbClr val="0F172A"/>
                </a:solidFill>
                <a:latin typeface="Inter"/>
              </a:rPr>
              <a:t>• Data models approved</a:t>
            </a:r>
          </a:p>
          <a:p>
            <a:pPr>
              <a:spcBef>
                <a:spcPts val="800"/>
              </a:spcBef>
            </a:pPr>
            <a:r>
              <a:rPr sz="819" b="1" i="0">
                <a:solidFill>
                  <a:srgbClr val="10B981"/>
                </a:solidFill>
                <a:latin typeface="Inter"/>
              </a:rPr>
              <a:t>ARTIFACT: Signed Architecture Charter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3253663" y="3762755"/>
            <a:ext cx="182880" cy="219456"/>
          </a:xfrm>
          <a:prstGeom prst="rightArrow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482263" y="1481328"/>
            <a:ext cx="2476423" cy="4782312"/>
          </a:xfrm>
          <a:prstGeom prst="rect">
            <a:avLst/>
          </a:prstGeom>
          <a:solidFill>
            <a:srgbClr val="FFFFFF"/>
          </a:solidFill>
          <a:ln w="12700"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482263" y="1481328"/>
            <a:ext cx="2476423" cy="365760"/>
          </a:xfrm>
          <a:prstGeom prst="rect">
            <a:avLst/>
          </a:prstGeom>
          <a:solidFill>
            <a:srgbClr val="EEF2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/>
          <a:lstStyle/>
          <a:p>
            <a:pPr algn="ctr">
              <a:spcAft>
                <a:spcPts val="200"/>
              </a:spcAft>
            </a:pPr>
            <a:r>
              <a:rPr sz="850" b="1" i="0">
                <a:solidFill>
                  <a:srgbClr val="0066CC"/>
                </a:solidFill>
                <a:latin typeface="Inter"/>
              </a:rPr>
              <a:t>GATE 2: PILOT PLANT ACCEPTANCE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10279" y="1901952"/>
            <a:ext cx="2220391" cy="42885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1" i="0">
                <a:solidFill>
                  <a:srgbClr val="0F172A"/>
                </a:solidFill>
                <a:latin typeface="Inter"/>
              </a:rPr>
              <a:t>Plant Operations Director</a:t>
            </a:r>
          </a:p>
          <a:p>
            <a:pPr>
              <a:spcAft>
                <a:spcPts val="800"/>
              </a:spcAft>
            </a:pPr>
            <a:r>
              <a:rPr sz="750" b="0" i="1">
                <a:solidFill>
                  <a:srgbClr val="64748B"/>
                </a:solidFill>
                <a:latin typeface="Inter"/>
              </a:rPr>
              <a:t>Timing: Sprint 4</a:t>
            </a:r>
          </a:p>
          <a:p>
            <a:pPr>
              <a:spcAft>
                <a:spcPts val="400"/>
              </a:spcAft>
            </a:pPr>
            <a:r>
              <a:rPr sz="850" b="1" i="0">
                <a:solidFill>
                  <a:srgbClr val="64748B"/>
                </a:solidFill>
                <a:latin typeface="Inter"/>
              </a:rPr>
              <a:t>VERIFICATION CRITERIA</a:t>
            </a:r>
          </a:p>
          <a:p>
            <a:pPr>
              <a:spcAft>
                <a:spcPts val="600"/>
              </a:spcAft>
            </a:pPr>
            <a:r>
              <a:rPr sz="1050" b="0" i="0">
                <a:solidFill>
                  <a:srgbClr val="0F172A"/>
                </a:solidFill>
                <a:latin typeface="Inter"/>
              </a:rPr>
              <a:t>• Pilot line latency &lt;200ms</a:t>
            </a:r>
          </a:p>
          <a:p>
            <a:pPr>
              <a:spcAft>
                <a:spcPts val="600"/>
              </a:spcAft>
            </a:pPr>
            <a:r>
              <a:rPr sz="1050" b="0" i="0">
                <a:solidFill>
                  <a:srgbClr val="0F172A"/>
                </a:solidFill>
                <a:latin typeface="Inter"/>
              </a:rPr>
              <a:t>• Zero dropped telemetry events</a:t>
            </a:r>
          </a:p>
          <a:p>
            <a:pPr>
              <a:spcAft>
                <a:spcPts val="600"/>
              </a:spcAft>
            </a:pPr>
            <a:r>
              <a:rPr sz="1050" b="0" i="0">
                <a:solidFill>
                  <a:srgbClr val="0F172A"/>
                </a:solidFill>
                <a:latin typeface="Inter"/>
              </a:rPr>
              <a:t>• Operator ergonomics passed</a:t>
            </a:r>
          </a:p>
          <a:p>
            <a:pPr>
              <a:spcBef>
                <a:spcPts val="800"/>
              </a:spcBef>
            </a:pPr>
            <a:r>
              <a:rPr sz="819" b="1" i="0">
                <a:solidFill>
                  <a:srgbClr val="10B981"/>
                </a:solidFill>
                <a:latin typeface="Inter"/>
              </a:rPr>
              <a:t>ARTIFACT: Pilot Sign-Off Slip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6004407" y="3762755"/>
            <a:ext cx="182880" cy="219456"/>
          </a:xfrm>
          <a:prstGeom prst="rightArrow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33007" y="1481328"/>
            <a:ext cx="2476423" cy="4782312"/>
          </a:xfrm>
          <a:prstGeom prst="rect">
            <a:avLst/>
          </a:prstGeom>
          <a:solidFill>
            <a:srgbClr val="FFFFFF"/>
          </a:solidFill>
          <a:ln w="12700"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33007" y="1481328"/>
            <a:ext cx="2476423" cy="365760"/>
          </a:xfrm>
          <a:prstGeom prst="rect">
            <a:avLst/>
          </a:prstGeom>
          <a:solidFill>
            <a:srgbClr val="EEF2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/>
          <a:lstStyle/>
          <a:p>
            <a:pPr algn="ctr">
              <a:spcAft>
                <a:spcPts val="200"/>
              </a:spcAft>
            </a:pPr>
            <a:r>
              <a:rPr sz="850" b="1" i="0">
                <a:solidFill>
                  <a:srgbClr val="0066CC"/>
                </a:solidFill>
                <a:latin typeface="Inter"/>
              </a:rPr>
              <a:t>GATE 3: QUALITY COMPLIANCE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61023" y="1901952"/>
            <a:ext cx="2220391" cy="42885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1" i="0">
                <a:solidFill>
                  <a:srgbClr val="0F172A"/>
                </a:solidFill>
                <a:latin typeface="Inter"/>
              </a:rPr>
              <a:t>Global VP of Quality</a:t>
            </a:r>
          </a:p>
          <a:p>
            <a:pPr>
              <a:spcAft>
                <a:spcPts val="800"/>
              </a:spcAft>
            </a:pPr>
            <a:r>
              <a:rPr sz="750" b="0" i="1">
                <a:solidFill>
                  <a:srgbClr val="64748B"/>
                </a:solidFill>
                <a:latin typeface="Inter"/>
              </a:rPr>
              <a:t>Timing: Sprint 8</a:t>
            </a:r>
          </a:p>
          <a:p>
            <a:pPr>
              <a:spcAft>
                <a:spcPts val="400"/>
              </a:spcAft>
            </a:pPr>
            <a:r>
              <a:rPr sz="850" b="1" i="0">
                <a:solidFill>
                  <a:srgbClr val="64748B"/>
                </a:solidFill>
                <a:latin typeface="Inter"/>
              </a:rPr>
              <a:t>VERIFICATION CRITERIA</a:t>
            </a:r>
          </a:p>
          <a:p>
            <a:pPr>
              <a:spcAft>
                <a:spcPts val="600"/>
              </a:spcAft>
            </a:pPr>
            <a:r>
              <a:rPr sz="1050" b="0" i="0">
                <a:solidFill>
                  <a:srgbClr val="0F172A"/>
                </a:solidFill>
                <a:latin typeface="Inter"/>
              </a:rPr>
              <a:t>• 21 CFR Part 11 audit trails</a:t>
            </a:r>
          </a:p>
          <a:p>
            <a:pPr>
              <a:spcAft>
                <a:spcPts val="600"/>
              </a:spcAft>
            </a:pPr>
            <a:r>
              <a:rPr sz="1050" b="0" i="0">
                <a:solidFill>
                  <a:srgbClr val="0F172A"/>
                </a:solidFill>
                <a:latin typeface="Inter"/>
              </a:rPr>
              <a:t>• Electronic signatures tested</a:t>
            </a:r>
          </a:p>
          <a:p>
            <a:pPr>
              <a:spcAft>
                <a:spcPts val="600"/>
              </a:spcAft>
            </a:pPr>
            <a:r>
              <a:rPr sz="1050" b="0" i="0">
                <a:solidFill>
                  <a:srgbClr val="0F172A"/>
                </a:solidFill>
                <a:latin typeface="Inter"/>
              </a:rPr>
              <a:t>• Lot genealogy tied to ERP</a:t>
            </a:r>
          </a:p>
          <a:p>
            <a:pPr>
              <a:spcBef>
                <a:spcPts val="800"/>
              </a:spcBef>
            </a:pPr>
            <a:r>
              <a:rPr sz="819" b="1" i="0">
                <a:solidFill>
                  <a:srgbClr val="10B981"/>
                </a:solidFill>
                <a:latin typeface="Inter"/>
              </a:rPr>
              <a:t>ARTIFACT: Validation Master Report</a:t>
            </a:r>
          </a:p>
        </p:txBody>
      </p:sp>
      <p:sp>
        <p:nvSpPr>
          <p:cNvPr id="20" name="Right Arrow 19"/>
          <p:cNvSpPr/>
          <p:nvPr/>
        </p:nvSpPr>
        <p:spPr>
          <a:xfrm>
            <a:off x="8755151" y="3762755"/>
            <a:ext cx="182880" cy="219456"/>
          </a:xfrm>
          <a:prstGeom prst="rightArrow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983751" y="1481328"/>
            <a:ext cx="2476423" cy="4782312"/>
          </a:xfrm>
          <a:prstGeom prst="rect">
            <a:avLst/>
          </a:prstGeom>
          <a:solidFill>
            <a:srgbClr val="FFFFFF"/>
          </a:solidFill>
          <a:ln w="12700"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983751" y="1481328"/>
            <a:ext cx="2476423" cy="365760"/>
          </a:xfrm>
          <a:prstGeom prst="rect">
            <a:avLst/>
          </a:prstGeom>
          <a:solidFill>
            <a:srgbClr val="EEF2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/>
          <a:lstStyle/>
          <a:p>
            <a:pPr algn="ctr">
              <a:spcAft>
                <a:spcPts val="200"/>
              </a:spcAft>
            </a:pPr>
            <a:r>
              <a:rPr sz="850" b="1" i="0">
                <a:solidFill>
                  <a:srgbClr val="0066CC"/>
                </a:solidFill>
                <a:latin typeface="Inter"/>
              </a:rPr>
              <a:t>GATE 4: PRODUCTION CUTOVER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11767" y="1901952"/>
            <a:ext cx="2220391" cy="42885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1" i="0">
                <a:solidFill>
                  <a:srgbClr val="0F172A"/>
                </a:solidFill>
                <a:latin typeface="Inter"/>
              </a:rPr>
              <a:t>Executive Steering Comm</a:t>
            </a:r>
          </a:p>
          <a:p>
            <a:pPr>
              <a:spcAft>
                <a:spcPts val="800"/>
              </a:spcAft>
            </a:pPr>
            <a:r>
              <a:rPr sz="750" b="0" i="1">
                <a:solidFill>
                  <a:srgbClr val="64748B"/>
                </a:solidFill>
                <a:latin typeface="Inter"/>
              </a:rPr>
              <a:t>Timing: Sprint 12</a:t>
            </a:r>
          </a:p>
          <a:p>
            <a:pPr>
              <a:spcAft>
                <a:spcPts val="400"/>
              </a:spcAft>
            </a:pPr>
            <a:r>
              <a:rPr sz="850" b="1" i="0">
                <a:solidFill>
                  <a:srgbClr val="64748B"/>
                </a:solidFill>
                <a:latin typeface="Inter"/>
              </a:rPr>
              <a:t>VERIFICATION CRITERIA</a:t>
            </a:r>
          </a:p>
          <a:p>
            <a:pPr>
              <a:spcAft>
                <a:spcPts val="600"/>
              </a:spcAft>
            </a:pPr>
            <a:r>
              <a:rPr sz="1050" b="0" i="0">
                <a:solidFill>
                  <a:srgbClr val="0F172A"/>
                </a:solidFill>
                <a:latin typeface="Inter"/>
              </a:rPr>
              <a:t>• Go-live checklist 100% green</a:t>
            </a:r>
          </a:p>
          <a:p>
            <a:pPr>
              <a:spcAft>
                <a:spcPts val="600"/>
              </a:spcAft>
            </a:pPr>
            <a:r>
              <a:rPr sz="1050" b="0" i="0">
                <a:solidFill>
                  <a:srgbClr val="0F172A"/>
                </a:solidFill>
                <a:latin typeface="Inter"/>
              </a:rPr>
              <a:t>• Disaster recovery tested</a:t>
            </a:r>
          </a:p>
          <a:p>
            <a:pPr>
              <a:spcAft>
                <a:spcPts val="600"/>
              </a:spcAft>
            </a:pPr>
            <a:r>
              <a:rPr sz="1050" b="0" i="0">
                <a:solidFill>
                  <a:srgbClr val="0F172A"/>
                </a:solidFill>
                <a:latin typeface="Inter"/>
              </a:rPr>
              <a:t>• 24/7 hypercare staffed</a:t>
            </a:r>
          </a:p>
          <a:p>
            <a:pPr>
              <a:spcBef>
                <a:spcPts val="800"/>
              </a:spcBef>
            </a:pPr>
            <a:r>
              <a:rPr sz="819" b="1" i="0">
                <a:solidFill>
                  <a:srgbClr val="10B981"/>
                </a:solidFill>
                <a:latin typeface="Inter"/>
              </a:rPr>
              <a:t>ARTIFACT: Production Go-Live Permit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6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" name="Rectangle 2"/>
          <p:cNvSpPr/>
          <p:nvPr/>
        </p:nvSpPr>
        <p:spPr>
          <a:xfrm>
            <a:off x="731520" y="347472"/>
            <a:ext cx="2011680" cy="237744"/>
          </a:xfrm>
          <a:prstGeom prst="rect">
            <a:avLst/>
          </a:prstGeom>
          <a:solidFill>
            <a:srgbClr val="1C3159"/>
          </a:solidFill>
          <a:ln w="1270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8288" bIns="18288"/>
          <a:lstStyle/>
          <a:p>
            <a:pPr algn="ctr">
              <a:spcAft>
                <a:spcPts val="200"/>
              </a:spcAft>
              <a:defRPr/>
            </a:pPr>
            <a:r>
              <a:rPr sz="850" b="1" i="0">
                <a:solidFill>
                  <a:srgbClr val="00B4D8"/>
                </a:solidFill>
                <a:latin typeface="Inter"/>
              </a:rPr>
              <a:t>3. RACI ALIGNMENT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03504"/>
            <a:ext cx="10728655" cy="40233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1900" b="1" i="0">
                <a:solidFill>
                  <a:srgbClr val="F8FAFC"/>
                </a:solidFill>
                <a:latin typeface="Inter"/>
              </a:rPr>
              <a:t>Program RACI Responsibility Matrix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005840"/>
            <a:ext cx="10728655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100" b="0" i="1">
                <a:solidFill>
                  <a:srgbClr val="00B4D8"/>
                </a:solidFill>
                <a:latin typeface="Inter"/>
              </a:rPr>
              <a:t>Accountability matrix preventing organizational confusion during deployment.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6355080"/>
            <a:ext cx="10728655" cy="9144"/>
          </a:xfrm>
          <a:prstGeom prst="rect">
            <a:avLst/>
          </a:prstGeom>
          <a:solidFill>
            <a:srgbClr val="263B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6419088"/>
            <a:ext cx="7772400" cy="2743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800" b="0" i="0">
                <a:solidFill>
                  <a:srgbClr val="94A3B8"/>
                </a:solidFill>
                <a:latin typeface="Inter"/>
              </a:rPr>
              <a:t>ABB Robotics • Enterprise Program Governance • Enterprise Architecture Advisory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62895" y="6419088"/>
            <a:ext cx="1097280" cy="274320"/>
          </a:xfrm>
          <a:prstGeom prst="rect">
            <a:avLst/>
          </a:prstGeom>
          <a:noFill/>
        </p:spPr>
        <p:txBody>
          <a:bodyPr wrap="none" rIns="0" tIns="0">
            <a:spAutoFit/>
          </a:bodyPr>
          <a:lstStyle/>
          <a:p>
            <a:pPr algn="r"/>
            <a:r>
              <a:rPr sz="800" b="1" i="0">
                <a:solidFill>
                  <a:srgbClr val="00B4D8"/>
                </a:solidFill>
                <a:latin typeface="Inter"/>
              </a:rPr>
              <a:t>03 / 03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731520" y="1481328"/>
          <a:ext cx="10728652" cy="47823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76888"/>
                <a:gridCol w="1662941"/>
                <a:gridCol w="1662941"/>
                <a:gridCol w="1662941"/>
                <a:gridCol w="1662941"/>
              </a:tblGrid>
              <a:tr h="956462">
                <a:tc>
                  <a:txBody>
                    <a:bodyPr wrap="square"/>
                    <a:lstStyle/>
                    <a:p>
                      <a:pPr>
                        <a:spcAft>
                          <a:spcPts val="200"/>
                        </a:spcAft>
                      </a:pPr>
                      <a:r>
                        <a:rPr sz="850" b="1" i="0">
                          <a:solidFill>
                            <a:srgbClr val="F8FAFC"/>
                          </a:solidFill>
                          <a:latin typeface="Inter"/>
                        </a:rPr>
                        <a:t>ACTIVITY / DELIVERABLE</a:t>
                      </a:r>
                    </a:p>
                  </a:txBody>
                  <a:tcPr>
                    <a:solidFill>
                      <a:srgbClr val="1C315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200"/>
                        </a:spcAft>
                      </a:pPr>
                      <a:r>
                        <a:rPr sz="850" b="1" i="0">
                          <a:solidFill>
                            <a:srgbClr val="00B4D8"/>
                          </a:solidFill>
                          <a:latin typeface="Inter"/>
                        </a:rPr>
                        <a:t>Advisory Architect</a:t>
                      </a:r>
                    </a:p>
                  </a:txBody>
                  <a:tcPr>
                    <a:solidFill>
                      <a:srgbClr val="1C315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200"/>
                        </a:spcAft>
                      </a:pPr>
                      <a:r>
                        <a:rPr sz="850" b="1" i="0">
                          <a:solidFill>
                            <a:srgbClr val="00B4D8"/>
                          </a:solidFill>
                          <a:latin typeface="Inter"/>
                        </a:rPr>
                        <a:t>Client IT Lead</a:t>
                      </a:r>
                    </a:p>
                  </a:txBody>
                  <a:tcPr>
                    <a:solidFill>
                      <a:srgbClr val="1C315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200"/>
                        </a:spcAft>
                      </a:pPr>
                      <a:r>
                        <a:rPr sz="850" b="1" i="0">
                          <a:solidFill>
                            <a:srgbClr val="00B4D8"/>
                          </a:solidFill>
                          <a:latin typeface="Inter"/>
                        </a:rPr>
                        <a:t>Plant Operations Lead</a:t>
                      </a:r>
                    </a:p>
                  </a:txBody>
                  <a:tcPr>
                    <a:solidFill>
                      <a:srgbClr val="1C315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200"/>
                        </a:spcAft>
                      </a:pPr>
                      <a:r>
                        <a:rPr sz="850" b="1" i="0">
                          <a:solidFill>
                            <a:srgbClr val="00B4D8"/>
                          </a:solidFill>
                          <a:latin typeface="Inter"/>
                        </a:rPr>
                        <a:t>Steering Committee</a:t>
                      </a:r>
                    </a:p>
                  </a:txBody>
                  <a:tcPr>
                    <a:solidFill>
                      <a:srgbClr val="1C3159"/>
                    </a:solidFill>
                  </a:tcPr>
                </a:tc>
              </a:tr>
              <a:tr h="956462">
                <a:tc>
                  <a:txBody>
                    <a:bodyPr wrap="square"/>
                    <a:lstStyle/>
                    <a:p>
                      <a:pPr>
                        <a:spcAft>
                          <a:spcPts val="200"/>
                        </a:spcAft>
                      </a:pPr>
                      <a:r>
                        <a:rPr sz="800" b="0" i="0">
                          <a:solidFill>
                            <a:srgbClr val="F8FAFC"/>
                          </a:solidFill>
                          <a:latin typeface="Inter"/>
                        </a:rPr>
                        <a:t>System Architecture &amp; BTP Sizing</a:t>
                      </a:r>
                    </a:p>
                  </a:txBody>
                  <a:tcPr>
                    <a:solidFill>
                      <a:srgbClr val="16284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 i="0">
                          <a:solidFill>
                            <a:srgbClr val="EF4444"/>
                          </a:solidFill>
                          <a:latin typeface="Inter"/>
                        </a:rPr>
                        <a:t>A</a:t>
                      </a:r>
                    </a:p>
                  </a:txBody>
                  <a:tcPr>
                    <a:solidFill>
                      <a:srgbClr val="16284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 i="0">
                          <a:solidFill>
                            <a:srgbClr val="00B4D8"/>
                          </a:solidFill>
                          <a:latin typeface="Inter"/>
                        </a:rPr>
                        <a:t>R</a:t>
                      </a:r>
                    </a:p>
                  </a:txBody>
                  <a:tcPr>
                    <a:solidFill>
                      <a:srgbClr val="16284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 i="0">
                          <a:solidFill>
                            <a:srgbClr val="F59E0B"/>
                          </a:solidFill>
                          <a:latin typeface="Inter"/>
                        </a:rPr>
                        <a:t>C</a:t>
                      </a:r>
                    </a:p>
                  </a:txBody>
                  <a:tcPr>
                    <a:solidFill>
                      <a:srgbClr val="16284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r>
                        <a:rPr sz="1050" b="0" i="0">
                          <a:solidFill>
                            <a:srgbClr val="94A3B8"/>
                          </a:solidFill>
                          <a:latin typeface="Inter"/>
                        </a:rPr>
                        <a:t>I</a:t>
                      </a:r>
                    </a:p>
                  </a:txBody>
                  <a:tcPr>
                    <a:solidFill>
                      <a:srgbClr val="16284B"/>
                    </a:solidFill>
                  </a:tcPr>
                </a:tc>
              </a:tr>
              <a:tr h="956462">
                <a:tc>
                  <a:txBody>
                    <a:bodyPr wrap="square"/>
                    <a:lstStyle/>
                    <a:p>
                      <a:pPr>
                        <a:spcAft>
                          <a:spcPts val="200"/>
                        </a:spcAft>
                      </a:pPr>
                      <a:r>
                        <a:rPr sz="800" b="0" i="0">
                          <a:solidFill>
                            <a:srgbClr val="F8FAFC"/>
                          </a:solidFill>
                          <a:latin typeface="Inter"/>
                        </a:rPr>
                        <a:t>OT Network &amp; Firewall Exceptions</a:t>
                      </a:r>
                    </a:p>
                  </a:txBody>
                  <a:tcPr>
                    <a:solidFill>
                      <a:srgbClr val="13224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 i="0">
                          <a:solidFill>
                            <a:srgbClr val="F59E0B"/>
                          </a:solidFill>
                          <a:latin typeface="Inter"/>
                        </a:rPr>
                        <a:t>C</a:t>
                      </a:r>
                    </a:p>
                  </a:txBody>
                  <a:tcPr>
                    <a:solidFill>
                      <a:srgbClr val="13224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 i="0">
                          <a:solidFill>
                            <a:srgbClr val="EF4444"/>
                          </a:solidFill>
                          <a:latin typeface="Inter"/>
                        </a:rPr>
                        <a:t>A</a:t>
                      </a:r>
                    </a:p>
                  </a:txBody>
                  <a:tcPr>
                    <a:solidFill>
                      <a:srgbClr val="13224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 i="0">
                          <a:solidFill>
                            <a:srgbClr val="00B4D8"/>
                          </a:solidFill>
                          <a:latin typeface="Inter"/>
                        </a:rPr>
                        <a:t>R</a:t>
                      </a:r>
                    </a:p>
                  </a:txBody>
                  <a:tcPr>
                    <a:solidFill>
                      <a:srgbClr val="1322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r>
                        <a:rPr sz="1050" b="0" i="0">
                          <a:solidFill>
                            <a:srgbClr val="94A3B8"/>
                          </a:solidFill>
                          <a:latin typeface="Inter"/>
                        </a:rPr>
                        <a:t>I</a:t>
                      </a:r>
                    </a:p>
                  </a:txBody>
                  <a:tcPr>
                    <a:solidFill>
                      <a:srgbClr val="132240"/>
                    </a:solidFill>
                  </a:tcPr>
                </a:tc>
              </a:tr>
              <a:tr h="956462">
                <a:tc>
                  <a:txBody>
                    <a:bodyPr wrap="square"/>
                    <a:lstStyle/>
                    <a:p>
                      <a:pPr>
                        <a:spcAft>
                          <a:spcPts val="200"/>
                        </a:spcAft>
                      </a:pPr>
                      <a:r>
                        <a:rPr sz="800" b="0" i="0">
                          <a:solidFill>
                            <a:srgbClr val="F8FAFC"/>
                          </a:solidFill>
                          <a:latin typeface="Inter"/>
                        </a:rPr>
                        <a:t>Operator Enablement &amp; SOP Sign-off</a:t>
                      </a:r>
                    </a:p>
                  </a:txBody>
                  <a:tcPr>
                    <a:solidFill>
                      <a:srgbClr val="16284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 i="0">
                          <a:solidFill>
                            <a:srgbClr val="00B4D8"/>
                          </a:solidFill>
                          <a:latin typeface="Inter"/>
                        </a:rPr>
                        <a:t>R</a:t>
                      </a:r>
                    </a:p>
                  </a:txBody>
                  <a:tcPr>
                    <a:solidFill>
                      <a:srgbClr val="16284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 i="0">
                          <a:solidFill>
                            <a:srgbClr val="F59E0B"/>
                          </a:solidFill>
                          <a:latin typeface="Inter"/>
                        </a:rPr>
                        <a:t>C</a:t>
                      </a:r>
                    </a:p>
                  </a:txBody>
                  <a:tcPr>
                    <a:solidFill>
                      <a:srgbClr val="16284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 i="0">
                          <a:solidFill>
                            <a:srgbClr val="EF4444"/>
                          </a:solidFill>
                          <a:latin typeface="Inter"/>
                        </a:rPr>
                        <a:t>A</a:t>
                      </a:r>
                    </a:p>
                  </a:txBody>
                  <a:tcPr>
                    <a:solidFill>
                      <a:srgbClr val="16284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r>
                        <a:rPr sz="1050" b="0" i="0">
                          <a:solidFill>
                            <a:srgbClr val="94A3B8"/>
                          </a:solidFill>
                          <a:latin typeface="Inter"/>
                        </a:rPr>
                        <a:t>I</a:t>
                      </a:r>
                    </a:p>
                  </a:txBody>
                  <a:tcPr>
                    <a:solidFill>
                      <a:srgbClr val="16284B"/>
                    </a:solidFill>
                  </a:tcPr>
                </a:tc>
              </a:tr>
              <a:tr h="956464">
                <a:tc>
                  <a:txBody>
                    <a:bodyPr wrap="square"/>
                    <a:lstStyle/>
                    <a:p>
                      <a:pPr>
                        <a:spcAft>
                          <a:spcPts val="200"/>
                        </a:spcAft>
                      </a:pPr>
                      <a:r>
                        <a:rPr sz="800" b="0" i="0">
                          <a:solidFill>
                            <a:srgbClr val="F8FAFC"/>
                          </a:solidFill>
                          <a:latin typeface="Inter"/>
                        </a:rPr>
                        <a:t>Milestone Gate Sign-off &amp; Invoicing</a:t>
                      </a:r>
                    </a:p>
                  </a:txBody>
                  <a:tcPr>
                    <a:solidFill>
                      <a:srgbClr val="13224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 i="0">
                          <a:solidFill>
                            <a:srgbClr val="F59E0B"/>
                          </a:solidFill>
                          <a:latin typeface="Inter"/>
                        </a:rPr>
                        <a:t>C</a:t>
                      </a:r>
                    </a:p>
                  </a:txBody>
                  <a:tcPr>
                    <a:solidFill>
                      <a:srgbClr val="13224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 i="0">
                          <a:solidFill>
                            <a:srgbClr val="F59E0B"/>
                          </a:solidFill>
                          <a:latin typeface="Inter"/>
                        </a:rPr>
                        <a:t>C</a:t>
                      </a:r>
                    </a:p>
                  </a:txBody>
                  <a:tcPr>
                    <a:solidFill>
                      <a:srgbClr val="13224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 i="0">
                          <a:solidFill>
                            <a:srgbClr val="F59E0B"/>
                          </a:solidFill>
                          <a:latin typeface="Inter"/>
                        </a:rPr>
                        <a:t>C</a:t>
                      </a:r>
                    </a:p>
                  </a:txBody>
                  <a:tcPr>
                    <a:solidFill>
                      <a:srgbClr val="13224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 i="0">
                          <a:solidFill>
                            <a:srgbClr val="EF4444"/>
                          </a:solidFill>
                          <a:latin typeface="Inter"/>
                        </a:rPr>
                        <a:t>A</a:t>
                      </a:r>
                    </a:p>
                  </a:txBody>
                  <a:tcPr>
                    <a:solidFill>
                      <a:srgbClr val="132240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