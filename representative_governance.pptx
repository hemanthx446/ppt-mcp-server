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Multi-Level Program Governance &amp; Cadence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Clear escalation channels connecting plant floor execution to the C-suite.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ABB Robotics • Enterprise Program Governance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1484375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2377440" cy="1484375"/>
          </a:xfrm>
          <a:prstGeom prst="rect">
            <a:avLst/>
          </a:prstGeom>
          <a:solidFill>
            <a:srgbClr val="1C3159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MONTHLY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Executive Steering Committee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Chair: Managing Director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572768"/>
            <a:ext cx="6339535" cy="1301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Budget allocation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Strategic scope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Executive escalations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22815" y="1591056"/>
            <a:ext cx="1645920" cy="1264919"/>
          </a:xfrm>
          <a:prstGeom prst="rect">
            <a:avLst/>
          </a:prstGeom>
          <a:solidFill>
            <a:srgbClr val="132240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ESCALATES TO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Board of Directors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30295"/>
            <a:ext cx="10728655" cy="1484375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130295"/>
            <a:ext cx="2377440" cy="1484375"/>
          </a:xfrm>
          <a:prstGeom prst="rect">
            <a:avLst/>
          </a:prstGeom>
          <a:solidFill>
            <a:srgbClr val="1C3159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BI-WEEKLY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Architecture Review Board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Chair: Chief Architect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221735"/>
            <a:ext cx="6339535" cy="1301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Clean-core compliance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Interface standards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Security sign-off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2815" y="3240023"/>
            <a:ext cx="1645920" cy="1264919"/>
          </a:xfrm>
          <a:prstGeom prst="rect">
            <a:avLst/>
          </a:prstGeom>
          <a:solidFill>
            <a:srgbClr val="132240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ESCALATES TO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Steering Committee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79264"/>
            <a:ext cx="10728655" cy="1484375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779264"/>
            <a:ext cx="2377440" cy="1484375"/>
          </a:xfrm>
          <a:prstGeom prst="rect">
            <a:avLst/>
          </a:prstGeom>
          <a:solidFill>
            <a:srgbClr val="1C3159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DAILY STANDUP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Plant Working Teams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Chair: Plant Operations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870704"/>
            <a:ext cx="6339535" cy="1301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Line-level sprint backlog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Operator enablement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Defect remediation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22815" y="4888992"/>
            <a:ext cx="1645920" cy="1264919"/>
          </a:xfrm>
          <a:prstGeom prst="rect">
            <a:avLst/>
          </a:prstGeom>
          <a:solidFill>
            <a:srgbClr val="132240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ESCALATES TO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Architecture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2. APPROVAL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Multi-Tier Stage-Gate Sign-Off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Formally designated stakeholders certifying technical and operational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ABB Robotics • Enterprise Program Governance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02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2476423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GATE 1: ARCHITECTURE SIGN-OFF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01952"/>
            <a:ext cx="2220391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Chief Enterprise Architect</a:t>
            </a:r>
          </a:p>
          <a:p>
            <a:pPr>
              <a:spcAft>
                <a:spcPts val="800"/>
              </a:spcAft>
            </a:pPr>
            <a:r>
              <a:rPr sz="750" b="0" i="1">
                <a:solidFill>
                  <a:srgbClr val="64748B"/>
                </a:solidFill>
                <a:latin typeface="Inter"/>
              </a:rPr>
              <a:t>Timing: Sprint 0</a:t>
            </a:r>
          </a:p>
          <a:p>
            <a:pPr>
              <a:spcAft>
                <a:spcPts val="400"/>
              </a:spcAft>
            </a:pPr>
            <a:r>
              <a:rPr sz="850" b="1" i="0">
                <a:solidFill>
                  <a:srgbClr val="64748B"/>
                </a:solidFill>
                <a:latin typeface="Inter"/>
              </a:rPr>
              <a:t>VERIFICATION CRITERIA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Clean-core rules validated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OT firewall verified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Data models approved</a:t>
            </a:r>
          </a:p>
          <a:p>
            <a:pPr>
              <a:spcBef>
                <a:spcPts val="800"/>
              </a:spcBef>
            </a:pPr>
            <a:r>
              <a:rPr sz="819" b="1" i="0">
                <a:solidFill>
                  <a:srgbClr val="10B981"/>
                </a:solidFill>
                <a:latin typeface="Inter"/>
              </a:rPr>
              <a:t>ARTIFACT: Signed Architecture Charter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53663" y="3762755"/>
            <a:ext cx="18288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82263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2263" y="1481328"/>
            <a:ext cx="2476423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GATE 2: PILOT PLANT ACCEPTANCE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0279" y="1901952"/>
            <a:ext cx="2220391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Plant Operations Director</a:t>
            </a:r>
          </a:p>
          <a:p>
            <a:pPr>
              <a:spcAft>
                <a:spcPts val="800"/>
              </a:spcAft>
            </a:pPr>
            <a:r>
              <a:rPr sz="750" b="0" i="1">
                <a:solidFill>
                  <a:srgbClr val="64748B"/>
                </a:solidFill>
                <a:latin typeface="Inter"/>
              </a:rPr>
              <a:t>Timing: Sprint 4</a:t>
            </a:r>
          </a:p>
          <a:p>
            <a:pPr>
              <a:spcAft>
                <a:spcPts val="400"/>
              </a:spcAft>
            </a:pPr>
            <a:r>
              <a:rPr sz="850" b="1" i="0">
                <a:solidFill>
                  <a:srgbClr val="64748B"/>
                </a:solidFill>
                <a:latin typeface="Inter"/>
              </a:rPr>
              <a:t>VERIFICATION CRITERIA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Pilot line latency &lt;200ms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Zero dropped telemetry events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Operator ergonomics passed</a:t>
            </a:r>
          </a:p>
          <a:p>
            <a:pPr>
              <a:spcBef>
                <a:spcPts val="800"/>
              </a:spcBef>
            </a:pPr>
            <a:r>
              <a:rPr sz="819" b="1" i="0">
                <a:solidFill>
                  <a:srgbClr val="10B981"/>
                </a:solidFill>
                <a:latin typeface="Inter"/>
              </a:rPr>
              <a:t>ARTIFACT: Pilot Sign-Off Slip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04407" y="3762755"/>
            <a:ext cx="18288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481328"/>
            <a:ext cx="2476423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GATE 3: QUALITY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1901952"/>
            <a:ext cx="2220391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Global VP of Quality</a:t>
            </a:r>
          </a:p>
          <a:p>
            <a:pPr>
              <a:spcAft>
                <a:spcPts val="800"/>
              </a:spcAft>
            </a:pPr>
            <a:r>
              <a:rPr sz="750" b="0" i="1">
                <a:solidFill>
                  <a:srgbClr val="64748B"/>
                </a:solidFill>
                <a:latin typeface="Inter"/>
              </a:rPr>
              <a:t>Timing: Sprint 8</a:t>
            </a:r>
          </a:p>
          <a:p>
            <a:pPr>
              <a:spcAft>
                <a:spcPts val="400"/>
              </a:spcAft>
            </a:pPr>
            <a:r>
              <a:rPr sz="850" b="1" i="0">
                <a:solidFill>
                  <a:srgbClr val="64748B"/>
                </a:solidFill>
                <a:latin typeface="Inter"/>
              </a:rPr>
              <a:t>VERIFICATION CRITERIA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21 CFR Part 11 audit trails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Electronic signatures tested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Lot genealogy tied to ERP</a:t>
            </a:r>
          </a:p>
          <a:p>
            <a:pPr>
              <a:spcBef>
                <a:spcPts val="800"/>
              </a:spcBef>
            </a:pPr>
            <a:r>
              <a:rPr sz="819" b="1" i="0">
                <a:solidFill>
                  <a:srgbClr val="10B981"/>
                </a:solidFill>
                <a:latin typeface="Inter"/>
              </a:rPr>
              <a:t>ARTIFACT: Validation Master Report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55151" y="3762755"/>
            <a:ext cx="18288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3751" y="1481328"/>
            <a:ext cx="2476423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GATE 4: PRODUCTION CUTOVER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1767" y="1901952"/>
            <a:ext cx="2220391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Executive Steering Comm</a:t>
            </a:r>
          </a:p>
          <a:p>
            <a:pPr>
              <a:spcAft>
                <a:spcPts val="800"/>
              </a:spcAft>
            </a:pPr>
            <a:r>
              <a:rPr sz="750" b="0" i="1">
                <a:solidFill>
                  <a:srgbClr val="64748B"/>
                </a:solidFill>
                <a:latin typeface="Inter"/>
              </a:rPr>
              <a:t>Timing: Sprint 12</a:t>
            </a:r>
          </a:p>
          <a:p>
            <a:pPr>
              <a:spcAft>
                <a:spcPts val="400"/>
              </a:spcAft>
            </a:pPr>
            <a:r>
              <a:rPr sz="850" b="1" i="0">
                <a:solidFill>
                  <a:srgbClr val="64748B"/>
                </a:solidFill>
                <a:latin typeface="Inter"/>
              </a:rPr>
              <a:t>VERIFICATION CRITERIA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Go-live checklist 100% green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Disaster recovery tested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• 24/7 hypercare staffed</a:t>
            </a:r>
          </a:p>
          <a:p>
            <a:pPr>
              <a:spcBef>
                <a:spcPts val="800"/>
              </a:spcBef>
            </a:pPr>
            <a:r>
              <a:rPr sz="819" b="1" i="0">
                <a:solidFill>
                  <a:srgbClr val="10B981"/>
                </a:solidFill>
                <a:latin typeface="Inter"/>
              </a:rPr>
              <a:t>ARTIFACT: Production Go-Live Permit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3. RACI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Program RACI Responsibility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Accountability matrix preventing organizational confusion during deployment.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ABB Robotics • Enterprise Program Governance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03 / 03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81328"/>
          <a:ext cx="10728652" cy="4782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888"/>
                <a:gridCol w="1662941"/>
                <a:gridCol w="1662941"/>
                <a:gridCol w="1662941"/>
                <a:gridCol w="1662941"/>
              </a:tblGrid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F8FAFC"/>
                          </a:solidFill>
                          <a:latin typeface="Inter"/>
                        </a:rPr>
                        <a:t>ACTIVITY / DELIVERABLE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Advisory Architect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Client IT Lead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Plant Operations Lead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Steering Committee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System Architecture &amp; BTP Sizing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EF4444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0B4D8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59E0B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050" b="0" i="0">
                          <a:solidFill>
                            <a:srgbClr val="94A3B8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OT Network &amp; Firewall Exceptions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59E0B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EF4444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0B4D8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050" b="0" i="0">
                          <a:solidFill>
                            <a:srgbClr val="94A3B8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</a:tr>
              <a:tr h="95646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Operator Enablement &amp; SOP Sign-off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0B4D8"/>
                          </a:solidFill>
                          <a:latin typeface="Inter"/>
                        </a:rPr>
                        <a:t>R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59E0B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EF4444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050" b="0" i="0">
                          <a:solidFill>
                            <a:srgbClr val="94A3B8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</a:tr>
              <a:tr h="956464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Milestone Gate Sign-off &amp; Invoicing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59E0B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59E0B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59E0B"/>
                          </a:solidFill>
                          <a:latin typeface="Inter"/>
                        </a:rPr>
                        <a:t>C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EF4444"/>
                          </a:solidFill>
                          <a:latin typeface="Inter"/>
                        </a:rPr>
                        <a:t>A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