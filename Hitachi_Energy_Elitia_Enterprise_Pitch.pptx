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Empowering Hitachi Energy's Next-Gen Infrastructure:</a:t>
            </a:r>
          </a:p>
          <a:p>
            <a:pPr>
              <a:spcAft>
                <a:spcPts val="2000"/>
              </a:spcAft>
              <a:defRPr sz="3600" b="1">
                <a:solidFill>
                  <a:srgbClr val="E30613"/>
                </a:solidFill>
                <a:latin typeface="Arial"/>
              </a:defRPr>
            </a:pPr>
            <a:r>
              <a:t>Lumbini Elitia Enterprise Suite &amp; Co-Innovation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i="1">
                <a:solidFill>
                  <a:srgbClr val="B4BBC3"/>
                </a:solidFill>
                <a:latin typeface="Calibri"/>
              </a:defRPr>
            </a:pPr>
            <a:r>
              <a:t>A Deep-Domain Digital Transformation Suite Bridging Design, Shop-Floor Operations, and Enterprise IT/OT Convergence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30613"/>
                </a:solidFill>
                <a:latin typeface="Arial"/>
              </a:defRPr>
            </a:pPr>
            <a:r>
              <a:t>Lumbini Elitia × Hitachi Energy Partnership Proposal</a:t>
            </a:r>
          </a:p>
          <a:p>
            <a:pPr>
              <a:defRPr sz="1100">
                <a:solidFill>
                  <a:srgbClr val="718096"/>
                </a:solidFill>
                <a:latin typeface="Calibri"/>
              </a:defRPr>
            </a:pPr>
            <a:r>
              <a:t>August 2026  |  GTIC Porur &amp; Chengalpattu Advanced Manufacturing Facility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114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A202C"/>
                </a:solidFill>
                <a:latin typeface="Arial"/>
              </a:defRPr>
            </a:pPr>
            <a:r>
              <a:t>Executive Summary &amp; Local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i="1">
                <a:solidFill>
                  <a:srgbClr val="718096"/>
                </a:solidFill>
                <a:latin typeface="Calibri"/>
              </a:defRPr>
            </a:pPr>
            <a:r>
              <a:t>Strategic alignment with Hitachi Energy's Chennai engineering design and manufacturing footprint.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663440" cy="42062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Executive Summary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Strategic Positioning &amp; Domain DNA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Power &amp; Energy DNA: Deep experience in utility networks and heavy manufacturing infrastructure.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Hybrid Capability Model: Joint product co-development and staff augmentation services alongside the Elitia software suite.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Local Footprint Alignment: Direct support for Porur GTIC engineering teams and Chengalpattu factory workloads.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System Lifespan Mindset: Software and engineering designed for 30-40 years of high-availability utility operation.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4937759" cy="17373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Global Technology &amp; Innovation Centre (GTIC) - Porur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Engineering Focus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Engineering R&amp;D and Power Electronics Simulation.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Elitia Integration: Configuration release control, CAD/BOM sync, and data profiling.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Co-Development: Direct API integration co-development with GTIC system engineers.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749039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931920"/>
            <a:ext cx="4937759" cy="1828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Advanced Manufacturing Facility - Chengalpattu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Operations Focus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Advanced HVDC systems and Power Quality manufacturing (₹2,000 crore expansion).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Elitia Integration: Shop-floor MES quality gates, predictive APM, and migration validations.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Augmentation: On-demand squads of utility and data engineers to accelerate continuous upgrades.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Lumbini Elitia Enterprise Suite  |  Strategic Pitch for Hitachi Energy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718096"/>
                </a:solidFill>
                <a:latin typeface="Calibri"/>
              </a:defRPr>
            </a:pPr>
            <a: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114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A202C"/>
                </a:solidFill>
                <a:latin typeface="Arial"/>
              </a:defRPr>
            </a:pPr>
            <a:r>
              <a:t>Power Domain DNA &amp;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i="1">
                <a:solidFill>
                  <a:srgbClr val="718096"/>
                </a:solidFill>
                <a:latin typeface="Calibri"/>
              </a:defRPr>
            </a:pPr>
            <a:r>
              <a:t>Lumbini has over 12 years of utility software heritage with a core philosophy of building for 30-40 years of service life.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548640"/>
          </a:xfrm>
          <a:prstGeom prst="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30613"/>
                </a:solidFill>
                <a:latin typeface="Arial"/>
              </a:defRPr>
            </a:pPr>
            <a:r>
              <a:t>12+ Years Heritage  |  ISO 9001 &amp; 27001 Certified  |  Active Siemens &amp; SAP Global Partner Ecosystem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754879" cy="1554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Generation Systems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Telemetry &amp; Asset Monitoring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Grid integration portals for Hydro, Thermal, and Solar setups.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Real-time boiler telemetry and generation dispatch optimization.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1168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754879" cy="15544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Transmission &amp; Substation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IEC 61850 &amp; HVDC Focus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Substation automation software configurations and RTU mapping.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Transformer diagnostics and high-voltage line monitoring.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754879" cy="16459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Grid Distribution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Smart Metering &amp; Billing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Orchestration layers for smart meters handling millions of endpoints.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Outage management system (OMS) billing validation loops.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1480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4754879" cy="16459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Renewables &amp; Microgrids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BESS &amp; Distributed Energy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Secure SCADA telemetry interfaces for wind/solar remote platforms.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Battery Bank (BESS) charge control and battery pack diagnostics.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Lumbini Elitia Enterprise Suite  |  Strategic Pitch for Hitachi Energy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718096"/>
                </a:solidFill>
                <a:latin typeface="Calibri"/>
              </a:defRPr>
            </a:pPr>
            <a: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114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A202C"/>
                </a:solidFill>
                <a:latin typeface="Arial"/>
              </a:defRPr>
            </a:pPr>
            <a:r>
              <a:t>Elitia Suite: L0-L4 IT/OT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i="1">
                <a:solidFill>
                  <a:srgbClr val="718096"/>
                </a:solidFill>
                <a:latin typeface="Calibri"/>
              </a:defRPr>
            </a:pPr>
            <a:r>
              <a:t>Our proprietary product suite bridges shop-floor operations with enterprise analytics in a standard layered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62895" cy="77723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30613"/>
                </a:solidFill>
                <a:latin typeface="Arial"/>
              </a:defRPr>
            </a:pPr>
            <a:r>
              <a:t>Layer 4: Business Enterprise Level (SAP ERP, Siemens PLM, Elitia BI)</a:t>
            </a:r>
          </a:p>
          <a:p>
            <a:pPr>
              <a:defRPr sz="1100">
                <a:solidFill>
                  <a:srgbClr val="1A202C"/>
                </a:solidFill>
                <a:latin typeface="Calibri"/>
              </a:defRPr>
            </a:pPr>
            <a:r>
              <a:t>Aggregated cross-plant OEE dashboards, supply chain demand forecasting, and central master data governance via Elitia DGS.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79"/>
            <a:ext cx="10362895" cy="77723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30613"/>
                </a:solidFill>
                <a:latin typeface="Arial"/>
              </a:defRPr>
            </a:pPr>
            <a:r>
              <a:t>Layer 3: Operations Management Level (Elitia APM &amp; Scheduling)</a:t>
            </a:r>
          </a:p>
          <a:p>
            <a:pPr>
              <a:defRPr sz="1100">
                <a:solidFill>
                  <a:srgbClr val="1A202C"/>
                </a:solidFill>
                <a:latin typeface="Calibri"/>
              </a:defRPr>
            </a:pPr>
            <a:r>
              <a:t>Predictive maintenance models, asset remaining useful life (RUL) forecasting, and engineering change order (ECO) release flows.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49039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10362895" cy="77723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30613"/>
                </a:solidFill>
                <a:latin typeface="Arial"/>
              </a:defRPr>
            </a:pPr>
            <a:r>
              <a:t>Layer 2: Supervisory Control Level (Elitia MES, SCADA, Grid-X)</a:t>
            </a:r>
          </a:p>
          <a:p>
            <a:pPr>
              <a:defRPr sz="1100">
                <a:solidFill>
                  <a:srgbClr val="1A202C"/>
                </a:solidFill>
                <a:latin typeface="Calibri"/>
              </a:defRPr>
            </a:pPr>
            <a:r>
              <a:t>Local shop-floor execution tracking, paperless operator instructions, closed-loop quality gates, and remote monitoring systems (RMS).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93776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10362895" cy="77723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30613"/>
                </a:solidFill>
                <a:latin typeface="Arial"/>
              </a:defRPr>
            </a:pPr>
            <a:r>
              <a:t>Layer 0-1: Field Control &amp; Physical Level (PLCs, Remote I/O, BESS Banks)</a:t>
            </a:r>
          </a:p>
          <a:p>
            <a:pPr>
              <a:defRPr sz="1100">
                <a:solidFill>
                  <a:srgbClr val="1A202C"/>
                </a:solidFill>
                <a:latin typeface="Calibri"/>
              </a:defRPr>
            </a:pPr>
            <a:r>
              <a:t>High-frequency sensor telemetry (thermal, vibration, voltage), battery cell controllers, and edge communication gateways.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Lumbini Elitia Enterprise Suite  |  Strategic Pitch for Hitachi Energy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718096"/>
                </a:solidFill>
                <a:latin typeface="Calibri"/>
              </a:defRPr>
            </a:pPr>
            <a: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114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A202C"/>
                </a:solidFill>
                <a:latin typeface="Arial"/>
              </a:defRPr>
            </a:pPr>
            <a:r>
              <a:t>Smart Manufacturing &amp; HVDC Shop-Floor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i="1">
                <a:solidFill>
                  <a:srgbClr val="718096"/>
                </a:solidFill>
                <a:latin typeface="Calibri"/>
              </a:defRPr>
            </a:pPr>
            <a:r>
              <a:t>Empowering shop-floor operators with predictive asset health, MES, and Vision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79" cy="42062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Elitia MES &amp; APM: Predictive Asset Performance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HVDC Curing &amp; Winding Control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Remaining Useful Life (RUL): Predicts optimal maintenance windows for critical curing ovens and winding machines.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High-Frequency Edge Telemetry: Dynamic processing of vibration, thermal, and acoustic sensors on testing bays.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Traceability: Serialization and history tracking for complex HVDC transformer parts.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Defect Reduction: Reduces unscheduled line stoppages, securing high plant yield.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79" cy="42062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Vision AI &amp; Closed-Loop Quality Inspection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Automated QA &amp; Defect Tracking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Vision AI Inspection: High-speed camera arrays check welds, alignment, and components on automated assembly lines.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Closed-Loop Quality reconciliation: Real-time visual defect detection automatically links back to PLM CAD records.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Automatic Alerts: Instantly flags assembly line deviations to operators before damage occurs.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Partner Case Study: Deployed Vision QA at Midwest Energy plants with a 24% reduction in manual inspection requirements.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Lumbini Elitia Enterprise Suite  |  Strategic Pitch for Hitachi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718096"/>
                </a:solidFill>
                <a:latin typeface="Calibri"/>
              </a:defRPr>
            </a:pPr>
            <a: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114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A202C"/>
                </a:solidFill>
                <a:latin typeface="Arial"/>
              </a:defRPr>
            </a:pPr>
            <a:r>
              <a:t>Grid Management &amp; Energy Storage Systems (BESS)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i="1">
                <a:solidFill>
                  <a:srgbClr val="718096"/>
                </a:solidFill>
                <a:latin typeface="Calibri"/>
              </a:defRPr>
            </a:pPr>
            <a:r>
              <a:t>Real-time distribution SCADA portals and sensor-driven battery health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79" cy="42062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Elitia EMS &amp; Grid-X SCADA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Utility Grid Control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EMS Integration: Real-time load balancing, substation monitoring, and active dispatch telemetry.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Grid-X SCADA: Supports standard industrial protocols (IEC 60870-5, DNP3, Modbus) for legacy grids.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Smart Meter Orchestration: Links dispatch telemetry to billing engines and smart meter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79" cy="42062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Battery Bank (BESS) Telemetry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Thermal &amp; Charge Diagnostics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Cell-Level Diagnostics: Continuous logs of cell thermal parameters, voltage, and vibration cycles.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Early Fault Detection: Custom algorithms predict thermal runaway risks, automatically isolating faulty battery cells.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Optimized C-Rating: Programmatically manages battery charge/discharge loops to extend battery life cycles by 20%.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Lumbini Elitia Enterprise Suite  |  Strategic Pitch for Hitachi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718096"/>
                </a:solidFill>
                <a:latin typeface="Calibri"/>
              </a:defRPr>
            </a:pPr>
            <a: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114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A202C"/>
                </a:solidFill>
                <a:latin typeface="Arial"/>
              </a:defRPr>
            </a:pPr>
            <a:r>
              <a:t>Enterprise Data Governance &amp;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i="1">
                <a:solidFill>
                  <a:srgbClr val="718096"/>
                </a:solidFill>
                <a:latin typeface="Calibri"/>
              </a:defRPr>
            </a:pPr>
            <a:r>
              <a:t>Elitia DGS acts as an SAP MDG equivalent, ensuring master data consistency and lineage.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79" cy="42062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Elitia DGS: Master Data Governance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Data Consistency &amp; Lineage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SAP MDG Equivalent: Centralizes asset and material master catalogs across multiple manufacturing locations.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Schema Cleansing: Automatically checks syntax and profile completeness before records are committed.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Audit-Ready Lineage: Generates visual lineage maps showing asset changes and historical data modifications.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79" cy="42062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Data Validation Engine (DVE)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Frictionless Migration Pipeline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DVE validation framework: Designed for major utility database upgrades and legacy-to-modern ERP migrations.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150+ Custom Rules: Automated business checks target electrical engineering schemas and substation structures.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Zero-Loss Reconciliation: Performs pre- and post-migration validation checks to guarantee zero data loss.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Lumbini Elitia Enterprise Suite  |  Strategic Pitch for Hitachi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718096"/>
                </a:solidFill>
                <a:latin typeface="Calibri"/>
              </a:defRPr>
            </a:pPr>
            <a: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114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A202C"/>
                </a:solidFill>
                <a:latin typeface="Arial"/>
              </a:defRPr>
            </a:pPr>
            <a:r>
              <a:t>Proven Customer Success &amp; 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i="1">
                <a:solidFill>
                  <a:srgbClr val="718096"/>
                </a:solidFill>
                <a:latin typeface="Calibri"/>
              </a:defRPr>
            </a:pPr>
            <a:r>
              <a:t>Delivering digital transformation and engineering excellence across global utility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79" cy="1828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JBVNL &amp; TVNL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SAP ERP &amp; Grid Distribution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Full SAP ERP rollout across utility distribution and billing channels.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Standardized asset schemas for millions of smart metering 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79" cy="1828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Lineage Power &amp; Windcare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RMS &amp; SCADA gateways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Deployed Remote Monitoring Systems (RMS) for power conversion devices.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Secure SCADA setups deployed for distributed wind and solar generation plants.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754879" cy="1828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Midwest Energy &amp; HSA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Plant MES &amp; EMS Deployments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Engineered custom MES modules for shop-floor assembly lines.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Implemented Energy Management Systems (EMS) to balance plant power loads.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023360"/>
            <a:ext cx="4754879" cy="1828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Qatar Energy &amp; Aceleon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Industrial Digital Solutions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Developed cross-border industrial telemetry platforms for energy assets.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Digital twin dashboards showing real-time utility parameters.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Lumbini Elitia Enterprise Suite  |  Strategic Pitch for Hitachi Energy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718096"/>
                </a:solidFill>
                <a:latin typeface="Calibri"/>
              </a:defRPr>
            </a:pPr>
            <a: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114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A202C"/>
                </a:solidFill>
                <a:latin typeface="Arial"/>
              </a:defRPr>
            </a:pPr>
            <a:r>
              <a:t>Flexible Engagement &amp; Co-Innovation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i="1">
                <a:solidFill>
                  <a:srgbClr val="718096"/>
                </a:solidFill>
                <a:latin typeface="Calibri"/>
              </a:defRPr>
            </a:pPr>
            <a:r>
              <a:t>Supporting Hitachi's continuous local/global projects with adaptive resource and co-development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926080" cy="42062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Software Licensing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Elitia Product Suite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Modular licensing of the proprietary Elitia suite (MES, APM, DGS, BI, EMS).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Includes standard APIs for fast integration with SAP ERP and Siemens PLM.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2926080" cy="42062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Expert Co-Development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Shared Engineering Model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Dedicated engineering squads work side-by-side with GTIC Porur design teams.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Shared codebase ownership and custom feature extension development.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Experienced in standard enterprise product development lifecycle.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3017520" cy="42062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t>Staff Augmentation</a:t>
            </a:r>
          </a:p>
          <a:p>
            <a:pPr>
              <a:spcAft>
                <a:spcPts val="800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t>On-Demand Resource Delivery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Access to certified utility engineers, power electronics, and data experts.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Resource squads ready to scale up within 2-4 weeks to hit critical deadlines.</a:t>
            </a:r>
          </a:p>
          <a:p>
            <a:pPr>
              <a:spcAft>
                <a:spcPts val="4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Flexible staffing structure aligning with local operations and global headquarters.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Calibri"/>
              </a:defRPr>
            </a:pPr>
            <a:r>
              <a:t>Lumbini Elitia Enterprise Suite  |  Strategic Pitch for Hitachi Energy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718096"/>
                </a:solidFill>
                <a:latin typeface="Calibri"/>
              </a:defRPr>
            </a:pPr>
            <a: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Partnering for the Future of Energy Infrastructure</a:t>
            </a:r>
          </a:p>
          <a:p>
            <a:pPr>
              <a:spcAft>
                <a:spcPts val="1200"/>
              </a:spcAft>
              <a:defRPr sz="1400">
                <a:solidFill>
                  <a:srgbClr val="DCE1E6"/>
                </a:solidFill>
                <a:latin typeface="Calibri"/>
              </a:defRPr>
            </a:pPr>
            <a:r>
              <a:t>1.  Proposing an immediate Architecture Workshop at GTIC Porur to map integration points.</a:t>
            </a:r>
          </a:p>
          <a:p>
            <a:pPr>
              <a:spcAft>
                <a:spcPts val="1200"/>
              </a:spcAft>
              <a:defRPr sz="1400">
                <a:solidFill>
                  <a:srgbClr val="DCE1E6"/>
                </a:solidFill>
                <a:latin typeface="Calibri"/>
              </a:defRPr>
            </a:pPr>
            <a:r>
              <a:t>2.  Initiating a 30-Day Proof of Value (PoV) on a selected HVDC winding line at Chengalpattu.</a:t>
            </a:r>
          </a:p>
          <a:p>
            <a:pPr>
              <a:spcAft>
                <a:spcPts val="1200"/>
              </a:spcAft>
              <a:defRPr sz="1400">
                <a:solidFill>
                  <a:srgbClr val="DCE1E6"/>
                </a:solidFill>
                <a:latin typeface="Calibri"/>
              </a:defRPr>
            </a:pPr>
            <a:r>
              <a:t>3.  Establishing an Agile Delivery &amp; Augmentation SLA to support your ₹2,000 Cr facility expansion.</a:t>
            </a:r>
          </a:p>
          <a:p>
            <a:pPr>
              <a:spcAft>
                <a:spcPts val="2400"/>
              </a:spcAft>
            </a:pPr>
          </a:p>
          <a:p>
            <a:pPr>
              <a:defRPr sz="1200" b="1">
                <a:solidFill>
                  <a:srgbClr val="E30613"/>
                </a:solidFill>
                <a:latin typeface="Arial"/>
              </a:defRPr>
            </a:pPr>
            <a:r>
              <a:t>LUMBINI ELITIA GLOBAL OFFICES</a:t>
            </a:r>
          </a:p>
          <a:p>
            <a:pPr>
              <a:defRPr sz="1100">
                <a:solidFill>
                  <a:srgbClr val="718096"/>
                </a:solidFill>
                <a:latin typeface="Calibri"/>
              </a:defRPr>
            </a:pPr>
            <a:r>
              <a:t>Locations: Bangalore  |  Noida  |  Ranchi  |  Doha, Qatar  |  Chennai (Local Support Office)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