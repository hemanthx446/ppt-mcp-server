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8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INTELLIGENT ENTERPRISE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Governance, Risk, and Control as the Architectural Backbone of Enterprise Integration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3931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F8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Lumbini Elite Solutions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GRC Paradox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enterprises treat GRC as a compliance obligation—a control layer imposed on business operations.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7373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5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reality: GRC is the connective tissue that transforms fragmented systems into an intelligent operating model.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256032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Strategy Cascades Through Control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2852928"/>
            <a:ext cx="7589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frameworks operationalize strategy; governance embeds intent into every transaction.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329184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Control Enables, Not Constrains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3584448"/>
            <a:ext cx="7589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properly architected, governance accelerates decision-making and competitive response.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402336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Integration Is the Multiplier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14400" y="4315968"/>
            <a:ext cx="7589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 GRC bridges people, process, and systems—turning compliance from cost center into strategic asset.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Enterprise Architecture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548640"/>
          </a:xfrm>
          <a:prstGeom prst="rect">
            <a:avLst/>
          </a:prstGeom>
          <a:solidFill>
            <a:srgbClr val="1A2840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207008"/>
            <a:ext cx="7863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Strategy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8229600" cy="548640"/>
          </a:xfrm>
          <a:prstGeom prst="rect">
            <a:avLst/>
          </a:prstGeom>
          <a:solidFill>
            <a:srgbClr val="0D5B6B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938528"/>
            <a:ext cx="7863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Framework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560320"/>
            <a:ext cx="8229600" cy="54864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670048"/>
            <a:ext cx="7863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Applications (SAP)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3291840"/>
            <a:ext cx="8229600" cy="548640"/>
          </a:xfrm>
          <a:prstGeom prst="rect">
            <a:avLst/>
          </a:prstGeom>
          <a:solidFill>
            <a:srgbClr val="2D3E50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401568"/>
            <a:ext cx="7863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Systems &amp; Data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4023360"/>
            <a:ext cx="8229600" cy="54864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4133088"/>
            <a:ext cx="7863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Outcomes &amp; Performance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4572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GRC connects all layers—governance flows down, risk flows up, compliance is continuous.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 GRC: The Architectural Backbone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2560320" cy="4572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9601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Control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94360" y="15087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Segregation of Duties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94360" y="18288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User Access Governance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94360" y="21488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Role-Based Authorization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" y="24688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Fraud Prevention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0" y="914400"/>
            <a:ext cx="2560320" cy="45720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1" name="Text 9"/>
          <p:cNvSpPr/>
          <p:nvPr/>
        </p:nvSpPr>
        <p:spPr>
          <a:xfrm>
            <a:off x="3200400" y="9601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Control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337560" y="15087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Business Process Mapping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337560" y="18288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Control Design &amp; Testing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337560" y="21488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Compliance Automation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337560" y="24688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Exception Monitoring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943600" y="914400"/>
            <a:ext cx="2560320" cy="457200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17" name="Text 15"/>
          <p:cNvSpPr/>
          <p:nvPr/>
        </p:nvSpPr>
        <p:spPr>
          <a:xfrm>
            <a:off x="5943600" y="9601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Management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080760" y="15087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Enterprise Risk Framework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080760" y="18288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Risk-to-Control Mapping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080760" y="21488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Key Risk Indicators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080760" y="24688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Continuous Monitoring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4206240"/>
            <a:ext cx="8229600" cy="73152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425196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pillars are not silos. Shared master data, integrated controls, and unified risk catalogs create a single system of record for enterprise governance.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Implementation Reality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73152" cy="100584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058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Solutions Instead of Integration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132588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Deploying access control without process control. Risk management on spreadsheets. Governance scattered across tools.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1709928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Blind spots, duplicate effort, slow incident response.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2103120"/>
            <a:ext cx="73152" cy="100584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10312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Without Architecture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242316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Policies written in isolation from system design. Role hierarchies that don't reflect strategy. Control design disconnected from business process flow.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2807208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Controls that slow operations. Poor user adoption. Governance seen as an IT constraint.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3200400"/>
            <a:ext cx="73152" cy="100584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20040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Compliance, Not Risk Management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0080" y="352044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Focusing on audit readiness rather than continuous risk mitigation. Exception handling is manual and reactive.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0080" y="3904488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High operational cost. Late detection of issues. Governance doesn't scale.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Lumbini Approach: Architecture First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7863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Understand enterprise strategy and business model. What are the true sources of risk? Where must governance enable, not hinder?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1645920"/>
            <a:ext cx="7863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Design the operating model. How do people, process, and systems integrate? What is the single source of truth for each domain?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2286000"/>
            <a:ext cx="7863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Architect SAP GRC as the backbone. Integrate AC, PC, and RM from day one.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926080"/>
            <a:ext cx="7863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Enable continuous intelligence. Move from periodic audits to real-time monitoring.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3566160"/>
            <a:ext cx="7863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Build organizational capability. Governance owned by the business, not inherited from IT.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Capabilities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5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&amp; Assessment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22960" y="1188720"/>
            <a:ext cx="7680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Enterprise risk assessment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22960" y="1389888"/>
            <a:ext cx="7680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GRC maturity evaluation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591056"/>
            <a:ext cx="7680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Operating model design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1883664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5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&amp; Design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2157984"/>
            <a:ext cx="7680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SAP GRC system architecture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22960" y="2359152"/>
            <a:ext cx="7680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Governance framework design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22960" y="2560320"/>
            <a:ext cx="7680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Process-to-system mapping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2852928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5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&amp; Integration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22960" y="3127248"/>
            <a:ext cx="7680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Access Control deployment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22960" y="3328416"/>
            <a:ext cx="7680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Process Control configuration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22960" y="3529584"/>
            <a:ext cx="7680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Risk Management implementation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22960" y="3730752"/>
            <a:ext cx="7680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Cross-SAP integration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0080" y="402336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5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Enablement &amp; Optimization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22960" y="4297680"/>
            <a:ext cx="7680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User access provisioning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22960" y="4498848"/>
            <a:ext cx="7680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Role management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22960" y="4700016"/>
            <a:ext cx="7680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Continuous monitoring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22960" y="4901184"/>
            <a:ext cx="7680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Support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Lumbini Elite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1097280"/>
          </a:xfrm>
          <a:prstGeom prst="rect">
            <a:avLst/>
          </a:prstGeom>
          <a:solidFill>
            <a:srgbClr val="F8F9FA"/>
          </a:solidFill>
          <a:ln w="25400">
            <a:solidFill>
              <a:srgbClr val="0D5B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078992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5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Institutional Resilience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353312"/>
            <a:ext cx="7863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9+ years of deep enterprise SAP delivery. Strategic architecture across GRC, MES, supply chain, and digital transformation. CEO-recognized for unique combination of technical depth and governance expertise.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2194560"/>
            <a:ext cx="8229600" cy="1097280"/>
          </a:xfrm>
          <a:prstGeom prst="rect">
            <a:avLst/>
          </a:prstGeom>
          <a:solidFill>
            <a:srgbClr val="F8F9FA"/>
          </a:solidFill>
          <a:ln w="25400">
            <a:solidFill>
              <a:srgbClr val="0D5B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267712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5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Architects, Not Vendors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2542032"/>
            <a:ext cx="7863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design enterprise operating models, not just implement software. From strategy through systems to outcomes—governance is never deployed in isolation.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3383280"/>
            <a:ext cx="8229600" cy="1097280"/>
          </a:xfrm>
          <a:prstGeom prst="rect">
            <a:avLst/>
          </a:prstGeom>
          <a:solidFill>
            <a:srgbClr val="F8F9FA"/>
          </a:solidFill>
          <a:ln w="25400">
            <a:solidFill>
              <a:srgbClr val="0D5B6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3456432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5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Steady Hand in Crisis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3730752"/>
            <a:ext cx="7863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Extensive experience in M&amp;A integration, regulatory response, and complex multi-region governance. When stakes are high and decisions must be fast, architecture enables both speed and control.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 Models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2743200" cy="3474720"/>
          </a:xfrm>
          <a:prstGeom prst="rect">
            <a:avLst/>
          </a:prstGeom>
          <a:solidFill>
            <a:srgbClr val="F8F9FA"/>
          </a:solidFill>
          <a:ln w="12700">
            <a:solidFill>
              <a:srgbClr val="0D5B6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97280"/>
            <a:ext cx="2743200" cy="411480"/>
          </a:xfrm>
          <a:prstGeom prst="rect">
            <a:avLst/>
          </a:prstGeom>
          <a:solidFill>
            <a:srgbClr val="0D5B6B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1430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Consulting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94360" y="1645920"/>
            <a:ext cx="24688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lead, we advise. Strategic guidance, architecture, and specialized implementation support on your timeline.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83280" y="1097280"/>
            <a:ext cx="2743200" cy="3474720"/>
          </a:xfrm>
          <a:prstGeom prst="rect">
            <a:avLst/>
          </a:prstGeom>
          <a:solidFill>
            <a:srgbClr val="F8F9FA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383280" y="1097280"/>
            <a:ext cx="2743200" cy="41148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10" name="Text 8"/>
          <p:cNvSpPr/>
          <p:nvPr/>
        </p:nvSpPr>
        <p:spPr>
          <a:xfrm>
            <a:off x="3383280" y="11430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Co-Sourcing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520440" y="1645920"/>
            <a:ext cx="24688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responsibility. Our team partners with yours for design, delivery, and knowledge transfer.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309360" y="1097280"/>
            <a:ext cx="2743200" cy="3474720"/>
          </a:xfrm>
          <a:prstGeom prst="rect">
            <a:avLst/>
          </a:prstGeom>
          <a:solidFill>
            <a:srgbClr val="F8F9FA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309360" y="1097280"/>
            <a:ext cx="2743200" cy="41148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4" name="Text 12"/>
          <p:cNvSpPr/>
          <p:nvPr/>
        </p:nvSpPr>
        <p:spPr>
          <a:xfrm>
            <a:off x="6309360" y="11430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Outsourcing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46520" y="1645920"/>
            <a:ext cx="24688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delivery. Full program ownership, SLA-backed service delivery, ongoing optimization.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28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Transform Your Enterprise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2011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Governance. Risk. Control. Architecture.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29260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8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Lumbini Elite Solutions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32004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8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Bangalore | Jharkhand | Delhi | Qatar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37490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8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www.lumbinielite.com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402336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8F9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info@lumbinielite.com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2026-08-17T09:30:13Z</dcterms:created>
  <dcterms:modified xsi:type="dcterms:W3CDTF">2026-08-17T09:30:13Z</dcterms:modified>
</cp:coreProperties>
</file>