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295144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1. ENTERPRISE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Enterprise Architecture Diagram: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DECISION INTENT: ENTERPRISE ARCHITECTURE mapped for Client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Client • Title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01 / 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3240938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324093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627632"/>
            <a:ext cx="2948330" cy="44897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TIER 1: ENTERPRISE ERP CORE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SAP S/4HANA Cloud (Clean Core Architecture)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Production Orders (PP)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Material Master (MM)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Inventory Management (IM)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Ledger (ACDOCA)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63898" y="3735323"/>
            <a:ext cx="320040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3898" y="3534155"/>
            <a:ext cx="68580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OData APIs / Business Event Mesh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75378" y="1481328"/>
            <a:ext cx="3240938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75378" y="1481328"/>
            <a:ext cx="324093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1682" y="1627632"/>
            <a:ext cx="2948330" cy="44897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TIER 2: INTEGRATION &amp; ORCHESTRATION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SAP BTP &amp; Hybrid Middleware Fabric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Event Mesh Broker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Integration Suite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API Management Gateway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Dead-Letter Queue Buffer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07756" y="3735323"/>
            <a:ext cx="320040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7756" y="3534155"/>
            <a:ext cx="68580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TLS 1.3 / OPC-UA / MQTT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19236" y="1481328"/>
            <a:ext cx="3240938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19236" y="1481328"/>
            <a:ext cx="324093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5540" y="1627632"/>
            <a:ext cx="2948330" cy="44897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TIER 3: MANUFACTURING EXECUTION &amp; EDGE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Digital Manufacturing (MES/MOM) &amp; OT Edge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Shopfloor Dispatcher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Unit Genealogy Engine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Line SCADA Collector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PLC Machine Sensors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2. INTEGRATION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Integration &amp; Data Flow Architecture: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DECISION INTENT: INTEGRATION FABRIC mapped for Client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Client • Title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02 / 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3210458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627632"/>
            <a:ext cx="2917850" cy="44897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EVENT PRODUCERS (SHOPFLOOR &amp; ERP)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SAP S/4HANA Order Events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Barcode Scanners (HHT)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Inline Vision Cameras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OPC-UA Edge Daemons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33418" y="3735323"/>
            <a:ext cx="365760" cy="274320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33418" y="3534155"/>
            <a:ext cx="73152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EVENT PUSH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0618" y="1481328"/>
            <a:ext cx="3210458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922" y="1627632"/>
            <a:ext cx="2917850" cy="44897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SAP BTP EVENT MESH &amp; BROKER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Kafka Message Fabric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API Management Gateway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Dead-Letter Buffer</a:t>
            </a:r>
          </a:p>
          <a:p>
            <a:r>
              <a:rPr sz="819" b="1" i="0">
                <a:solidFill>
                  <a:srgbClr val="10B981"/>
                </a:solidFill>
                <a:latin typeface="Inter"/>
              </a:rPr>
              <a:t>PATTERN: Pub/Sub Event Streaming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792516" y="3735323"/>
            <a:ext cx="365760" cy="274320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2516" y="3534155"/>
            <a:ext cx="73152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FILTERED SUB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49716" y="1481328"/>
            <a:ext cx="3210458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6020" y="1627632"/>
            <a:ext cx="2917850" cy="44897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SUBSCRIBERS &amp; CONSUMERS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Digital Manufacturing MES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Quality Historian DB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SAP S/4HANA (101 Postings)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CXO Control Tower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61972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3. OPERATIONAL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ISA-95 Manufacturing Hierarchy: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DECISION INTENT: OPERATIONAL TOPOLOGY mapped for Client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Client • Title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03 / 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1572768"/>
            <a:ext cx="1828800" cy="902970"/>
          </a:xfrm>
          <a:prstGeom prst="rect">
            <a:avLst/>
          </a:prstGeom>
          <a:solidFill>
            <a:srgbClr val="EEF2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LEVEL 4: BUSINESS LOGISTICS</a:t>
            </a:r>
          </a:p>
          <a:p>
            <a:r>
              <a:rPr sz="750" b="0" i="1">
                <a:solidFill>
                  <a:srgbClr val="0F172A"/>
                </a:solidFill>
                <a:latin typeface="Inter"/>
              </a:rPr>
              <a:t>Enterprise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572768"/>
            <a:ext cx="6613855" cy="90297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0" i="0">
                <a:solidFill>
                  <a:srgbClr val="334155"/>
                </a:solidFill>
                <a:latin typeface="Inter"/>
              </a:rPr>
              <a:t>ERP Financials • Master Planning (PP) • Material Master (MM)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9935" y="1572768"/>
            <a:ext cx="1737360" cy="90297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D97706"/>
                </a:solidFill>
                <a:latin typeface="Inter"/>
              </a:rPr>
              <a:t>INTERLOCK: OData / BAPI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13482"/>
            <a:ext cx="10728655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2804922"/>
            <a:ext cx="1828800" cy="902970"/>
          </a:xfrm>
          <a:prstGeom prst="rect">
            <a:avLst/>
          </a:prstGeom>
          <a:solidFill>
            <a:srgbClr val="EEF2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LEVEL 3: OPERATIONS (MOM/MES)</a:t>
            </a:r>
          </a:p>
          <a:p>
            <a:r>
              <a:rPr sz="750" b="0" i="1">
                <a:solidFill>
                  <a:srgbClr val="0F172A"/>
                </a:solidFill>
                <a:latin typeface="Inter"/>
              </a:rPr>
              <a:t>Plant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804922"/>
            <a:ext cx="6613855" cy="90297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0" i="0">
                <a:solidFill>
                  <a:srgbClr val="334155"/>
                </a:solidFill>
                <a:latin typeface="Inter"/>
              </a:rPr>
              <a:t>Work Order Dispatch • Real-Time Genealogy • Non-Conformance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9935" y="2804922"/>
            <a:ext cx="1737360" cy="90297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D97706"/>
                </a:solidFill>
                <a:latin typeface="Inter"/>
              </a:rPr>
              <a:t>INTERLOCK: REST / WebSockets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45635"/>
            <a:ext cx="10728655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" y="4037075"/>
            <a:ext cx="1828800" cy="902970"/>
          </a:xfrm>
          <a:prstGeom prst="rect">
            <a:avLst/>
          </a:prstGeom>
          <a:solidFill>
            <a:srgbClr val="EEF2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LEVEL 2: SUPERVISORY CONTROL</a:t>
            </a:r>
          </a:p>
          <a:p>
            <a:r>
              <a:rPr sz="750" b="0" i="1">
                <a:solidFill>
                  <a:srgbClr val="0F172A"/>
                </a:solidFill>
                <a:latin typeface="Inter"/>
              </a:rPr>
              <a:t>Line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4037075"/>
            <a:ext cx="6613855" cy="90297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0" i="0">
                <a:solidFill>
                  <a:srgbClr val="334155"/>
                </a:solidFill>
                <a:latin typeface="Inter"/>
              </a:rPr>
              <a:t>SCADA Systems • Cell Controllers • Batch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9935" y="4037075"/>
            <a:ext cx="1737360" cy="90297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D97706"/>
                </a:solidFill>
                <a:latin typeface="Inter"/>
              </a:rPr>
              <a:t>INTERLOCK: OPC-UA / Modbus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177790"/>
            <a:ext cx="10728655" cy="108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269229"/>
            <a:ext cx="1828800" cy="902970"/>
          </a:xfrm>
          <a:prstGeom prst="rect">
            <a:avLst/>
          </a:prstGeom>
          <a:solidFill>
            <a:srgbClr val="EEF2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LEVEL 1: SENSING &amp; MANIPULATION</a:t>
            </a:r>
          </a:p>
          <a:p>
            <a:r>
              <a:rPr sz="750" b="0" i="1">
                <a:solidFill>
                  <a:srgbClr val="0F172A"/>
                </a:solidFill>
                <a:latin typeface="Inter"/>
              </a:rPr>
              <a:t>Machine 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5269229"/>
            <a:ext cx="6613855" cy="90297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0" i="0">
                <a:solidFill>
                  <a:srgbClr val="334155"/>
                </a:solidFill>
                <a:latin typeface="Inter"/>
              </a:rPr>
              <a:t>PLC Controllers • Robotics Actuators • Torque Drivers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935" y="5269229"/>
            <a:ext cx="1737360" cy="90297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D97706"/>
                </a:solidFill>
                <a:latin typeface="Inter"/>
              </a:rPr>
              <a:t>INTERLOCK: Fieldbus / I/O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61972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4. PROCESS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End-to-End Process Flow: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DECISION INTENT: PROCESS ARCHITECTURE mapped for Client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Client • Title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04 / 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889699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1889699" cy="329184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883664"/>
            <a:ext cx="1633667" cy="430682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Order Release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Confirmed in SAP S/4HANA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Dispatched to plant queue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66939" y="3762755"/>
            <a:ext cx="22860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41259" y="1481328"/>
            <a:ext cx="1889699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41259" y="1481328"/>
            <a:ext cx="1889699" cy="329184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9275" y="1883664"/>
            <a:ext cx="1633667" cy="430682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Kitting &amp; Scan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Serial barcode verified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Validated against BOM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76678" y="3762755"/>
            <a:ext cx="22860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50998" y="1481328"/>
            <a:ext cx="1889699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50998" y="1481328"/>
            <a:ext cx="1889699" cy="329184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9014" y="1883664"/>
            <a:ext cx="1633667" cy="430682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Assembly Run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Torque telemetry tracked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Real-time cycle time log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86417" y="3762755"/>
            <a:ext cx="22860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737" y="1481328"/>
            <a:ext cx="1889699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737" y="1481328"/>
            <a:ext cx="1889699" cy="329184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753" y="1883664"/>
            <a:ext cx="1633667" cy="430682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Quality Gate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Vision system inspection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Automated tolerance check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296156" y="3762755"/>
            <a:ext cx="22860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70476" y="1481328"/>
            <a:ext cx="1889699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70476" y="1481328"/>
            <a:ext cx="1889699" cy="329184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STEP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8492" y="1883664"/>
            <a:ext cx="1633667" cy="430682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Goods Receipt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Auto 101 movement posted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Ledger tie-out in ERP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139696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5. GOVERNANCE &amp;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Multi-Tier Governance &amp; Control Gates: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DECISION INTENT: GOVERNANCE &amp; CONTROLS mapped for Client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Client • Title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05 / 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2476423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2476423" cy="365760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GATE 1: ARCHITECTURE SIGN-OFF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901952"/>
            <a:ext cx="2220391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Chief Enterprise Architect</a:t>
            </a:r>
          </a:p>
          <a:p>
            <a:pPr>
              <a:spcAft>
                <a:spcPts val="800"/>
              </a:spcAft>
            </a:pPr>
            <a:r>
              <a:rPr sz="750" b="0" i="1">
                <a:solidFill>
                  <a:srgbClr val="94A3B8"/>
                </a:solidFill>
                <a:latin typeface="Inter"/>
              </a:rPr>
              <a:t>Timing: Sprint 0</a:t>
            </a:r>
          </a:p>
          <a:p>
            <a:pPr>
              <a:spcAft>
                <a:spcPts val="400"/>
              </a:spcAft>
            </a:pPr>
            <a:r>
              <a:rPr sz="850" b="1" i="0">
                <a:solidFill>
                  <a:srgbClr val="94A3B8"/>
                </a:solidFill>
                <a:latin typeface="Inter"/>
              </a:rPr>
              <a:t>VERIFICATION CRITERIA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Clean-core rules validated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OT firewall verified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Data models approved</a:t>
            </a:r>
          </a:p>
          <a:p>
            <a:pPr>
              <a:spcBef>
                <a:spcPts val="800"/>
              </a:spcBef>
            </a:pPr>
            <a:r>
              <a:rPr sz="819" b="1" i="0">
                <a:solidFill>
                  <a:srgbClr val="10B981"/>
                </a:solidFill>
                <a:latin typeface="Inter"/>
              </a:rPr>
              <a:t>ARTIFACT: Signed Architecture Charter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53663" y="3762755"/>
            <a:ext cx="18288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82263" y="1481328"/>
            <a:ext cx="2476423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82263" y="1481328"/>
            <a:ext cx="2476423" cy="365760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GATE 2: PILOT PLANT 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0279" y="1901952"/>
            <a:ext cx="2220391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Plant Operations Director</a:t>
            </a:r>
          </a:p>
          <a:p>
            <a:pPr>
              <a:spcAft>
                <a:spcPts val="800"/>
              </a:spcAft>
            </a:pPr>
            <a:r>
              <a:rPr sz="750" b="0" i="1">
                <a:solidFill>
                  <a:srgbClr val="94A3B8"/>
                </a:solidFill>
                <a:latin typeface="Inter"/>
              </a:rPr>
              <a:t>Timing: Sprint 4</a:t>
            </a:r>
          </a:p>
          <a:p>
            <a:pPr>
              <a:spcAft>
                <a:spcPts val="400"/>
              </a:spcAft>
            </a:pPr>
            <a:r>
              <a:rPr sz="850" b="1" i="0">
                <a:solidFill>
                  <a:srgbClr val="94A3B8"/>
                </a:solidFill>
                <a:latin typeface="Inter"/>
              </a:rPr>
              <a:t>VERIFICATION CRITERIA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Pilot line latency &lt;200ms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Zero dropped telemetry events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Operator ergonomics passed</a:t>
            </a:r>
          </a:p>
          <a:p>
            <a:pPr>
              <a:spcBef>
                <a:spcPts val="800"/>
              </a:spcBef>
            </a:pPr>
            <a:r>
              <a:rPr sz="819" b="1" i="0">
                <a:solidFill>
                  <a:srgbClr val="10B981"/>
                </a:solidFill>
                <a:latin typeface="Inter"/>
              </a:rPr>
              <a:t>ARTIFACT: Pilot Sign-Off Slip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04407" y="3762755"/>
            <a:ext cx="18288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007" y="1481328"/>
            <a:ext cx="2476423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1481328"/>
            <a:ext cx="2476423" cy="365760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GATE 3: QUALITY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1023" y="1901952"/>
            <a:ext cx="2220391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Global VP of Quality</a:t>
            </a:r>
          </a:p>
          <a:p>
            <a:pPr>
              <a:spcAft>
                <a:spcPts val="800"/>
              </a:spcAft>
            </a:pPr>
            <a:r>
              <a:rPr sz="750" b="0" i="1">
                <a:solidFill>
                  <a:srgbClr val="94A3B8"/>
                </a:solidFill>
                <a:latin typeface="Inter"/>
              </a:rPr>
              <a:t>Timing: Sprint 8</a:t>
            </a:r>
          </a:p>
          <a:p>
            <a:pPr>
              <a:spcAft>
                <a:spcPts val="400"/>
              </a:spcAft>
            </a:pPr>
            <a:r>
              <a:rPr sz="850" b="1" i="0">
                <a:solidFill>
                  <a:srgbClr val="94A3B8"/>
                </a:solidFill>
                <a:latin typeface="Inter"/>
              </a:rPr>
              <a:t>VERIFICATION CRITERIA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21 CFR Part 11 audit trails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Electronic signatures tested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Lot genealogy tied to ERP</a:t>
            </a:r>
          </a:p>
          <a:p>
            <a:pPr>
              <a:spcBef>
                <a:spcPts val="800"/>
              </a:spcBef>
            </a:pPr>
            <a:r>
              <a:rPr sz="819" b="1" i="0">
                <a:solidFill>
                  <a:srgbClr val="10B981"/>
                </a:solidFill>
                <a:latin typeface="Inter"/>
              </a:rPr>
              <a:t>ARTIFACT: Validation Master Report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55151" y="3762755"/>
            <a:ext cx="18288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83751" y="1481328"/>
            <a:ext cx="2476423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83751" y="1481328"/>
            <a:ext cx="2476423" cy="365760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GATE 4: PRODUCTION CUTOVER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1767" y="1901952"/>
            <a:ext cx="2220391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F8FAFC"/>
                </a:solidFill>
                <a:latin typeface="Inter"/>
              </a:rPr>
              <a:t>Executive Steering Comm</a:t>
            </a:r>
          </a:p>
          <a:p>
            <a:pPr>
              <a:spcAft>
                <a:spcPts val="800"/>
              </a:spcAft>
            </a:pPr>
            <a:r>
              <a:rPr sz="750" b="0" i="1">
                <a:solidFill>
                  <a:srgbClr val="94A3B8"/>
                </a:solidFill>
                <a:latin typeface="Inter"/>
              </a:rPr>
              <a:t>Timing: Sprint 12</a:t>
            </a:r>
          </a:p>
          <a:p>
            <a:pPr>
              <a:spcAft>
                <a:spcPts val="400"/>
              </a:spcAft>
            </a:pPr>
            <a:r>
              <a:rPr sz="850" b="1" i="0">
                <a:solidFill>
                  <a:srgbClr val="94A3B8"/>
                </a:solidFill>
                <a:latin typeface="Inter"/>
              </a:rPr>
              <a:t>VERIFICATION CRITERIA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Go-live checklist 100% green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Disaster recovery tested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24/7 hypercare staffed</a:t>
            </a:r>
          </a:p>
          <a:p>
            <a:pPr>
              <a:spcBef>
                <a:spcPts val="800"/>
              </a:spcBef>
            </a:pPr>
            <a:r>
              <a:rPr sz="819" b="1" i="0">
                <a:solidFill>
                  <a:srgbClr val="10B981"/>
                </a:solidFill>
                <a:latin typeface="Inter"/>
              </a:rPr>
              <a:t>ARTIFACT: Production Go-Live Permit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