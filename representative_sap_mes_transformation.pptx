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377190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ENTERPRISE ARCHITECTURE • GENERAL ELECTRIC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SAP S/4HANA &amp; MES Clean-Core Decoupled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Preserving ERP financial ledger integrity via event-driven edge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General Electric • Enterprise Architecture Blueprint • Systems-Thinking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4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ENTERPRISE / ERP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Corporate Cloud (AWS/GCP)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188720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89504" y="1261872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9504" y="1261872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335024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S/4HANA Core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Financial &amp; Order Ledger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Production Orders • BOM / Routing</a:t>
            </a:r>
          </a:p>
        </p:txBody>
      </p:sp>
      <p:sp>
        <p:nvSpPr>
          <p:cNvPr id="14" name="Can 13"/>
          <p:cNvSpPr/>
          <p:nvPr/>
        </p:nvSpPr>
        <p:spPr>
          <a:xfrm>
            <a:off x="4767200" y="1261872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8640" y="1408176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SAP HANA Cloud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HANA Columnar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4896" y="1261872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44896" y="1261872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72912" y="1335024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Enterprise PLM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Engineering Master Data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4206240" y="1986076"/>
            <a:ext cx="292608" cy="27432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1995220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OData v4 &amp; SAP Event Mesh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1995220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[TLS 1.3 Async] PAYLOAD: ProductionOrder_v2, MaterialMaster (MARA)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287828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BTP INTEGRATION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INTEGRATION MIDDLEWARE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Cloud DMZ / Proxy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9776" y="2287828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4" y="2360980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4" y="2360980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2434132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BTP Integration Suite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API Mediation &amp; Policy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7200" y="2360980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67200" y="2360980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95216" y="2434132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Enterprise Event Mesh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Pub/Sub Event Broker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GoodsIssue Event • OrderStatus</a:t>
            </a:r>
          </a:p>
        </p:txBody>
      </p:sp>
      <p:sp>
        <p:nvSpPr>
          <p:cNvPr id="30" name="Hexagon 29"/>
          <p:cNvSpPr/>
          <p:nvPr/>
        </p:nvSpPr>
        <p:spPr>
          <a:xfrm>
            <a:off x="6644896" y="2360980"/>
            <a:ext cx="1713104" cy="623620"/>
          </a:xfrm>
          <a:prstGeom prst="hexagon">
            <a:avLst/>
          </a:prstGeom>
          <a:solidFill>
            <a:srgbClr val="132240"/>
          </a:solidFill>
          <a:ln w="1778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2056" y="2434132"/>
            <a:ext cx="1438784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API / ENDPOINT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API Gateway &amp; Security</a:t>
            </a:r>
          </a:p>
        </p:txBody>
      </p:sp>
      <p:sp>
        <p:nvSpPr>
          <p:cNvPr id="32" name="Up-Down Arrow 31"/>
          <p:cNvSpPr/>
          <p:nvPr/>
        </p:nvSpPr>
        <p:spPr>
          <a:xfrm>
            <a:off x="4206240" y="3085185"/>
            <a:ext cx="292608" cy="274320"/>
          </a:xfrm>
          <a:prstGeom prst="up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3094329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HTTPS / REST &amp; WebSocket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3094329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[Bi-Directional Sync] PAYLOAD: DispatchOrderPayload, OperationStepList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86937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3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MANUFACTURING MOM / MES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Plant Local 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79776" y="3386937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9504" y="3460089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9504" y="3460089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520" y="3533241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Digital Manufacturing (DMC)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Work Order Dispatcher &amp; POD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WIP Tracking • Non-Conformance</a:t>
            </a:r>
          </a:p>
        </p:txBody>
      </p:sp>
      <p:sp>
        <p:nvSpPr>
          <p:cNvPr id="40" name="Can 39"/>
          <p:cNvSpPr/>
          <p:nvPr/>
        </p:nvSpPr>
        <p:spPr>
          <a:xfrm>
            <a:off x="4767200" y="3460089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8640" y="3606393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Plant Operational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PostgreSQL Timescale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44896" y="3460089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44896" y="3460089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2912" y="3533241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Quality &amp; Yield Engine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SPC &amp; Tolerance Limits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4206240" y="4184294"/>
            <a:ext cx="292608" cy="27432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28800" y="4193438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OPC UA (Binary) &amp; MQTT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36008" y="4193438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[Air-Gapped Gateway] PAYLOAD: WorkCenterDispatch, ToolParameters, BatchID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4486046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2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INDUSTRIAL EDGE &amp; CONNECTIVITY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Industrial Edge IPC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9776" y="4486046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9504" y="4559198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9504" y="4559198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0" y="4632350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Edge Runtime Gateway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Local Buffer &amp; Protocol Conv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48h Offline Buffer</a:t>
            </a:r>
          </a:p>
        </p:txBody>
      </p:sp>
      <p:sp>
        <p:nvSpPr>
          <p:cNvPr id="53" name="Hexagon 52"/>
          <p:cNvSpPr/>
          <p:nvPr/>
        </p:nvSpPr>
        <p:spPr>
          <a:xfrm>
            <a:off x="4767200" y="4559198"/>
            <a:ext cx="1713104" cy="623620"/>
          </a:xfrm>
          <a:prstGeom prst="hexagon">
            <a:avLst/>
          </a:prstGeom>
          <a:solidFill>
            <a:srgbClr val="132240"/>
          </a:solidFill>
          <a:ln w="1778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04360" y="4632350"/>
            <a:ext cx="1438784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API / ENDPOINT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Kepware / OPC UA Server</a:t>
            </a:r>
          </a:p>
        </p:txBody>
      </p:sp>
      <p:sp>
        <p:nvSpPr>
          <p:cNvPr id="55" name="Can 54"/>
          <p:cNvSpPr/>
          <p:nvPr/>
        </p:nvSpPr>
        <p:spPr>
          <a:xfrm>
            <a:off x="6644896" y="4559198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36336" y="4705502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Edge Cache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SQLite / Edge Disk</a:t>
            </a:r>
          </a:p>
        </p:txBody>
      </p:sp>
      <p:sp>
        <p:nvSpPr>
          <p:cNvPr id="57" name="Up-Down Arrow 56"/>
          <p:cNvSpPr/>
          <p:nvPr/>
        </p:nvSpPr>
        <p:spPr>
          <a:xfrm>
            <a:off x="4206240" y="5283403"/>
            <a:ext cx="292608" cy="274320"/>
          </a:xfrm>
          <a:prstGeom prst="up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28800" y="5292547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PROFINET &amp; Fieldbus I/O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36008" y="5292547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[Sub-100ms Deterministic] PAYLOAD: MachineSpeed, SpindleTemp, CycleCount, InterlockSignal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5585155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1 / 0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SHOP FLOOR EXECUTION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Isolated OT Machine Subnet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79776" y="5585155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89504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80944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Siemens S7-1500 PLC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Cell Automation &amp; Interlocks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97776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216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DMG 5-Axis CNC Spindle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Precision Machining Center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706048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97488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Cognex Vision Camera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Automated Optical Inspection</a:t>
            </a:r>
          </a:p>
        </p:txBody>
      </p:sp>
      <p:sp>
        <p:nvSpPr>
          <p:cNvPr id="68" name="Oval 67"/>
          <p:cNvSpPr/>
          <p:nvPr/>
        </p:nvSpPr>
        <p:spPr>
          <a:xfrm>
            <a:off x="7114320" y="5658307"/>
            <a:ext cx="1243680" cy="623620"/>
          </a:xfrm>
          <a:prstGeom prst="ellipse">
            <a:avLst/>
          </a:prstGeom>
          <a:solidFill>
            <a:srgbClr val="16284B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87472" y="5749747"/>
            <a:ext cx="1097376" cy="440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OPERATOR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Line Assembly Operator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42048" y="1188720"/>
            <a:ext cx="2718127" cy="5166360"/>
          </a:xfrm>
          <a:prstGeom prst="rect">
            <a:avLst/>
          </a:prstGeom>
          <a:solidFill>
            <a:srgbClr val="13224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742048" y="1188720"/>
            <a:ext cx="2718127" cy="347472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ARCHITECTURAL GUARANTEES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70064" y="162763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SINGLE FINANCIAL LEDGER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S/4HANA ACDOCA remains the sole financial source of truth. MES never replicates general ledger postings.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70064" y="278206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AIR-GAPPED PLANT RESILIENCE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Edge gateways buffer 48 hours of telemetry and execution confirmations during WAN network disconnects.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70064" y="393649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CLEAN-CORE DECOUPLING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Zero custom ABAP modifications in S/4HANA core. All MES orchestrations leverage standard OData v4 and Event Mesh.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70064" y="509092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DETERMINISTIC MACHINE INTERLOCK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Sub-100ms machine safety and cycle interlocks run exclusively at Level 1/2 PLC layer, immune to cloud latency.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61972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2. OPERATIONAL SWIMLANE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Cross-Functional SAP, MES &amp; Shop Floor Handoff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End-to-end transactional handoffs with Poka-Yoke error-proofing interlocks.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General Electric • Operational Swimlane Advisory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02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474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CROSS-FUNCTIONAL OPERATIONAL SWIMLANE: ORDER-TO-CONFIRMATION OPERATIONAL SWIMLANE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874519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874519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CUSTOMER DEMAND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External Partner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2757830"/>
            <a:ext cx="8588959" cy="81015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2757830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SAP S/4HANA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System of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61488" y="3641140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641140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MES MOM CORE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Execution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4524451"/>
            <a:ext cx="8588959" cy="81015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" y="4524451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SHOP FLOOR / OT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Edge Physical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5407761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5407761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QUALITY ASSURANCE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Compliance Interlock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202356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[1] EDI 850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Demand Forecast / EDI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Sales Demand Signal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86453" y="290687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[2] S/4HANA PP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Sales &amp; Production Order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MRP Planning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74259" y="379018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[3] MES MOM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Dispatch &amp; Work Queue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Operation Scheduling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62064" y="4673498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[4] PLC / OPC UA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CNC Machining &amp; Setup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Physical Execution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9870" y="4673498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[5] 261 Movement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Material Consumption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Batch Component Binding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37676" y="5556808"/>
            <a:ext cx="1004925" cy="512064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D97706"/>
                </a:solidFill>
                <a:latin typeface="Inter"/>
              </a:defRPr>
            </a:pPr>
            <a:r>
              <a:rPr/>
              <a:t>◆ GATE [6]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Optical Inspection Gate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SPC Tolerance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25481" y="290687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[7] ACDOCA Post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Confirmation &amp; Ledger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CO11N &amp; 101 Goods Receipt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337102" y="2553919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83406" y="2620670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Sales Order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524908" y="3437229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671212" y="3503980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Production Order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12714" y="4320540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859018" y="4387291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Dispatch Job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485278" y="4865522"/>
            <a:ext cx="146303" cy="12801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88325" y="5203850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34629" y="5270601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Inspection Trigger</a:t>
            </a:r>
          </a:p>
        </p:txBody>
      </p:sp>
      <p:sp>
        <p:nvSpPr>
          <p:cNvPr id="36" name="Up Arrow 35"/>
          <p:cNvSpPr/>
          <p:nvPr/>
        </p:nvSpPr>
        <p:spPr>
          <a:xfrm>
            <a:off x="9276130" y="3437229"/>
            <a:ext cx="128016" cy="2101291"/>
          </a:xfrm>
          <a:prstGeom prst="up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440722" y="4405579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Clearance GR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3. PROCESS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Production Execution, Quality Clearance &amp; Rework Loopback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Sequential order dispatch with automated Poka-Yoke decision gate and rework loopback.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General Electric • Production Execution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03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6576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PROCESS ARCHITECTURE: PRODUCTION EXECUTION &amp; QUALITY CLEARANCE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1: CUSTOMER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Demand &amp; Sales Order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[SAP SD]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282473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56209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6209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2: SAP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9361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Production Order &amp; MRP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[PP Order 100482]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78562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52298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52298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3: MES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5450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MES Dispatch &amp; Setup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Dispatch]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74651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838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4838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4: SHOP FLOOR 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153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Machine Execution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[CNC Work Center]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7074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6944476" y="1984248"/>
            <a:ext cx="1489159" cy="1188720"/>
          </a:xfrm>
          <a:prstGeom prst="diamond">
            <a:avLst/>
          </a:prstGeom>
          <a:solidFill>
            <a:srgbClr val="EEF2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GATE</a:t>
            </a:r>
          </a:p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F172A"/>
                </a:solidFill>
                <a:latin typeface="Inter"/>
              </a:rPr>
              <a:t>QUALITY GATE
&amp; SPC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70211" y="2468879"/>
            <a:ext cx="54864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6787" y="2304288"/>
            <a:ext cx="475488" cy="20116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PASS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542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5542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6: SAP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857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Confirmation &amp; Ledger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[CO11N / 101 GR]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37778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551516" y="1984248"/>
            <a:ext cx="1294921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551516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7: 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24668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Finished Goods Dispatch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[Outbound Delivery]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579327" y="3218687"/>
            <a:ext cx="219456" cy="1673351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35359" y="3310127"/>
            <a:ext cx="100584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REWORK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78716" y="4937759"/>
            <a:ext cx="1569241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78716" y="4937759"/>
            <a:ext cx="156924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EXCEPTION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51868" y="5230368"/>
            <a:ext cx="142293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Rework Operation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[MES Non-Conformance]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Quarantine &amp; Root Cause Correction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Defect Logged in S/4HANA QM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6557" y="4937759"/>
            <a:ext cx="1614961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76557" y="4937759"/>
            <a:ext cx="161496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CLEARANCE 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49709" y="5230368"/>
            <a:ext cx="146865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Re-Inspection &amp; Verification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Traveler]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Tolerance Validation &amp; Clearance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Serial Unlocked Only on Clearance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184533" y="5422392"/>
            <a:ext cx="155448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0064670" y="4434840"/>
            <a:ext cx="219456" cy="502920"/>
          </a:xfrm>
          <a:prstGeom prst="up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320702" y="4507992"/>
            <a:ext cx="1234440" cy="38404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19" b="1" i="0">
                <a:solidFill>
                  <a:srgbClr val="D97706"/>
                </a:solidFill>
                <a:latin typeface="Inter"/>
              </a:rPr>
              <a:t>↺ RE-ENTRY LOOP
Cleared for Confirmation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372868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4. TRANSFORMATION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Current State to Future Operating Model Transformation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Bridging legacy operational friction through S/4HANA clean-core and MES execution enablers.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General Electric • Transformation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04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474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ENTERPRISE TRANSFORMATION BLUEPRINT: SAP TO MES DIGITAL TRANSFORMATION BLUEPRINT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1920240"/>
            <a:ext cx="3218596" cy="379475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1920240"/>
            <a:ext cx="3218596" cy="3108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DC2626"/>
                </a:solidFill>
                <a:latin typeface="Inter"/>
              </a:rPr>
              <a:t>CURRENT STATE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67712"/>
            <a:ext cx="2999140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Operational Constraints &amp; Friction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Fragmented master data &amp; BOM mismatches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Manual paper travelers &amp; dispatch clipboards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Disconnected quality logs in Excel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Delayed inventory confirmation (2-3 day lag)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389120"/>
            <a:ext cx="3035716" cy="12344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443983"/>
            <a:ext cx="292598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BASELINE FRICTION METRICS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WIP Latency: 4.8 Days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Scrap Rate: 4.2%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OTIF Delivery: 81.4%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420" y="3680459"/>
            <a:ext cx="248707" cy="2743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1704" y="1920240"/>
            <a:ext cx="3647742" cy="3794759"/>
          </a:xfrm>
          <a:prstGeom prst="roundRect">
            <a:avLst/>
          </a:prstGeom>
          <a:solidFill>
            <a:srgbClr val="EEF2FF"/>
          </a:solidFill>
          <a:ln w="1778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1704" y="1920240"/>
            <a:ext cx="3647742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TRANSFORMATION ENABLERS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1432" y="2267712"/>
            <a:ext cx="3428286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Strategic Initiatives &amp; Technology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SAP S/4HANA Clean-Core Integration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MES Digital Dispatch &amp; Real-Time Tracking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Automated Closed-Loop Quality Interlocks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Unified Industrial Data Fabric &amp; BTP Mesh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3144" y="4389120"/>
            <a:ext cx="346486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8008" y="4443983"/>
            <a:ext cx="3355134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CORE ARCHITECTURAL ENABLERS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Air-gapped edge buffering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Deterministic PLC connectors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Zero custom Z-tables in ERP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66022" y="3680459"/>
            <a:ext cx="248707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51306" y="1920240"/>
            <a:ext cx="3218596" cy="379475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51306" y="1920240"/>
            <a:ext cx="3218596" cy="3108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FUTURE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1034" y="2267712"/>
            <a:ext cx="2999140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Transformed Capabilities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Synchronized MRP-to-machine dispatch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Full serial &amp; batch genealogy trace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Predictive quality interlocks at station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Sub-second financial ledger postings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42746" y="4389120"/>
            <a:ext cx="3035716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7610" y="4443983"/>
            <a:ext cx="292598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AUDITED VALUE OUTCOMES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WIP Latency: 1.2 Days (-75%)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Scrap Rate: 0.8% (-81%)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OTIF Delivery: 97.5% (+16 pts)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5788152"/>
            <a:ext cx="10509199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HORIZON: 12–18 MONTH EXECUTION HORIZON</a:t>
            </a:r>
          </a:p>
          <a:p>
            <a:r>
              <a:rPr sz="819" b="1" i="0">
                <a:solidFill>
                  <a:srgbClr val="0F172A"/>
                </a:solidFill>
                <a:latin typeface="Inter"/>
              </a:rPr>
              <a:t>Phase 1: S/4HANA Core &amp; Clean Master Data  ➔  Phase 2: MES MOM Dispatch &amp; Traceability  ➔  Phase 3: Closed-Loop Analytics &amp; Autonomous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5. MATURITY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Digital Transformation Maturity Staircase &amp; Gap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5-Level capability staircase and prioritized dimension gap scorecard.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General Electric • Maturity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05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554480"/>
            <a:ext cx="670529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DIGITAL TRANSFORMATION MATURITY ASSESSMENT: MANUFACTURING DIGITAL TRANSFORMATION MATURITY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31375" y="1554480"/>
            <a:ext cx="1645920" cy="32918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TARGET: 4.2 / 5.0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1335" y="1627632"/>
            <a:ext cx="228600" cy="18288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28255" y="1554480"/>
            <a:ext cx="1691640" cy="32918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CURRENT: 2.4 / 5.0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066544"/>
            <a:ext cx="4720608" cy="412394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2139696"/>
            <a:ext cx="4501152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5-LEVEL DIGITAL MATURITY STAIRCASE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" y="5347411"/>
            <a:ext cx="1964413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1. Fragmented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" y="4641494"/>
            <a:ext cx="2589454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D97706"/>
                </a:solidFill>
                <a:latin typeface="Inter"/>
              </a:rPr>
              <a:t>2. Standardized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 [CURRENT POSITION]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935577"/>
            <a:ext cx="3214494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3. Integrated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3229660"/>
            <a:ext cx="3839535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10B981"/>
                </a:solidFill>
                <a:latin typeface="Inter"/>
              </a:rPr>
              <a:t>4. Intelligent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 [TARGET HORIZON]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2523744"/>
            <a:ext cx="4464576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5. Autonomous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16720" y="2066544"/>
            <a:ext cx="5686187" cy="41239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16720" y="2066544"/>
            <a:ext cx="5686187" cy="329184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GAP AUDIT &amp; PRIORITY INTERVENTIONS (SCORE -&gt; GAP -&gt; ACTION)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8160" y="2505456"/>
            <a:ext cx="5503307" cy="6565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6448" y="2523744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4464" y="2523744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Process &amp; Execution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2.1 / 5.0   ➔   Target: 4.3 / 5.0 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Paper travel cards &amp; manual dispatch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Deploy MES automated dispatch &amp; digital traveler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8160" y="3235147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26448" y="3253435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4464" y="3253435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Data &amp; Genealogy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2.3 / 5.0   ➔   Target: 4.5 / 5.0 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Missing component-to-serial batch linkage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Automated barcode &amp; OPC-UA genealogy binding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8160" y="3964838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26448" y="3983126"/>
            <a:ext cx="73152" cy="619963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4464" y="3983126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SAP Clean Core 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2.6 / 5.0   ➔   Target: 4.2 / 5.0  (Gap: +1.6)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▸ Gap: Excess custom Z-tables blocking cloud upgrade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Migrate custom code to BTP event mesh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8160" y="4694529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26448" y="4712817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4464" y="4712817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Quality &amp; Rework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2.2 / 5.0   ➔   Target: 4.0 / 5.0  (Gap: +1.8)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Delayed defect logging &amp; missing CAPA loops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Closed-loop digital inspection interlocks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8160" y="5424220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26448" y="5442508"/>
            <a:ext cx="73152" cy="619963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4464" y="5442508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Governance &amp; RACI 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2.8 / 5.0   ➔   Target: 4.0 / 5.0  (Gap: +1.2)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▸ Gap: Ambiguous IT/OT boundary ownership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Formalize unified IT/OT operating charter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