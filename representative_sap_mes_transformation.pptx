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77190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1. ENTERPRISE ARCHITECTURE • GENERAL ELECTRIC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SAP S/4HANA &amp; MES Clean-Core Decoupled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Preserving ERP financial ledger integrity via event-driven edge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General Electric • Enterprise Architecture Blueprint • Systems-Thinking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01 /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188720"/>
            <a:ext cx="1920240" cy="769924"/>
          </a:xfrm>
          <a:prstGeom prst="rect">
            <a:avLst/>
          </a:prstGeom>
          <a:solidFill>
            <a:srgbClr val="1C3159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ISA-95 LEVEL 4</a:t>
            </a:r>
          </a:p>
          <a:p>
            <a:pPr>
              <a:spcAft>
                <a:spcPts val="200"/>
              </a:spcAft>
            </a:pPr>
            <a:r>
              <a:rPr sz="850" b="1" i="0">
                <a:solidFill>
                  <a:srgbClr val="F8FAFC"/>
                </a:solidFill>
                <a:latin typeface="Inter"/>
              </a:rPr>
              <a:t>ENTERPRISE / ERP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ZONE: Corporate Cloud (AWS/GCP)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9776" y="1188720"/>
            <a:ext cx="5687952" cy="769924"/>
          </a:xfrm>
          <a:prstGeom prst="rect">
            <a:avLst/>
          </a:prstGeom>
          <a:solidFill>
            <a:srgbClr val="0E1B33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9504" y="1261872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9504" y="1261872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335024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SAP S/4HANA Core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Financial &amp; Order Ledger</a:t>
            </a:r>
          </a:p>
          <a:p>
            <a:pPr>
              <a:spcBef>
                <a:spcPts val="200"/>
              </a:spcBef>
            </a:pPr>
            <a:r>
              <a:rPr sz="819" b="1" i="0">
                <a:solidFill>
                  <a:srgbClr val="00B4D8"/>
                </a:solidFill>
                <a:latin typeface="Inter"/>
              </a:rPr>
              <a:t>Production Orders • BOM / Routing</a:t>
            </a:r>
          </a:p>
        </p:txBody>
      </p:sp>
      <p:sp>
        <p:nvSpPr>
          <p:cNvPr id="14" name="Can 13"/>
          <p:cNvSpPr/>
          <p:nvPr/>
        </p:nvSpPr>
        <p:spPr>
          <a:xfrm>
            <a:off x="4767200" y="1261872"/>
            <a:ext cx="1713104" cy="623620"/>
          </a:xfrm>
          <a:prstGeom prst="can">
            <a:avLst/>
          </a:prstGeom>
          <a:solidFill>
            <a:srgbClr val="16284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58640" y="1408176"/>
            <a:ext cx="1530224" cy="4224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DATA STORE</a:t>
            </a:r>
          </a:p>
          <a:p>
            <a:pPr algn="ctr"/>
            <a:r>
              <a:rPr sz="1050" b="1" i="0">
                <a:solidFill>
                  <a:srgbClr val="F8FAFC"/>
                </a:solidFill>
                <a:latin typeface="Inter"/>
              </a:rPr>
              <a:t>SAP HANA Cloud DB</a:t>
            </a:r>
          </a:p>
          <a:p>
            <a:pPr algn="ctr"/>
            <a:r>
              <a:rPr sz="750" b="0" i="1">
                <a:solidFill>
                  <a:srgbClr val="94A3B8"/>
                </a:solidFill>
                <a:latin typeface="Inter"/>
              </a:rPr>
              <a:t>HANA Columnar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44896" y="1261872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44896" y="1261872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72912" y="1335024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Enterprise PLM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Engineering Master Data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4206240" y="1986076"/>
            <a:ext cx="292608" cy="27432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1995220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19" b="1" i="0">
                <a:solidFill>
                  <a:srgbClr val="00B4D8"/>
                </a:solidFill>
                <a:latin typeface="Inter"/>
              </a:rPr>
              <a:t>INTERFACE: OData v4 &amp; SAP Event Mesh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1995220"/>
            <a:ext cx="30544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F8FAFC"/>
                </a:solidFill>
                <a:latin typeface="Inter"/>
              </a:rPr>
              <a:t>[TLS 1.3 Async] PAYLOAD: ProductionOrder_v2, MaterialMaster (MARA)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287828"/>
            <a:ext cx="1920240" cy="769924"/>
          </a:xfrm>
          <a:prstGeom prst="rect">
            <a:avLst/>
          </a:prstGeom>
          <a:solidFill>
            <a:srgbClr val="1C3159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BTP INTEGRATION</a:t>
            </a:r>
          </a:p>
          <a:p>
            <a:pPr>
              <a:spcAft>
                <a:spcPts val="200"/>
              </a:spcAft>
            </a:pPr>
            <a:r>
              <a:rPr sz="850" b="1" i="0">
                <a:solidFill>
                  <a:srgbClr val="F8FAFC"/>
                </a:solidFill>
                <a:latin typeface="Inter"/>
              </a:rPr>
              <a:t>INTEGRATION MIDDLEWARE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ZONE: Cloud DMZ / Proxy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9776" y="2287828"/>
            <a:ext cx="5687952" cy="769924"/>
          </a:xfrm>
          <a:prstGeom prst="rect">
            <a:avLst/>
          </a:prstGeom>
          <a:solidFill>
            <a:srgbClr val="0E1B33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9504" y="2360980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89504" y="2360980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2434132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SAP BTP Integration Suite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API Mediation &amp; Policy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67200" y="2360980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67200" y="2360980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5216" y="2434132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Enterprise Event Mesh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Pub/Sub Event Broker</a:t>
            </a:r>
          </a:p>
          <a:p>
            <a:pPr>
              <a:spcBef>
                <a:spcPts val="200"/>
              </a:spcBef>
            </a:pPr>
            <a:r>
              <a:rPr sz="819" b="1" i="0">
                <a:solidFill>
                  <a:srgbClr val="00B4D8"/>
                </a:solidFill>
                <a:latin typeface="Inter"/>
              </a:rPr>
              <a:t>GoodsIssue Event • OrderStatus</a:t>
            </a:r>
          </a:p>
        </p:txBody>
      </p:sp>
      <p:sp>
        <p:nvSpPr>
          <p:cNvPr id="30" name="Hexagon 29"/>
          <p:cNvSpPr/>
          <p:nvPr/>
        </p:nvSpPr>
        <p:spPr>
          <a:xfrm>
            <a:off x="6644896" y="2360980"/>
            <a:ext cx="1713104" cy="623620"/>
          </a:xfrm>
          <a:prstGeom prst="hexagon">
            <a:avLst/>
          </a:prstGeom>
          <a:solidFill>
            <a:srgbClr val="132240"/>
          </a:solidFill>
          <a:ln w="1778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2056" y="2434132"/>
            <a:ext cx="1438784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API / ENDPOINT</a:t>
            </a:r>
          </a:p>
          <a:p>
            <a:pPr algn="ctr"/>
            <a:r>
              <a:rPr sz="1050" b="1" i="0">
                <a:solidFill>
                  <a:srgbClr val="F8FAFC"/>
                </a:solidFill>
                <a:latin typeface="Inter"/>
              </a:rPr>
              <a:t>API Gateway &amp; Security</a:t>
            </a:r>
          </a:p>
        </p:txBody>
      </p:sp>
      <p:sp>
        <p:nvSpPr>
          <p:cNvPr id="32" name="Up-Down Arrow 31"/>
          <p:cNvSpPr/>
          <p:nvPr/>
        </p:nvSpPr>
        <p:spPr>
          <a:xfrm>
            <a:off x="4206240" y="3085185"/>
            <a:ext cx="292608" cy="274320"/>
          </a:xfrm>
          <a:prstGeom prst="up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3094329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19" b="1" i="0">
                <a:solidFill>
                  <a:srgbClr val="00B4D8"/>
                </a:solidFill>
                <a:latin typeface="Inter"/>
              </a:rPr>
              <a:t>INTERFACE: HTTPS / REST &amp; WebSocket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6008" y="3094329"/>
            <a:ext cx="30544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F8FAFC"/>
                </a:solidFill>
                <a:latin typeface="Inter"/>
              </a:rPr>
              <a:t>[Bi-Directional Sync] PAYLOAD: DispatchOrderPayload, OperationStepList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386937"/>
            <a:ext cx="1920240" cy="769924"/>
          </a:xfrm>
          <a:prstGeom prst="rect">
            <a:avLst/>
          </a:prstGeom>
          <a:solidFill>
            <a:srgbClr val="1C3159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ISA-95 LEVEL 3</a:t>
            </a:r>
          </a:p>
          <a:p>
            <a:pPr>
              <a:spcAft>
                <a:spcPts val="200"/>
              </a:spcAft>
            </a:pPr>
            <a:r>
              <a:rPr sz="850" b="1" i="0">
                <a:solidFill>
                  <a:srgbClr val="F8FAFC"/>
                </a:solidFill>
                <a:latin typeface="Inter"/>
              </a:rPr>
              <a:t>MANUFACTURING MOM / MES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ZONE: Plant Local LAN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79776" y="3386937"/>
            <a:ext cx="5687952" cy="769924"/>
          </a:xfrm>
          <a:prstGeom prst="rect">
            <a:avLst/>
          </a:prstGeom>
          <a:solidFill>
            <a:srgbClr val="0E1B33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9504" y="3460089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9504" y="3460089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0" y="3533241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SAP Digital Manufacturing (DMC)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Work Order Dispatcher &amp; POD</a:t>
            </a:r>
          </a:p>
          <a:p>
            <a:pPr>
              <a:spcBef>
                <a:spcPts val="200"/>
              </a:spcBef>
            </a:pPr>
            <a:r>
              <a:rPr sz="819" b="1" i="0">
                <a:solidFill>
                  <a:srgbClr val="00B4D8"/>
                </a:solidFill>
                <a:latin typeface="Inter"/>
              </a:rPr>
              <a:t>WIP Tracking • Non-Conformance</a:t>
            </a:r>
          </a:p>
        </p:txBody>
      </p:sp>
      <p:sp>
        <p:nvSpPr>
          <p:cNvPr id="40" name="Can 39"/>
          <p:cNvSpPr/>
          <p:nvPr/>
        </p:nvSpPr>
        <p:spPr>
          <a:xfrm>
            <a:off x="4767200" y="3460089"/>
            <a:ext cx="1713104" cy="623620"/>
          </a:xfrm>
          <a:prstGeom prst="can">
            <a:avLst/>
          </a:prstGeom>
          <a:solidFill>
            <a:srgbClr val="16284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58640" y="3606393"/>
            <a:ext cx="1530224" cy="4224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DATA STORE</a:t>
            </a:r>
          </a:p>
          <a:p>
            <a:pPr algn="ctr"/>
            <a:r>
              <a:rPr sz="1050" b="1" i="0">
                <a:solidFill>
                  <a:srgbClr val="F8FAFC"/>
                </a:solidFill>
                <a:latin typeface="Inter"/>
              </a:rPr>
              <a:t>Plant Operational DB</a:t>
            </a:r>
          </a:p>
          <a:p>
            <a:pPr algn="ctr"/>
            <a:r>
              <a:rPr sz="750" b="0" i="1">
                <a:solidFill>
                  <a:srgbClr val="94A3B8"/>
                </a:solidFill>
                <a:latin typeface="Inter"/>
              </a:rPr>
              <a:t>PostgreSQL Timescale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44896" y="3460089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644896" y="3460089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72912" y="3533241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Quality &amp; Yield Engine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SPC &amp; Tolerance Limits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4206240" y="4184294"/>
            <a:ext cx="292608" cy="27432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0" y="4193438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19" b="1" i="0">
                <a:solidFill>
                  <a:srgbClr val="00B4D8"/>
                </a:solidFill>
                <a:latin typeface="Inter"/>
              </a:rPr>
              <a:t>INTERFACE: OPC UA (Binary) &amp; MQTT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36008" y="4193438"/>
            <a:ext cx="30544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F8FAFC"/>
                </a:solidFill>
                <a:latin typeface="Inter"/>
              </a:rPr>
              <a:t>[Air-Gapped Gateway] PAYLOAD: WorkCenterDispatch, ToolParameters, BatchID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4486046"/>
            <a:ext cx="1920240" cy="769924"/>
          </a:xfrm>
          <a:prstGeom prst="rect">
            <a:avLst/>
          </a:prstGeom>
          <a:solidFill>
            <a:srgbClr val="1C3159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ISA-95 LEVEL 2</a:t>
            </a:r>
          </a:p>
          <a:p>
            <a:pPr>
              <a:spcAft>
                <a:spcPts val="200"/>
              </a:spcAft>
            </a:pPr>
            <a:r>
              <a:rPr sz="850" b="1" i="0">
                <a:solidFill>
                  <a:srgbClr val="F8FAFC"/>
                </a:solidFill>
                <a:latin typeface="Inter"/>
              </a:rPr>
              <a:t>INDUSTRIAL EDGE &amp; CONNECTIVITY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ZONE: Industrial Edge IPC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79776" y="4486046"/>
            <a:ext cx="5687952" cy="769924"/>
          </a:xfrm>
          <a:prstGeom prst="rect">
            <a:avLst/>
          </a:prstGeom>
          <a:solidFill>
            <a:srgbClr val="0E1B33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889504" y="4559198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889504" y="4559198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17520" y="4632350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Edge Runtime Gateway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Local Buffer &amp; Protocol Conv</a:t>
            </a:r>
          </a:p>
          <a:p>
            <a:pPr>
              <a:spcBef>
                <a:spcPts val="200"/>
              </a:spcBef>
            </a:pPr>
            <a:r>
              <a:rPr sz="819" b="1" i="0">
                <a:solidFill>
                  <a:srgbClr val="00B4D8"/>
                </a:solidFill>
                <a:latin typeface="Inter"/>
              </a:rPr>
              <a:t>48h Offline Buffer</a:t>
            </a:r>
          </a:p>
        </p:txBody>
      </p:sp>
      <p:sp>
        <p:nvSpPr>
          <p:cNvPr id="53" name="Hexagon 52"/>
          <p:cNvSpPr/>
          <p:nvPr/>
        </p:nvSpPr>
        <p:spPr>
          <a:xfrm>
            <a:off x="4767200" y="4559198"/>
            <a:ext cx="1713104" cy="623620"/>
          </a:xfrm>
          <a:prstGeom prst="hexagon">
            <a:avLst/>
          </a:prstGeom>
          <a:solidFill>
            <a:srgbClr val="132240"/>
          </a:solidFill>
          <a:ln w="1778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04360" y="4632350"/>
            <a:ext cx="1438784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API / ENDPOINT</a:t>
            </a:r>
          </a:p>
          <a:p>
            <a:pPr algn="ctr"/>
            <a:r>
              <a:rPr sz="1050" b="1" i="0">
                <a:solidFill>
                  <a:srgbClr val="F8FAFC"/>
                </a:solidFill>
                <a:latin typeface="Inter"/>
              </a:rPr>
              <a:t>Kepware / OPC UA Server</a:t>
            </a:r>
          </a:p>
        </p:txBody>
      </p:sp>
      <p:sp>
        <p:nvSpPr>
          <p:cNvPr id="55" name="Can 54"/>
          <p:cNvSpPr/>
          <p:nvPr/>
        </p:nvSpPr>
        <p:spPr>
          <a:xfrm>
            <a:off x="6644896" y="4559198"/>
            <a:ext cx="1713104" cy="623620"/>
          </a:xfrm>
          <a:prstGeom prst="can">
            <a:avLst/>
          </a:prstGeom>
          <a:solidFill>
            <a:srgbClr val="16284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36336" y="4705502"/>
            <a:ext cx="1530224" cy="4224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DATA STORE</a:t>
            </a:r>
          </a:p>
          <a:p>
            <a:pPr algn="ctr"/>
            <a:r>
              <a:rPr sz="1050" b="1" i="0">
                <a:solidFill>
                  <a:srgbClr val="F8FAFC"/>
                </a:solidFill>
                <a:latin typeface="Inter"/>
              </a:rPr>
              <a:t>Edge Cache DB</a:t>
            </a:r>
          </a:p>
          <a:p>
            <a:pPr algn="ctr"/>
            <a:r>
              <a:rPr sz="750" b="0" i="1">
                <a:solidFill>
                  <a:srgbClr val="94A3B8"/>
                </a:solidFill>
                <a:latin typeface="Inter"/>
              </a:rPr>
              <a:t>SQLite / Edge Disk</a:t>
            </a:r>
          </a:p>
        </p:txBody>
      </p:sp>
      <p:sp>
        <p:nvSpPr>
          <p:cNvPr id="57" name="Up-Down Arrow 56"/>
          <p:cNvSpPr/>
          <p:nvPr/>
        </p:nvSpPr>
        <p:spPr>
          <a:xfrm>
            <a:off x="4206240" y="5283403"/>
            <a:ext cx="292608" cy="274320"/>
          </a:xfrm>
          <a:prstGeom prst="up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28800" y="5292547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19" b="1" i="0">
                <a:solidFill>
                  <a:srgbClr val="00B4D8"/>
                </a:solidFill>
                <a:latin typeface="Inter"/>
              </a:rPr>
              <a:t>INTERFACE: PROFINET &amp; Fieldbus I/O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36008" y="5292547"/>
            <a:ext cx="30544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F8FAFC"/>
                </a:solidFill>
                <a:latin typeface="Inter"/>
              </a:rPr>
              <a:t>[Sub-100ms Deterministic] PAYLOAD: MachineSpeed, SpindleTemp, CycleCount, InterlockSignal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5585155"/>
            <a:ext cx="1920240" cy="769924"/>
          </a:xfrm>
          <a:prstGeom prst="rect">
            <a:avLst/>
          </a:prstGeom>
          <a:solidFill>
            <a:srgbClr val="1C3159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ISA-95 LEVEL 1 / 0</a:t>
            </a:r>
          </a:p>
          <a:p>
            <a:pPr>
              <a:spcAft>
                <a:spcPts val="200"/>
              </a:spcAft>
            </a:pPr>
            <a:r>
              <a:rPr sz="850" b="1" i="0">
                <a:solidFill>
                  <a:srgbClr val="F8FAFC"/>
                </a:solidFill>
                <a:latin typeface="Inter"/>
              </a:rPr>
              <a:t>SHOP FLOOR EXECUTION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ZONE: Isolated OT Machine Subnet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79776" y="5585155"/>
            <a:ext cx="5687952" cy="769924"/>
          </a:xfrm>
          <a:prstGeom prst="rect">
            <a:avLst/>
          </a:prstGeom>
          <a:solidFill>
            <a:srgbClr val="0E1B33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2889504" y="5658307"/>
            <a:ext cx="1243680" cy="623620"/>
          </a:xfrm>
          <a:prstGeom prst="roundRect">
            <a:avLst/>
          </a:prstGeom>
          <a:solidFill>
            <a:srgbClr val="1C3159"/>
          </a:solidFill>
          <a:ln w="1524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80944" y="5731459"/>
            <a:ext cx="1060800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DEVICE / OT</a:t>
            </a:r>
          </a:p>
          <a:p>
            <a:r>
              <a:rPr sz="1050" b="1" i="0">
                <a:solidFill>
                  <a:srgbClr val="F8FAFC"/>
                </a:solidFill>
                <a:latin typeface="Inter"/>
              </a:rPr>
              <a:t>Siemens S7-1500 PLC</a:t>
            </a:r>
          </a:p>
          <a:p>
            <a:r>
              <a:rPr sz="750" b="0" i="1">
                <a:solidFill>
                  <a:srgbClr val="CBD5E1"/>
                </a:solidFill>
                <a:latin typeface="Inter"/>
              </a:rPr>
              <a:t>Cell Automation &amp; Interlocks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97776" y="5658307"/>
            <a:ext cx="1243680" cy="623620"/>
          </a:xfrm>
          <a:prstGeom prst="roundRect">
            <a:avLst/>
          </a:prstGeom>
          <a:solidFill>
            <a:srgbClr val="1C3159"/>
          </a:solidFill>
          <a:ln w="1524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89216" y="5731459"/>
            <a:ext cx="1060800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DEVICE / OT</a:t>
            </a:r>
          </a:p>
          <a:p>
            <a:r>
              <a:rPr sz="1050" b="1" i="0">
                <a:solidFill>
                  <a:srgbClr val="F8FAFC"/>
                </a:solidFill>
                <a:latin typeface="Inter"/>
              </a:rPr>
              <a:t>DMG 5-Axis CNC Spindle</a:t>
            </a:r>
          </a:p>
          <a:p>
            <a:r>
              <a:rPr sz="750" b="0" i="1">
                <a:solidFill>
                  <a:srgbClr val="CBD5E1"/>
                </a:solidFill>
                <a:latin typeface="Inter"/>
              </a:rPr>
              <a:t>Precision Machining Center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706048" y="5658307"/>
            <a:ext cx="1243680" cy="623620"/>
          </a:xfrm>
          <a:prstGeom prst="roundRect">
            <a:avLst/>
          </a:prstGeom>
          <a:solidFill>
            <a:srgbClr val="1C3159"/>
          </a:solidFill>
          <a:ln w="1524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97488" y="5731459"/>
            <a:ext cx="1060800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DEVICE / OT</a:t>
            </a:r>
          </a:p>
          <a:p>
            <a:r>
              <a:rPr sz="1050" b="1" i="0">
                <a:solidFill>
                  <a:srgbClr val="F8FAFC"/>
                </a:solidFill>
                <a:latin typeface="Inter"/>
              </a:rPr>
              <a:t>Cognex Vision Camera</a:t>
            </a:r>
          </a:p>
          <a:p>
            <a:r>
              <a:rPr sz="750" b="0" i="1">
                <a:solidFill>
                  <a:srgbClr val="CBD5E1"/>
                </a:solidFill>
                <a:latin typeface="Inter"/>
              </a:rPr>
              <a:t>Automated Optical Inspection</a:t>
            </a:r>
          </a:p>
        </p:txBody>
      </p:sp>
      <p:sp>
        <p:nvSpPr>
          <p:cNvPr id="68" name="Oval 67"/>
          <p:cNvSpPr/>
          <p:nvPr/>
        </p:nvSpPr>
        <p:spPr>
          <a:xfrm>
            <a:off x="7114320" y="5658307"/>
            <a:ext cx="1243680" cy="623620"/>
          </a:xfrm>
          <a:prstGeom prst="ellipse">
            <a:avLst/>
          </a:prstGeom>
          <a:solidFill>
            <a:srgbClr val="16284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87472" y="5749747"/>
            <a:ext cx="1097376" cy="440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OPERATOR</a:t>
            </a:r>
          </a:p>
          <a:p>
            <a:pPr algn="ctr"/>
            <a:r>
              <a:rPr sz="1050" b="1" i="0">
                <a:solidFill>
                  <a:srgbClr val="F8FAFC"/>
                </a:solidFill>
                <a:latin typeface="Inter"/>
              </a:rPr>
              <a:t>Line Assembly Operator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742048" y="1188720"/>
            <a:ext cx="2718127" cy="5166360"/>
          </a:xfrm>
          <a:prstGeom prst="rect">
            <a:avLst/>
          </a:prstGeom>
          <a:solidFill>
            <a:srgbClr val="13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742048" y="1188720"/>
            <a:ext cx="2718127" cy="347472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ARCHITECTURAL GUARANTEES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70064" y="1627632"/>
            <a:ext cx="2462095" cy="1062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• SINGLE FINANCIAL LEDGER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50" b="0" i="0">
                <a:solidFill>
                  <a:srgbClr val="CBD5E1"/>
                </a:solidFill>
                <a:latin typeface="Inter"/>
              </a:rPr>
              <a:t>S/4HANA ACDOCA remains the sole financial source of truth. MES never replicates general ledger postings.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70064" y="2782062"/>
            <a:ext cx="2462095" cy="1062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• AIR-GAPPED PLANT RESILIENCE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50" b="0" i="0">
                <a:solidFill>
                  <a:srgbClr val="CBD5E1"/>
                </a:solidFill>
                <a:latin typeface="Inter"/>
              </a:rPr>
              <a:t>Edge gateways buffer 48 hours of telemetry and execution confirmations during WAN network disconnects.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70064" y="3936492"/>
            <a:ext cx="2462095" cy="1062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• CLEAN-CORE DECOUPLING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50" b="0" i="0">
                <a:solidFill>
                  <a:srgbClr val="CBD5E1"/>
                </a:solidFill>
                <a:latin typeface="Inter"/>
              </a:rPr>
              <a:t>Zero custom ABAP modifications in S/4HANA core. All MES orchestrations leverage standard OData v4 and Event Mesh.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70064" y="5090922"/>
            <a:ext cx="2462095" cy="1062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• DETERMINISTIC MACHINE INTERLOCK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50" b="0" i="0">
                <a:solidFill>
                  <a:srgbClr val="CBD5E1"/>
                </a:solidFill>
                <a:latin typeface="Inter"/>
              </a:rPr>
              <a:t>Sub-100ms machine safety and cycle interlocks run exclusively at Level 1/2 PLC layer, immune to cloud latency.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47472"/>
            <a:ext cx="206197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2. OPERATIONAL SWIMLANE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Cross-Functional SAP, MES &amp; Shop Floor Handoff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End-to-end transactional handoffs with Poka-Yoke error-proofing interlocks.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General Electric • Operational Swimlane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02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10728655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34747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CROSS-FUNCTIONAL OPERATIONAL SWIMLANE: ORDER-TO-CONFIRMATION OPERATIONAL SWIMLANE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874519"/>
            <a:ext cx="8588959" cy="81015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874519"/>
            <a:ext cx="1920240" cy="81015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CUSTOMER DEMAND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External Partner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1488" y="2757830"/>
            <a:ext cx="8588959" cy="81015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" y="2757830"/>
            <a:ext cx="1920240" cy="810158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SAP S/4HANA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System of Record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3641140"/>
            <a:ext cx="8588959" cy="81015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" y="3641140"/>
            <a:ext cx="1920240" cy="810158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MES MOM CORE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Execution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4524451"/>
            <a:ext cx="8588959" cy="81015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" y="4524451"/>
            <a:ext cx="1920240" cy="81015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SHOP FLOOR / OT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Edge Physical 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1488" y="5407761"/>
            <a:ext cx="8588959" cy="81015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5407761"/>
            <a:ext cx="1920240" cy="81015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QUALITY ASSURANCE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Compliance Interlock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98648" y="1956815"/>
            <a:ext cx="1004925" cy="6455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[1] EDI 850</a:t>
            </a:r>
          </a:p>
          <a:p>
            <a:r>
              <a:rPr sz="1050" b="1" i="0">
                <a:solidFill>
                  <a:srgbClr val="0F172A"/>
                </a:solidFill>
                <a:latin typeface="Inter"/>
              </a:rPr>
              <a:t>Demand Forecast / EDI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Sales Demand Signal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86453" y="2840126"/>
            <a:ext cx="1004925" cy="6455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[2] S/4HANA PP</a:t>
            </a:r>
          </a:p>
          <a:p>
            <a:r>
              <a:rPr sz="1050" b="1" i="0">
                <a:solidFill>
                  <a:srgbClr val="0F172A"/>
                </a:solidFill>
                <a:latin typeface="Inter"/>
              </a:rPr>
              <a:t>Sales &amp; Production Order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MRP Planning Run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74259" y="3723436"/>
            <a:ext cx="1004925" cy="6455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[3] MES MOM</a:t>
            </a:r>
          </a:p>
          <a:p>
            <a:r>
              <a:rPr sz="1050" b="1" i="0">
                <a:solidFill>
                  <a:srgbClr val="0F172A"/>
                </a:solidFill>
                <a:latin typeface="Inter"/>
              </a:rPr>
              <a:t>Dispatch &amp; Work Queue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Operation Scheduling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62064" y="4606747"/>
            <a:ext cx="1004925" cy="6455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[4] PLC / OPC UA</a:t>
            </a:r>
          </a:p>
          <a:p>
            <a:r>
              <a:rPr sz="1050" b="1" i="0">
                <a:solidFill>
                  <a:srgbClr val="0F172A"/>
                </a:solidFill>
                <a:latin typeface="Inter"/>
              </a:rPr>
              <a:t>CNC Machining &amp; Setup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Physical Execution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49870" y="4606747"/>
            <a:ext cx="1004925" cy="6455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[5] 261 Movement</a:t>
            </a:r>
          </a:p>
          <a:p>
            <a:r>
              <a:rPr sz="1050" b="1" i="0">
                <a:solidFill>
                  <a:srgbClr val="0F172A"/>
                </a:solidFill>
                <a:latin typeface="Inter"/>
              </a:rPr>
              <a:t>Material Consumption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Batch Component Binding</a:t>
            </a:r>
          </a:p>
        </p:txBody>
      </p:sp>
      <p:sp>
        <p:nvSpPr>
          <p:cNvPr id="25" name="Diamond 24"/>
          <p:cNvSpPr/>
          <p:nvPr/>
        </p:nvSpPr>
        <p:spPr>
          <a:xfrm>
            <a:off x="8837676" y="5490057"/>
            <a:ext cx="1004925" cy="645566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[6] CMM Gauge</a:t>
            </a:r>
          </a:p>
          <a:p>
            <a:r>
              <a:rPr sz="1050" b="1" i="0">
                <a:solidFill>
                  <a:srgbClr val="0F172A"/>
                </a:solidFill>
                <a:latin typeface="Inter"/>
              </a:rPr>
              <a:t>Optical Inspection Gate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SPC Tolerance Validation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25481" y="2840126"/>
            <a:ext cx="1004925" cy="6455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[7] ACDOCA Post</a:t>
            </a:r>
          </a:p>
          <a:p>
            <a:r>
              <a:rPr sz="1050" b="1" i="0">
                <a:solidFill>
                  <a:srgbClr val="0F172A"/>
                </a:solidFill>
                <a:latin typeface="Inter"/>
              </a:rPr>
              <a:t>Confirmation &amp; Ledger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CO11N &amp; 101 Goods Receipt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3327958" y="2620670"/>
            <a:ext cx="146304" cy="201167"/>
          </a:xfrm>
          <a:prstGeom prst="down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10838" y="2629814"/>
            <a:ext cx="1188720" cy="219456"/>
          </a:xfrm>
          <a:prstGeom prst="round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Sales Order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4515764" y="3503980"/>
            <a:ext cx="146304" cy="201167"/>
          </a:xfrm>
          <a:prstGeom prst="down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98644" y="3513124"/>
            <a:ext cx="1188720" cy="219456"/>
          </a:xfrm>
          <a:prstGeom prst="round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Production Order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5703570" y="4387291"/>
            <a:ext cx="146304" cy="201168"/>
          </a:xfrm>
          <a:prstGeom prst="down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886450" y="4396435"/>
            <a:ext cx="1188720" cy="219456"/>
          </a:xfrm>
          <a:prstGeom prst="round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Dispatch Job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485278" y="4856378"/>
            <a:ext cx="146303" cy="146304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own Arrow 33"/>
          <p:cNvSpPr/>
          <p:nvPr/>
        </p:nvSpPr>
        <p:spPr>
          <a:xfrm>
            <a:off x="8079181" y="5270601"/>
            <a:ext cx="146304" cy="201167"/>
          </a:xfrm>
          <a:prstGeom prst="down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62061" y="5279745"/>
            <a:ext cx="1188720" cy="219456"/>
          </a:xfrm>
          <a:prstGeom prst="round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Inspection Trigger</a:t>
            </a:r>
          </a:p>
        </p:txBody>
      </p:sp>
      <p:sp>
        <p:nvSpPr>
          <p:cNvPr id="36" name="Up Arrow 35"/>
          <p:cNvSpPr/>
          <p:nvPr/>
        </p:nvSpPr>
        <p:spPr>
          <a:xfrm>
            <a:off x="9266986" y="3503980"/>
            <a:ext cx="146304" cy="1967788"/>
          </a:xfrm>
          <a:prstGeom prst="up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449866" y="4396435"/>
            <a:ext cx="1188720" cy="219456"/>
          </a:xfrm>
          <a:prstGeom prst="round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Clearance GR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3. PROCESS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Production Execution, Quality Clearance &amp; Rework Loopback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Sequential order dispatch with automated Poka-Yoke decision gate and rework loopback.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General Electric • Production Execution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03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10728655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365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PROCESS ARCHITECTURE: PRODUCTION EXECUTION &amp; QUALITY CLEARANCE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984248"/>
            <a:ext cx="129492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1: CUSTOMER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Demand &amp; Sales Order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[SAP SD]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82473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56209" y="1984248"/>
            <a:ext cx="129492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6209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2: SAP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9361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Production Order &amp; MRP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[PP Order 100482]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78562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52298" y="1984248"/>
            <a:ext cx="129492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52298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3: MES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5450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MES Dispatch &amp; Setup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[Digital Dispatch]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74651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48387" y="1984248"/>
            <a:ext cx="129492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48387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4: SHOP FLOOR 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1539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Machine Execution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[CNC Work Center]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770740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6944476" y="1984248"/>
            <a:ext cx="1294921" cy="1188720"/>
          </a:xfrm>
          <a:prstGeom prst="diamond">
            <a:avLst/>
          </a:prstGeom>
          <a:solidFill>
            <a:srgbClr val="EEF2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DECISION GATE</a:t>
            </a:r>
          </a:p>
          <a:p>
            <a:pPr algn="ctr"/>
            <a:r>
              <a:rPr sz="1050" b="1" i="0">
                <a:solidFill>
                  <a:srgbClr val="0F172A"/>
                </a:solidFill>
                <a:latin typeface="Inter"/>
              </a:rPr>
              <a:t>Quality Gate &amp; SPC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266829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75389" y="2057400"/>
            <a:ext cx="548640" cy="21945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19" b="1" i="0">
                <a:solidFill>
                  <a:srgbClr val="FFFFFF"/>
                </a:solidFill>
                <a:latin typeface="Inter"/>
              </a:rPr>
              <a:t>PASS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40565" y="1984248"/>
            <a:ext cx="129492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0565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6: SAP FINANCE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13717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Confirmation &amp; Ledger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[CO11N / 101 GR]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62918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36654" y="1984248"/>
            <a:ext cx="1294921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36654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7: LOGISTICS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9806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Finished Goods Dispatch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[Outbound Delivery]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7482208" y="3218687"/>
            <a:ext cx="219456" cy="1673351"/>
          </a:xfrm>
          <a:prstGeom prst="down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38240" y="3310127"/>
            <a:ext cx="100584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19" b="1" i="0">
                <a:solidFill>
                  <a:srgbClr val="FFFFFF"/>
                </a:solidFill>
                <a:latin typeface="Inter"/>
              </a:rPr>
              <a:t>REWORK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78716" y="4937759"/>
            <a:ext cx="1569241" cy="11887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78716" y="4937759"/>
            <a:ext cx="156924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EXCEPTION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1868" y="5230368"/>
            <a:ext cx="142293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Rework Operation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[MES Non-Conformance]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Quarantine &amp; Root Cause Correction</a:t>
            </a:r>
          </a:p>
          <a:p>
            <a:r>
              <a:rPr sz="819" b="1" i="0">
                <a:solidFill>
                  <a:srgbClr val="D97706"/>
                </a:solidFill>
                <a:latin typeface="Inter"/>
              </a:rPr>
              <a:t>LOCK: Defect Logged in S/4HANA QM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76557" y="4937759"/>
            <a:ext cx="1614961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76557" y="4937759"/>
            <a:ext cx="161496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CLEARANCE GATE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49709" y="5230368"/>
            <a:ext cx="146865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Re-Inspection &amp; Verification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[Digital Traveler]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Tolerance Validation &amp; Clearance</a:t>
            </a:r>
          </a:p>
          <a:p>
            <a:r>
              <a:rPr sz="819" b="1" i="0">
                <a:solidFill>
                  <a:srgbClr val="D97706"/>
                </a:solidFill>
                <a:latin typeface="Inter"/>
              </a:rPr>
              <a:t>LOCK: Serial Unlocked Only on Clearance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8184533" y="5422392"/>
            <a:ext cx="155448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Up Arrow 44"/>
          <p:cNvSpPr/>
          <p:nvPr/>
        </p:nvSpPr>
        <p:spPr>
          <a:xfrm>
            <a:off x="10064670" y="4617720"/>
            <a:ext cx="219456" cy="320040"/>
          </a:xfrm>
          <a:prstGeom prst="up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302414" y="4526279"/>
            <a:ext cx="1029745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9" b="1" i="0">
                <a:solidFill>
                  <a:srgbClr val="D97706"/>
                </a:solidFill>
                <a:latin typeface="Inter"/>
              </a:rPr>
              <a:t>CLOSED-LOOP RE-ENTRY
Cleared for Confirmation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47472"/>
            <a:ext cx="2372868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4. TRANSFORMATION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Current State to Future Operating Model Transformation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Bridging legacy operational friction through S/4HANA clean-core and MES execution enablers.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General Electric • Transformation 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04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10728655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34747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ENTERPRISE TRANSFORMATION BLUEPRINT: SAP TO MES DIGITAL TRANSFORMATION BLUEPRINT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920240"/>
            <a:ext cx="3218596" cy="379475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1920240"/>
            <a:ext cx="3218596" cy="3108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DC2626"/>
                </a:solidFill>
                <a:latin typeface="Inter"/>
              </a:rPr>
              <a:t>CURRENT STATE (BASELINE)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267712"/>
            <a:ext cx="2999140" cy="33924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Operational Constraints &amp; Friction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DC2626"/>
                </a:solidFill>
                <a:latin typeface="Inter"/>
              </a:rPr>
              <a:t>✗  Fragmented master data &amp; BOM mismatches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DC2626"/>
                </a:solidFill>
                <a:latin typeface="Inter"/>
              </a:rPr>
              <a:t>✗  Manual paper travelers &amp; dispatch clipboards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DC2626"/>
                </a:solidFill>
                <a:latin typeface="Inter"/>
              </a:rPr>
              <a:t>✗  Disconnected quality logs in Excel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DC2626"/>
                </a:solidFill>
                <a:latin typeface="Inter"/>
              </a:rPr>
              <a:t>✗  Delayed inventory confirmation (2-3 day lag)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850" b="1" i="0">
                <a:solidFill>
                  <a:srgbClr val="64748B"/>
                </a:solidFill>
                <a:latin typeface="Inter"/>
              </a:rPr>
              <a:t>BASELINE METRICS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64748B"/>
                </a:solidFill>
                <a:latin typeface="Inter"/>
              </a:rPr>
              <a:t>• WIP Latency: 4.8 Days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64748B"/>
                </a:solidFill>
                <a:latin typeface="Inter"/>
              </a:rPr>
              <a:t>• Scrap Rate: 4.2%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64748B"/>
                </a:solidFill>
                <a:latin typeface="Inter"/>
              </a:rPr>
              <a:t>• OTIF Delivery: 81.4%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96420" y="3680459"/>
            <a:ext cx="248707" cy="27432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1704" y="1920240"/>
            <a:ext cx="3647742" cy="3794759"/>
          </a:xfrm>
          <a:prstGeom prst="roundRect">
            <a:avLst/>
          </a:prstGeom>
          <a:solidFill>
            <a:srgbClr val="EEF2FF"/>
          </a:solidFill>
          <a:ln w="1778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1704" y="1920240"/>
            <a:ext cx="364774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TRANSFORMATION ENABLERS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1432" y="2267712"/>
            <a:ext cx="3428286" cy="33924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Strategic Initiatives &amp; Technology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0F172A"/>
                </a:solidFill>
                <a:latin typeface="Inter"/>
              </a:rPr>
              <a:t>⚙  SAP S/4HANA Clean-Core Integration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0F172A"/>
                </a:solidFill>
                <a:latin typeface="Inter"/>
              </a:rPr>
              <a:t>⚙  MES Digital Dispatch &amp; Real-Time Tracking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0F172A"/>
                </a:solidFill>
                <a:latin typeface="Inter"/>
              </a:rPr>
              <a:t>⚙  Automated Closed-Loop Quality Interlocks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0F172A"/>
                </a:solidFill>
                <a:latin typeface="Inter"/>
              </a:rPr>
              <a:t>⚙  Unified Industrial Data Fabric &amp; BTP Mesh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ENABLERS &amp; ARCHITECTURE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64748B"/>
                </a:solidFill>
                <a:latin typeface="Inter"/>
              </a:rPr>
              <a:t>✔ Air-gapped edge buffering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64748B"/>
                </a:solidFill>
                <a:latin typeface="Inter"/>
              </a:rPr>
              <a:t>✔ Deterministic PLC connectors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64748B"/>
                </a:solidFill>
                <a:latin typeface="Inter"/>
              </a:rPr>
              <a:t>✔ Zero custom Z-tables in ERP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66022" y="3680459"/>
            <a:ext cx="248707" cy="27432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51306" y="1920240"/>
            <a:ext cx="3218596" cy="379475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51306" y="1920240"/>
            <a:ext cx="3218596" cy="3108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FUTURE OPERATING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1034" y="2267712"/>
            <a:ext cx="2999140" cy="33924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Transformed Capabilities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10B981"/>
                </a:solidFill>
                <a:latin typeface="Inter"/>
              </a:rPr>
              <a:t>✔  Synchronized MRP-to-machine dispatch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10B981"/>
                </a:solidFill>
                <a:latin typeface="Inter"/>
              </a:rPr>
              <a:t>✔  Full serial &amp; batch genealogy trace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10B981"/>
                </a:solidFill>
                <a:latin typeface="Inter"/>
              </a:rPr>
              <a:t>✔  Predictive quality interlocks at station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10B981"/>
                </a:solidFill>
                <a:latin typeface="Inter"/>
              </a:rPr>
              <a:t>✔  Sub-second financial ledger postings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MEASURABLE OUTCOMES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0F172A"/>
                </a:solidFill>
                <a:latin typeface="Inter"/>
              </a:rPr>
              <a:t>★ WIP Latency: 1.2 Days (-75%)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0F172A"/>
                </a:solidFill>
                <a:latin typeface="Inter"/>
              </a:rPr>
              <a:t>★ Scrap Rate: 0.8% (-81%)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0F172A"/>
                </a:solidFill>
                <a:latin typeface="Inter"/>
              </a:rPr>
              <a:t>★ OTIF Delivery: 97.5% (+16 pts)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5788152"/>
            <a:ext cx="10509199" cy="40233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HORIZON: 12–18 MONTH EXECUTION HORIZON</a:t>
            </a:r>
          </a:p>
          <a:p>
            <a:r>
              <a:rPr sz="819" b="1" i="0">
                <a:solidFill>
                  <a:srgbClr val="0F172A"/>
                </a:solidFill>
                <a:latin typeface="Inter"/>
              </a:rPr>
              <a:t>Phase 1: S/4HANA Core &amp; Clean Master Data  ➔  Phase 2: MES MOM Dispatch &amp; Traceability  ➔  Phase 3: Closed-Loop Analytics &amp; Autonomous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5. MATURITY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Digital Transformation Maturity Staircase &amp; Gap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5-Level capability staircase and prioritized dimension gap scorecard.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General Electric • Maturity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05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10728655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4754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DIGITAL TRANSFORMATION MATURITY ASSESSMENT: MANUFACTURING DIGITAL TRANSFORMATION MATURITY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31375" y="1554480"/>
            <a:ext cx="1645920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FFFFFF"/>
                </a:solidFill>
                <a:latin typeface="Inter"/>
              </a:rPr>
              <a:t>TARGET: 4.2 / 5.0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11335" y="1627632"/>
            <a:ext cx="228600" cy="18288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28255" y="1554480"/>
            <a:ext cx="1691640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FFFFFF"/>
                </a:solidFill>
                <a:latin typeface="Inter"/>
              </a:rPr>
              <a:t>CURRENT: 2.4 / 5.0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" y="2066544"/>
            <a:ext cx="4720608" cy="4123943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139696"/>
            <a:ext cx="4501152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5-LEVEL DIGITAL MATURITY STAIRCASE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5347411"/>
            <a:ext cx="892915" cy="6693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50" b="1" i="0">
                <a:solidFill>
                  <a:srgbClr val="0F172A"/>
                </a:solidFill>
                <a:latin typeface="Inter"/>
              </a:rPr>
              <a:t>1. Fragmented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4641494"/>
            <a:ext cx="1785830" cy="6693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50" b="1" i="0">
                <a:solidFill>
                  <a:srgbClr val="D97706"/>
                </a:solidFill>
                <a:latin typeface="Inter"/>
              </a:rPr>
              <a:t>2. Standardized</a:t>
            </a:r>
          </a:p>
          <a:p>
            <a:r>
              <a:rPr sz="819" b="1" i="0">
                <a:solidFill>
                  <a:srgbClr val="D97706"/>
                </a:solidFill>
                <a:latin typeface="Inter"/>
              </a:rPr>
              <a:t> [CURRENT POSITION]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" y="3935577"/>
            <a:ext cx="2678745" cy="6693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50" b="1" i="0">
                <a:solidFill>
                  <a:srgbClr val="0F172A"/>
                </a:solidFill>
                <a:latin typeface="Inter"/>
              </a:rPr>
              <a:t>3. Integrated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3229660"/>
            <a:ext cx="3571661" cy="6693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50" b="1" i="0">
                <a:solidFill>
                  <a:srgbClr val="10B981"/>
                </a:solidFill>
                <a:latin typeface="Inter"/>
              </a:rPr>
              <a:t>4. Intelligent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 [TARGET HORIZON]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2523744"/>
            <a:ext cx="4464576" cy="6693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50" b="1" i="0">
                <a:solidFill>
                  <a:srgbClr val="0F172A"/>
                </a:solidFill>
                <a:latin typeface="Inter"/>
              </a:rPr>
              <a:t>5. Autonomous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16720" y="2066544"/>
            <a:ext cx="5686187" cy="41239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16720" y="2066544"/>
            <a:ext cx="5686187" cy="329184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GAP AUDIT &amp; PRIORITY INTERVENTIONS (SCORE -&gt; GAP -&gt; ACTION)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08160" y="2505456"/>
            <a:ext cx="5503307" cy="6565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3024" y="2523744"/>
            <a:ext cx="5393579" cy="619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Process &amp; Execution  [P1]</a:t>
            </a:r>
          </a:p>
          <a:p>
            <a:r>
              <a:rPr sz="750" b="0" i="1">
                <a:solidFill>
                  <a:srgbClr val="0066CC"/>
                </a:solidFill>
                <a:latin typeface="Inter"/>
              </a:rPr>
              <a:t>Current: 2.1 / 5.0  ➔  Target: 4.3 / 5.0 (Gap: +2.2)</a:t>
            </a:r>
          </a:p>
          <a:p>
            <a:r>
              <a:rPr sz="819" b="1" i="0">
                <a:solidFill>
                  <a:srgbClr val="DC2626"/>
                </a:solidFill>
                <a:latin typeface="Inter"/>
              </a:rPr>
              <a:t>Gap: Paper travel cards &amp; manual dispatch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Intervention: Deploy MES automated dispatch &amp; digital traveler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08160" y="3235147"/>
            <a:ext cx="5503307" cy="65653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3024" y="3253435"/>
            <a:ext cx="5393579" cy="619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Data &amp; Genealogy  [P1]</a:t>
            </a:r>
          </a:p>
          <a:p>
            <a:r>
              <a:rPr sz="750" b="0" i="1">
                <a:solidFill>
                  <a:srgbClr val="0066CC"/>
                </a:solidFill>
                <a:latin typeface="Inter"/>
              </a:rPr>
              <a:t>Current: 2.3 / 5.0  ➔  Target: 4.5 / 5.0 (Gap: +2.2)</a:t>
            </a:r>
          </a:p>
          <a:p>
            <a:r>
              <a:rPr sz="819" b="1" i="0">
                <a:solidFill>
                  <a:srgbClr val="DC2626"/>
                </a:solidFill>
                <a:latin typeface="Inter"/>
              </a:rPr>
              <a:t>Gap: Missing component-to-serial batch linkage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Intervention: Automated barcode &amp; OPC-UA genealogy binding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08160" y="3964838"/>
            <a:ext cx="5503307" cy="65653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3024" y="3983126"/>
            <a:ext cx="5393579" cy="619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SAP Clean Core  [P2]</a:t>
            </a:r>
          </a:p>
          <a:p>
            <a:r>
              <a:rPr sz="750" b="0" i="1">
                <a:solidFill>
                  <a:srgbClr val="0066CC"/>
                </a:solidFill>
                <a:latin typeface="Inter"/>
              </a:rPr>
              <a:t>Current: 2.6 / 5.0  ➔  Target: 4.2 / 5.0 (Gap: +1.6)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Gap: Excess custom Z-tables blocking cloud upgrade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Intervention: Migrate custom code to BTP event mesh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08160" y="4694529"/>
            <a:ext cx="5503307" cy="65653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3024" y="4712817"/>
            <a:ext cx="5393579" cy="619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Quality &amp; Rework  [P1]</a:t>
            </a:r>
          </a:p>
          <a:p>
            <a:r>
              <a:rPr sz="750" b="0" i="1">
                <a:solidFill>
                  <a:srgbClr val="0066CC"/>
                </a:solidFill>
                <a:latin typeface="Inter"/>
              </a:rPr>
              <a:t>Current: 2.2 / 5.0  ➔  Target: 4.0 / 5.0 (Gap: +1.8)</a:t>
            </a:r>
          </a:p>
          <a:p>
            <a:r>
              <a:rPr sz="819" b="1" i="0">
                <a:solidFill>
                  <a:srgbClr val="DC2626"/>
                </a:solidFill>
                <a:latin typeface="Inter"/>
              </a:rPr>
              <a:t>Gap: Delayed defect logging &amp; missing CAPA loops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Intervention: Closed-loop digital inspection interlocks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08160" y="5424220"/>
            <a:ext cx="5503307" cy="65653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3024" y="5442508"/>
            <a:ext cx="5393579" cy="619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Governance &amp; RACI  [P2]</a:t>
            </a:r>
          </a:p>
          <a:p>
            <a:r>
              <a:rPr sz="750" b="0" i="1">
                <a:solidFill>
                  <a:srgbClr val="0066CC"/>
                </a:solidFill>
                <a:latin typeface="Inter"/>
              </a:rPr>
              <a:t>Current: 2.8 / 5.0  ➔  Target: 4.0 / 5.0 (Gap: +1.2)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Gap: Ambiguous IT/OT boundary ownership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Intervention: Formalize unified IT/OT operating charter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