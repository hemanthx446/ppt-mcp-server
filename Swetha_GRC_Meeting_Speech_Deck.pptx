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OPENING &amp; VISION ALIGNMENT (Slide 1)</a:t>
            </a:r>
          </a:p>
          <a:p/>
          <a:p>
            <a:r>
              <a:t>Key Bullet Points to Mention:</a:t>
            </a:r>
          </a:p>
          <a:p>
            <a:r>
              <a:t>- Zero-Modification Standard: Protecting S/4HANA core by avoiding custom ABAP code and decoupling custom workflows onto SAP BTP.</a:t>
            </a:r>
          </a:p>
          <a:p>
            <a:r>
              <a:t>- Upgrade Safety: Automated SU24/SU25 delta analysis to pre-empt authorization breaks and eliminate post-upgrade downtime.</a:t>
            </a:r>
          </a:p>
          <a:p/>
          <a:p>
            <a:r>
              <a:t>Spoken Script (Hemanth Kumar):</a:t>
            </a:r>
          </a:p>
          <a:p>
            <a:r>
              <a:t>"Hi Swetha, thank you for your time today. As a Principal Consultant at Lumbini Elite, my focus is bridging high-level SAP roadmaps with enterprise-grade system plumbing. When we speak with enterprise clients moving to S/4HANA Cloud, their primary fear is custom code bloat. Our approach is absolute: zero core modifications, enforcing standard SAP APIs, and leveraging BTP so their baseline remains pristine and upgrade-ready."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2: AI &amp; JOULE READINESS (Slide 2)</a:t>
            </a:r>
          </a:p>
          <a:p/>
          <a:p>
            <a:r>
              <a:t>Key Bullet Points to Mention:</a:t>
            </a:r>
          </a:p>
          <a:p>
            <a:r>
              <a:t>- BTP-Driven Identity Fabric: Native integration with SAP Cloud Identity Services (IAS/IPS) and SCIM-based provisioning connectors across tenants.</a:t>
            </a:r>
          </a:p>
          <a:p>
            <a:r>
              <a:t>- Clean Role Metadata Layer: Standardizing role taxonomies so SAP Joule can execute natural-language access queries, approvals, and contextual simulations.</a:t>
            </a:r>
          </a:p>
          <a:p/>
          <a:p>
            <a:r>
              <a:t>Spoken Script (Hemanth Kumar):</a:t>
            </a:r>
          </a:p>
          <a:p>
            <a:r>
              <a:t>"Everyone wants to adopt AI and SAP Joule, but customers hit a wall because their underlying role metadata and legacy PFCG structures are chaotic. At Lumbini, we cleanse and structure that metadata today—establishing the exact semantic foundation required for SAP Joule and Cloud IAG to govern autonomously tomorrow."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3: PROVEN FIELD SCALE &amp; METRICS (Slide 3)</a:t>
            </a:r>
          </a:p>
          <a:p/>
          <a:p>
            <a:r>
              <a:t>Key Bullet Points to Mention:</a:t>
            </a:r>
          </a:p>
          <a:p>
            <a:r>
              <a:t>- 90% Provisioning Reduction: Transforming 5-day manual bottlenecks into automated 4-hour approvals for global analytics estates.</a:t>
            </a:r>
          </a:p>
          <a:p>
            <a:r>
              <a:t>- 20,000+ Global Users Scaled: Dropping recurring maintenance overhead by 60% through role rationalization and automated re-certification.</a:t>
            </a:r>
          </a:p>
          <a:p>
            <a:r>
              <a:t>- Under 2-Hour IP SLAs: GRC CUP and ARM automation guaranteeing secure, zero-touch emergency access for development teams.</a:t>
            </a:r>
          </a:p>
          <a:p/>
          <a:p>
            <a:r>
              <a:t>Spoken Script (Hemanth Kumar):</a:t>
            </a:r>
          </a:p>
          <a:p>
            <a:r>
              <a:t>"We don't just talk theory; we bring battle-tested execution. For complex global landscapes supporting over 20,000 users, our role rationalization frameworks have dropped maintenance overhead by 60%. Furthermore, by combining GRC CUP and ARM automation, we’ve slashed secure IP access provisioning SLAs from 5 days down to under 2 hours."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4: PARTNERSHIP &amp; PROPOSED NEXT STEPS (Slide 4)</a:t>
            </a:r>
          </a:p>
          <a:p/>
          <a:p>
            <a:r>
              <a:t>Key Bullet Points to Mention:</a:t>
            </a:r>
          </a:p>
          <a:p>
            <a:r>
              <a:t>- Extension of CPO Office: Acting as a specialized field strike team for strategic SAP accounts undergoing complex GRC modernization.</a:t>
            </a:r>
          </a:p>
          <a:p>
            <a:r>
              <a:t>- Pre-Cloud Remediation: Utilizing proprietary toolkits to scrub custom ABAP code and rationalize SoD rule-sets before cloud onboarding.</a:t>
            </a:r>
          </a:p>
          <a:p>
            <a:r>
              <a:t>- 30-Day Co-Innovation Sprint: Conducting a joint working session on Joule AI role metadata templates and launching a lighthouse client pilot.</a:t>
            </a:r>
          </a:p>
          <a:p/>
          <a:p>
            <a:r>
              <a:t>Spoken Script (Hemanth Kumar):</a:t>
            </a:r>
          </a:p>
          <a:p>
            <a:r>
              <a:t>"Our goal is to act as an agile extension of your CPO office—helping de-risk customer onboarding and accelerating Cloud IAG adoption. I’d love to propose a brief 45-minute technical working session between our engineering team and your product architecture leads next week to define a Phase 1 workshop agenda and a lighthouse pilot. How does that sound?"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51560"/>
            <a:ext cx="3291840" cy="347472"/>
          </a:xfrm>
          <a:prstGeom prst="roundRect">
            <a:avLst/>
          </a:prstGeom>
          <a:solidFill>
            <a:srgbClr val="1C1C1E"/>
          </a:solidFill>
          <a:ln w="127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15568"/>
            <a:ext cx="3108960" cy="274320"/>
          </a:xfrm>
          <a:prstGeom prst="rect">
            <a:avLst/>
          </a:prstGeom>
          <a:noFill/>
        </p:spPr>
        <p:txBody>
          <a:bodyPr wrap="none" tIns="0" lIns="0" bIns="0" rIns="0">
            <a:spAutoFit/>
          </a:bodyPr>
          <a:lstStyle/>
          <a:p>
            <a:pPr>
              <a:defRPr sz="1000" b="1">
                <a:solidFill>
                  <a:srgbClr val="E30613"/>
                </a:solidFill>
                <a:latin typeface="Arial"/>
              </a:defRPr>
            </a:pPr>
            <a:r>
              <a:t>EXECUTIVE FOLLOW-UP DIALOGUE</a:t>
            </a:r>
          </a:p>
        </p:txBody>
      </p:sp>
      <p:sp>
        <p:nvSpPr>
          <p:cNvPr id="5" name="TextBox 4"/>
          <p:cNvSpPr txBox="1"/>
          <p:nvPr/>
        </p:nvSpPr>
        <p:spPr>
          <a:xfrm>
            <a:off x="914400" y="1645920"/>
            <a:ext cx="10332720" cy="1463040"/>
          </a:xfrm>
          <a:prstGeom prst="rect">
            <a:avLst/>
          </a:prstGeom>
          <a:noFill/>
        </p:spPr>
        <p:txBody>
          <a:bodyPr wrap="square" tIns="0" lIns="0" bIns="0" rIns="0">
            <a:spAutoFit/>
          </a:bodyPr>
          <a:lstStyle/>
          <a:p>
            <a:pPr>
              <a:spcAft>
                <a:spcPts val="800"/>
              </a:spcAft>
              <a:defRPr sz="3600" b="1">
                <a:solidFill>
                  <a:srgbClr val="F8FAFC"/>
                </a:solidFill>
                <a:latin typeface="Arial"/>
              </a:defRPr>
            </a:pPr>
            <a:r>
              <a:t>The Next-Gen SAP GRC Paradigm</a:t>
            </a:r>
          </a:p>
          <a:p>
            <a:pPr>
              <a:defRPr sz="2000" b="1">
                <a:solidFill>
                  <a:srgbClr val="E30613"/>
                </a:solidFill>
                <a:latin typeface="Arial"/>
              </a:defRPr>
            </a:pPr>
            <a:r>
              <a:t>Governance, Risk, and Control as the Architectural Backbone of Enterprise Integration</a:t>
            </a:r>
          </a:p>
        </p:txBody>
      </p:sp>
      <p:sp>
        <p:nvSpPr>
          <p:cNvPr id="6" name="Rectangle 5"/>
          <p:cNvSpPr/>
          <p:nvPr/>
        </p:nvSpPr>
        <p:spPr>
          <a:xfrm>
            <a:off x="914400" y="3337560"/>
            <a:ext cx="2011680" cy="36576"/>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3566160"/>
            <a:ext cx="10332720" cy="868680"/>
          </a:xfrm>
          <a:prstGeom prst="roundRect">
            <a:avLst/>
          </a:prstGeom>
          <a:solidFill>
            <a:srgbClr val="1C1C1E"/>
          </a:solidFill>
          <a:ln w="12700">
            <a:solidFill>
              <a:srgbClr val="3030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3675887"/>
            <a:ext cx="9875520" cy="685800"/>
          </a:xfrm>
          <a:prstGeom prst="rect">
            <a:avLst/>
          </a:prstGeom>
          <a:noFill/>
        </p:spPr>
        <p:txBody>
          <a:bodyPr wrap="square" tIns="0" lIns="0" bIns="0" rIns="0">
            <a:spAutoFit/>
          </a:bodyPr>
          <a:lstStyle/>
          <a:p>
            <a:pPr>
              <a:spcAft>
                <a:spcPts val="400"/>
              </a:spcAft>
              <a:defRPr sz="1300" b="1">
                <a:solidFill>
                  <a:srgbClr val="F8FAFC"/>
                </a:solidFill>
                <a:latin typeface="Arial"/>
              </a:defRPr>
            </a:pPr>
            <a:r>
              <a:t>Presented by Hemanth Kumar, Principal Consultant  |  Lumbini Elite Solutions</a:t>
            </a:r>
          </a:p>
          <a:p>
            <a:pPr>
              <a:defRPr sz="1100">
                <a:solidFill>
                  <a:srgbClr val="94A3B8"/>
                </a:solidFill>
                <a:latin typeface="Calibri"/>
              </a:defRPr>
            </a:pPr>
            <a:r>
              <a:t>Strategic Discussion with Swetha, Chief Product Officer (CPO), SAP GRC  |  Focus: Clean Core, IAG/Joule AI Readiness &amp; Scale</a:t>
            </a:r>
          </a:p>
        </p:txBody>
      </p:sp>
      <p:sp>
        <p:nvSpPr>
          <p:cNvPr id="9" name="Rounded Rectangle 8"/>
          <p:cNvSpPr/>
          <p:nvPr/>
        </p:nvSpPr>
        <p:spPr>
          <a:xfrm>
            <a:off x="914400" y="4754880"/>
            <a:ext cx="3246120" cy="1280160"/>
          </a:xfrm>
          <a:prstGeom prst="roundRect">
            <a:avLst/>
          </a:prstGeom>
          <a:solidFill>
            <a:srgbClr val="1C1C1E"/>
          </a:solidFill>
          <a:ln w="12700">
            <a:solidFill>
              <a:srgbClr val="3030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892040"/>
            <a:ext cx="2880360" cy="1005840"/>
          </a:xfrm>
          <a:prstGeom prst="rect">
            <a:avLst/>
          </a:prstGeom>
          <a:noFill/>
        </p:spPr>
        <p:txBody>
          <a:bodyPr wrap="square" tIns="0" lIns="0" bIns="0" rIns="0">
            <a:spAutoFit/>
          </a:bodyPr>
          <a:lstStyle/>
          <a:p>
            <a:pPr>
              <a:spcAft>
                <a:spcPts val="400"/>
              </a:spcAft>
              <a:defRPr sz="1250" b="1">
                <a:solidFill>
                  <a:srgbClr val="E30613"/>
                </a:solidFill>
                <a:latin typeface="Arial"/>
              </a:defRPr>
            </a:pPr>
            <a:r>
              <a:t>Clean Core Alignment</a:t>
            </a:r>
          </a:p>
          <a:p>
            <a:pPr>
              <a:defRPr sz="1050">
                <a:solidFill>
                  <a:srgbClr val="94A3B8"/>
                </a:solidFill>
                <a:latin typeface="Calibri"/>
              </a:defRPr>
            </a:pPr>
            <a:r>
              <a:t>Eliminating custom ABAP to safeguard S/4HANA upgrade cycles.</a:t>
            </a:r>
          </a:p>
        </p:txBody>
      </p:sp>
      <p:sp>
        <p:nvSpPr>
          <p:cNvPr id="11" name="Rounded Rectangle 10"/>
          <p:cNvSpPr/>
          <p:nvPr/>
        </p:nvSpPr>
        <p:spPr>
          <a:xfrm>
            <a:off x="4453127" y="4754880"/>
            <a:ext cx="3246120" cy="1280160"/>
          </a:xfrm>
          <a:prstGeom prst="roundRect">
            <a:avLst/>
          </a:prstGeom>
          <a:solidFill>
            <a:srgbClr val="1C1C1E"/>
          </a:solidFill>
          <a:ln w="12700">
            <a:solidFill>
              <a:srgbClr val="3030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7" y="4892040"/>
            <a:ext cx="2880360" cy="1005840"/>
          </a:xfrm>
          <a:prstGeom prst="rect">
            <a:avLst/>
          </a:prstGeom>
          <a:noFill/>
        </p:spPr>
        <p:txBody>
          <a:bodyPr wrap="square" tIns="0" lIns="0" bIns="0" rIns="0">
            <a:spAutoFit/>
          </a:bodyPr>
          <a:lstStyle/>
          <a:p>
            <a:pPr>
              <a:spcAft>
                <a:spcPts val="400"/>
              </a:spcAft>
              <a:defRPr sz="1250" b="1">
                <a:solidFill>
                  <a:srgbClr val="E30613"/>
                </a:solidFill>
                <a:latin typeface="Arial"/>
              </a:defRPr>
            </a:pPr>
            <a:r>
              <a:t>Joule AI Readiness</a:t>
            </a:r>
          </a:p>
          <a:p>
            <a:pPr>
              <a:defRPr sz="1050">
                <a:solidFill>
                  <a:srgbClr val="94A3B8"/>
                </a:solidFill>
                <a:latin typeface="Calibri"/>
              </a:defRPr>
            </a:pPr>
            <a:r>
              <a:t>Structuring role semantics &amp; authorization metadata for autonomous agent governance.</a:t>
            </a:r>
          </a:p>
        </p:txBody>
      </p:sp>
      <p:sp>
        <p:nvSpPr>
          <p:cNvPr id="13" name="Rounded Rectangle 12"/>
          <p:cNvSpPr/>
          <p:nvPr/>
        </p:nvSpPr>
        <p:spPr>
          <a:xfrm>
            <a:off x="7991855" y="4754880"/>
            <a:ext cx="3246120" cy="1280160"/>
          </a:xfrm>
          <a:prstGeom prst="roundRect">
            <a:avLst/>
          </a:prstGeom>
          <a:solidFill>
            <a:srgbClr val="1C1C1E"/>
          </a:solidFill>
          <a:ln w="12700">
            <a:solidFill>
              <a:srgbClr val="3030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5" y="4892040"/>
            <a:ext cx="2880360" cy="1005840"/>
          </a:xfrm>
          <a:prstGeom prst="rect">
            <a:avLst/>
          </a:prstGeom>
          <a:noFill/>
        </p:spPr>
        <p:txBody>
          <a:bodyPr wrap="square" tIns="0" lIns="0" bIns="0" rIns="0">
            <a:spAutoFit/>
          </a:bodyPr>
          <a:lstStyle/>
          <a:p>
            <a:pPr>
              <a:spcAft>
                <a:spcPts val="400"/>
              </a:spcAft>
              <a:defRPr sz="1250" b="1">
                <a:solidFill>
                  <a:srgbClr val="E30613"/>
                </a:solidFill>
                <a:latin typeface="Arial"/>
              </a:defRPr>
            </a:pPr>
            <a:r>
              <a:t>Field-Validated Scale</a:t>
            </a:r>
          </a:p>
          <a:p>
            <a:pPr>
              <a:defRPr sz="1050">
                <a:solidFill>
                  <a:srgbClr val="94A3B8"/>
                </a:solidFill>
                <a:latin typeface="Calibri"/>
              </a:defRPr>
            </a:pPr>
            <a:r>
              <a:t>Proven operational impact across 20k+ users and automated 2-hour SLAs.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 cy="50292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438912"/>
            <a:ext cx="10424160" cy="411480"/>
          </a:xfrm>
          <a:prstGeom prst="rect">
            <a:avLst/>
          </a:prstGeom>
          <a:noFill/>
        </p:spPr>
        <p:txBody>
          <a:bodyPr wrap="square" lIns="0" tIns="0" rIns="0" bIns="0">
            <a:spAutoFit/>
          </a:bodyPr>
          <a:lstStyle/>
          <a:p>
            <a:pPr>
              <a:defRPr sz="2200" b="1">
                <a:solidFill>
                  <a:srgbClr val="1A202C"/>
                </a:solidFill>
                <a:latin typeface="Arial"/>
              </a:defRPr>
            </a:pPr>
            <a:r>
              <a:t>Ecosystem &amp; AI Readiness</a:t>
            </a:r>
          </a:p>
        </p:txBody>
      </p:sp>
      <p:sp>
        <p:nvSpPr>
          <p:cNvPr id="5" name="TextBox 4"/>
          <p:cNvSpPr txBox="1"/>
          <p:nvPr/>
        </p:nvSpPr>
        <p:spPr>
          <a:xfrm>
            <a:off x="960120" y="896112"/>
            <a:ext cx="10424160" cy="320040"/>
          </a:xfrm>
          <a:prstGeom prst="rect">
            <a:avLst/>
          </a:prstGeom>
          <a:noFill/>
        </p:spPr>
        <p:txBody>
          <a:bodyPr wrap="square" lIns="0" tIns="0" rIns="0" bIns="0">
            <a:spAutoFit/>
          </a:bodyPr>
          <a:lstStyle/>
          <a:p>
            <a:pPr>
              <a:defRPr sz="1200" i="1">
                <a:solidFill>
                  <a:srgbClr val="64748B"/>
                </a:solidFill>
                <a:latin typeface="Calibri"/>
              </a:defRPr>
            </a:pPr>
            <a:r>
              <a:t>Protecting the Clean Core while architecting role metadata for SAP Joule AI-driven governance.</a:t>
            </a:r>
          </a:p>
        </p:txBody>
      </p:sp>
      <p:sp>
        <p:nvSpPr>
          <p:cNvPr id="6" name="Rounded Rectangle 5"/>
          <p:cNvSpPr/>
          <p:nvPr/>
        </p:nvSpPr>
        <p:spPr>
          <a:xfrm>
            <a:off x="731520" y="1417320"/>
            <a:ext cx="24688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2468880" cy="73152"/>
          </a:xfrm>
          <a:prstGeom prst="round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18488"/>
            <a:ext cx="2103120" cy="3438144"/>
          </a:xfrm>
          <a:prstGeom prst="rect">
            <a:avLst/>
          </a:prstGeom>
          <a:noFill/>
        </p:spPr>
        <p:txBody>
          <a:bodyPr wrap="square" tIns="0" lIns="0" bIns="0" rIns="0">
            <a:spAutoFit/>
          </a:bodyPr>
          <a:lstStyle/>
          <a:p>
            <a:pPr>
              <a:spcAft>
                <a:spcPts val="300"/>
              </a:spcAft>
              <a:defRPr sz="950" b="1">
                <a:solidFill>
                  <a:srgbClr val="E30613"/>
                </a:solidFill>
                <a:latin typeface="Arial"/>
              </a:defRPr>
            </a:pPr>
            <a:r>
              <a:t>CLEAN CORE</a:t>
            </a:r>
          </a:p>
          <a:p>
            <a:pPr>
              <a:spcAft>
                <a:spcPts val="200"/>
              </a:spcAft>
              <a:defRPr sz="1300" b="1">
                <a:solidFill>
                  <a:srgbClr val="1A202C"/>
                </a:solidFill>
                <a:latin typeface="Arial"/>
              </a:defRPr>
            </a:pPr>
            <a:r>
              <a:t>Clean Core Alignment</a:t>
            </a:r>
          </a:p>
          <a:p>
            <a:pPr>
              <a:spcAft>
                <a:spcPts val="1200"/>
              </a:spcAft>
              <a:defRPr sz="1000" b="1">
                <a:solidFill>
                  <a:srgbClr val="64748B"/>
                </a:solidFill>
                <a:latin typeface="Calibri"/>
              </a:defRPr>
            </a:pPr>
            <a:r>
              <a:t>Zero-Modification Standard</a:t>
            </a:r>
          </a:p>
          <a:p>
            <a:pPr>
              <a:spcAft>
                <a:spcPts val="800"/>
              </a:spcAft>
              <a:defRPr sz="1000">
                <a:solidFill>
                  <a:srgbClr val="1A202C"/>
                </a:solidFill>
                <a:latin typeface="Calibri"/>
              </a:defRPr>
            </a:pPr>
            <a:r>
              <a:t>-  Zero core modifications in S/4HANA transformations.</a:t>
            </a:r>
          </a:p>
          <a:p>
            <a:pPr>
              <a:spcAft>
                <a:spcPts val="800"/>
              </a:spcAft>
              <a:defRPr sz="1000">
                <a:solidFill>
                  <a:srgbClr val="1A202C"/>
                </a:solidFill>
                <a:latin typeface="Calibri"/>
              </a:defRPr>
            </a:pPr>
            <a:r>
              <a:t>-  Enforce standard SAP APIs for user lifecycle events.</a:t>
            </a:r>
          </a:p>
          <a:p>
            <a:pPr>
              <a:spcAft>
                <a:spcPts val="800"/>
              </a:spcAft>
              <a:defRPr sz="1000">
                <a:solidFill>
                  <a:srgbClr val="1A202C"/>
                </a:solidFill>
                <a:latin typeface="Calibri"/>
              </a:defRPr>
            </a:pPr>
            <a:r>
              <a:t>-  Decouple custom workflows onto SAP BTP to preserve baseline.</a:t>
            </a:r>
          </a:p>
        </p:txBody>
      </p:sp>
      <p:sp>
        <p:nvSpPr>
          <p:cNvPr id="9" name="Rounded Rectangle 8"/>
          <p:cNvSpPr/>
          <p:nvPr/>
        </p:nvSpPr>
        <p:spPr>
          <a:xfrm>
            <a:off x="3483864" y="1417320"/>
            <a:ext cx="24688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83864" y="1417320"/>
            <a:ext cx="2468880" cy="73152"/>
          </a:xfrm>
          <a:prstGeom prst="round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1618488"/>
            <a:ext cx="2103120" cy="3438144"/>
          </a:xfrm>
          <a:prstGeom prst="rect">
            <a:avLst/>
          </a:prstGeom>
          <a:noFill/>
        </p:spPr>
        <p:txBody>
          <a:bodyPr wrap="square" tIns="0" lIns="0" bIns="0" rIns="0">
            <a:spAutoFit/>
          </a:bodyPr>
          <a:lstStyle/>
          <a:p>
            <a:pPr>
              <a:spcAft>
                <a:spcPts val="300"/>
              </a:spcAft>
              <a:defRPr sz="950" b="1">
                <a:solidFill>
                  <a:srgbClr val="E30613"/>
                </a:solidFill>
                <a:latin typeface="Arial"/>
              </a:defRPr>
            </a:pPr>
            <a:r>
              <a:t>S/4HANA SAFETY</a:t>
            </a:r>
          </a:p>
          <a:p>
            <a:pPr>
              <a:spcAft>
                <a:spcPts val="200"/>
              </a:spcAft>
              <a:defRPr sz="1300" b="1">
                <a:solidFill>
                  <a:srgbClr val="1A202C"/>
                </a:solidFill>
                <a:latin typeface="Arial"/>
              </a:defRPr>
            </a:pPr>
            <a:r>
              <a:t>Upgrade Safety</a:t>
            </a:r>
          </a:p>
          <a:p>
            <a:pPr>
              <a:spcAft>
                <a:spcPts val="1200"/>
              </a:spcAft>
              <a:defRPr sz="1000" b="1">
                <a:solidFill>
                  <a:srgbClr val="64748B"/>
                </a:solidFill>
                <a:latin typeface="Calibri"/>
              </a:defRPr>
            </a:pPr>
            <a:r>
              <a:t>Risk-Free Release Cycles</a:t>
            </a:r>
          </a:p>
          <a:p>
            <a:pPr>
              <a:spcAft>
                <a:spcPts val="800"/>
              </a:spcAft>
              <a:defRPr sz="1000">
                <a:solidFill>
                  <a:srgbClr val="1A202C"/>
                </a:solidFill>
                <a:latin typeface="Calibri"/>
              </a:defRPr>
            </a:pPr>
            <a:r>
              <a:t>-  Automated SU24/SU25 delta analysis across releases.</a:t>
            </a:r>
          </a:p>
          <a:p>
            <a:pPr>
              <a:spcAft>
                <a:spcPts val="800"/>
              </a:spcAft>
              <a:defRPr sz="1000">
                <a:solidFill>
                  <a:srgbClr val="1A202C"/>
                </a:solidFill>
                <a:latin typeface="Calibri"/>
              </a:defRPr>
            </a:pPr>
            <a:r>
              <a:t>-  Pre-empt authorization breaks and SoD conflicts before cutover.</a:t>
            </a:r>
          </a:p>
          <a:p>
            <a:pPr>
              <a:spcAft>
                <a:spcPts val="800"/>
              </a:spcAft>
              <a:defRPr sz="1000">
                <a:solidFill>
                  <a:srgbClr val="1A202C"/>
                </a:solidFill>
                <a:latin typeface="Calibri"/>
              </a:defRPr>
            </a:pPr>
            <a:r>
              <a:t>-  Eliminate post-upgrade emergency patching and downtime.</a:t>
            </a:r>
          </a:p>
        </p:txBody>
      </p:sp>
      <p:sp>
        <p:nvSpPr>
          <p:cNvPr id="12" name="Rounded Rectangle 11"/>
          <p:cNvSpPr/>
          <p:nvPr/>
        </p:nvSpPr>
        <p:spPr>
          <a:xfrm>
            <a:off x="6236208" y="1417320"/>
            <a:ext cx="24688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6208" y="1417320"/>
            <a:ext cx="2468880" cy="73152"/>
          </a:xfrm>
          <a:prstGeom prst="round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618488"/>
            <a:ext cx="2103120" cy="3438144"/>
          </a:xfrm>
          <a:prstGeom prst="rect">
            <a:avLst/>
          </a:prstGeom>
          <a:noFill/>
        </p:spPr>
        <p:txBody>
          <a:bodyPr wrap="square" tIns="0" lIns="0" bIns="0" rIns="0">
            <a:spAutoFit/>
          </a:bodyPr>
          <a:lstStyle/>
          <a:p>
            <a:pPr>
              <a:spcAft>
                <a:spcPts val="300"/>
              </a:spcAft>
              <a:defRPr sz="950" b="1">
                <a:solidFill>
                  <a:srgbClr val="E30613"/>
                </a:solidFill>
                <a:latin typeface="Arial"/>
              </a:defRPr>
            </a:pPr>
            <a:r>
              <a:t>BTP SECURITY</a:t>
            </a:r>
          </a:p>
          <a:p>
            <a:pPr>
              <a:spcAft>
                <a:spcPts val="200"/>
              </a:spcAft>
              <a:defRPr sz="1300" b="1">
                <a:solidFill>
                  <a:srgbClr val="1A202C"/>
                </a:solidFill>
                <a:latin typeface="Arial"/>
              </a:defRPr>
            </a:pPr>
            <a:r>
              <a:t>BTP-Driven Security</a:t>
            </a:r>
          </a:p>
          <a:p>
            <a:pPr>
              <a:spcAft>
                <a:spcPts val="1200"/>
              </a:spcAft>
              <a:defRPr sz="1000" b="1">
                <a:solidFill>
                  <a:srgbClr val="64748B"/>
                </a:solidFill>
                <a:latin typeface="Calibri"/>
              </a:defRPr>
            </a:pPr>
            <a:r>
              <a:t>Enterprise Identity Fabric</a:t>
            </a:r>
          </a:p>
          <a:p>
            <a:pPr>
              <a:spcAft>
                <a:spcPts val="800"/>
              </a:spcAft>
              <a:defRPr sz="1000">
                <a:solidFill>
                  <a:srgbClr val="1A202C"/>
                </a:solidFill>
                <a:latin typeface="Calibri"/>
              </a:defRPr>
            </a:pPr>
            <a:r>
              <a:t>-  Native integration with SAP Cloud Identity Services (IAS/IPS).</a:t>
            </a:r>
          </a:p>
          <a:p>
            <a:pPr>
              <a:spcAft>
                <a:spcPts val="800"/>
              </a:spcAft>
              <a:defRPr sz="1000">
                <a:solidFill>
                  <a:srgbClr val="1A202C"/>
                </a:solidFill>
                <a:latin typeface="Calibri"/>
              </a:defRPr>
            </a:pPr>
            <a:r>
              <a:t>-  Centralized identity federation across hybrid cloud/on-prem.</a:t>
            </a:r>
          </a:p>
          <a:p>
            <a:pPr>
              <a:spcAft>
                <a:spcPts val="800"/>
              </a:spcAft>
              <a:defRPr sz="1000">
                <a:solidFill>
                  <a:srgbClr val="1A202C"/>
                </a:solidFill>
                <a:latin typeface="Calibri"/>
              </a:defRPr>
            </a:pPr>
            <a:r>
              <a:t>-  SCIM-based provisioning connectors across all cloud tenants.</a:t>
            </a:r>
          </a:p>
        </p:txBody>
      </p:sp>
      <p:sp>
        <p:nvSpPr>
          <p:cNvPr id="15" name="Rounded Rectangle 14"/>
          <p:cNvSpPr/>
          <p:nvPr/>
        </p:nvSpPr>
        <p:spPr>
          <a:xfrm>
            <a:off x="8988552" y="1417320"/>
            <a:ext cx="2468880" cy="38404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417320"/>
            <a:ext cx="2468880" cy="73152"/>
          </a:xfrm>
          <a:prstGeom prst="round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1618488"/>
            <a:ext cx="2103120" cy="3438144"/>
          </a:xfrm>
          <a:prstGeom prst="rect">
            <a:avLst/>
          </a:prstGeom>
          <a:noFill/>
        </p:spPr>
        <p:txBody>
          <a:bodyPr wrap="square" tIns="0" lIns="0" bIns="0" rIns="0">
            <a:spAutoFit/>
          </a:bodyPr>
          <a:lstStyle/>
          <a:p>
            <a:pPr>
              <a:spcAft>
                <a:spcPts val="300"/>
              </a:spcAft>
              <a:defRPr sz="950" b="1">
                <a:solidFill>
                  <a:srgbClr val="E30613"/>
                </a:solidFill>
                <a:latin typeface="Arial"/>
              </a:defRPr>
            </a:pPr>
            <a:r>
              <a:t>JOULE AI READY</a:t>
            </a:r>
          </a:p>
          <a:p>
            <a:pPr>
              <a:spcAft>
                <a:spcPts val="200"/>
              </a:spcAft>
              <a:defRPr sz="1300" b="1">
                <a:solidFill>
                  <a:srgbClr val="1A202C"/>
                </a:solidFill>
                <a:latin typeface="Arial"/>
              </a:defRPr>
            </a:pPr>
            <a:r>
              <a:t>SAP Joule AI Readiness</a:t>
            </a:r>
          </a:p>
          <a:p>
            <a:pPr>
              <a:spcAft>
                <a:spcPts val="1200"/>
              </a:spcAft>
              <a:defRPr sz="1000" b="1">
                <a:solidFill>
                  <a:srgbClr val="64748B"/>
                </a:solidFill>
                <a:latin typeface="Calibri"/>
              </a:defRPr>
            </a:pPr>
            <a:r>
              <a:t>Clean Role Metadata Layer</a:t>
            </a:r>
          </a:p>
          <a:p>
            <a:pPr>
              <a:spcAft>
                <a:spcPts val="800"/>
              </a:spcAft>
              <a:defRPr sz="1000">
                <a:solidFill>
                  <a:srgbClr val="1A202C"/>
                </a:solidFill>
                <a:latin typeface="Calibri"/>
              </a:defRPr>
            </a:pPr>
            <a:r>
              <a:t>-  Standardized role taxonomies and semantic metadata models.</a:t>
            </a:r>
          </a:p>
          <a:p>
            <a:pPr>
              <a:spcAft>
                <a:spcPts val="800"/>
              </a:spcAft>
              <a:defRPr sz="1000">
                <a:solidFill>
                  <a:srgbClr val="1A202C"/>
                </a:solidFill>
                <a:latin typeface="Calibri"/>
              </a:defRPr>
            </a:pPr>
            <a:r>
              <a:t>-  Enables Joule AI natural language access queries &amp; approvals.</a:t>
            </a:r>
          </a:p>
          <a:p>
            <a:pPr>
              <a:spcAft>
                <a:spcPts val="800"/>
              </a:spcAft>
              <a:defRPr sz="1000">
                <a:solidFill>
                  <a:srgbClr val="1A202C"/>
                </a:solidFill>
                <a:latin typeface="Calibri"/>
              </a:defRPr>
            </a:pPr>
            <a:r>
              <a:t>-  Contextual simulation &amp; intelligent role recommendation.</a:t>
            </a:r>
          </a:p>
        </p:txBody>
      </p:sp>
      <p:sp>
        <p:nvSpPr>
          <p:cNvPr id="18" name="Rounded Rectangle 17"/>
          <p:cNvSpPr/>
          <p:nvPr/>
        </p:nvSpPr>
        <p:spPr>
          <a:xfrm>
            <a:off x="731520" y="5440680"/>
            <a:ext cx="10728655" cy="685800"/>
          </a:xfrm>
          <a:prstGeom prst="roundRect">
            <a:avLst/>
          </a:prstGeom>
          <a:solidFill>
            <a:srgbClr val="FEF2F2"/>
          </a:solidFill>
          <a:ln w="127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532120"/>
            <a:ext cx="10332720" cy="502920"/>
          </a:xfrm>
          <a:prstGeom prst="rect">
            <a:avLst/>
          </a:prstGeom>
          <a:noFill/>
        </p:spPr>
        <p:txBody>
          <a:bodyPr wrap="square" tIns="0" lIns="0" bIns="0" rIns="0">
            <a:spAutoFit/>
          </a:bodyPr>
          <a:lstStyle/>
          <a:p>
            <a:pPr>
              <a:defRPr sz="1100" b="1">
                <a:solidFill>
                  <a:srgbClr val="E30613"/>
                </a:solidFill>
                <a:latin typeface="Arial"/>
              </a:defRPr>
            </a:pPr>
            <a:r>
              <a:t>Key Dialogue Takeaway for CPO: </a:t>
            </a:r>
            <a:r>
              <a:rPr sz="1050" b="0">
                <a:solidFill>
                  <a:srgbClr val="1A202C"/>
                </a:solidFill>
                <a:latin typeface="Calibri"/>
              </a:rPr>
              <a:t>Lumbini Elite cleanses enterprise authorization data and enforces BTP standards today, creating the prerequisite semantic foundation for SAP Joule AI to govern tomorrow.</a:t>
            </a:r>
          </a:p>
        </p:txBody>
      </p:sp>
      <p:sp>
        <p:nvSpPr>
          <p:cNvPr id="20" name="Rectangle 1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355080"/>
            <a:ext cx="7772400" cy="274320"/>
          </a:xfrm>
          <a:prstGeom prst="rect">
            <a:avLst/>
          </a:prstGeom>
          <a:noFill/>
        </p:spPr>
        <p:txBody>
          <a:bodyPr wrap="none" lIns="0" tIns="0" bIns="0" rIns="0">
            <a:spAutoFit/>
          </a:bodyPr>
          <a:lstStyle/>
          <a:p>
            <a:pPr>
              <a:defRPr sz="900">
                <a:solidFill>
                  <a:srgbClr val="64748B"/>
                </a:solidFill>
                <a:latin typeface="Calibri"/>
              </a:defRPr>
            </a:pPr>
            <a:r>
              <a:t>Lumbini Elite Solutions  |  Executive Follow-Up with Swetha, CPO of SAP GRC</a:t>
            </a:r>
          </a:p>
        </p:txBody>
      </p:sp>
      <p:sp>
        <p:nvSpPr>
          <p:cNvPr id="22" name="TextBox 21"/>
          <p:cNvSpPr txBox="1"/>
          <p:nvPr/>
        </p:nvSpPr>
        <p:spPr>
          <a:xfrm>
            <a:off x="10088575" y="6355080"/>
            <a:ext cx="1371600" cy="274320"/>
          </a:xfrm>
          <a:prstGeom prst="rect">
            <a:avLst/>
          </a:prstGeom>
          <a:noFill/>
        </p:spPr>
        <p:txBody>
          <a:bodyPr wrap="none" lIns="0" tIns="0" bIns="0" rIns="0">
            <a:spAutoFit/>
          </a:bodyPr>
          <a:lstStyle/>
          <a:p>
            <a:pPr algn="r">
              <a:defRPr sz="900">
                <a:solidFill>
                  <a:srgbClr val="64748B"/>
                </a:solidFill>
                <a:latin typeface="Calibri"/>
              </a:defRPr>
            </a:pPr>
            <a:r>
              <a:t>Slide 2 of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 cy="50292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438912"/>
            <a:ext cx="10424160" cy="411480"/>
          </a:xfrm>
          <a:prstGeom prst="rect">
            <a:avLst/>
          </a:prstGeom>
          <a:noFill/>
        </p:spPr>
        <p:txBody>
          <a:bodyPr wrap="square" lIns="0" tIns="0" rIns="0" bIns="0">
            <a:spAutoFit/>
          </a:bodyPr>
          <a:lstStyle/>
          <a:p>
            <a:pPr>
              <a:defRPr sz="2200" b="1">
                <a:solidFill>
                  <a:srgbClr val="1A202C"/>
                </a:solidFill>
                <a:latin typeface="Arial"/>
              </a:defRPr>
            </a:pPr>
            <a:r>
              <a:t>Proven Field Scale &amp; Operational Metrics</a:t>
            </a:r>
          </a:p>
        </p:txBody>
      </p:sp>
      <p:sp>
        <p:nvSpPr>
          <p:cNvPr id="5" name="TextBox 4"/>
          <p:cNvSpPr txBox="1"/>
          <p:nvPr/>
        </p:nvSpPr>
        <p:spPr>
          <a:xfrm>
            <a:off x="960120" y="896112"/>
            <a:ext cx="10424160" cy="320040"/>
          </a:xfrm>
          <a:prstGeom prst="rect">
            <a:avLst/>
          </a:prstGeom>
          <a:noFill/>
        </p:spPr>
        <p:txBody>
          <a:bodyPr wrap="square" lIns="0" tIns="0" rIns="0" bIns="0">
            <a:spAutoFit/>
          </a:bodyPr>
          <a:lstStyle/>
          <a:p>
            <a:pPr>
              <a:defRPr sz="1200" i="1">
                <a:solidFill>
                  <a:srgbClr val="64748B"/>
                </a:solidFill>
                <a:latin typeface="Calibri"/>
              </a:defRPr>
            </a:pPr>
            <a:r>
              <a:t>Demonstrated enterprise reliability, maintenance efficiency, and SLA compliance at scale.</a:t>
            </a:r>
          </a:p>
        </p:txBody>
      </p:sp>
      <p:sp>
        <p:nvSpPr>
          <p:cNvPr id="6" name="Rounded Rectangle 5"/>
          <p:cNvSpPr/>
          <p:nvPr/>
        </p:nvSpPr>
        <p:spPr>
          <a:xfrm>
            <a:off x="731520" y="141732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81912"/>
            <a:ext cx="2880360" cy="1591056"/>
          </a:xfrm>
          <a:prstGeom prst="rect">
            <a:avLst/>
          </a:prstGeom>
          <a:noFill/>
        </p:spPr>
        <p:txBody>
          <a:bodyPr wrap="square" tIns="0" lIns="0" bIns="0" rIns="0">
            <a:spAutoFit/>
          </a:bodyPr>
          <a:lstStyle/>
          <a:p>
            <a:pPr>
              <a:spcAft>
                <a:spcPts val="200"/>
              </a:spcAft>
              <a:defRPr sz="2800" b="1">
                <a:solidFill>
                  <a:srgbClr val="E30613"/>
                </a:solidFill>
                <a:latin typeface="Arial"/>
              </a:defRPr>
            </a:pPr>
            <a:r>
              <a:t>90%</a:t>
            </a:r>
          </a:p>
          <a:p>
            <a:pPr>
              <a:defRPr sz="1100" b="1">
                <a:solidFill>
                  <a:srgbClr val="1A202C"/>
                </a:solidFill>
                <a:latin typeface="Arial"/>
              </a:defRPr>
            </a:pPr>
            <a:r>
              <a:t>Provisioning Time Reduction</a:t>
            </a:r>
          </a:p>
          <a:p>
            <a:pPr>
              <a:spcAft>
                <a:spcPts val="500"/>
              </a:spcAft>
              <a:defRPr sz="950" b="1">
                <a:solidFill>
                  <a:srgbClr val="E30613"/>
                </a:solidFill>
                <a:latin typeface="Calibri"/>
              </a:defRPr>
            </a:pPr>
            <a:r>
              <a:t>Global Analytics &amp; Cloud Estates</a:t>
            </a:r>
          </a:p>
          <a:p>
            <a:pPr>
              <a:defRPr sz="950">
                <a:solidFill>
                  <a:srgbClr val="64748B"/>
                </a:solidFill>
                <a:latin typeface="Calibri"/>
              </a:defRPr>
            </a:pPr>
            <a:r>
              <a:t>Transformed 5-day manual ticketing bottlenecks into automated, policy-compliant 4-hour approvals.</a:t>
            </a:r>
          </a:p>
        </p:txBody>
      </p:sp>
      <p:sp>
        <p:nvSpPr>
          <p:cNvPr id="8" name="Rounded Rectangle 7"/>
          <p:cNvSpPr/>
          <p:nvPr/>
        </p:nvSpPr>
        <p:spPr>
          <a:xfrm>
            <a:off x="4425696" y="141732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581912"/>
            <a:ext cx="2880360" cy="1591056"/>
          </a:xfrm>
          <a:prstGeom prst="rect">
            <a:avLst/>
          </a:prstGeom>
          <a:noFill/>
        </p:spPr>
        <p:txBody>
          <a:bodyPr wrap="square" tIns="0" lIns="0" bIns="0" rIns="0">
            <a:spAutoFit/>
          </a:bodyPr>
          <a:lstStyle/>
          <a:p>
            <a:pPr>
              <a:spcAft>
                <a:spcPts val="200"/>
              </a:spcAft>
              <a:defRPr sz="2800" b="1">
                <a:solidFill>
                  <a:srgbClr val="E30613"/>
                </a:solidFill>
                <a:latin typeface="Arial"/>
              </a:defRPr>
            </a:pPr>
            <a:r>
              <a:t>60%</a:t>
            </a:r>
          </a:p>
          <a:p>
            <a:pPr>
              <a:defRPr sz="1100" b="1">
                <a:solidFill>
                  <a:srgbClr val="1A202C"/>
                </a:solidFill>
                <a:latin typeface="Arial"/>
              </a:defRPr>
            </a:pPr>
            <a:r>
              <a:t>Maintenance Overhead Drop</a:t>
            </a:r>
          </a:p>
          <a:p>
            <a:pPr>
              <a:spcAft>
                <a:spcPts val="500"/>
              </a:spcAft>
              <a:defRPr sz="950" b="1">
                <a:solidFill>
                  <a:srgbClr val="E30613"/>
                </a:solidFill>
                <a:latin typeface="Calibri"/>
              </a:defRPr>
            </a:pPr>
            <a:r>
              <a:t>20,000+ Global Users Scaled</a:t>
            </a:r>
          </a:p>
          <a:p>
            <a:pPr>
              <a:defRPr sz="950">
                <a:solidFill>
                  <a:srgbClr val="64748B"/>
                </a:solidFill>
                <a:latin typeface="Calibri"/>
              </a:defRPr>
            </a:pPr>
            <a:r>
              <a:t>Slashed recurring administrative effort via role rationalization, composite pruning, and automated re-certification.</a:t>
            </a:r>
          </a:p>
        </p:txBody>
      </p:sp>
      <p:sp>
        <p:nvSpPr>
          <p:cNvPr id="10" name="Rounded Rectangle 9"/>
          <p:cNvSpPr/>
          <p:nvPr/>
        </p:nvSpPr>
        <p:spPr>
          <a:xfrm>
            <a:off x="8119872" y="1417320"/>
            <a:ext cx="333756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1581912"/>
            <a:ext cx="2880360" cy="1591056"/>
          </a:xfrm>
          <a:prstGeom prst="rect">
            <a:avLst/>
          </a:prstGeom>
          <a:noFill/>
        </p:spPr>
        <p:txBody>
          <a:bodyPr wrap="square" tIns="0" lIns="0" bIns="0" rIns="0">
            <a:spAutoFit/>
          </a:bodyPr>
          <a:lstStyle/>
          <a:p>
            <a:pPr>
              <a:spcAft>
                <a:spcPts val="200"/>
              </a:spcAft>
              <a:defRPr sz="2800" b="1">
                <a:solidFill>
                  <a:srgbClr val="E30613"/>
                </a:solidFill>
                <a:latin typeface="Arial"/>
              </a:defRPr>
            </a:pPr>
            <a:r>
              <a:t>&lt; 2 Hours</a:t>
            </a:r>
          </a:p>
          <a:p>
            <a:pPr>
              <a:defRPr sz="1100" b="1">
                <a:solidFill>
                  <a:srgbClr val="1A202C"/>
                </a:solidFill>
                <a:latin typeface="Arial"/>
              </a:defRPr>
            </a:pPr>
            <a:r>
              <a:t>IP Access SLAs</a:t>
            </a:r>
          </a:p>
          <a:p>
            <a:pPr>
              <a:spcAft>
                <a:spcPts val="500"/>
              </a:spcAft>
              <a:defRPr sz="950" b="1">
                <a:solidFill>
                  <a:srgbClr val="E30613"/>
                </a:solidFill>
                <a:latin typeface="Calibri"/>
              </a:defRPr>
            </a:pPr>
            <a:r>
              <a:t>GRC CUP / ARM Automation</a:t>
            </a:r>
          </a:p>
          <a:p>
            <a:pPr>
              <a:defRPr sz="950">
                <a:solidFill>
                  <a:srgbClr val="64748B"/>
                </a:solidFill>
                <a:latin typeface="Calibri"/>
              </a:defRPr>
            </a:pPr>
            <a:r>
              <a:t>Guaranteed firefighter emergency role elevation with zero-touch provisioning and continuous audit logging.</a:t>
            </a:r>
          </a:p>
        </p:txBody>
      </p:sp>
      <p:sp>
        <p:nvSpPr>
          <p:cNvPr id="12" name="Rounded Rectangle 11"/>
          <p:cNvSpPr/>
          <p:nvPr/>
        </p:nvSpPr>
        <p:spPr>
          <a:xfrm>
            <a:off x="731520" y="3566160"/>
            <a:ext cx="5184648"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49039"/>
            <a:ext cx="4727448" cy="2194560"/>
          </a:xfrm>
          <a:prstGeom prst="rect">
            <a:avLst/>
          </a:prstGeom>
          <a:noFill/>
        </p:spPr>
        <p:txBody>
          <a:bodyPr wrap="square" tIns="0" lIns="0" bIns="0" rIns="0">
            <a:spAutoFit/>
          </a:bodyPr>
          <a:lstStyle/>
          <a:p>
            <a:pPr>
              <a:spcAft>
                <a:spcPts val="800"/>
              </a:spcAft>
              <a:defRPr sz="1300" b="1">
                <a:solidFill>
                  <a:srgbClr val="1A202C"/>
                </a:solidFill>
                <a:latin typeface="Arial"/>
              </a:defRPr>
            </a:pPr>
            <a:r>
              <a:t>Operational Field Rigor (Validated Architecture)</a:t>
            </a:r>
          </a:p>
          <a:p>
            <a:pPr>
              <a:spcAft>
                <a:spcPts val="600"/>
              </a:spcAft>
              <a:defRPr sz="1000">
                <a:solidFill>
                  <a:srgbClr val="1A202C"/>
                </a:solidFill>
                <a:latin typeface="Calibri"/>
              </a:defRPr>
            </a:pPr>
            <a:r>
              <a:t>-  Complex Multi-Instance Support: Flawless governance orchestration across on-prem ECC 6.0, S/4HANA, and BTP.</a:t>
            </a:r>
          </a:p>
          <a:p>
            <a:pPr>
              <a:spcAft>
                <a:spcPts val="600"/>
              </a:spcAft>
              <a:defRPr sz="1000">
                <a:solidFill>
                  <a:srgbClr val="1A202C"/>
                </a:solidFill>
                <a:latin typeface="Calibri"/>
              </a:defRPr>
            </a:pPr>
            <a:r>
              <a:t>-  Zero-Defect Audit Performance: 100% pass rate under SOX-404, ISO-27001, and global data privacy audits.</a:t>
            </a:r>
          </a:p>
          <a:p>
            <a:pPr>
              <a:spcAft>
                <a:spcPts val="600"/>
              </a:spcAft>
              <a:defRPr sz="1000">
                <a:solidFill>
                  <a:srgbClr val="1A202C"/>
                </a:solidFill>
                <a:latin typeface="Calibri"/>
              </a:defRPr>
            </a:pPr>
            <a:r>
              <a:t>-  Automated ARM/CUP Routing: 99.9% automated routing accuracy, eliminating manual helpdesk escalation.</a:t>
            </a:r>
          </a:p>
        </p:txBody>
      </p:sp>
      <p:sp>
        <p:nvSpPr>
          <p:cNvPr id="14" name="Rounded Rectangle 13"/>
          <p:cNvSpPr/>
          <p:nvPr/>
        </p:nvSpPr>
        <p:spPr>
          <a:xfrm>
            <a:off x="6272783" y="3566160"/>
            <a:ext cx="5184648"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3" y="3749039"/>
            <a:ext cx="4727448" cy="2194560"/>
          </a:xfrm>
          <a:prstGeom prst="rect">
            <a:avLst/>
          </a:prstGeom>
          <a:noFill/>
        </p:spPr>
        <p:txBody>
          <a:bodyPr wrap="square" tIns="0" lIns="0" bIns="0" rIns="0">
            <a:spAutoFit/>
          </a:bodyPr>
          <a:lstStyle/>
          <a:p>
            <a:pPr>
              <a:spcAft>
                <a:spcPts val="800"/>
              </a:spcAft>
              <a:defRPr sz="1300" b="1">
                <a:solidFill>
                  <a:srgbClr val="1A202C"/>
                </a:solidFill>
                <a:latin typeface="Arial"/>
              </a:defRPr>
            </a:pPr>
            <a:r>
              <a:t>Direct Value for the SAP CPO Roadmap</a:t>
            </a:r>
          </a:p>
          <a:p>
            <a:pPr>
              <a:spcAft>
                <a:spcPts val="600"/>
              </a:spcAft>
              <a:defRPr sz="1000">
                <a:solidFill>
                  <a:srgbClr val="1A202C"/>
                </a:solidFill>
                <a:latin typeface="Calibri"/>
              </a:defRPr>
            </a:pPr>
            <a:r>
              <a:t>-  De-risks Cloud Migrations: Eliminates customer hesitation by proving seamless coexistence of on-prem GRC and IAG.</a:t>
            </a:r>
          </a:p>
          <a:p>
            <a:pPr>
              <a:spcAft>
                <a:spcPts val="600"/>
              </a:spcAft>
              <a:defRPr sz="1000">
                <a:solidFill>
                  <a:srgbClr val="1A202C"/>
                </a:solidFill>
                <a:latin typeface="Calibri"/>
              </a:defRPr>
            </a:pPr>
            <a:r>
              <a:t>-  Reduces Post-Go-Live Churn: Clean authorization design cuts customer governance support tickets by over 70%.</a:t>
            </a:r>
          </a:p>
          <a:p>
            <a:pPr>
              <a:spcAft>
                <a:spcPts val="600"/>
              </a:spcAft>
              <a:defRPr sz="1000">
                <a:solidFill>
                  <a:srgbClr val="1A202C"/>
                </a:solidFill>
                <a:latin typeface="Calibri"/>
              </a:defRPr>
            </a:pPr>
            <a:r>
              <a:t>-  Field Telemetry Loop: Provides real-world connector benchmarks and edge-case telemetry directly to SAP engineering.</a:t>
            </a:r>
          </a:p>
        </p:txBody>
      </p:sp>
      <p:sp>
        <p:nvSpPr>
          <p:cNvPr id="16" name="Rectangle 15"/>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55080"/>
            <a:ext cx="7772400" cy="274320"/>
          </a:xfrm>
          <a:prstGeom prst="rect">
            <a:avLst/>
          </a:prstGeom>
          <a:noFill/>
        </p:spPr>
        <p:txBody>
          <a:bodyPr wrap="none" lIns="0" tIns="0" bIns="0" rIns="0">
            <a:spAutoFit/>
          </a:bodyPr>
          <a:lstStyle/>
          <a:p>
            <a:pPr>
              <a:defRPr sz="900">
                <a:solidFill>
                  <a:srgbClr val="64748B"/>
                </a:solidFill>
                <a:latin typeface="Calibri"/>
              </a:defRPr>
            </a:pPr>
            <a:r>
              <a:t>Lumbini Elite Solutions  |  Executive Follow-Up with Swetha, CPO of SAP GRC</a:t>
            </a:r>
          </a:p>
        </p:txBody>
      </p:sp>
      <p:sp>
        <p:nvSpPr>
          <p:cNvPr id="18" name="TextBox 17"/>
          <p:cNvSpPr txBox="1"/>
          <p:nvPr/>
        </p:nvSpPr>
        <p:spPr>
          <a:xfrm>
            <a:off x="10088575" y="6355080"/>
            <a:ext cx="1371600" cy="274320"/>
          </a:xfrm>
          <a:prstGeom prst="rect">
            <a:avLst/>
          </a:prstGeom>
          <a:noFill/>
        </p:spPr>
        <p:txBody>
          <a:bodyPr wrap="none" lIns="0" tIns="0" bIns="0" rIns="0">
            <a:spAutoFit/>
          </a:bodyPr>
          <a:lstStyle/>
          <a:p>
            <a:pPr algn="r">
              <a:defRPr sz="900">
                <a:solidFill>
                  <a:srgbClr val="64748B"/>
                </a:solidFill>
                <a:latin typeface="Calibri"/>
              </a:defRPr>
            </a:pPr>
            <a:r>
              <a:t>Slide 3 of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02920"/>
            <a:ext cx="73152" cy="502920"/>
          </a:xfrm>
          <a:prstGeom prst="rect">
            <a:avLst/>
          </a:prstGeom>
          <a:solidFill>
            <a:srgbClr val="E3061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438912"/>
            <a:ext cx="10424160" cy="411480"/>
          </a:xfrm>
          <a:prstGeom prst="rect">
            <a:avLst/>
          </a:prstGeom>
          <a:noFill/>
        </p:spPr>
        <p:txBody>
          <a:bodyPr wrap="square" lIns="0" tIns="0" rIns="0" bIns="0">
            <a:spAutoFit/>
          </a:bodyPr>
          <a:lstStyle/>
          <a:p>
            <a:pPr>
              <a:defRPr sz="2200" b="1">
                <a:solidFill>
                  <a:srgbClr val="1A202C"/>
                </a:solidFill>
                <a:latin typeface="Arial"/>
              </a:defRPr>
            </a:pPr>
            <a:r>
              <a:t>Partnership Proposal &amp; Next Steps</a:t>
            </a:r>
          </a:p>
        </p:txBody>
      </p:sp>
      <p:sp>
        <p:nvSpPr>
          <p:cNvPr id="5" name="TextBox 4"/>
          <p:cNvSpPr txBox="1"/>
          <p:nvPr/>
        </p:nvSpPr>
        <p:spPr>
          <a:xfrm>
            <a:off x="960120" y="896112"/>
            <a:ext cx="10424160" cy="320040"/>
          </a:xfrm>
          <a:prstGeom prst="rect">
            <a:avLst/>
          </a:prstGeom>
          <a:noFill/>
        </p:spPr>
        <p:txBody>
          <a:bodyPr wrap="square" lIns="0" tIns="0" rIns="0" bIns="0">
            <a:spAutoFit/>
          </a:bodyPr>
          <a:lstStyle/>
          <a:p>
            <a:pPr>
              <a:defRPr sz="1200" i="1">
                <a:solidFill>
                  <a:srgbClr val="64748B"/>
                </a:solidFill>
                <a:latin typeface="Calibri"/>
              </a:defRPr>
            </a:pPr>
            <a:r>
              <a:t>Positioning Lumbini Elite as an agile extension of the SAP GRC CPO Office.</a:t>
            </a:r>
          </a:p>
        </p:txBody>
      </p:sp>
      <p:sp>
        <p:nvSpPr>
          <p:cNvPr id="6" name="Rounded Rectangle 5"/>
          <p:cNvSpPr/>
          <p:nvPr/>
        </p:nvSpPr>
        <p:spPr>
          <a:xfrm>
            <a:off x="731520" y="1417320"/>
            <a:ext cx="33375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645920"/>
            <a:ext cx="1097280" cy="274320"/>
          </a:xfrm>
          <a:prstGeom prst="roundRect">
            <a:avLst/>
          </a:prstGeom>
          <a:solidFill>
            <a:srgbClr val="FEF2F2"/>
          </a:solidFill>
          <a:ln w="127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73352"/>
            <a:ext cx="1097280" cy="228600"/>
          </a:xfrm>
          <a:prstGeom prst="rect">
            <a:avLst/>
          </a:prstGeom>
          <a:noFill/>
        </p:spPr>
        <p:txBody>
          <a:bodyPr wrap="none" tIns="0" lIns="0" bIns="0" rIns="0">
            <a:spAutoFit/>
          </a:bodyPr>
          <a:lstStyle/>
          <a:p>
            <a:pPr algn="ctr">
              <a:defRPr sz="900" b="1">
                <a:solidFill>
                  <a:srgbClr val="E30613"/>
                </a:solidFill>
                <a:latin typeface="Arial"/>
              </a:defRPr>
            </a:pPr>
            <a:r>
              <a:t>PILLAR 1</a:t>
            </a:r>
          </a:p>
        </p:txBody>
      </p:sp>
      <p:sp>
        <p:nvSpPr>
          <p:cNvPr id="9" name="TextBox 8"/>
          <p:cNvSpPr txBox="1"/>
          <p:nvPr/>
        </p:nvSpPr>
        <p:spPr>
          <a:xfrm>
            <a:off x="960120" y="2075688"/>
            <a:ext cx="2880360" cy="2606040"/>
          </a:xfrm>
          <a:prstGeom prst="rect">
            <a:avLst/>
          </a:prstGeom>
          <a:noFill/>
        </p:spPr>
        <p:txBody>
          <a:bodyPr wrap="square" tIns="0" lIns="0" bIns="0" rIns="0">
            <a:spAutoFit/>
          </a:bodyPr>
          <a:lstStyle/>
          <a:p>
            <a:pPr>
              <a:spcAft>
                <a:spcPts val="200"/>
              </a:spcAft>
              <a:defRPr sz="1300" b="1">
                <a:solidFill>
                  <a:srgbClr val="1A202C"/>
                </a:solidFill>
                <a:latin typeface="Arial"/>
              </a:defRPr>
            </a:pPr>
            <a:r>
              <a:t>Extension of CPO Office</a:t>
            </a:r>
          </a:p>
          <a:p>
            <a:pPr>
              <a:spcAft>
                <a:spcPts val="1200"/>
              </a:spcAft>
              <a:defRPr sz="1000" b="1">
                <a:solidFill>
                  <a:srgbClr val="E30613"/>
                </a:solidFill>
                <a:latin typeface="Calibri"/>
              </a:defRPr>
            </a:pPr>
            <a:r>
              <a:t>Agile Field Delivery Partner</a:t>
            </a:r>
          </a:p>
          <a:p>
            <a:pPr>
              <a:spcAft>
                <a:spcPts val="700"/>
              </a:spcAft>
              <a:defRPr sz="1000">
                <a:solidFill>
                  <a:srgbClr val="1A202C"/>
                </a:solidFill>
                <a:latin typeface="Calibri"/>
              </a:defRPr>
            </a:pPr>
            <a:r>
              <a:t>-  Serve as a specialized strike team for strategic SAP accounts undergoing complex GRC modernization.</a:t>
            </a:r>
          </a:p>
          <a:p>
            <a:pPr>
              <a:spcAft>
                <a:spcPts val="700"/>
              </a:spcAft>
              <a:defRPr sz="1000">
                <a:solidFill>
                  <a:srgbClr val="1A202C"/>
                </a:solidFill>
                <a:latin typeface="Calibri"/>
              </a:defRPr>
            </a:pPr>
            <a:r>
              <a:t>-  Provide rapid technical validation on new Cloud IAG API capabilities and hybrid deployment topologies.</a:t>
            </a:r>
          </a:p>
          <a:p>
            <a:pPr>
              <a:spcAft>
                <a:spcPts val="700"/>
              </a:spcAft>
              <a:defRPr sz="1000">
                <a:solidFill>
                  <a:srgbClr val="1A202C"/>
                </a:solidFill>
                <a:latin typeface="Calibri"/>
              </a:defRPr>
            </a:pPr>
            <a:r>
              <a:t>-  Funnel structured enterprise feedback and customer challenges directly to SAP product management.</a:t>
            </a:r>
          </a:p>
        </p:txBody>
      </p:sp>
      <p:sp>
        <p:nvSpPr>
          <p:cNvPr id="10" name="Rounded Rectangle 9"/>
          <p:cNvSpPr/>
          <p:nvPr/>
        </p:nvSpPr>
        <p:spPr>
          <a:xfrm>
            <a:off x="4425696" y="1417320"/>
            <a:ext cx="33375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54296" y="1645920"/>
            <a:ext cx="1097280" cy="274320"/>
          </a:xfrm>
          <a:prstGeom prst="roundRect">
            <a:avLst/>
          </a:prstGeom>
          <a:solidFill>
            <a:srgbClr val="FEF2F2"/>
          </a:solidFill>
          <a:ln w="127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54296" y="1673352"/>
            <a:ext cx="1097280" cy="228600"/>
          </a:xfrm>
          <a:prstGeom prst="rect">
            <a:avLst/>
          </a:prstGeom>
          <a:noFill/>
        </p:spPr>
        <p:txBody>
          <a:bodyPr wrap="none" tIns="0" lIns="0" bIns="0" rIns="0">
            <a:spAutoFit/>
          </a:bodyPr>
          <a:lstStyle/>
          <a:p>
            <a:pPr algn="ctr">
              <a:defRPr sz="900" b="1">
                <a:solidFill>
                  <a:srgbClr val="E30613"/>
                </a:solidFill>
                <a:latin typeface="Arial"/>
              </a:defRPr>
            </a:pPr>
            <a:r>
              <a:t>PILLAR 2</a:t>
            </a:r>
          </a:p>
        </p:txBody>
      </p:sp>
      <p:sp>
        <p:nvSpPr>
          <p:cNvPr id="13" name="TextBox 12"/>
          <p:cNvSpPr txBox="1"/>
          <p:nvPr/>
        </p:nvSpPr>
        <p:spPr>
          <a:xfrm>
            <a:off x="4654296" y="2075688"/>
            <a:ext cx="2880360" cy="2606040"/>
          </a:xfrm>
          <a:prstGeom prst="rect">
            <a:avLst/>
          </a:prstGeom>
          <a:noFill/>
        </p:spPr>
        <p:txBody>
          <a:bodyPr wrap="square" tIns="0" lIns="0" bIns="0" rIns="0">
            <a:spAutoFit/>
          </a:bodyPr>
          <a:lstStyle/>
          <a:p>
            <a:pPr>
              <a:spcAft>
                <a:spcPts val="200"/>
              </a:spcAft>
              <a:defRPr sz="1300" b="1">
                <a:solidFill>
                  <a:srgbClr val="1A202C"/>
                </a:solidFill>
                <a:latin typeface="Arial"/>
              </a:defRPr>
            </a:pPr>
            <a:r>
              <a:t>Pre-Cloud Remediation Accelerators</a:t>
            </a:r>
          </a:p>
          <a:p>
            <a:pPr>
              <a:spcAft>
                <a:spcPts val="1200"/>
              </a:spcAft>
              <a:defRPr sz="1000" b="1">
                <a:solidFill>
                  <a:srgbClr val="E30613"/>
                </a:solidFill>
                <a:latin typeface="Calibri"/>
              </a:defRPr>
            </a:pPr>
            <a:r>
              <a:t>De-Risking Customer Onboarding</a:t>
            </a:r>
          </a:p>
          <a:p>
            <a:pPr>
              <a:spcAft>
                <a:spcPts val="700"/>
              </a:spcAft>
              <a:defRPr sz="1000">
                <a:solidFill>
                  <a:srgbClr val="1A202C"/>
                </a:solidFill>
                <a:latin typeface="Calibri"/>
              </a:defRPr>
            </a:pPr>
            <a:r>
              <a:t>-  Offer proven toolkits that scrub legacy custom ABAP code and obsolete t-codes before cloud migration.</a:t>
            </a:r>
          </a:p>
          <a:p>
            <a:pPr>
              <a:spcAft>
                <a:spcPts val="700"/>
              </a:spcAft>
              <a:defRPr sz="1000">
                <a:solidFill>
                  <a:srgbClr val="1A202C"/>
                </a:solidFill>
                <a:latin typeface="Calibri"/>
              </a:defRPr>
            </a:pPr>
            <a:r>
              <a:t>-  Automate SoD rule-set rationalization, cutting pre-migration readiness time by over 40%.</a:t>
            </a:r>
          </a:p>
          <a:p>
            <a:pPr>
              <a:spcAft>
                <a:spcPts val="700"/>
              </a:spcAft>
              <a:defRPr sz="1000">
                <a:solidFill>
                  <a:srgbClr val="1A202C"/>
                </a:solidFill>
                <a:latin typeface="Calibri"/>
              </a:defRPr>
            </a:pPr>
            <a:r>
              <a:t>-  Ensure clean, standard-compliant role catalogs for friction-free Cloud IAG adoption.</a:t>
            </a:r>
          </a:p>
        </p:txBody>
      </p:sp>
      <p:sp>
        <p:nvSpPr>
          <p:cNvPr id="14" name="Rounded Rectangle 13"/>
          <p:cNvSpPr/>
          <p:nvPr/>
        </p:nvSpPr>
        <p:spPr>
          <a:xfrm>
            <a:off x="8119872" y="1417320"/>
            <a:ext cx="333756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48472" y="1645920"/>
            <a:ext cx="1097280" cy="274320"/>
          </a:xfrm>
          <a:prstGeom prst="roundRect">
            <a:avLst/>
          </a:prstGeom>
          <a:solidFill>
            <a:srgbClr val="FEF2F2"/>
          </a:solidFill>
          <a:ln w="1270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1673352"/>
            <a:ext cx="1097280" cy="228600"/>
          </a:xfrm>
          <a:prstGeom prst="rect">
            <a:avLst/>
          </a:prstGeom>
          <a:noFill/>
        </p:spPr>
        <p:txBody>
          <a:bodyPr wrap="none" tIns="0" lIns="0" bIns="0" rIns="0">
            <a:spAutoFit/>
          </a:bodyPr>
          <a:lstStyle/>
          <a:p>
            <a:pPr algn="ctr">
              <a:defRPr sz="900" b="1">
                <a:solidFill>
                  <a:srgbClr val="E30613"/>
                </a:solidFill>
                <a:latin typeface="Arial"/>
              </a:defRPr>
            </a:pPr>
            <a:r>
              <a:t>PILLAR 3</a:t>
            </a:r>
          </a:p>
        </p:txBody>
      </p:sp>
      <p:sp>
        <p:nvSpPr>
          <p:cNvPr id="17" name="TextBox 16"/>
          <p:cNvSpPr txBox="1"/>
          <p:nvPr/>
        </p:nvSpPr>
        <p:spPr>
          <a:xfrm>
            <a:off x="8348472" y="2075688"/>
            <a:ext cx="2880360" cy="2606040"/>
          </a:xfrm>
          <a:prstGeom prst="rect">
            <a:avLst/>
          </a:prstGeom>
          <a:noFill/>
        </p:spPr>
        <p:txBody>
          <a:bodyPr wrap="square" tIns="0" lIns="0" bIns="0" rIns="0">
            <a:spAutoFit/>
          </a:bodyPr>
          <a:lstStyle/>
          <a:p>
            <a:pPr>
              <a:spcAft>
                <a:spcPts val="200"/>
              </a:spcAft>
              <a:defRPr sz="1300" b="1">
                <a:solidFill>
                  <a:srgbClr val="1A202C"/>
                </a:solidFill>
                <a:latin typeface="Arial"/>
              </a:defRPr>
            </a:pPr>
            <a:r>
              <a:t>Joint Technical Workshop Pilot</a:t>
            </a:r>
          </a:p>
          <a:p>
            <a:pPr>
              <a:spcAft>
                <a:spcPts val="1200"/>
              </a:spcAft>
              <a:defRPr sz="1000" b="1">
                <a:solidFill>
                  <a:srgbClr val="E30613"/>
                </a:solidFill>
                <a:latin typeface="Calibri"/>
              </a:defRPr>
            </a:pPr>
            <a:r>
              <a:t>30-Day Co-Innovation Sprint</a:t>
            </a:r>
          </a:p>
          <a:p>
            <a:pPr>
              <a:spcAft>
                <a:spcPts val="700"/>
              </a:spcAft>
              <a:defRPr sz="1000">
                <a:solidFill>
                  <a:srgbClr val="1A202C"/>
                </a:solidFill>
                <a:latin typeface="Calibri"/>
              </a:defRPr>
            </a:pPr>
            <a:r>
              <a:t>-  Conduct a 2-week joint working session with SAP GRC engineering on Joule AI role metadata templates.</a:t>
            </a:r>
          </a:p>
          <a:p>
            <a:pPr>
              <a:spcAft>
                <a:spcPts val="700"/>
              </a:spcAft>
              <a:defRPr sz="1000">
                <a:solidFill>
                  <a:srgbClr val="1A202C"/>
                </a:solidFill>
                <a:latin typeface="Calibri"/>
              </a:defRPr>
            </a:pPr>
            <a:r>
              <a:t>-  Deploy a joint prototype on a nominated lighthouse enterprise client to validate real-world impact.</a:t>
            </a:r>
          </a:p>
          <a:p>
            <a:pPr>
              <a:spcAft>
                <a:spcPts val="700"/>
              </a:spcAft>
              <a:defRPr sz="1000">
                <a:solidFill>
                  <a:srgbClr val="1A202C"/>
                </a:solidFill>
                <a:latin typeface="Calibri"/>
              </a:defRPr>
            </a:pPr>
            <a:r>
              <a:t>-  Co-author an executive case study and co-present outcomes at SAP Sapphire.</a:t>
            </a:r>
          </a:p>
        </p:txBody>
      </p:sp>
      <p:sp>
        <p:nvSpPr>
          <p:cNvPr id="18" name="Rounded Rectangle 17"/>
          <p:cNvSpPr/>
          <p:nvPr/>
        </p:nvSpPr>
        <p:spPr>
          <a:xfrm>
            <a:off x="731520" y="5029200"/>
            <a:ext cx="10728655" cy="1051560"/>
          </a:xfrm>
          <a:prstGeom prst="roundRect">
            <a:avLst/>
          </a:prstGeom>
          <a:solidFill>
            <a:srgbClr val="FFFFFF"/>
          </a:solidFill>
          <a:ln w="19050">
            <a:solidFill>
              <a:srgbClr val="E3061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138928"/>
            <a:ext cx="10149840" cy="822960"/>
          </a:xfrm>
          <a:prstGeom prst="rect">
            <a:avLst/>
          </a:prstGeom>
          <a:noFill/>
        </p:spPr>
        <p:txBody>
          <a:bodyPr wrap="square" tIns="0" lIns="0" bIns="0" rIns="0">
            <a:spAutoFit/>
          </a:bodyPr>
          <a:lstStyle/>
          <a:p>
            <a:pPr>
              <a:spcAft>
                <a:spcPts val="300"/>
              </a:spcAft>
              <a:defRPr sz="1200" b="1">
                <a:solidFill>
                  <a:srgbClr val="E30613"/>
                </a:solidFill>
                <a:latin typeface="Arial"/>
              </a:defRPr>
            </a:pPr>
            <a:r>
              <a:t>Proposed Immediate Next Step: 45-Minute Working Session</a:t>
            </a:r>
          </a:p>
          <a:p>
            <a:pPr>
              <a:defRPr sz="1100">
                <a:solidFill>
                  <a:srgbClr val="1A202C"/>
                </a:solidFill>
                <a:latin typeface="Calibri"/>
              </a:defRPr>
            </a:pPr>
            <a:r>
              <a:t>Schedule a 45-minute technical alignment between Hemanth Kumar (Lumbini Elite) and the SAP GRC Product Architecture Lead to define the Phase 1 workshop agenda and establish criteria for a lighthouse pilot.</a:t>
            </a:r>
          </a:p>
        </p:txBody>
      </p:sp>
      <p:sp>
        <p:nvSpPr>
          <p:cNvPr id="20" name="Rectangle 19"/>
          <p:cNvSpPr/>
          <p:nvPr/>
        </p:nvSpPr>
        <p:spPr>
          <a:xfrm>
            <a:off x="731520" y="63093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355080"/>
            <a:ext cx="7772400" cy="274320"/>
          </a:xfrm>
          <a:prstGeom prst="rect">
            <a:avLst/>
          </a:prstGeom>
          <a:noFill/>
        </p:spPr>
        <p:txBody>
          <a:bodyPr wrap="none" lIns="0" tIns="0" bIns="0" rIns="0">
            <a:spAutoFit/>
          </a:bodyPr>
          <a:lstStyle/>
          <a:p>
            <a:pPr>
              <a:defRPr sz="900">
                <a:solidFill>
                  <a:srgbClr val="64748B"/>
                </a:solidFill>
                <a:latin typeface="Calibri"/>
              </a:defRPr>
            </a:pPr>
            <a:r>
              <a:t>Lumbini Elite Solutions  |  Executive Follow-Up with Swetha, CPO of SAP GRC</a:t>
            </a:r>
          </a:p>
        </p:txBody>
      </p:sp>
      <p:sp>
        <p:nvSpPr>
          <p:cNvPr id="22" name="TextBox 21"/>
          <p:cNvSpPr txBox="1"/>
          <p:nvPr/>
        </p:nvSpPr>
        <p:spPr>
          <a:xfrm>
            <a:off x="10088575" y="6355080"/>
            <a:ext cx="1371600" cy="274320"/>
          </a:xfrm>
          <a:prstGeom prst="rect">
            <a:avLst/>
          </a:prstGeom>
          <a:noFill/>
        </p:spPr>
        <p:txBody>
          <a:bodyPr wrap="none" lIns="0" tIns="0" bIns="0" rIns="0">
            <a:spAutoFit/>
          </a:bodyPr>
          <a:lstStyle/>
          <a:p>
            <a:pPr algn="r">
              <a:defRPr sz="900">
                <a:solidFill>
                  <a:srgbClr val="64748B"/>
                </a:solidFill>
                <a:latin typeface="Calibri"/>
              </a:defRPr>
            </a:pPr>
            <a:r>
              <a:t>Slide 4 of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