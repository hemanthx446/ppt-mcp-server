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4114800" cy="329184"/>
          </a:xfrm>
          <a:prstGeom prst="roundRect">
            <a:avLst/>
          </a:prstGeom>
          <a:solidFill>
            <a:srgbClr val="151F3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STRATEGIC SAP BTP ARCHITECTURE &amp;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Ecosystem Alignment &amp;</a:t>
            </a:r>
            <a:br/>
            <a:r>
              <a:t>Collaborative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BAD7E9"/>
                </a:solidFill>
                <a:latin typeface="Arial"/>
              </a:defRPr>
            </a:pPr>
            <a:r>
              <a:t>Empowering Multi-Division Discrete Manufacturing &amp; Consumer Appliance Enterprises</a:t>
            </a:r>
            <a:br/>
            <a:r>
              <a:t>Keeping the S/4HANA &amp; ECC Core Clean While Accelerating Edge Innovation via SAP BTP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3328416" cy="201168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4160520"/>
            <a:ext cx="365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2962656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NON-DISRUPTIVE COLLABORATION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Wraps around legacy ECC &amp; modern S/4HANA instances seamlessly, bridging operational silos without touching core transactional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3977639"/>
            <a:ext cx="3328416" cy="201168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08576" y="4160520"/>
            <a:ext cx="36576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4343400"/>
            <a:ext cx="2962656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CLEAN CORE RESILIENCE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Enforces zero-modification extensibility, eliminating custom code bloat, cutting upgrade regressions, and maintaining 100% cloud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3977639"/>
            <a:ext cx="3328416" cy="201168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4160520"/>
            <a:ext cx="365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343400"/>
            <a:ext cx="2962656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AI-DRIVEN EDGE SPEED</a:t>
            </a:r>
          </a:p>
          <a:p>
            <a:br/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Powers intelligent shop floor workflows, dealer ecosystems, field mobility, and unified costing through enterprise-ready microservices.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STRATEGIC ARCHITECTURE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Modernizing the Enterprise: Clean Core &amp; AI-Ready via SAP BAIP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417320"/>
            <a:ext cx="329184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THE TRADITIONAL TIGHTLY-COUPLED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Direct Modifications Inside S/4HANA &amp; ECC Core</a:t>
            </a:r>
          </a:p>
          <a:p>
            <a:br/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- Sprawling Custom ABAP Code (Z-Objects):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Over 40% of standard transactions customized in core user exits and BAdIs, compounding regression risks during patch cycles.</a:t>
            </a:r>
          </a:p>
          <a:p>
            <a:br/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- Dual-Manufacturing Complexity Friction: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Simultaneous Make-to-Order (Automotive / Heavy Engineering) and Make-to-Stock (Appliances) logic colliding in single transactional tables.</a:t>
            </a:r>
          </a:p>
          <a:p>
            <a:br/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- Lengthy ERP Upgrade Cycles: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Upgrades require 6-9 months of testing and custom remediation, causing total innovation lock-in and IT resource drain.</a:t>
            </a:r>
          </a:p>
          <a:p>
            <a:br/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- Inaccessible Operational Silos: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Plant shop-floor data, dealer portals, and service logs trapped in legacy databases, unable to feed modern AI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23444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2415" y="1417320"/>
            <a:ext cx="411480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THE CLEAN CORE &amp; SAP BAIP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2415" y="1783080"/>
            <a:ext cx="46634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Side-by-Side Extensibility Powered by SAP BTP</a:t>
            </a:r>
          </a:p>
          <a:p>
            <a:br/>
            <a:pPr>
              <a:defRPr sz="1000" b="1">
                <a:solidFill>
                  <a:srgbClr val="0066CC"/>
                </a:solidFill>
                <a:latin typeface="Arial"/>
              </a:defRPr>
            </a:pPr>
            <a:r>
              <a:t>+ Pure Zero-Modification Core: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S/4HANA/ECC runs pristine standard transactions; all custom apps, workflows, and portals run side-by-side on SAP BTP.</a:t>
            </a:r>
          </a:p>
          <a:p>
            <a:br/>
            <a:pPr>
              <a:defRPr sz="1000" b="1">
                <a:solidFill>
                  <a:srgbClr val="0066CC"/>
                </a:solidFill>
                <a:latin typeface="Arial"/>
              </a:defRPr>
            </a:pPr>
            <a:r>
              <a:t>+ SAP Business AI Platform (BAIP) Foundation: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Combines mission-critical ERP data, business process context, and enterprise security guardrails into smart AI applications.</a:t>
            </a:r>
          </a:p>
          <a:p>
            <a:br/>
            <a:pPr>
              <a:defRPr sz="1000" b="1">
                <a:solidFill>
                  <a:srgbClr val="0066CC"/>
                </a:solidFill>
                <a:latin typeface="Arial"/>
              </a:defRPr>
            </a:pPr>
            <a:r>
              <a:t>+ Standardized OData &amp; Event Mesh: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Loosely-coupled asynchronous event brokers react in real time to production orders, goods movements, and service tickets.</a:t>
            </a:r>
          </a:p>
          <a:p>
            <a:br/>
            <a:pPr>
              <a:defRPr sz="1000" b="1">
                <a:solidFill>
                  <a:srgbClr val="0066CC"/>
                </a:solidFill>
                <a:latin typeface="Arial"/>
              </a:defRPr>
            </a:pPr>
            <a:r>
              <a:t>+ 60% Faster Deployment &amp; Effortless Upgrades: 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Release new dealer capabilities or shop floor apps in weeks without touching ERP core or requiring system downtime.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ENTERPRISE DATA ARCHITECTURE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Vertical 1: SAP Business Data Cloud &amp; Data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66344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A285F"/>
                </a:solidFill>
                <a:latin typeface="Arial"/>
              </a:defRPr>
            </a:pPr>
            <a:r>
              <a:t>Unified Data Fabric &amp; Agentic Analytics</a:t>
            </a:r>
          </a:p>
          <a:p>
            <a:br/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* SAP Analytics Cloud (SAC)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Combines agentic analytics, predictive forecasting, and unified enterprise planning into a single AI-ready decision-making portal.</a:t>
            </a:r>
          </a:p>
          <a:p>
            <a:br/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* SAP Datasphere &amp; Data Mesh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Harmonizes real-time operational data across multi-plant discrete manufacturing lines without physical data replication.</a:t>
            </a:r>
          </a:p>
          <a:p>
            <a:br/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* SAP Business Warehouse &amp; Databricks Open Data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Integrates telemetry from shop-floor CNC machines with historical sales data via zero-copy data federation.</a:t>
            </a:r>
          </a:p>
          <a:p>
            <a:br/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* SAP HANA Cloud &amp; Master Data Governance (MDG)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Provides high-throughput multi-model engine and automated golden-record stewardship for materials, BOMs, and vendor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2344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3774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6420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Healthium Medtech Pvt. Ltd.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Fragmented multi-plant manufacturing and distribution reporting causing 5-day month-end consolidation delays.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Enterprise data integration &amp; automated analytics reporting fabric connecting production hubs to SAC.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Real-time visibility into production yields; reduced reporting turnaround from 5 days to 2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7947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3931920"/>
            <a:ext cx="23774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2452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Hical Technologies Private Limited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High discrepancy rates in material master records across high-precision electronic manufacturing units.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Optimized master data governance (MDG) and unified analytics layer on BTP for real-time validation.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99.4% master data accuracy, 70% faster part-number onboarding, and streamlined executive decision-making.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ENTERPRISE GENAI &amp; AGENTIC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Vertical 2: SAP Business AI &amp; Autonomous Intelligent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66344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Arial"/>
              </a:defRPr>
            </a:pPr>
            <a:r>
              <a:t>Conversational, Context-Aware SAP Business AI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Joule Work &amp; Natural Language ERP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Executes complex transactional tasks (stock checks, PO approvals, production status inquiries) directly through natural conversational prompts.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Joule Autonomous Agents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Proactively identifies supply chain bottlenecks, cross-references vendor lead times, and recommends rescheduling actions before lines halt.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Joule Studio &amp; Model Customization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Enables custom LLM fine-tuning and enterprise groundings tailored to discrete engineering BOMs and appliance warranty codes.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Joule for Consultants &amp; Developers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Accelerates BTP extension delivery by 40% through AI-assisted code generation, automated testing, and SAP API discovery.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Enterprise AI Foundation Services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Pre-built connectors to Azure OpenAI, Vertex AI, and Hugging Face with robust data privacy, masking, and role-based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2344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C3AED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6420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SAIL (Steel Authority of India Limited)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Heavy industrial multi-site operations with massive query backlogs on operational plant parameters.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Deployed intelligent assistant frameworks to streamline heavy industrial operational insights and query management.</a:t>
            </a:r>
          </a:p>
          <a:p>
            <a:pPr>
              <a:defRPr sz="950" b="1">
                <a:solidFill>
                  <a:srgbClr val="7C3AED"/>
                </a:solidFill>
                <a:latin typeface="Calibri"/>
              </a:defRPr>
            </a:pPr>
            <a:r>
              <a:t>- Impact: 65% faster response times for engineering queries, enabling rapid resolution of plant maintenance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7947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393192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C3AED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2452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Taurani Holdings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Unpredictable raw material price fluctuations impacting margins across manufacturing divisions.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Integrated advanced AI models on BTP to drive predictive analytics and contextual operational efficiency.</a:t>
            </a:r>
          </a:p>
          <a:p>
            <a:pPr>
              <a:defRPr sz="950" b="1">
                <a:solidFill>
                  <a:srgbClr val="7C3AED"/>
                </a:solidFill>
                <a:latin typeface="Calibri"/>
              </a:defRPr>
            </a:pPr>
            <a:r>
              <a:t>- Impact: Enabled high-confidence procurement hedging, saving millions annually while sustaining operating margins.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HYBRID INTEGRATION, EVENT MESH &amp; B2B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Vertical 3: SAP Integration Suite &amp; Enterprise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66344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A285F"/>
                </a:solidFill>
                <a:latin typeface="Arial"/>
              </a:defRPr>
            </a:pPr>
            <a:r>
              <a:t>Mission-Critical Hybrid Integration Fabric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Agentic AI Integration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AI-driven mapping algorithms that automatically synthesize schemas across legacy EDI (ANSI X12, EDIFACT) and modern JSON REST endpoints.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Application Integration (Cloud Integration)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Out-of-the-box pre-packaged content connecting SAP S/4HANA &amp; ECC to shop floor MES, PLM, and CRM systems.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Enterprise API Lifecycle Management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Governs, monitors, and monetizes internal and external API gateways with rate limiting, OAuth 2.0, and high availability.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Event-Driven Architecture (SAP Event Mesh)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Asynchronously decouples event triggers (e.g. Goods Receipt, Quality Hold) to guarantee zero core ERP performance hits.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Comprehensive B2B / EDI Integration Strategy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Centralizes hundreds of Tier-1 automotive OEM release schedules (830/862 EDI) and dealer orders into standard SAP SD sales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2344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6420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TATA Electronics Pvt. Ltd. (TEPL)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High-precision greenfield manufacturing requiring millisecond-level integration between plant shop-floor MES and ERP.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Architected high-volume B2B and application integrations connecting disparate manufacturing execution systems.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Flawless handling of over 2M daily plant transactions with sub-second latency and zero data dropouts.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7947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393192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2452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Tata Semiconductor Assembly &amp; Test (TSAT)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Challenge: High-security semiconductor environment needing continuous data exchange across segregated network zones.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Implemented robust API lifecycle management and event-driven data flows to sync plant operations securely.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100% auditable traceability, zero security breaches, and instantaneous propagation of lot release orders.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PROCESS MINING, LOW-CODE AUTOMATION &amp; CENTRAL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Vertical 4: Workflows, Automation &amp; Signavio Process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66344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A285F"/>
                </a:solidFill>
                <a:latin typeface="Arial"/>
              </a:defRPr>
            </a:pPr>
            <a:r>
              <a:t>Next-Gen Low-Code Automation &amp; Mining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SAP Build Process Automation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Unified low-code/no-code studio combining robotic process automation (RPA bots) and workflow orchestration in one cloud environment.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Dynamic Business Rules Engine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Decouples decision logic (pricing thresholds, discount approvals, warranty validity) from ABAP code, editable directly by business leads.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SAP Central Task Center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Harmonizes approval inboxes across ECC, S/4HANA, Ariba, and SuccessFactors into a single, unified mobile/desktop experience.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SAP Signavio Process AI &amp; Insights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Continuously mines operational data streams to reveal hidden cycle-time bottlenecks, rework loops in manufacturing, and Maverick buying.</a:t>
            </a:r>
          </a:p>
          <a:p>
            <a:br/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* Intelligent Document Processing (IDP)</a:t>
            </a:r>
          </a:p>
          <a:p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Extracts and validates OCR data from incoming supplier invoices, vendor test certificates, and shipping manifests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274320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HERO ENTERPRISE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09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Dr. Reddy's Laboratories Ltd.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Enterprise-Wide Workflow &amp; Compliance Automation</a:t>
            </a:r>
          </a:p>
          <a:p>
            <a:br/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- Business Context &amp; Challenge:</a:t>
            </a:r>
            <a:br/>
            <a:r>
              <a:t>Stringent regulatory compliance requirements and multi-tier approval matrix across distributed plant facilities created immense manual verification bottlenecks, delayed batch releases, and introduced human error risk.</a:t>
            </a:r>
          </a:p>
          <a:p>
            <a:br/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- Solution Deployed on SAP BTP:</a:t>
            </a:r>
            <a:br/>
            <a:r>
              <a:t>Automated complex compliance and operational approval workflows across manufacturing plants using SAP Build Process Automation integrated with SAP Central Task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892040"/>
            <a:ext cx="146304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95604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80%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Reduction in Approval 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4892040"/>
            <a:ext cx="146304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495604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Audit-Proof GxP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892040"/>
            <a:ext cx="146304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495604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0 Core Mod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Standard S/4HANA Preserved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CAP VS. RAP ARCHITECTURE &amp; INDUSTRIAL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Vertical 5: Custom App Development &amp; Enterprise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66344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A285F"/>
                </a:solidFill>
                <a:latin typeface="Arial"/>
              </a:defRPr>
            </a:pPr>
            <a:r>
              <a:t>Modern Extension Frameworks: CAP vs. RAP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Eliminating uncontrolled Z-tables through standardized, lifecycle-managed application frameworks: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4663440" cy="17830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SAP CAP (Cloud Application Programming Model)</a:t>
            </a:r>
          </a:p>
          <a:p>
            <a:pPr>
              <a:defRPr sz="919">
                <a:solidFill>
                  <a:srgbClr val="0F172A"/>
                </a:solidFill>
                <a:latin typeface="Calibri"/>
              </a:defRPr>
            </a:pPr>
            <a:r>
              <a:t>- Runtime: Node.js / Java on BTP Cloud Foundry &amp; Kyma (Kubernetes).</a:t>
            </a:r>
            <a:br/>
            <a:r>
              <a:t>- Best Fit: Side-by-side consumer portals, dealer mobile apps, multi-tenant SaaS.</a:t>
            </a:r>
            <a:br/>
            <a:r>
              <a:t>- Advantage: Full decoupling from ERP release cycles; scalable cloud-native microservices.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977639"/>
            <a:ext cx="46634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41648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SAP RAP (RESTful ABAP Programming Model)</a:t>
            </a:r>
          </a:p>
          <a:p>
            <a:pPr>
              <a:defRPr sz="919">
                <a:solidFill>
                  <a:srgbClr val="0F172A"/>
                </a:solidFill>
                <a:latin typeface="Calibri"/>
              </a:defRPr>
            </a:pPr>
            <a:r>
              <a:t>- Runtime: Native ABAP Cloud in S/4HANA &amp; BTP ABAP Environment.</a:t>
            </a:r>
            <a:br/>
            <a:r>
              <a:t>- Best Fit: In-app extensions, heavy transactional ledger calculations, core extensions.</a:t>
            </a:r>
            <a:br/>
            <a:r>
              <a:t>- Advantage: Direct CDS data model binding with zero impedance mismatch.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2344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L&amp;T Construction &amp; Mining Machinery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Custom Dealer Management System (DEMANS) leveraging advanced side-by-side extension patterns on BTP.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Capabilities: Real-time equipment telemetry, automated warranty claims, spare parts ordering connected directly to SAP SD.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45% reduction in spare turnaround time; zero impact on core SAP ERP during high-frequency dealer peak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7947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3931920"/>
            <a:ext cx="237744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PROVEN REFERENCE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24528"/>
            <a:ext cx="4709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Indian Agro &amp; Food Industries Limited (IB Group)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Solution: Tailored operational agility solutions for multi-plant agricultural and food supply chains on BTP.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- Capabilities: Multi-plant inventory synchronization, automated perishable batch tracking, and dynamic dispatch scheduling.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- Impact: Optimized end-to-end execution speed; 50% decrease in manual scheduling conflicts across geographically dispersed plants.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PROPRIETARY READY-TO-DEPLOY ENTERPRISE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Beyond Standard SAP: The Lumbini Elitia Product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85F"/>
                </a:solidFill>
                <a:latin typeface="Calibri"/>
              </a:defRPr>
            </a:pPr>
            <a:r>
              <a:t>Pre-built, non-SAP microservice accelerators engineered to integrate directly into S/4HANA &amp; ECC via BTP — eliminating costly custom build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11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B4D8"/>
                </a:solidFill>
                <a:latin typeface="Arial"/>
              </a:defRPr>
            </a:pPr>
            <a:r>
              <a:t>ELITIA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Supplier Collaboration Portal</a:t>
            </a:r>
          </a:p>
          <a:p>
            <a:br/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Streamlining vendor engagement, advance shipment notices (ASN), digital gate passes, and multi-tier material tracking in real time.</a:t>
            </a:r>
          </a:p>
          <a:p>
            <a:br/>
            <a:pPr>
              <a:defRPr sz="850" b="1">
                <a:solidFill>
                  <a:srgbClr val="00B4D8"/>
                </a:solidFill>
                <a:latin typeface="Arial"/>
              </a:defRPr>
            </a:pPr>
            <a:r>
              <a:t>Connector:</a:t>
            </a:r>
            <a:br/>
            <a:r>
              <a:t>SAP MM / Ariba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828800"/>
            <a:ext cx="2011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4952" y="1965960"/>
            <a:ext cx="173736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2" y="2148840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66CC"/>
                </a:solidFill>
                <a:latin typeface="Arial"/>
              </a:defRPr>
            </a:pPr>
            <a:r>
              <a:t>ELITIA MODULE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468880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Data Governance Suite</a:t>
            </a:r>
          </a:p>
          <a:p>
            <a:br/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Ensuring enterprise-wide data integrity, automated validation workflows, duplicate prevention, and compliance audits across plants.</a:t>
            </a:r>
          </a:p>
          <a:p>
            <a:br/>
            <a:pPr>
              <a:defRPr sz="850" b="1">
                <a:solidFill>
                  <a:srgbClr val="0066CC"/>
                </a:solidFill>
                <a:latin typeface="Arial"/>
              </a:defRPr>
            </a:pPr>
            <a:r>
              <a:t>Connector:</a:t>
            </a:r>
            <a:br/>
            <a:r>
              <a:t>SAP MDG / Datasphere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828800"/>
            <a:ext cx="2011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21224" y="1965960"/>
            <a:ext cx="17373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1224" y="2148840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7C3AED"/>
                </a:solidFill>
                <a:latin typeface="Arial"/>
              </a:defRPr>
            </a:pPr>
            <a:r>
              <a:t>ELITIA MODULE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468880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Master Data Validator</a:t>
            </a:r>
          </a:p>
          <a:p>
            <a:br/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Automated AI-driven record verification for materials, customer accounts, and vendor tax compliance before posting to ERP.</a:t>
            </a:r>
          </a:p>
          <a:p>
            <a:br/>
            <a:pPr>
              <a:defRPr sz="850" b="1">
                <a:solidFill>
                  <a:srgbClr val="7C3AED"/>
                </a:solidFill>
                <a:latin typeface="Arial"/>
              </a:defRPr>
            </a:pPr>
            <a:r>
              <a:t>Connector:</a:t>
            </a:r>
            <a:br/>
            <a:r>
              <a:t>Pre-Posting Rule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828800"/>
            <a:ext cx="2011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496" y="1965960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148840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ELITIA MODULE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468880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Customer Experience Portal</a:t>
            </a:r>
          </a:p>
          <a:p>
            <a:br/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Elevating B2B dealer and consumer touchpoints with real-time order tracking, dynamic credit checks, and self-service warranty claims.</a:t>
            </a:r>
          </a:p>
          <a:p>
            <a:br/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Connector:</a:t>
            </a:r>
            <a:br/>
            <a:r>
              <a:t>SAP SD / Commerce 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1828800"/>
            <a:ext cx="2011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3768" y="1965960"/>
            <a:ext cx="1737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3768" y="2148840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D97706"/>
                </a:solidFill>
                <a:latin typeface="Arial"/>
              </a:defRPr>
            </a:pPr>
            <a:r>
              <a:t>ELITIA 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468880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Workforce Safety Management</a:t>
            </a:r>
          </a:p>
          <a:p>
            <a:br/>
            <a:pPr>
              <a:defRPr sz="919">
                <a:solidFill>
                  <a:srgbClr val="64748B"/>
                </a:solidFill>
                <a:latin typeface="Calibri"/>
              </a:defRPr>
            </a:pPr>
            <a:r>
              <a:t>Ensuring heavy plant regulatory compliance, hazardous area permits, incident reporting, and contractor safety certification logs.</a:t>
            </a:r>
          </a:p>
          <a:p>
            <a:br/>
            <a:pPr>
              <a:defRPr sz="850" b="1">
                <a:solidFill>
                  <a:srgbClr val="D97706"/>
                </a:solidFill>
                <a:latin typeface="Arial"/>
              </a:defRPr>
            </a:pPr>
            <a:r>
              <a:t>Connector:</a:t>
            </a:r>
            <a:br/>
            <a:r>
              <a:t>SAP EHS / Plant Maintenance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THE LUMBINI DELIVERY METHODOLOGY &amp; STRATEGIC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Low-Risk, High-Velocity Enterprise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13455" cy="393192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508760"/>
            <a:ext cx="457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56255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Zero-Disruption Core Strategy</a:t>
            </a:r>
          </a:p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100% S/4HANA Upgrade Safety</a:t>
            </a:r>
          </a:p>
          <a:p>
            <a:br/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All custom logic, integrations, and apps reside strictly on SAP BTP side-by-side environments.</a:t>
            </a:r>
            <a:br/>
            <a:br/>
            <a:r>
              <a:t>- Zero core ABAP modifications</a:t>
            </a:r>
            <a:br/>
            <a:r>
              <a:t>- S/4HANA release patches apply seamlessly</a:t>
            </a:r>
            <a:br/>
            <a:r>
              <a:t>- Guarantees ongoing SAP support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13455" cy="393192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508760"/>
            <a:ext cx="457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56255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Accelerated Time-to-Value</a:t>
            </a:r>
          </a:p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Cut Timelines by Up to 50%</a:t>
            </a:r>
          </a:p>
          <a:p>
            <a:br/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Leverage ready-made Elitia microservices, pre-packaged SAP BTP integration flows, and automated CI/CD pipelines.</a:t>
            </a:r>
            <a:br/>
            <a:br/>
            <a:r>
              <a:t>- Ready-to-deploy architectural blueprints</a:t>
            </a:r>
            <a:br/>
            <a:r>
              <a:t>- Pre-built connectors for SAP SD, MM, PP, &amp; QM</a:t>
            </a:r>
            <a:br/>
            <a:r>
              <a:t>- Rapid ROI realization in under 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13455" cy="393192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508760"/>
            <a:ext cx="457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2956255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Collaborative Pilot Discovery</a:t>
            </a:r>
          </a:p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Targeted 2-Week Joint Workshop</a:t>
            </a:r>
          </a:p>
          <a:p>
            <a:br/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 structured, zero-risk engagement to scope your highest-impact plant or supply chain bottleneck.</a:t>
            </a:r>
            <a:br/>
            <a:br/>
            <a:r>
              <a:t>- Day 1-3: Process mining &amp; bottleneck discovery</a:t>
            </a:r>
            <a:br/>
            <a:r>
              <a:t>- Day 4-7: Target BTP side-by-side architecture</a:t>
            </a:r>
            <a:br/>
            <a:r>
              <a:t>- Day 8-10: Working MVP prototype &amp; business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728655" cy="777240"/>
          </a:xfrm>
          <a:prstGeom prst="roundRect">
            <a:avLst/>
          </a:prstGeom>
          <a:solidFill>
            <a:srgbClr val="10255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68112"/>
            <a:ext cx="1018001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PROPOSED IMMEDIATE NEXT STEP: 2-WEEK LIGHTHOUSE DISCOVERY PILOT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Let us partner with your enterprise IT and plant leadership to model one critical workflow on SAP BTP with our Elitia accelerators—delivering verified time-to-value before capital commitment.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 |  SAP BTP Strategic Architecture &amp; Innovation Pitch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