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347472"/>
            <a:ext cx="5029200" cy="237744"/>
          </a:xfrm>
          <a:prstGeom prst="rect">
            <a:avLst/>
          </a:prstGeom>
          <a:solidFill>
            <a:srgbClr val="1C3159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B4D8"/>
                </a:solidFill>
                <a:latin typeface="Inter"/>
              </a:rPr>
              <a:t>1. EXECUTIVE MANDATE • STRATEGIC THESIS • GLOBAL AEROSPACE &amp;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F8FAFC"/>
                </a:solidFill>
                <a:latin typeface="Inter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26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94A3B8"/>
                </a:solidFill>
                <a:latin typeface="Inter"/>
              </a:rPr>
              <a:t>Global Aerospace &amp; Defense • Strategic Mandate • Intentional Whitespace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B4D8"/>
                </a:solidFill>
                <a:latin typeface="Inter"/>
              </a:rPr>
              <a:t>01 /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103120"/>
            <a:ext cx="9265615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3200" b="1" i="0">
                <a:solidFill>
                  <a:srgbClr val="F8FAFC"/>
                </a:solidFill>
                <a:latin typeface="Inter"/>
              </a:rPr>
              <a:t>"Zero latency between the machine spindle and the balance sheet."</a:t>
            </a:r>
          </a:p>
          <a:p>
            <a:pPr>
              <a:spcAft>
                <a:spcPts val="1400"/>
              </a:spcAft>
            </a:pPr>
            <a:r>
              <a:rPr sz="1050" b="1" i="0">
                <a:solidFill>
                  <a:srgbClr val="CBD5E1"/>
                </a:solidFill>
                <a:latin typeface="Inter"/>
              </a:rPr>
              <a:t>Preserving ERP ledger integrity while synchronizing sub-second plant floor execution.</a:t>
            </a:r>
          </a:p>
          <a:p>
            <a:pPr>
              <a:spcAft>
                <a:spcPts val="200"/>
              </a:spcAft>
            </a:pPr>
            <a:r>
              <a:rPr sz="850" b="1" i="0">
                <a:solidFill>
                  <a:srgbClr val="00B4D8"/>
                </a:solidFill>
                <a:latin typeface="Inter"/>
              </a:rPr>
              <a:t>— GLOBAL ENTERPRISE SOLUTIONS ARCHITECTURE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47472"/>
            <a:ext cx="2372868" cy="237744"/>
          </a:xfrm>
          <a:prstGeom prst="rect">
            <a:avLst/>
          </a:prstGeom>
          <a:solidFill>
            <a:srgbClr val="EEF2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66CC"/>
                </a:solidFill>
                <a:latin typeface="Inter"/>
              </a:rPr>
              <a:t>2. TRANSFORMATION BLUEPRINT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0F172A"/>
                </a:solidFill>
                <a:latin typeface="Inter"/>
              </a:rPr>
              <a:t>Current State to Future Operating Model Transformation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66CC"/>
                </a:solidFill>
                <a:latin typeface="Inter"/>
              </a:rPr>
              <a:t>Bridging legacy operational friction through S/4HANA clean-core and MES execution enablers.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64748B"/>
                </a:solidFill>
                <a:latin typeface="Inter"/>
              </a:rPr>
              <a:t>Global Aerospace &amp; Defense • Transformation Blueprint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66CC"/>
                </a:solidFill>
                <a:latin typeface="Inter"/>
              </a:rPr>
              <a:t>02 / 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81328"/>
            <a:ext cx="10728655" cy="4782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81328"/>
            <a:ext cx="10728655" cy="34747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54864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ENTERPRISE TRANSFORMATION BLUEPRINT: SAP TO MES DIGITAL TRANSFORMATION BLUEPRINT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1920240"/>
            <a:ext cx="3218596" cy="379475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1920240"/>
            <a:ext cx="3218596" cy="310896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54864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DC2626"/>
                </a:solidFill>
                <a:latin typeface="Inter"/>
              </a:rPr>
              <a:t>CURRENT STATE (BASELINE)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267712"/>
            <a:ext cx="2999140" cy="23774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Operational Constraints &amp; Friction</a:t>
            </a:r>
          </a:p>
          <a:p>
            <a:pPr>
              <a:spcAft>
                <a:spcPts val="300"/>
              </a:spcAft>
            </a:pPr>
            <a:r>
              <a:rPr sz="750" b="0" i="1">
                <a:solidFill>
                  <a:srgbClr val="DC2626"/>
                </a:solidFill>
                <a:latin typeface="Inter"/>
              </a:rPr>
              <a:t>✗  Fragmented master data &amp; BOM mismatches</a:t>
            </a:r>
          </a:p>
          <a:p>
            <a:pPr>
              <a:spcAft>
                <a:spcPts val="300"/>
              </a:spcAft>
            </a:pPr>
            <a:r>
              <a:rPr sz="750" b="0" i="1">
                <a:solidFill>
                  <a:srgbClr val="DC2626"/>
                </a:solidFill>
                <a:latin typeface="Inter"/>
              </a:rPr>
              <a:t>✗  Manual paper travelers &amp; dispatch clipboards</a:t>
            </a:r>
          </a:p>
          <a:p>
            <a:pPr>
              <a:spcAft>
                <a:spcPts val="300"/>
              </a:spcAft>
            </a:pPr>
            <a:r>
              <a:rPr sz="750" b="0" i="1">
                <a:solidFill>
                  <a:srgbClr val="DC2626"/>
                </a:solidFill>
                <a:latin typeface="Inter"/>
              </a:rPr>
              <a:t>✗  Disconnected quality logs in Excel</a:t>
            </a:r>
          </a:p>
          <a:p>
            <a:pPr>
              <a:spcAft>
                <a:spcPts val="300"/>
              </a:spcAft>
            </a:pPr>
            <a:r>
              <a:rPr sz="750" b="0" i="1">
                <a:solidFill>
                  <a:srgbClr val="DC2626"/>
                </a:solidFill>
                <a:latin typeface="Inter"/>
              </a:rPr>
              <a:t>✗  Delayed inventory confirmation (2-3 day lag)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2688" y="4389120"/>
            <a:ext cx="3035716" cy="12344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443983"/>
            <a:ext cx="2925988" cy="1115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64748B"/>
                </a:solidFill>
                <a:latin typeface="Inter"/>
              </a:rPr>
              <a:t>BASELINE FRICTION METRICS</a:t>
            </a:r>
          </a:p>
          <a:p>
            <a:pPr>
              <a:spcAft>
                <a:spcPts val="200"/>
              </a:spcAft>
            </a:pPr>
            <a:r>
              <a:rPr sz="819" b="1" i="0">
                <a:solidFill>
                  <a:srgbClr val="DC2626"/>
                </a:solidFill>
                <a:latin typeface="Inter"/>
              </a:rPr>
              <a:t>• WIP Latency: 4.8 Days</a:t>
            </a:r>
          </a:p>
          <a:p>
            <a:pPr>
              <a:spcAft>
                <a:spcPts val="200"/>
              </a:spcAft>
            </a:pPr>
            <a:r>
              <a:rPr sz="819" b="1" i="0">
                <a:solidFill>
                  <a:srgbClr val="DC2626"/>
                </a:solidFill>
                <a:latin typeface="Inter"/>
              </a:rPr>
              <a:t>• Scrap Rate: 4.2%</a:t>
            </a:r>
          </a:p>
          <a:p>
            <a:pPr>
              <a:spcAft>
                <a:spcPts val="200"/>
              </a:spcAft>
            </a:pPr>
            <a:r>
              <a:rPr sz="819" b="1" i="0">
                <a:solidFill>
                  <a:srgbClr val="DC2626"/>
                </a:solidFill>
                <a:latin typeface="Inter"/>
              </a:rPr>
              <a:t>• OTIF Delivery: 81.4%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096420" y="3680459"/>
            <a:ext cx="248707" cy="274320"/>
          </a:xfrm>
          <a:prstGeom prst="rightArrow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81704" y="1920240"/>
            <a:ext cx="3647742" cy="3794759"/>
          </a:xfrm>
          <a:prstGeom prst="roundRect">
            <a:avLst/>
          </a:prstGeom>
          <a:solidFill>
            <a:srgbClr val="EEF2FF"/>
          </a:solidFill>
          <a:ln w="1778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81704" y="1920240"/>
            <a:ext cx="3647742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54864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TRANSFORMATION ENABLERS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91432" y="2267712"/>
            <a:ext cx="3428286" cy="23774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Strategic Initiatives &amp; Technology</a:t>
            </a:r>
          </a:p>
          <a:p>
            <a:pPr>
              <a:spcAft>
                <a:spcPts val="300"/>
              </a:spcAft>
            </a:pPr>
            <a:r>
              <a:rPr sz="750" b="0" i="1">
                <a:solidFill>
                  <a:srgbClr val="0F172A"/>
                </a:solidFill>
                <a:latin typeface="Inter"/>
              </a:rPr>
              <a:t>⚙  SAP S/4HANA Clean-Core Integration</a:t>
            </a:r>
          </a:p>
          <a:p>
            <a:pPr>
              <a:spcAft>
                <a:spcPts val="300"/>
              </a:spcAft>
            </a:pPr>
            <a:r>
              <a:rPr sz="750" b="0" i="1">
                <a:solidFill>
                  <a:srgbClr val="0F172A"/>
                </a:solidFill>
                <a:latin typeface="Inter"/>
              </a:rPr>
              <a:t>⚙  MES Digital Dispatch &amp; Real-Time Tracking</a:t>
            </a:r>
          </a:p>
          <a:p>
            <a:pPr>
              <a:spcAft>
                <a:spcPts val="300"/>
              </a:spcAft>
            </a:pPr>
            <a:r>
              <a:rPr sz="750" b="0" i="1">
                <a:solidFill>
                  <a:srgbClr val="0F172A"/>
                </a:solidFill>
                <a:latin typeface="Inter"/>
              </a:rPr>
              <a:t>⚙  Automated Closed-Loop Quality Interlocks</a:t>
            </a:r>
          </a:p>
          <a:p>
            <a:pPr>
              <a:spcAft>
                <a:spcPts val="300"/>
              </a:spcAft>
            </a:pPr>
            <a:r>
              <a:rPr sz="750" b="0" i="1">
                <a:solidFill>
                  <a:srgbClr val="0F172A"/>
                </a:solidFill>
                <a:latin typeface="Inter"/>
              </a:rPr>
              <a:t>⚙  Unified Industrial Data Fabric &amp; BTP Mesh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73144" y="4389120"/>
            <a:ext cx="3464862" cy="12344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8008" y="4443983"/>
            <a:ext cx="3355134" cy="1115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CORE ARCHITECTURAL ENABLERS</a:t>
            </a:r>
          </a:p>
          <a:p>
            <a:pPr>
              <a:spcAft>
                <a:spcPts val="200"/>
              </a:spcAft>
            </a:pPr>
            <a:r>
              <a:rPr sz="819" b="1" i="0">
                <a:solidFill>
                  <a:srgbClr val="0F172A"/>
                </a:solidFill>
                <a:latin typeface="Inter"/>
              </a:rPr>
              <a:t>✔ Air-gapped edge buffering</a:t>
            </a:r>
          </a:p>
          <a:p>
            <a:pPr>
              <a:spcAft>
                <a:spcPts val="200"/>
              </a:spcAft>
            </a:pPr>
            <a:r>
              <a:rPr sz="819" b="1" i="0">
                <a:solidFill>
                  <a:srgbClr val="0F172A"/>
                </a:solidFill>
                <a:latin typeface="Inter"/>
              </a:rPr>
              <a:t>✔ Deterministic PLC connectors</a:t>
            </a:r>
          </a:p>
          <a:p>
            <a:pPr>
              <a:spcAft>
                <a:spcPts val="200"/>
              </a:spcAft>
            </a:pPr>
            <a:r>
              <a:rPr sz="819" b="1" i="0">
                <a:solidFill>
                  <a:srgbClr val="0F172A"/>
                </a:solidFill>
                <a:latin typeface="Inter"/>
              </a:rPr>
              <a:t>✔ Zero custom Z-tables in ERP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066022" y="3680459"/>
            <a:ext cx="248707" cy="274320"/>
          </a:xfrm>
          <a:prstGeom prst="rightArrow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51306" y="1920240"/>
            <a:ext cx="3218596" cy="379475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51306" y="1920240"/>
            <a:ext cx="3218596" cy="310896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54864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10B981"/>
                </a:solidFill>
                <a:latin typeface="Inter"/>
              </a:rPr>
              <a:t>FUTURE OPERATING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61034" y="2267712"/>
            <a:ext cx="2999140" cy="23774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Transformed Capabilities</a:t>
            </a:r>
          </a:p>
          <a:p>
            <a:pPr>
              <a:spcAft>
                <a:spcPts val="300"/>
              </a:spcAft>
            </a:pPr>
            <a:r>
              <a:rPr sz="750" b="0" i="1">
                <a:solidFill>
                  <a:srgbClr val="10B981"/>
                </a:solidFill>
                <a:latin typeface="Inter"/>
              </a:rPr>
              <a:t>✔  Synchronized MRP-to-machine dispatch</a:t>
            </a:r>
          </a:p>
          <a:p>
            <a:pPr>
              <a:spcAft>
                <a:spcPts val="300"/>
              </a:spcAft>
            </a:pPr>
            <a:r>
              <a:rPr sz="750" b="0" i="1">
                <a:solidFill>
                  <a:srgbClr val="10B981"/>
                </a:solidFill>
                <a:latin typeface="Inter"/>
              </a:rPr>
              <a:t>✔  Full serial &amp; batch genealogy trace</a:t>
            </a:r>
          </a:p>
          <a:p>
            <a:pPr>
              <a:spcAft>
                <a:spcPts val="300"/>
              </a:spcAft>
            </a:pPr>
            <a:r>
              <a:rPr sz="750" b="0" i="1">
                <a:solidFill>
                  <a:srgbClr val="10B981"/>
                </a:solidFill>
                <a:latin typeface="Inter"/>
              </a:rPr>
              <a:t>✔  Predictive quality interlocks at station</a:t>
            </a:r>
          </a:p>
          <a:p>
            <a:pPr>
              <a:spcAft>
                <a:spcPts val="300"/>
              </a:spcAft>
            </a:pPr>
            <a:r>
              <a:rPr sz="750" b="0" i="1">
                <a:solidFill>
                  <a:srgbClr val="10B981"/>
                </a:solidFill>
                <a:latin typeface="Inter"/>
              </a:rPr>
              <a:t>✔  Sub-second financial ledger postings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42746" y="4389120"/>
            <a:ext cx="3035716" cy="1234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97610" y="4443983"/>
            <a:ext cx="2925988" cy="1115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10B981"/>
                </a:solidFill>
                <a:latin typeface="Inter"/>
              </a:rPr>
              <a:t>AUDITED VALUE OUTCOMES</a:t>
            </a:r>
          </a:p>
          <a:p>
            <a:pPr>
              <a:spcAft>
                <a:spcPts val="200"/>
              </a:spcAft>
            </a:pPr>
            <a:r>
              <a:rPr sz="819" b="1" i="0">
                <a:solidFill>
                  <a:srgbClr val="0F172A"/>
                </a:solidFill>
                <a:latin typeface="Inter"/>
              </a:rPr>
              <a:t>★ WIP Latency: 1.2 Days (-75%)</a:t>
            </a:r>
          </a:p>
          <a:p>
            <a:pPr>
              <a:spcAft>
                <a:spcPts val="200"/>
              </a:spcAft>
            </a:pPr>
            <a:r>
              <a:rPr sz="819" b="1" i="0">
                <a:solidFill>
                  <a:srgbClr val="0F172A"/>
                </a:solidFill>
                <a:latin typeface="Inter"/>
              </a:rPr>
              <a:t>★ Scrap Rate: 0.8% (-81%)</a:t>
            </a:r>
          </a:p>
          <a:p>
            <a:pPr>
              <a:spcAft>
                <a:spcPts val="200"/>
              </a:spcAft>
            </a:pPr>
            <a:r>
              <a:rPr sz="819" b="1" i="0">
                <a:solidFill>
                  <a:srgbClr val="0F172A"/>
                </a:solidFill>
                <a:latin typeface="Inter"/>
              </a:rPr>
              <a:t>★ OTIF Delivery: 97.5% (+16 pts)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1248" y="5788152"/>
            <a:ext cx="10509199" cy="402336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73152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HORIZON: 12–18 MONTH EXECUTION HORIZON</a:t>
            </a:r>
          </a:p>
          <a:p>
            <a:r>
              <a:rPr sz="819" b="1" i="0">
                <a:solidFill>
                  <a:srgbClr val="0F172A"/>
                </a:solidFill>
                <a:latin typeface="Inter"/>
              </a:rPr>
              <a:t>Phase 1: S/4HANA Core &amp; Clean Master Data  ➔  Phase 2: MES MOM Dispatch &amp; Traceability  ➔  Phase 3: Closed-Loop Analytics &amp; Autonomous Control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347472"/>
            <a:ext cx="5029200" cy="237744"/>
          </a:xfrm>
          <a:prstGeom prst="rect">
            <a:avLst/>
          </a:prstGeom>
          <a:solidFill>
            <a:srgbClr val="1C3159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B4D8"/>
                </a:solidFill>
                <a:latin typeface="Inter"/>
              </a:rPr>
              <a:t>3. SYSTEM ARCHITECTURE • CLEAN CORE • GLOBAL AEROSPACE &amp;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F8FAFC"/>
                </a:solidFill>
                <a:latin typeface="Inter"/>
              </a:rPr>
              <a:t>Clean-Core SAP S/4HANA to Shopfloor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B4D8"/>
                </a:solidFill>
                <a:latin typeface="Inter"/>
              </a:rPr>
              <a:t>Decoupled ISA-95 execution pipeline with air-gapped plant resilience and zero ledger duplication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26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94A3B8"/>
                </a:solidFill>
                <a:latin typeface="Inter"/>
              </a:rPr>
              <a:t>Global Aerospace &amp; Defense • Enterprise Architecture Blueprint • Systems-Thinking Guardrails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B4D8"/>
                </a:solidFill>
                <a:latin typeface="Inter"/>
              </a:rPr>
              <a:t>01 / 01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188720"/>
            <a:ext cx="1920240" cy="769924"/>
          </a:xfrm>
          <a:prstGeom prst="rect">
            <a:avLst/>
          </a:prstGeom>
          <a:solidFill>
            <a:srgbClr val="1C3159"/>
          </a:solidFill>
          <a:ln w="1524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/>
            <a:r>
              <a:rPr sz="819" b="1" i="0">
                <a:solidFill>
                  <a:srgbClr val="00B4D8"/>
                </a:solidFill>
                <a:latin typeface="Inter"/>
              </a:rPr>
              <a:t>ISA-95 LEVEL 4</a:t>
            </a:r>
          </a:p>
          <a:p>
            <a:pPr>
              <a:spcAft>
                <a:spcPts val="200"/>
              </a:spcAft>
            </a:pPr>
            <a:r>
              <a:rPr sz="850" b="1" i="0">
                <a:solidFill>
                  <a:srgbClr val="F8FAFC"/>
                </a:solidFill>
                <a:latin typeface="Inter"/>
              </a:rPr>
              <a:t>ENTERPRISE / ERP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ZONE: Corporate Cloud (AWS/GCP)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79776" y="1188720"/>
            <a:ext cx="5687952" cy="769924"/>
          </a:xfrm>
          <a:prstGeom prst="rect">
            <a:avLst/>
          </a:prstGeom>
          <a:solidFill>
            <a:srgbClr val="0E1B33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889504" y="1261872"/>
            <a:ext cx="1713104" cy="623620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89504" y="1261872"/>
            <a:ext cx="54864" cy="6236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17520" y="1335024"/>
            <a:ext cx="1493648" cy="4773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F8FAFC"/>
                </a:solidFill>
                <a:latin typeface="Inter"/>
              </a:rPr>
              <a:t>SAP S/4HANA Core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Financial &amp; Order Ledger</a:t>
            </a:r>
          </a:p>
          <a:p>
            <a:pPr>
              <a:spcBef>
                <a:spcPts val="200"/>
              </a:spcBef>
            </a:pPr>
            <a:r>
              <a:rPr sz="819" b="1" i="0">
                <a:solidFill>
                  <a:srgbClr val="00B4D8"/>
                </a:solidFill>
                <a:latin typeface="Inter"/>
              </a:rPr>
              <a:t>Production Orders • BOM / Routing</a:t>
            </a:r>
          </a:p>
        </p:txBody>
      </p:sp>
      <p:sp>
        <p:nvSpPr>
          <p:cNvPr id="14" name="Can 13"/>
          <p:cNvSpPr/>
          <p:nvPr/>
        </p:nvSpPr>
        <p:spPr>
          <a:xfrm>
            <a:off x="4767200" y="1261872"/>
            <a:ext cx="1713104" cy="623620"/>
          </a:xfrm>
          <a:prstGeom prst="can">
            <a:avLst/>
          </a:prstGeom>
          <a:solidFill>
            <a:srgbClr val="16284B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8640" y="1408176"/>
            <a:ext cx="1530224" cy="4224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19" b="1" i="0">
                <a:solidFill>
                  <a:srgbClr val="00B4D8"/>
                </a:solidFill>
                <a:latin typeface="Inter"/>
              </a:rPr>
              <a:t>DATA STORE</a:t>
            </a:r>
          </a:p>
          <a:p>
            <a:pPr algn="ctr"/>
            <a:r>
              <a:rPr sz="1050" b="1" i="0">
                <a:solidFill>
                  <a:srgbClr val="F8FAFC"/>
                </a:solidFill>
                <a:latin typeface="Inter"/>
              </a:rPr>
              <a:t>SAP HANA Cloud DB</a:t>
            </a:r>
          </a:p>
          <a:p>
            <a:pPr algn="ctr"/>
            <a:r>
              <a:rPr sz="750" b="0" i="1">
                <a:solidFill>
                  <a:srgbClr val="94A3B8"/>
                </a:solidFill>
                <a:latin typeface="Inter"/>
              </a:rPr>
              <a:t>HANA Columnar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44896" y="1261872"/>
            <a:ext cx="1713104" cy="623620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644896" y="1261872"/>
            <a:ext cx="54864" cy="6236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72912" y="1335024"/>
            <a:ext cx="1493648" cy="4773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F8FAFC"/>
                </a:solidFill>
                <a:latin typeface="Inter"/>
              </a:rPr>
              <a:t>Enterprise PLM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Engineering Master Data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4206240" y="1986076"/>
            <a:ext cx="292608" cy="274320"/>
          </a:xfrm>
          <a:prstGeom prst="down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28800" y="1995220"/>
            <a:ext cx="2240280" cy="2560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19" b="1" i="0">
                <a:solidFill>
                  <a:srgbClr val="00B4D8"/>
                </a:solidFill>
                <a:latin typeface="Inter"/>
              </a:rPr>
              <a:t>INTERFACE: OData v4 &amp; SAP Event Mesh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6008" y="1995220"/>
            <a:ext cx="3054480" cy="2560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19" b="1" i="0">
                <a:solidFill>
                  <a:srgbClr val="F8FAFC"/>
                </a:solidFill>
                <a:latin typeface="Inter"/>
              </a:rPr>
              <a:t>[TLS 1.3 Async] PAYLOAD: ProductionOrder_v2, MaterialMaster (MARA)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287828"/>
            <a:ext cx="1920240" cy="769924"/>
          </a:xfrm>
          <a:prstGeom prst="rect">
            <a:avLst/>
          </a:prstGeom>
          <a:solidFill>
            <a:srgbClr val="1C3159"/>
          </a:solidFill>
          <a:ln w="1524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/>
            <a:r>
              <a:rPr sz="819" b="1" i="0">
                <a:solidFill>
                  <a:srgbClr val="00B4D8"/>
                </a:solidFill>
                <a:latin typeface="Inter"/>
              </a:rPr>
              <a:t>BTP INTEGRATION</a:t>
            </a:r>
          </a:p>
          <a:p>
            <a:pPr>
              <a:spcAft>
                <a:spcPts val="200"/>
              </a:spcAft>
            </a:pPr>
            <a:r>
              <a:rPr sz="850" b="1" i="0">
                <a:solidFill>
                  <a:srgbClr val="F8FAFC"/>
                </a:solidFill>
                <a:latin typeface="Inter"/>
              </a:rPr>
              <a:t>INTEGRATION MIDDLEWARE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ZONE: Cloud DMZ / Proxy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79776" y="2287828"/>
            <a:ext cx="5687952" cy="769924"/>
          </a:xfrm>
          <a:prstGeom prst="rect">
            <a:avLst/>
          </a:prstGeom>
          <a:solidFill>
            <a:srgbClr val="0E1B33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889504" y="2360980"/>
            <a:ext cx="1713104" cy="623620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889504" y="2360980"/>
            <a:ext cx="54864" cy="6236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17520" y="2434132"/>
            <a:ext cx="1493648" cy="4773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F8FAFC"/>
                </a:solidFill>
                <a:latin typeface="Inter"/>
              </a:rPr>
              <a:t>SAP BTP Integration Suite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API Mediation &amp; Policy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67200" y="2360980"/>
            <a:ext cx="1713104" cy="623620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767200" y="2360980"/>
            <a:ext cx="54864" cy="6236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95216" y="2434132"/>
            <a:ext cx="1493648" cy="4773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F8FAFC"/>
                </a:solidFill>
                <a:latin typeface="Inter"/>
              </a:rPr>
              <a:t>Enterprise Event Mesh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Pub/Sub Event Broker</a:t>
            </a:r>
          </a:p>
          <a:p>
            <a:pPr>
              <a:spcBef>
                <a:spcPts val="200"/>
              </a:spcBef>
            </a:pPr>
            <a:r>
              <a:rPr sz="819" b="1" i="0">
                <a:solidFill>
                  <a:srgbClr val="00B4D8"/>
                </a:solidFill>
                <a:latin typeface="Inter"/>
              </a:rPr>
              <a:t>GoodsIssue Event • OrderStatus</a:t>
            </a:r>
          </a:p>
        </p:txBody>
      </p:sp>
      <p:sp>
        <p:nvSpPr>
          <p:cNvPr id="30" name="Hexagon 29"/>
          <p:cNvSpPr/>
          <p:nvPr/>
        </p:nvSpPr>
        <p:spPr>
          <a:xfrm>
            <a:off x="6644896" y="2360980"/>
            <a:ext cx="1713104" cy="623620"/>
          </a:xfrm>
          <a:prstGeom prst="hexagon">
            <a:avLst/>
          </a:prstGeom>
          <a:solidFill>
            <a:srgbClr val="132240"/>
          </a:solidFill>
          <a:ln w="1778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82056" y="2434132"/>
            <a:ext cx="1438784" cy="4773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19" b="1" i="0">
                <a:solidFill>
                  <a:srgbClr val="00B4D8"/>
                </a:solidFill>
                <a:latin typeface="Inter"/>
              </a:rPr>
              <a:t>API / ENDPOINT</a:t>
            </a:r>
          </a:p>
          <a:p>
            <a:pPr algn="ctr"/>
            <a:r>
              <a:rPr sz="1050" b="1" i="0">
                <a:solidFill>
                  <a:srgbClr val="F8FAFC"/>
                </a:solidFill>
                <a:latin typeface="Inter"/>
              </a:rPr>
              <a:t>API Gateway &amp; Security</a:t>
            </a:r>
          </a:p>
        </p:txBody>
      </p:sp>
      <p:sp>
        <p:nvSpPr>
          <p:cNvPr id="32" name="Up-Down Arrow 31"/>
          <p:cNvSpPr/>
          <p:nvPr/>
        </p:nvSpPr>
        <p:spPr>
          <a:xfrm>
            <a:off x="4206240" y="3085185"/>
            <a:ext cx="292608" cy="274320"/>
          </a:xfrm>
          <a:prstGeom prst="upDown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28800" y="3094329"/>
            <a:ext cx="2240280" cy="2560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19" b="1" i="0">
                <a:solidFill>
                  <a:srgbClr val="00B4D8"/>
                </a:solidFill>
                <a:latin typeface="Inter"/>
              </a:rPr>
              <a:t>INTERFACE: HTTPS / REST &amp; WebSocket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36008" y="3094329"/>
            <a:ext cx="3054480" cy="2560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19" b="1" i="0">
                <a:solidFill>
                  <a:srgbClr val="F8FAFC"/>
                </a:solidFill>
                <a:latin typeface="Inter"/>
              </a:rPr>
              <a:t>[Bi-Directional Sync] PAYLOAD: DispatchOrderPayload, OperationStepList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3386937"/>
            <a:ext cx="1920240" cy="769924"/>
          </a:xfrm>
          <a:prstGeom prst="rect">
            <a:avLst/>
          </a:prstGeom>
          <a:solidFill>
            <a:srgbClr val="1C3159"/>
          </a:solidFill>
          <a:ln w="1524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/>
            <a:r>
              <a:rPr sz="819" b="1" i="0">
                <a:solidFill>
                  <a:srgbClr val="00B4D8"/>
                </a:solidFill>
                <a:latin typeface="Inter"/>
              </a:rPr>
              <a:t>ISA-95 LEVEL 3</a:t>
            </a:r>
          </a:p>
          <a:p>
            <a:pPr>
              <a:spcAft>
                <a:spcPts val="200"/>
              </a:spcAft>
            </a:pPr>
            <a:r>
              <a:rPr sz="850" b="1" i="0">
                <a:solidFill>
                  <a:srgbClr val="F8FAFC"/>
                </a:solidFill>
                <a:latin typeface="Inter"/>
              </a:rPr>
              <a:t>MANUFACTURING MOM / MES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ZONE: Plant Local LAN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79776" y="3386937"/>
            <a:ext cx="5687952" cy="769924"/>
          </a:xfrm>
          <a:prstGeom prst="rect">
            <a:avLst/>
          </a:prstGeom>
          <a:solidFill>
            <a:srgbClr val="0E1B33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889504" y="3460089"/>
            <a:ext cx="1713104" cy="623620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89504" y="3460089"/>
            <a:ext cx="54864" cy="6236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017520" y="3533241"/>
            <a:ext cx="1493648" cy="4773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F8FAFC"/>
                </a:solidFill>
                <a:latin typeface="Inter"/>
              </a:rPr>
              <a:t>SAP Digital Manufacturing (DMC)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Work Order Dispatcher &amp; POD</a:t>
            </a:r>
          </a:p>
          <a:p>
            <a:pPr>
              <a:spcBef>
                <a:spcPts val="200"/>
              </a:spcBef>
            </a:pPr>
            <a:r>
              <a:rPr sz="819" b="1" i="0">
                <a:solidFill>
                  <a:srgbClr val="00B4D8"/>
                </a:solidFill>
                <a:latin typeface="Inter"/>
              </a:rPr>
              <a:t>WIP Tracking • Non-Conformance</a:t>
            </a:r>
          </a:p>
        </p:txBody>
      </p:sp>
      <p:sp>
        <p:nvSpPr>
          <p:cNvPr id="40" name="Can 39"/>
          <p:cNvSpPr/>
          <p:nvPr/>
        </p:nvSpPr>
        <p:spPr>
          <a:xfrm>
            <a:off x="4767200" y="3460089"/>
            <a:ext cx="1713104" cy="623620"/>
          </a:xfrm>
          <a:prstGeom prst="can">
            <a:avLst/>
          </a:prstGeom>
          <a:solidFill>
            <a:srgbClr val="16284B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58640" y="3606393"/>
            <a:ext cx="1530224" cy="4224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19" b="1" i="0">
                <a:solidFill>
                  <a:srgbClr val="00B4D8"/>
                </a:solidFill>
                <a:latin typeface="Inter"/>
              </a:rPr>
              <a:t>DATA STORE</a:t>
            </a:r>
          </a:p>
          <a:p>
            <a:pPr algn="ctr"/>
            <a:r>
              <a:rPr sz="1050" b="1" i="0">
                <a:solidFill>
                  <a:srgbClr val="F8FAFC"/>
                </a:solidFill>
                <a:latin typeface="Inter"/>
              </a:rPr>
              <a:t>Plant Operational DB</a:t>
            </a:r>
          </a:p>
          <a:p>
            <a:pPr algn="ctr"/>
            <a:r>
              <a:rPr sz="750" b="0" i="1">
                <a:solidFill>
                  <a:srgbClr val="94A3B8"/>
                </a:solidFill>
                <a:latin typeface="Inter"/>
              </a:rPr>
              <a:t>PostgreSQL Timescale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44896" y="3460089"/>
            <a:ext cx="1713104" cy="623620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644896" y="3460089"/>
            <a:ext cx="54864" cy="6236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72912" y="3533241"/>
            <a:ext cx="1493648" cy="4773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F8FAFC"/>
                </a:solidFill>
                <a:latin typeface="Inter"/>
              </a:rPr>
              <a:t>Quality &amp; Yield Engine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SPC &amp; Tolerance Limits</a:t>
            </a:r>
          </a:p>
        </p:txBody>
      </p:sp>
      <p:sp>
        <p:nvSpPr>
          <p:cNvPr id="45" name="Down Arrow 44"/>
          <p:cNvSpPr/>
          <p:nvPr/>
        </p:nvSpPr>
        <p:spPr>
          <a:xfrm>
            <a:off x="4206240" y="4184294"/>
            <a:ext cx="292608" cy="274320"/>
          </a:xfrm>
          <a:prstGeom prst="down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828800" y="4193438"/>
            <a:ext cx="2240280" cy="2560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19" b="1" i="0">
                <a:solidFill>
                  <a:srgbClr val="00B4D8"/>
                </a:solidFill>
                <a:latin typeface="Inter"/>
              </a:rPr>
              <a:t>INTERFACE: OPC UA (Binary) &amp; MQTT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36008" y="4193438"/>
            <a:ext cx="3054480" cy="2560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19" b="1" i="0">
                <a:solidFill>
                  <a:srgbClr val="F8FAFC"/>
                </a:solidFill>
                <a:latin typeface="Inter"/>
              </a:rPr>
              <a:t>[Air-Gapped Gateway] PAYLOAD: WorkCenterDispatch, ToolParameters, BatchID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1520" y="4486046"/>
            <a:ext cx="1920240" cy="769924"/>
          </a:xfrm>
          <a:prstGeom prst="rect">
            <a:avLst/>
          </a:prstGeom>
          <a:solidFill>
            <a:srgbClr val="1C3159"/>
          </a:solidFill>
          <a:ln w="1524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/>
            <a:r>
              <a:rPr sz="819" b="1" i="0">
                <a:solidFill>
                  <a:srgbClr val="00B4D8"/>
                </a:solidFill>
                <a:latin typeface="Inter"/>
              </a:rPr>
              <a:t>ISA-95 LEVEL 2</a:t>
            </a:r>
          </a:p>
          <a:p>
            <a:pPr>
              <a:spcAft>
                <a:spcPts val="200"/>
              </a:spcAft>
            </a:pPr>
            <a:r>
              <a:rPr sz="850" b="1" i="0">
                <a:solidFill>
                  <a:srgbClr val="F8FAFC"/>
                </a:solidFill>
                <a:latin typeface="Inter"/>
              </a:rPr>
              <a:t>INDUSTRIAL EDGE &amp; CONNECTIVITY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ZONE: Industrial Edge IPC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79776" y="4486046"/>
            <a:ext cx="5687952" cy="769924"/>
          </a:xfrm>
          <a:prstGeom prst="rect">
            <a:avLst/>
          </a:prstGeom>
          <a:solidFill>
            <a:srgbClr val="0E1B33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889504" y="4559198"/>
            <a:ext cx="1713104" cy="623620"/>
          </a:xfrm>
          <a:prstGeom prst="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889504" y="4559198"/>
            <a:ext cx="54864" cy="6236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017520" y="4632350"/>
            <a:ext cx="1493648" cy="4773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F8FAFC"/>
                </a:solidFill>
                <a:latin typeface="Inter"/>
              </a:rPr>
              <a:t>Edge Runtime Gateway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Local Buffer &amp; Protocol Conv</a:t>
            </a:r>
          </a:p>
          <a:p>
            <a:pPr>
              <a:spcBef>
                <a:spcPts val="200"/>
              </a:spcBef>
            </a:pPr>
            <a:r>
              <a:rPr sz="819" b="1" i="0">
                <a:solidFill>
                  <a:srgbClr val="00B4D8"/>
                </a:solidFill>
                <a:latin typeface="Inter"/>
              </a:rPr>
              <a:t>48h Offline Buffer</a:t>
            </a:r>
          </a:p>
        </p:txBody>
      </p:sp>
      <p:sp>
        <p:nvSpPr>
          <p:cNvPr id="53" name="Hexagon 52"/>
          <p:cNvSpPr/>
          <p:nvPr/>
        </p:nvSpPr>
        <p:spPr>
          <a:xfrm>
            <a:off x="4767200" y="4559198"/>
            <a:ext cx="1713104" cy="623620"/>
          </a:xfrm>
          <a:prstGeom prst="hexagon">
            <a:avLst/>
          </a:prstGeom>
          <a:solidFill>
            <a:srgbClr val="132240"/>
          </a:solidFill>
          <a:ln w="1778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904360" y="4632350"/>
            <a:ext cx="1438784" cy="4773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19" b="1" i="0">
                <a:solidFill>
                  <a:srgbClr val="00B4D8"/>
                </a:solidFill>
                <a:latin typeface="Inter"/>
              </a:rPr>
              <a:t>API / ENDPOINT</a:t>
            </a:r>
          </a:p>
          <a:p>
            <a:pPr algn="ctr"/>
            <a:r>
              <a:rPr sz="1050" b="1" i="0">
                <a:solidFill>
                  <a:srgbClr val="F8FAFC"/>
                </a:solidFill>
                <a:latin typeface="Inter"/>
              </a:rPr>
              <a:t>Kepware / OPC UA Server</a:t>
            </a:r>
          </a:p>
        </p:txBody>
      </p:sp>
      <p:sp>
        <p:nvSpPr>
          <p:cNvPr id="55" name="Can 54"/>
          <p:cNvSpPr/>
          <p:nvPr/>
        </p:nvSpPr>
        <p:spPr>
          <a:xfrm>
            <a:off x="6644896" y="4559198"/>
            <a:ext cx="1713104" cy="623620"/>
          </a:xfrm>
          <a:prstGeom prst="can">
            <a:avLst/>
          </a:prstGeom>
          <a:solidFill>
            <a:srgbClr val="16284B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736336" y="4705502"/>
            <a:ext cx="1530224" cy="4224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19" b="1" i="0">
                <a:solidFill>
                  <a:srgbClr val="00B4D8"/>
                </a:solidFill>
                <a:latin typeface="Inter"/>
              </a:rPr>
              <a:t>DATA STORE</a:t>
            </a:r>
          </a:p>
          <a:p>
            <a:pPr algn="ctr"/>
            <a:r>
              <a:rPr sz="1050" b="1" i="0">
                <a:solidFill>
                  <a:srgbClr val="F8FAFC"/>
                </a:solidFill>
                <a:latin typeface="Inter"/>
              </a:rPr>
              <a:t>Edge Cache DB</a:t>
            </a:r>
          </a:p>
          <a:p>
            <a:pPr algn="ctr"/>
            <a:r>
              <a:rPr sz="750" b="0" i="1">
                <a:solidFill>
                  <a:srgbClr val="94A3B8"/>
                </a:solidFill>
                <a:latin typeface="Inter"/>
              </a:rPr>
              <a:t>SQLite / Edge Disk</a:t>
            </a:r>
          </a:p>
        </p:txBody>
      </p:sp>
      <p:sp>
        <p:nvSpPr>
          <p:cNvPr id="57" name="Up-Down Arrow 56"/>
          <p:cNvSpPr/>
          <p:nvPr/>
        </p:nvSpPr>
        <p:spPr>
          <a:xfrm>
            <a:off x="4206240" y="5283403"/>
            <a:ext cx="292608" cy="274320"/>
          </a:xfrm>
          <a:prstGeom prst="upDown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828800" y="5292547"/>
            <a:ext cx="2240280" cy="2560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19" b="1" i="0">
                <a:solidFill>
                  <a:srgbClr val="00B4D8"/>
                </a:solidFill>
                <a:latin typeface="Inter"/>
              </a:rPr>
              <a:t>INTERFACE: PROFINET &amp; Fieldbus I/O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36008" y="5292547"/>
            <a:ext cx="3054480" cy="2560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19" b="1" i="0">
                <a:solidFill>
                  <a:srgbClr val="F8FAFC"/>
                </a:solidFill>
                <a:latin typeface="Inter"/>
              </a:rPr>
              <a:t>[Sub-100ms Deterministic] PAYLOAD: MachineSpeed, SpindleTemp, CycleCount, InterlockSignal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31520" y="5585155"/>
            <a:ext cx="1920240" cy="769924"/>
          </a:xfrm>
          <a:prstGeom prst="rect">
            <a:avLst/>
          </a:prstGeom>
          <a:solidFill>
            <a:srgbClr val="1C3159"/>
          </a:solidFill>
          <a:ln w="1524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/>
            <a:r>
              <a:rPr sz="819" b="1" i="0">
                <a:solidFill>
                  <a:srgbClr val="00B4D8"/>
                </a:solidFill>
                <a:latin typeface="Inter"/>
              </a:rPr>
              <a:t>ISA-95 LEVEL 1 / 0</a:t>
            </a:r>
          </a:p>
          <a:p>
            <a:pPr>
              <a:spcAft>
                <a:spcPts val="200"/>
              </a:spcAft>
            </a:pPr>
            <a:r>
              <a:rPr sz="850" b="1" i="0">
                <a:solidFill>
                  <a:srgbClr val="F8FAFC"/>
                </a:solidFill>
                <a:latin typeface="Inter"/>
              </a:rPr>
              <a:t>SHOP FLOOR EXECUTION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ZONE: Isolated OT Machine Subnet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79776" y="5585155"/>
            <a:ext cx="5687952" cy="769924"/>
          </a:xfrm>
          <a:prstGeom prst="rect">
            <a:avLst/>
          </a:prstGeom>
          <a:solidFill>
            <a:srgbClr val="0E1B33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2889504" y="5658307"/>
            <a:ext cx="1243680" cy="623620"/>
          </a:xfrm>
          <a:prstGeom prst="roundRect">
            <a:avLst/>
          </a:prstGeom>
          <a:solidFill>
            <a:srgbClr val="1C3159"/>
          </a:solidFill>
          <a:ln w="1524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980944" y="5731459"/>
            <a:ext cx="1060800" cy="4773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19" b="1" i="0">
                <a:solidFill>
                  <a:srgbClr val="00B4D8"/>
                </a:solidFill>
                <a:latin typeface="Inter"/>
              </a:rPr>
              <a:t>DEVICE / OT</a:t>
            </a:r>
          </a:p>
          <a:p>
            <a:r>
              <a:rPr sz="1050" b="1" i="0">
                <a:solidFill>
                  <a:srgbClr val="F8FAFC"/>
                </a:solidFill>
                <a:latin typeface="Inter"/>
              </a:rPr>
              <a:t>Siemens S7-1500 PLC</a:t>
            </a:r>
          </a:p>
          <a:p>
            <a:r>
              <a:rPr sz="750" b="0" i="1">
                <a:solidFill>
                  <a:srgbClr val="CBD5E1"/>
                </a:solidFill>
                <a:latin typeface="Inter"/>
              </a:rPr>
              <a:t>Cell Automation &amp; Interlocks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297776" y="5658307"/>
            <a:ext cx="1243680" cy="623620"/>
          </a:xfrm>
          <a:prstGeom prst="roundRect">
            <a:avLst/>
          </a:prstGeom>
          <a:solidFill>
            <a:srgbClr val="1C3159"/>
          </a:solidFill>
          <a:ln w="1524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389216" y="5731459"/>
            <a:ext cx="1060800" cy="4773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19" b="1" i="0">
                <a:solidFill>
                  <a:srgbClr val="00B4D8"/>
                </a:solidFill>
                <a:latin typeface="Inter"/>
              </a:rPr>
              <a:t>DEVICE / OT</a:t>
            </a:r>
          </a:p>
          <a:p>
            <a:r>
              <a:rPr sz="1050" b="1" i="0">
                <a:solidFill>
                  <a:srgbClr val="F8FAFC"/>
                </a:solidFill>
                <a:latin typeface="Inter"/>
              </a:rPr>
              <a:t>DMG 5-Axis CNC Spindle</a:t>
            </a:r>
          </a:p>
          <a:p>
            <a:r>
              <a:rPr sz="750" b="0" i="1">
                <a:solidFill>
                  <a:srgbClr val="CBD5E1"/>
                </a:solidFill>
                <a:latin typeface="Inter"/>
              </a:rPr>
              <a:t>Precision Machining Center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706048" y="5658307"/>
            <a:ext cx="1243680" cy="623620"/>
          </a:xfrm>
          <a:prstGeom prst="roundRect">
            <a:avLst/>
          </a:prstGeom>
          <a:solidFill>
            <a:srgbClr val="1C3159"/>
          </a:solidFill>
          <a:ln w="1524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97488" y="5731459"/>
            <a:ext cx="1060800" cy="4773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19" b="1" i="0">
                <a:solidFill>
                  <a:srgbClr val="00B4D8"/>
                </a:solidFill>
                <a:latin typeface="Inter"/>
              </a:rPr>
              <a:t>DEVICE / OT</a:t>
            </a:r>
          </a:p>
          <a:p>
            <a:r>
              <a:rPr sz="1050" b="1" i="0">
                <a:solidFill>
                  <a:srgbClr val="F8FAFC"/>
                </a:solidFill>
                <a:latin typeface="Inter"/>
              </a:rPr>
              <a:t>Cognex Vision Camera</a:t>
            </a:r>
          </a:p>
          <a:p>
            <a:r>
              <a:rPr sz="750" b="0" i="1">
                <a:solidFill>
                  <a:srgbClr val="CBD5E1"/>
                </a:solidFill>
                <a:latin typeface="Inter"/>
              </a:rPr>
              <a:t>Automated Optical Inspection</a:t>
            </a:r>
          </a:p>
        </p:txBody>
      </p:sp>
      <p:sp>
        <p:nvSpPr>
          <p:cNvPr id="68" name="Oval 67"/>
          <p:cNvSpPr/>
          <p:nvPr/>
        </p:nvSpPr>
        <p:spPr>
          <a:xfrm>
            <a:off x="7114320" y="5658307"/>
            <a:ext cx="1243680" cy="623620"/>
          </a:xfrm>
          <a:prstGeom prst="ellipse">
            <a:avLst/>
          </a:prstGeom>
          <a:solidFill>
            <a:srgbClr val="16284B"/>
          </a:solidFill>
          <a:ln w="1524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187472" y="5749747"/>
            <a:ext cx="1097376" cy="4407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19" b="1" i="0">
                <a:solidFill>
                  <a:srgbClr val="00B4D8"/>
                </a:solidFill>
                <a:latin typeface="Inter"/>
              </a:rPr>
              <a:t>OPERATOR</a:t>
            </a:r>
          </a:p>
          <a:p>
            <a:pPr algn="ctr"/>
            <a:r>
              <a:rPr sz="1050" b="1" i="0">
                <a:solidFill>
                  <a:srgbClr val="F8FAFC"/>
                </a:solidFill>
                <a:latin typeface="Inter"/>
              </a:rPr>
              <a:t>Line Assembly Operator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742048" y="1188720"/>
            <a:ext cx="2718127" cy="5166360"/>
          </a:xfrm>
          <a:prstGeom prst="rect">
            <a:avLst/>
          </a:prstGeom>
          <a:solidFill>
            <a:srgbClr val="132240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742048" y="1188720"/>
            <a:ext cx="2718127" cy="347472"/>
          </a:xfrm>
          <a:prstGeom prst="rect">
            <a:avLst/>
          </a:prstGeom>
          <a:solidFill>
            <a:srgbClr val="1C3159"/>
          </a:solidFill>
          <a:ln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B4D8"/>
                </a:solidFill>
                <a:latin typeface="Inter"/>
              </a:rPr>
              <a:t>ARCHITECTURAL GUARANTEES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870064" y="1627632"/>
            <a:ext cx="2462095" cy="10629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19" b="1" i="0">
                <a:solidFill>
                  <a:srgbClr val="00B4D8"/>
                </a:solidFill>
                <a:latin typeface="Inter"/>
              </a:rPr>
              <a:t>• SINGLE FINANCIAL LEDGER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050" b="0" i="0">
                <a:solidFill>
                  <a:srgbClr val="CBD5E1"/>
                </a:solidFill>
                <a:latin typeface="Inter"/>
              </a:rPr>
              <a:t>S/4HANA ACDOCA remains the sole financial source of truth. MES never replicates general ledger postings.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70064" y="2782062"/>
            <a:ext cx="2462095" cy="10629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19" b="1" i="0">
                <a:solidFill>
                  <a:srgbClr val="00B4D8"/>
                </a:solidFill>
                <a:latin typeface="Inter"/>
              </a:rPr>
              <a:t>• AIR-GAPPED PLANT RESILIENCE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050" b="0" i="0">
                <a:solidFill>
                  <a:srgbClr val="CBD5E1"/>
                </a:solidFill>
                <a:latin typeface="Inter"/>
              </a:rPr>
              <a:t>Edge gateways buffer 48 hours of telemetry and execution confirmations during WAN network disconnects.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870064" y="3936492"/>
            <a:ext cx="2462095" cy="10629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19" b="1" i="0">
                <a:solidFill>
                  <a:srgbClr val="00B4D8"/>
                </a:solidFill>
                <a:latin typeface="Inter"/>
              </a:rPr>
              <a:t>• CLEAN-CORE DECOUPLING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050" b="0" i="0">
                <a:solidFill>
                  <a:srgbClr val="CBD5E1"/>
                </a:solidFill>
                <a:latin typeface="Inter"/>
              </a:rPr>
              <a:t>Zero custom ABAP modifications in S/4HANA core. All MES orchestrations leverage standard OData v4 and Event Mesh.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70064" y="5090922"/>
            <a:ext cx="2462095" cy="106299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19" b="1" i="0">
                <a:solidFill>
                  <a:srgbClr val="00B4D8"/>
                </a:solidFill>
                <a:latin typeface="Inter"/>
              </a:rPr>
              <a:t>• DETERMINISTIC MACHINE INTERLOCK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050" b="0" i="0">
                <a:solidFill>
                  <a:srgbClr val="CBD5E1"/>
                </a:solidFill>
                <a:latin typeface="Inter"/>
              </a:rPr>
              <a:t>Sub-100ms machine safety and cycle interlocks run exclusively at Level 1/2 PLC layer, immune to cloud latency.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47472"/>
            <a:ext cx="2061972" cy="237744"/>
          </a:xfrm>
          <a:prstGeom prst="rect">
            <a:avLst/>
          </a:prstGeom>
          <a:solidFill>
            <a:srgbClr val="EEF2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66CC"/>
                </a:solidFill>
                <a:latin typeface="Inter"/>
              </a:rPr>
              <a:t>4. OPERATIONAL SWIMLANE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0F172A"/>
                </a:solidFill>
                <a:latin typeface="Inter"/>
              </a:rPr>
              <a:t>Cross-Functional SAP, MES &amp; Shop Floor Handoff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66CC"/>
                </a:solidFill>
                <a:latin typeface="Inter"/>
              </a:rPr>
              <a:t>End-to-end transactional handoffs with Poka-Yoke error-proofing interlocks.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64748B"/>
                </a:solidFill>
                <a:latin typeface="Inter"/>
              </a:rPr>
              <a:t>Global Aerospace &amp; Defense • Operational Swimlane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66CC"/>
                </a:solidFill>
                <a:latin typeface="Inter"/>
              </a:rPr>
              <a:t>04 / 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81328"/>
            <a:ext cx="10728655" cy="4782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81328"/>
            <a:ext cx="10728655" cy="34747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54864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CROSS-FUNCTIONAL OPERATIONAL SWIMLANE: ORDER-TO-CONFIRMATION OPERATIONAL SWIMLANE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61488" y="1874519"/>
            <a:ext cx="8588959" cy="81015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" y="1874519"/>
            <a:ext cx="1920240" cy="810158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73152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CUSTOMER DEMAND</a:t>
            </a:r>
          </a:p>
          <a:p>
            <a:r>
              <a:rPr sz="750" b="0" i="1">
                <a:solidFill>
                  <a:srgbClr val="64748B"/>
                </a:solidFill>
                <a:latin typeface="Inter"/>
              </a:rPr>
              <a:t>External Partner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61488" y="2757830"/>
            <a:ext cx="8588959" cy="810158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" y="2757830"/>
            <a:ext cx="1920240" cy="810158"/>
          </a:xfrm>
          <a:prstGeom prst="rect">
            <a:avLst/>
          </a:prstGeom>
          <a:solidFill>
            <a:srgbClr val="EEF2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73152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SAP S/4HANA</a:t>
            </a:r>
          </a:p>
          <a:p>
            <a:r>
              <a:rPr sz="750" b="0" i="1">
                <a:solidFill>
                  <a:srgbClr val="64748B"/>
                </a:solidFill>
                <a:latin typeface="Inter"/>
              </a:rPr>
              <a:t>System of Record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61488" y="3641140"/>
            <a:ext cx="8588959" cy="81015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" y="3641140"/>
            <a:ext cx="1920240" cy="810158"/>
          </a:xfrm>
          <a:prstGeom prst="rect">
            <a:avLst/>
          </a:prstGeom>
          <a:solidFill>
            <a:srgbClr val="EEF2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73152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MES MOM CORE</a:t>
            </a:r>
          </a:p>
          <a:p>
            <a:r>
              <a:rPr sz="750" b="0" i="1">
                <a:solidFill>
                  <a:srgbClr val="64748B"/>
                </a:solidFill>
                <a:latin typeface="Inter"/>
              </a:rPr>
              <a:t>Execution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61488" y="4524451"/>
            <a:ext cx="8588959" cy="810158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" y="4524451"/>
            <a:ext cx="1920240" cy="810158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73152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SHOP FLOOR / OT</a:t>
            </a:r>
          </a:p>
          <a:p>
            <a:r>
              <a:rPr sz="750" b="0" i="1">
                <a:solidFill>
                  <a:srgbClr val="64748B"/>
                </a:solidFill>
                <a:latin typeface="Inter"/>
              </a:rPr>
              <a:t>Edge Physical Layer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61488" y="5407761"/>
            <a:ext cx="8588959" cy="81015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2" y="5407761"/>
            <a:ext cx="1920240" cy="810158"/>
          </a:xfrm>
          <a:prstGeom prst="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73152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QUALITY ASSURANCE</a:t>
            </a:r>
          </a:p>
          <a:p>
            <a:r>
              <a:rPr sz="750" b="0" i="1">
                <a:solidFill>
                  <a:srgbClr val="64748B"/>
                </a:solidFill>
                <a:latin typeface="Inter"/>
              </a:rPr>
              <a:t>Compliance Interlock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98648" y="2023567"/>
            <a:ext cx="1004925" cy="5120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>
              <a:spcBef>
                <a:spcPts val="0"/>
              </a:spcBef>
              <a:spcAft>
                <a:spcPts val="0"/>
              </a:spcAft>
              <a:defRPr sz="750" b="1">
                <a:solidFill>
                  <a:srgbClr val="0066CC"/>
                </a:solidFill>
                <a:latin typeface="Inter"/>
              </a:defRPr>
            </a:pPr>
            <a:r>
              <a:rPr/>
              <a:t>[1] EDI 850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0F172A"/>
                </a:solidFill>
                <a:latin typeface="Inter"/>
              </a:defRPr>
            </a:pPr>
            <a:r>
              <a:rPr/>
              <a:t>Demand Forecast / EDI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4748B"/>
                </a:solidFill>
                <a:latin typeface="Inter"/>
              </a:defRPr>
            </a:pPr>
            <a:r>
              <a:rPr/>
              <a:t>Sales Demand Signal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86453" y="2906877"/>
            <a:ext cx="1004925" cy="5120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>
              <a:spcBef>
                <a:spcPts val="0"/>
              </a:spcBef>
              <a:spcAft>
                <a:spcPts val="0"/>
              </a:spcAft>
              <a:defRPr sz="750" b="1">
                <a:solidFill>
                  <a:srgbClr val="0066CC"/>
                </a:solidFill>
                <a:latin typeface="Inter"/>
              </a:defRPr>
            </a:pPr>
            <a:r>
              <a:rPr/>
              <a:t>[2] S/4HANA PP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0F172A"/>
                </a:solidFill>
                <a:latin typeface="Inter"/>
              </a:defRPr>
            </a:pPr>
            <a:r>
              <a:rPr/>
              <a:t>Sales &amp; Production Order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4748B"/>
                </a:solidFill>
                <a:latin typeface="Inter"/>
              </a:defRPr>
            </a:pPr>
            <a:r>
              <a:rPr/>
              <a:t>MRP Planning Run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74259" y="3790187"/>
            <a:ext cx="1004925" cy="5120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>
              <a:spcBef>
                <a:spcPts val="0"/>
              </a:spcBef>
              <a:spcAft>
                <a:spcPts val="0"/>
              </a:spcAft>
              <a:defRPr sz="750" b="1">
                <a:solidFill>
                  <a:srgbClr val="0066CC"/>
                </a:solidFill>
                <a:latin typeface="Inter"/>
              </a:defRPr>
            </a:pPr>
            <a:r>
              <a:rPr/>
              <a:t>[3] MES MOM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0F172A"/>
                </a:solidFill>
                <a:latin typeface="Inter"/>
              </a:defRPr>
            </a:pPr>
            <a:r>
              <a:rPr/>
              <a:t>Dispatch &amp; Work Queue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4748B"/>
                </a:solidFill>
                <a:latin typeface="Inter"/>
              </a:defRPr>
            </a:pPr>
            <a:r>
              <a:rPr/>
              <a:t>Operation Scheduling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62064" y="4673498"/>
            <a:ext cx="1004925" cy="5120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>
              <a:spcBef>
                <a:spcPts val="0"/>
              </a:spcBef>
              <a:spcAft>
                <a:spcPts val="0"/>
              </a:spcAft>
              <a:defRPr sz="750" b="1">
                <a:solidFill>
                  <a:srgbClr val="0066CC"/>
                </a:solidFill>
                <a:latin typeface="Inter"/>
              </a:defRPr>
            </a:pPr>
            <a:r>
              <a:rPr/>
              <a:t>[4] PLC / OPC UA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0F172A"/>
                </a:solidFill>
                <a:latin typeface="Inter"/>
              </a:defRPr>
            </a:pPr>
            <a:r>
              <a:rPr/>
              <a:t>CNC Machining &amp; Setup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4748B"/>
                </a:solidFill>
                <a:latin typeface="Inter"/>
              </a:defRPr>
            </a:pPr>
            <a:r>
              <a:rPr/>
              <a:t>Physical Execution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49870" y="4673498"/>
            <a:ext cx="1004925" cy="5120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>
              <a:spcBef>
                <a:spcPts val="0"/>
              </a:spcBef>
              <a:spcAft>
                <a:spcPts val="0"/>
              </a:spcAft>
              <a:defRPr sz="750" b="1">
                <a:solidFill>
                  <a:srgbClr val="0066CC"/>
                </a:solidFill>
                <a:latin typeface="Inter"/>
              </a:defRPr>
            </a:pPr>
            <a:r>
              <a:rPr/>
              <a:t>[5] 261 Movement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0F172A"/>
                </a:solidFill>
                <a:latin typeface="Inter"/>
              </a:defRPr>
            </a:pPr>
            <a:r>
              <a:rPr/>
              <a:t>Material Consumption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4748B"/>
                </a:solidFill>
                <a:latin typeface="Inter"/>
              </a:defRPr>
            </a:pPr>
            <a:r>
              <a:rPr/>
              <a:t>Batch Component Binding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37676" y="5556808"/>
            <a:ext cx="1004925" cy="512064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>
              <a:spcBef>
                <a:spcPts val="0"/>
              </a:spcBef>
              <a:spcAft>
                <a:spcPts val="0"/>
              </a:spcAft>
              <a:defRPr sz="750" b="1">
                <a:solidFill>
                  <a:srgbClr val="D97706"/>
                </a:solidFill>
                <a:latin typeface="Inter"/>
              </a:defRPr>
            </a:pPr>
            <a:r>
              <a:rPr/>
              <a:t>◆ GATE [6]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0F172A"/>
                </a:solidFill>
                <a:latin typeface="Inter"/>
              </a:defRPr>
            </a:pPr>
            <a:r>
              <a:rPr/>
              <a:t>Optical Inspection Gate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4748B"/>
                </a:solidFill>
                <a:latin typeface="Inter"/>
              </a:defRPr>
            </a:pPr>
            <a:r>
              <a:rPr/>
              <a:t>SPC Tolerance Validation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25481" y="2906877"/>
            <a:ext cx="1004925" cy="51206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9144"/>
          <a:lstStyle/>
          <a:p>
            <a:pPr algn="ctr">
              <a:spcBef>
                <a:spcPts val="0"/>
              </a:spcBef>
              <a:spcAft>
                <a:spcPts val="0"/>
              </a:spcAft>
              <a:defRPr sz="750" b="1">
                <a:solidFill>
                  <a:srgbClr val="0066CC"/>
                </a:solidFill>
                <a:latin typeface="Inter"/>
              </a:defRPr>
            </a:pPr>
            <a:r>
              <a:rPr/>
              <a:t>[7] ACDOCA Post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800" b="1">
                <a:solidFill>
                  <a:srgbClr val="0F172A"/>
                </a:solidFill>
                <a:latin typeface="Inter"/>
              </a:defRPr>
            </a:pPr>
            <a:r>
              <a:rPr/>
              <a:t>Confirmation &amp; Ledger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4748B"/>
                </a:solidFill>
                <a:latin typeface="Inter"/>
              </a:defRPr>
            </a:pPr>
            <a:r>
              <a:rPr/>
              <a:t>CO11N &amp; 101 Goods Receipt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3337102" y="2553919"/>
            <a:ext cx="128016" cy="334670"/>
          </a:xfrm>
          <a:prstGeom prst="down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483406" y="2620670"/>
            <a:ext cx="1005840" cy="164592"/>
          </a:xfrm>
          <a:prstGeom prst="roundRect">
            <a:avLst/>
          </a:prstGeom>
          <a:solidFill>
            <a:srgbClr val="EEF2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700" b="1">
                <a:solidFill>
                  <a:srgbClr val="0066CC"/>
                </a:solidFill>
                <a:latin typeface="Inter"/>
              </a:defRPr>
            </a:pPr>
            <a:r>
              <a:rPr/>
              <a:t>Sales Order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4524908" y="3437229"/>
            <a:ext cx="128016" cy="334670"/>
          </a:xfrm>
          <a:prstGeom prst="down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671212" y="3503980"/>
            <a:ext cx="1005840" cy="164592"/>
          </a:xfrm>
          <a:prstGeom prst="roundRect">
            <a:avLst/>
          </a:prstGeom>
          <a:solidFill>
            <a:srgbClr val="EEF2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700" b="1">
                <a:solidFill>
                  <a:srgbClr val="0066CC"/>
                </a:solidFill>
                <a:latin typeface="Inter"/>
              </a:defRPr>
            </a:pPr>
            <a:r>
              <a:rPr/>
              <a:t>Production Order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5712714" y="4320540"/>
            <a:ext cx="128016" cy="334670"/>
          </a:xfrm>
          <a:prstGeom prst="down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859018" y="4387291"/>
            <a:ext cx="1005840" cy="164592"/>
          </a:xfrm>
          <a:prstGeom prst="roundRect">
            <a:avLst/>
          </a:prstGeom>
          <a:solidFill>
            <a:srgbClr val="EEF2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700" b="1">
                <a:solidFill>
                  <a:srgbClr val="0066CC"/>
                </a:solidFill>
                <a:latin typeface="Inter"/>
              </a:defRPr>
            </a:pPr>
            <a:r>
              <a:rPr/>
              <a:t>Dispatch Job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7485278" y="4865522"/>
            <a:ext cx="146303" cy="128016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own Arrow 33"/>
          <p:cNvSpPr/>
          <p:nvPr/>
        </p:nvSpPr>
        <p:spPr>
          <a:xfrm>
            <a:off x="8088325" y="5203850"/>
            <a:ext cx="128016" cy="334670"/>
          </a:xfrm>
          <a:prstGeom prst="down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234629" y="5270601"/>
            <a:ext cx="1005840" cy="164592"/>
          </a:xfrm>
          <a:prstGeom prst="roundRect">
            <a:avLst/>
          </a:prstGeom>
          <a:solidFill>
            <a:srgbClr val="EEF2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700" b="1">
                <a:solidFill>
                  <a:srgbClr val="0066CC"/>
                </a:solidFill>
                <a:latin typeface="Inter"/>
              </a:defRPr>
            </a:pPr>
            <a:r>
              <a:rPr/>
              <a:t>Inspection Trigger</a:t>
            </a:r>
          </a:p>
        </p:txBody>
      </p:sp>
      <p:sp>
        <p:nvSpPr>
          <p:cNvPr id="36" name="Up Arrow 35"/>
          <p:cNvSpPr/>
          <p:nvPr/>
        </p:nvSpPr>
        <p:spPr>
          <a:xfrm>
            <a:off x="9276130" y="3437229"/>
            <a:ext cx="128016" cy="2101291"/>
          </a:xfrm>
          <a:prstGeom prst="upArrow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440722" y="4405579"/>
            <a:ext cx="1005840" cy="164592"/>
          </a:xfrm>
          <a:prstGeom prst="roundRect">
            <a:avLst/>
          </a:prstGeom>
          <a:solidFill>
            <a:srgbClr val="EEF2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700" b="1">
                <a:solidFill>
                  <a:srgbClr val="0066CC"/>
                </a:solidFill>
                <a:latin typeface="Inter"/>
              </a:defRPr>
            </a:pPr>
            <a:r>
              <a:rPr/>
              <a:t>Clearance GR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47472"/>
            <a:ext cx="2061972" cy="237744"/>
          </a:xfrm>
          <a:prstGeom prst="rect">
            <a:avLst/>
          </a:prstGeom>
          <a:solidFill>
            <a:srgbClr val="EEF2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66CC"/>
                </a:solidFill>
                <a:latin typeface="Inter"/>
              </a:rPr>
              <a:t>5. PROCESS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0F172A"/>
                </a:solidFill>
                <a:latin typeface="Inter"/>
              </a:rPr>
              <a:t>Production Execution, Quality Clearance &amp; Rework Loopback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66CC"/>
                </a:solidFill>
                <a:latin typeface="Inter"/>
              </a:rPr>
              <a:t>Sequential order dispatch with automated Poka-Yoke decision gate and rework loopback.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64748B"/>
                </a:solidFill>
                <a:latin typeface="Inter"/>
              </a:rPr>
              <a:t>Global Aerospace &amp; Defense • Process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66CC"/>
                </a:solidFill>
                <a:latin typeface="Inter"/>
              </a:rPr>
              <a:t>05 / 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81328"/>
            <a:ext cx="10728655" cy="4782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81328"/>
            <a:ext cx="10728655" cy="365760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54864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PROCESS ARCHITECTURE: PRODUCTION EXECUTION &amp; QUALITY CLEARANCE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1984248"/>
            <a:ext cx="1294921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60120" y="1984248"/>
            <a:ext cx="1294921" cy="25603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/>
            <a:r>
              <a:rPr sz="819" b="1" i="0">
                <a:solidFill>
                  <a:srgbClr val="0066CC"/>
                </a:solidFill>
                <a:latin typeface="Inter"/>
              </a:rPr>
              <a:t>STEP 1: CUSTOMER DEMAND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" y="2276856"/>
            <a:ext cx="1148617" cy="859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Demand &amp; Sales Order</a:t>
            </a:r>
          </a:p>
          <a:p>
            <a:pPr>
              <a:spcAft>
                <a:spcPts val="200"/>
              </a:spcAft>
            </a:pPr>
            <a:r>
              <a:rPr sz="750" b="0" i="1">
                <a:solidFill>
                  <a:srgbClr val="0066CC"/>
                </a:solidFill>
                <a:latin typeface="Inter"/>
              </a:rPr>
              <a:t>[SAP SD]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282473" y="2468879"/>
            <a:ext cx="146304" cy="219456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456209" y="1984248"/>
            <a:ext cx="1294921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56209" y="1984248"/>
            <a:ext cx="1294921" cy="25603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/>
            <a:r>
              <a:rPr sz="819" b="1" i="0">
                <a:solidFill>
                  <a:srgbClr val="0066CC"/>
                </a:solidFill>
                <a:latin typeface="Inter"/>
              </a:rPr>
              <a:t>STEP 2: SAP 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29361" y="2276856"/>
            <a:ext cx="1148617" cy="859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Production Order &amp; MRP</a:t>
            </a:r>
          </a:p>
          <a:p>
            <a:pPr>
              <a:spcAft>
                <a:spcPts val="200"/>
              </a:spcAft>
            </a:pPr>
            <a:r>
              <a:rPr sz="750" b="0" i="1">
                <a:solidFill>
                  <a:srgbClr val="0066CC"/>
                </a:solidFill>
                <a:latin typeface="Inter"/>
              </a:rPr>
              <a:t>[PP Order 100482]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778562" y="2468879"/>
            <a:ext cx="146304" cy="219456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952298" y="1984248"/>
            <a:ext cx="1294921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52298" y="1984248"/>
            <a:ext cx="1294921" cy="25603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/>
            <a:r>
              <a:rPr sz="819" b="1" i="0">
                <a:solidFill>
                  <a:srgbClr val="0066CC"/>
                </a:solidFill>
                <a:latin typeface="Inter"/>
              </a:rPr>
              <a:t>STEP 3: MES OPERATIONS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5450" y="2276856"/>
            <a:ext cx="1148617" cy="859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MES Dispatch &amp; Setup</a:t>
            </a:r>
          </a:p>
          <a:p>
            <a:pPr>
              <a:spcAft>
                <a:spcPts val="200"/>
              </a:spcAft>
            </a:pPr>
            <a:r>
              <a:rPr sz="750" b="0" i="1">
                <a:solidFill>
                  <a:srgbClr val="0066CC"/>
                </a:solidFill>
                <a:latin typeface="Inter"/>
              </a:rPr>
              <a:t>[Digital Dispatch]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274651" y="2468879"/>
            <a:ext cx="146304" cy="219456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48387" y="1984248"/>
            <a:ext cx="1294921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48387" y="1984248"/>
            <a:ext cx="1294921" cy="25603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/>
            <a:r>
              <a:rPr sz="819" b="1" i="0">
                <a:solidFill>
                  <a:srgbClr val="0066CC"/>
                </a:solidFill>
                <a:latin typeface="Inter"/>
              </a:rPr>
              <a:t>STEP 4: SHOP FLOOR 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21539" y="2276856"/>
            <a:ext cx="1148617" cy="859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Machine Execution</a:t>
            </a:r>
          </a:p>
          <a:p>
            <a:pPr>
              <a:spcAft>
                <a:spcPts val="200"/>
              </a:spcAft>
            </a:pPr>
            <a:r>
              <a:rPr sz="750" b="0" i="1">
                <a:solidFill>
                  <a:srgbClr val="0066CC"/>
                </a:solidFill>
                <a:latin typeface="Inter"/>
              </a:rPr>
              <a:t>[CNC Work Center]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6770740" y="2468879"/>
            <a:ext cx="146304" cy="219456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mond 25"/>
          <p:cNvSpPr/>
          <p:nvPr/>
        </p:nvSpPr>
        <p:spPr>
          <a:xfrm>
            <a:off x="6944476" y="1984248"/>
            <a:ext cx="1489159" cy="1188720"/>
          </a:xfrm>
          <a:prstGeom prst="diamond">
            <a:avLst/>
          </a:prstGeom>
          <a:solidFill>
            <a:srgbClr val="EEF2FF"/>
          </a:solidFill>
          <a:ln w="1905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 bIns="54864"/>
          <a:lstStyle/>
          <a:p>
            <a:pPr algn="ctr"/>
            <a:r>
              <a:rPr sz="819" b="1" i="0">
                <a:solidFill>
                  <a:srgbClr val="0066CC"/>
                </a:solidFill>
                <a:latin typeface="Inter"/>
              </a:rPr>
              <a:t>GATE</a:t>
            </a:r>
          </a:p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F172A"/>
                </a:solidFill>
                <a:latin typeface="Inter"/>
              </a:rPr>
              <a:t>QUALITY GATE
&amp; SPC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470211" y="2468879"/>
            <a:ext cx="548640" cy="219456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506787" y="2304288"/>
            <a:ext cx="475488" cy="201168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819" b="1" i="0">
                <a:solidFill>
                  <a:srgbClr val="FFFFFF"/>
                </a:solidFill>
                <a:latin typeface="Inter"/>
              </a:rPr>
              <a:t>PASS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55427" y="1984248"/>
            <a:ext cx="1294921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055427" y="1984248"/>
            <a:ext cx="1294921" cy="25603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/>
            <a:r>
              <a:rPr sz="819" b="1" i="0">
                <a:solidFill>
                  <a:srgbClr val="0066CC"/>
                </a:solidFill>
                <a:latin typeface="Inter"/>
              </a:rPr>
              <a:t>STEP 6: SAP FINANCE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28579" y="2276856"/>
            <a:ext cx="1148617" cy="859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Confirmation &amp; Ledger</a:t>
            </a:r>
          </a:p>
          <a:p>
            <a:pPr>
              <a:spcAft>
                <a:spcPts val="200"/>
              </a:spcAft>
            </a:pPr>
            <a:r>
              <a:rPr sz="750" b="0" i="1">
                <a:solidFill>
                  <a:srgbClr val="0066CC"/>
                </a:solidFill>
                <a:latin typeface="Inter"/>
              </a:rPr>
              <a:t>[CO11N / 101 GR]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0377780" y="2468879"/>
            <a:ext cx="146304" cy="219456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551516" y="1984248"/>
            <a:ext cx="1294921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551516" y="1984248"/>
            <a:ext cx="1294921" cy="25603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/>
            <a:r>
              <a:rPr sz="819" b="1" i="0">
                <a:solidFill>
                  <a:srgbClr val="0066CC"/>
                </a:solidFill>
                <a:latin typeface="Inter"/>
              </a:rPr>
              <a:t>STEP 7: LOGISTICS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24668" y="2276856"/>
            <a:ext cx="1148617" cy="859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Finished Goods Dispatch</a:t>
            </a:r>
          </a:p>
          <a:p>
            <a:pPr>
              <a:spcAft>
                <a:spcPts val="200"/>
              </a:spcAft>
            </a:pPr>
            <a:r>
              <a:rPr sz="750" b="0" i="1">
                <a:solidFill>
                  <a:srgbClr val="0066CC"/>
                </a:solidFill>
                <a:latin typeface="Inter"/>
              </a:rPr>
              <a:t>[Outbound Delivery]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7579327" y="3218687"/>
            <a:ext cx="219456" cy="1673351"/>
          </a:xfrm>
          <a:prstGeom prst="downArrow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835359" y="3310127"/>
            <a:ext cx="1005840" cy="219456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819" b="1" i="0">
                <a:solidFill>
                  <a:srgbClr val="FFFFFF"/>
                </a:solidFill>
                <a:latin typeface="Inter"/>
              </a:rPr>
              <a:t>REWORK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78716" y="4937759"/>
            <a:ext cx="1569241" cy="118872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78716" y="4937759"/>
            <a:ext cx="1569241" cy="25603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/>
            <a:r>
              <a:rPr sz="819" b="1" i="0">
                <a:solidFill>
                  <a:srgbClr val="0066CC"/>
                </a:solidFill>
                <a:latin typeface="Inter"/>
              </a:rPr>
              <a:t>EXCEPTION PATH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51868" y="5230368"/>
            <a:ext cx="1422937" cy="859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Rework Operation</a:t>
            </a:r>
          </a:p>
          <a:p>
            <a:pPr>
              <a:spcAft>
                <a:spcPts val="200"/>
              </a:spcAft>
            </a:pPr>
            <a:r>
              <a:rPr sz="750" b="0" i="1">
                <a:solidFill>
                  <a:srgbClr val="0066CC"/>
                </a:solidFill>
                <a:latin typeface="Inter"/>
              </a:rPr>
              <a:t>[MES Non-Conformance]</a:t>
            </a:r>
          </a:p>
          <a:p>
            <a:r>
              <a:rPr sz="819" b="1" i="0">
                <a:solidFill>
                  <a:srgbClr val="64748B"/>
                </a:solidFill>
                <a:latin typeface="Inter"/>
              </a:rPr>
              <a:t>Quarantine &amp; Root Cause Correction</a:t>
            </a:r>
          </a:p>
          <a:p>
            <a:r>
              <a:rPr sz="819" b="1" i="0">
                <a:solidFill>
                  <a:srgbClr val="D97706"/>
                </a:solidFill>
                <a:latin typeface="Inter"/>
              </a:rPr>
              <a:t>LOCK: Defect Logged in S/4HANA QM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76557" y="4937759"/>
            <a:ext cx="1614961" cy="11887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376557" y="4937759"/>
            <a:ext cx="1614961" cy="256032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/>
            <a:r>
              <a:rPr sz="819" b="1" i="0">
                <a:solidFill>
                  <a:srgbClr val="0066CC"/>
                </a:solidFill>
                <a:latin typeface="Inter"/>
              </a:rPr>
              <a:t>CLEARANCE GATE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49709" y="5230368"/>
            <a:ext cx="1468657" cy="8595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1" i="0">
                <a:solidFill>
                  <a:srgbClr val="0F172A"/>
                </a:solidFill>
                <a:latin typeface="Inter"/>
              </a:rPr>
              <a:t>Re-Inspection &amp; Verification</a:t>
            </a:r>
          </a:p>
          <a:p>
            <a:pPr>
              <a:spcAft>
                <a:spcPts val="200"/>
              </a:spcAft>
            </a:pPr>
            <a:r>
              <a:rPr sz="750" b="0" i="1">
                <a:solidFill>
                  <a:srgbClr val="0066CC"/>
                </a:solidFill>
                <a:latin typeface="Inter"/>
              </a:rPr>
              <a:t>[Digital Traveler]</a:t>
            </a:r>
          </a:p>
          <a:p>
            <a:r>
              <a:rPr sz="819" b="1" i="0">
                <a:solidFill>
                  <a:srgbClr val="64748B"/>
                </a:solidFill>
                <a:latin typeface="Inter"/>
              </a:rPr>
              <a:t>Tolerance Validation &amp; Clearance</a:t>
            </a:r>
          </a:p>
          <a:p>
            <a:r>
              <a:rPr sz="819" b="1" i="0">
                <a:solidFill>
                  <a:srgbClr val="D97706"/>
                </a:solidFill>
                <a:latin typeface="Inter"/>
              </a:rPr>
              <a:t>LOCK: Serial Unlocked Only on Clearance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8184533" y="5422392"/>
            <a:ext cx="155448" cy="219456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Up Arrow 44"/>
          <p:cNvSpPr/>
          <p:nvPr/>
        </p:nvSpPr>
        <p:spPr>
          <a:xfrm>
            <a:off x="10064670" y="4434840"/>
            <a:ext cx="219456" cy="502920"/>
          </a:xfrm>
          <a:prstGeom prst="upArrow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0320702" y="4507992"/>
            <a:ext cx="1234440" cy="384048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819" b="1" i="0">
                <a:solidFill>
                  <a:srgbClr val="D97706"/>
                </a:solidFill>
                <a:latin typeface="Inter"/>
              </a:rPr>
              <a:t>↺ RE-ENTRY LOOP
Cleared for Confirmation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47472"/>
            <a:ext cx="2011680" cy="237744"/>
          </a:xfrm>
          <a:prstGeom prst="rect">
            <a:avLst/>
          </a:prstGeom>
          <a:solidFill>
            <a:srgbClr val="EEF2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66CC"/>
                </a:solidFill>
                <a:latin typeface="Inter"/>
              </a:rPr>
              <a:t>6. MATURITY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0F172A"/>
                </a:solidFill>
                <a:latin typeface="Inter"/>
              </a:rPr>
              <a:t>Digital Transformation Maturity Staircase &amp; Gap Scorecard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66CC"/>
                </a:solidFill>
                <a:latin typeface="Inter"/>
              </a:rPr>
              <a:t>5-Level capability staircase and prioritized dimension gap scorecard.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64748B"/>
                </a:solidFill>
                <a:latin typeface="Inter"/>
              </a:rPr>
              <a:t>Global Aerospace &amp; Defense • Maturity Assessment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66CC"/>
                </a:solidFill>
                <a:latin typeface="Inter"/>
              </a:rPr>
              <a:t>06 / 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81328"/>
            <a:ext cx="10728655" cy="47823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81328"/>
            <a:ext cx="10728655" cy="475488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554480"/>
            <a:ext cx="670529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DIGITAL TRANSFORMATION MATURITY ASSESSMENT: MANUFACTURING DIGITAL TRANSFORMATION MATURITY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31375" y="1554480"/>
            <a:ext cx="1645920" cy="32918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19" b="1" i="0">
                <a:solidFill>
                  <a:srgbClr val="FFFFFF"/>
                </a:solidFill>
                <a:latin typeface="Inter"/>
              </a:rPr>
              <a:t>TARGET: 4.2 / 5.0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11335" y="1627632"/>
            <a:ext cx="228600" cy="182880"/>
          </a:xfrm>
          <a:prstGeom prst="rightArrow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528255" y="1554480"/>
            <a:ext cx="1691640" cy="329184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819" b="1" i="0">
                <a:solidFill>
                  <a:srgbClr val="FFFFFF"/>
                </a:solidFill>
                <a:latin typeface="Inter"/>
              </a:rPr>
              <a:t>CURRENT: 2.4 / 5.0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" y="2066544"/>
            <a:ext cx="4720608" cy="4123943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2139696"/>
            <a:ext cx="4501152" cy="292608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5-LEVEL DIGITAL MATURITY STAIRCASE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7552" y="5347411"/>
            <a:ext cx="1964413" cy="6693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/>
          <a:lstStyle/>
          <a:p>
            <a:pPr algn="ctr"/>
            <a:r>
              <a:rPr sz="1050" b="1" i="0">
                <a:solidFill>
                  <a:srgbClr val="0F172A"/>
                </a:solidFill>
                <a:latin typeface="Inter"/>
              </a:rPr>
              <a:t>1. Fragmented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87552" y="4641494"/>
            <a:ext cx="2589454" cy="66934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/>
          <a:lstStyle/>
          <a:p>
            <a:pPr algn="ctr"/>
            <a:r>
              <a:rPr sz="1050" b="1" i="0">
                <a:solidFill>
                  <a:srgbClr val="D97706"/>
                </a:solidFill>
                <a:latin typeface="Inter"/>
              </a:rPr>
              <a:t>2. Standardized</a:t>
            </a:r>
          </a:p>
          <a:p>
            <a:r>
              <a:rPr sz="819" b="1" i="0">
                <a:solidFill>
                  <a:srgbClr val="D97706"/>
                </a:solidFill>
                <a:latin typeface="Inter"/>
              </a:rPr>
              <a:t> [CURRENT POSITION]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87552" y="3935577"/>
            <a:ext cx="3214494" cy="6693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/>
          <a:lstStyle/>
          <a:p>
            <a:pPr algn="ctr"/>
            <a:r>
              <a:rPr sz="1050" b="1" i="0">
                <a:solidFill>
                  <a:srgbClr val="0F172A"/>
                </a:solidFill>
                <a:latin typeface="Inter"/>
              </a:rPr>
              <a:t>3. Integrated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7552" y="3229660"/>
            <a:ext cx="3839535" cy="66934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/>
          <a:lstStyle/>
          <a:p>
            <a:pPr algn="ctr"/>
            <a:r>
              <a:rPr sz="1050" b="1" i="0">
                <a:solidFill>
                  <a:srgbClr val="10B981"/>
                </a:solidFill>
                <a:latin typeface="Inter"/>
              </a:rPr>
              <a:t>4. Intelligent</a:t>
            </a:r>
          </a:p>
          <a:p>
            <a:r>
              <a:rPr sz="819" b="1" i="0">
                <a:solidFill>
                  <a:srgbClr val="10B981"/>
                </a:solidFill>
                <a:latin typeface="Inter"/>
              </a:rPr>
              <a:t> [TARGET HORIZON]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7552" y="2523744"/>
            <a:ext cx="4464576" cy="6693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/>
          <a:lstStyle/>
          <a:p>
            <a:pPr algn="ctr"/>
            <a:r>
              <a:rPr sz="1050" b="1" i="0">
                <a:solidFill>
                  <a:srgbClr val="0F172A"/>
                </a:solidFill>
                <a:latin typeface="Inter"/>
              </a:rPr>
              <a:t>5. Autonomous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16720" y="2066544"/>
            <a:ext cx="5686187" cy="412394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16720" y="2066544"/>
            <a:ext cx="5686187" cy="329184"/>
          </a:xfrm>
          <a:prstGeom prst="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tIns="54864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66CC"/>
                </a:solidFill>
                <a:latin typeface="Inter"/>
              </a:rPr>
              <a:t>GAP AUDIT &amp; PRIORITY INTERVENTIONS (SCORE -&gt; GAP -&gt; ACTION)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08160" y="2505456"/>
            <a:ext cx="5503307" cy="6565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726448" y="2523744"/>
            <a:ext cx="73152" cy="619963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54464" y="2523744"/>
            <a:ext cx="5283851" cy="6199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F172A"/>
                </a:solidFill>
                <a:latin typeface="Inter"/>
              </a:rPr>
              <a:t>Process &amp; Execution   [P1]</a:t>
            </a:r>
          </a:p>
          <a:p>
            <a:r>
              <a:rPr sz="750" b="0" i="1">
                <a:solidFill>
                  <a:srgbClr val="0066CC"/>
                </a:solidFill>
                <a:latin typeface="Inter"/>
              </a:rPr>
              <a:t>Current: 2.1 / 5.0   ➔   Target: 4.3 / 5.0  (Gap: +2.2)</a:t>
            </a:r>
          </a:p>
          <a:p>
            <a:r>
              <a:rPr sz="819" b="1" i="0">
                <a:solidFill>
                  <a:srgbClr val="DC2626"/>
                </a:solidFill>
                <a:latin typeface="Inter"/>
              </a:rPr>
              <a:t>▸ Gap: Paper travel cards &amp; manual dispatch</a:t>
            </a:r>
          </a:p>
          <a:p>
            <a:r>
              <a:rPr sz="819" b="1" i="0">
                <a:solidFill>
                  <a:srgbClr val="10B981"/>
                </a:solidFill>
                <a:latin typeface="Inter"/>
              </a:rPr>
              <a:t>✓ Action: Deploy MES automated dispatch &amp; digital traveler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08160" y="3235147"/>
            <a:ext cx="5503307" cy="656539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726448" y="3253435"/>
            <a:ext cx="73152" cy="619963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54464" y="3253435"/>
            <a:ext cx="5283851" cy="6199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F172A"/>
                </a:solidFill>
                <a:latin typeface="Inter"/>
              </a:rPr>
              <a:t>Data &amp; Genealogy   [P1]</a:t>
            </a:r>
          </a:p>
          <a:p>
            <a:r>
              <a:rPr sz="750" b="0" i="1">
                <a:solidFill>
                  <a:srgbClr val="0066CC"/>
                </a:solidFill>
                <a:latin typeface="Inter"/>
              </a:rPr>
              <a:t>Current: 2.3 / 5.0   ➔   Target: 4.5 / 5.0  (Gap: +2.2)</a:t>
            </a:r>
          </a:p>
          <a:p>
            <a:r>
              <a:rPr sz="819" b="1" i="0">
                <a:solidFill>
                  <a:srgbClr val="DC2626"/>
                </a:solidFill>
                <a:latin typeface="Inter"/>
              </a:rPr>
              <a:t>▸ Gap: Missing component-to-serial batch linkage</a:t>
            </a:r>
          </a:p>
          <a:p>
            <a:r>
              <a:rPr sz="819" b="1" i="0">
                <a:solidFill>
                  <a:srgbClr val="10B981"/>
                </a:solidFill>
                <a:latin typeface="Inter"/>
              </a:rPr>
              <a:t>✓ Action: Automated barcode &amp; OPC-UA genealogy binding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08160" y="3964838"/>
            <a:ext cx="5503307" cy="656539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726448" y="3983126"/>
            <a:ext cx="73152" cy="619963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54464" y="3983126"/>
            <a:ext cx="5283851" cy="6199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F172A"/>
                </a:solidFill>
                <a:latin typeface="Inter"/>
              </a:rPr>
              <a:t>SAP Clean Core   [P2]</a:t>
            </a:r>
          </a:p>
          <a:p>
            <a:r>
              <a:rPr sz="750" b="0" i="1">
                <a:solidFill>
                  <a:srgbClr val="0066CC"/>
                </a:solidFill>
                <a:latin typeface="Inter"/>
              </a:rPr>
              <a:t>Current: 2.6 / 5.0   ➔   Target: 4.2 / 5.0  (Gap: +1.6)</a:t>
            </a:r>
          </a:p>
          <a:p>
            <a:r>
              <a:rPr sz="819" b="1" i="0">
                <a:solidFill>
                  <a:srgbClr val="64748B"/>
                </a:solidFill>
                <a:latin typeface="Inter"/>
              </a:rPr>
              <a:t>▸ Gap: Excess custom Z-tables blocking cloud upgrade</a:t>
            </a:r>
          </a:p>
          <a:p>
            <a:r>
              <a:rPr sz="819" b="1" i="0">
                <a:solidFill>
                  <a:srgbClr val="10B981"/>
                </a:solidFill>
                <a:latin typeface="Inter"/>
              </a:rPr>
              <a:t>✓ Action: Migrate custom code to BTP event mesh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708160" y="4694529"/>
            <a:ext cx="5503307" cy="656539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726448" y="4712817"/>
            <a:ext cx="73152" cy="619963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4464" y="4712817"/>
            <a:ext cx="5283851" cy="6199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F172A"/>
                </a:solidFill>
                <a:latin typeface="Inter"/>
              </a:rPr>
              <a:t>Quality &amp; Rework   [P1]</a:t>
            </a:r>
          </a:p>
          <a:p>
            <a:r>
              <a:rPr sz="750" b="0" i="1">
                <a:solidFill>
                  <a:srgbClr val="0066CC"/>
                </a:solidFill>
                <a:latin typeface="Inter"/>
              </a:rPr>
              <a:t>Current: 2.2 / 5.0   ➔   Target: 4.0 / 5.0  (Gap: +1.8)</a:t>
            </a:r>
          </a:p>
          <a:p>
            <a:r>
              <a:rPr sz="819" b="1" i="0">
                <a:solidFill>
                  <a:srgbClr val="DC2626"/>
                </a:solidFill>
                <a:latin typeface="Inter"/>
              </a:rPr>
              <a:t>▸ Gap: Delayed defect logging &amp; missing CAPA loops</a:t>
            </a:r>
          </a:p>
          <a:p>
            <a:r>
              <a:rPr sz="819" b="1" i="0">
                <a:solidFill>
                  <a:srgbClr val="10B981"/>
                </a:solidFill>
                <a:latin typeface="Inter"/>
              </a:rPr>
              <a:t>✓ Action: Closed-loop digital inspection interlocks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708160" y="5424220"/>
            <a:ext cx="5503307" cy="656539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726448" y="5442508"/>
            <a:ext cx="73152" cy="619963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54464" y="5442508"/>
            <a:ext cx="5283851" cy="6199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F172A"/>
                </a:solidFill>
                <a:latin typeface="Inter"/>
              </a:rPr>
              <a:t>Governance &amp; RACI   [P2]</a:t>
            </a:r>
          </a:p>
          <a:p>
            <a:r>
              <a:rPr sz="750" b="0" i="1">
                <a:solidFill>
                  <a:srgbClr val="0066CC"/>
                </a:solidFill>
                <a:latin typeface="Inter"/>
              </a:rPr>
              <a:t>Current: 2.8 / 5.0   ➔   Target: 4.0 / 5.0  (Gap: +1.2)</a:t>
            </a:r>
          </a:p>
          <a:p>
            <a:r>
              <a:rPr sz="819" b="1" i="0">
                <a:solidFill>
                  <a:srgbClr val="64748B"/>
                </a:solidFill>
                <a:latin typeface="Inter"/>
              </a:rPr>
              <a:t>▸ Gap: Ambiguous IT/OT boundary ownership</a:t>
            </a:r>
          </a:p>
          <a:p>
            <a:r>
              <a:rPr sz="819" b="1" i="0">
                <a:solidFill>
                  <a:srgbClr val="10B981"/>
                </a:solidFill>
                <a:latin typeface="Inter"/>
              </a:rPr>
              <a:t>✓ Action: Formalize unified IT/OT operating charter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347472"/>
            <a:ext cx="2372868" cy="237744"/>
          </a:xfrm>
          <a:prstGeom prst="rect">
            <a:avLst/>
          </a:prstGeom>
          <a:solidFill>
            <a:srgbClr val="1C3159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B4D8"/>
                </a:solidFill>
                <a:latin typeface="Inter"/>
              </a:rPr>
              <a:t>7. CLOSED-LOOP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F8FAFC"/>
                </a:solidFill>
                <a:latin typeface="Inter"/>
              </a:rPr>
              <a:t>Physical-to-Digital Closed-Loop Cyber-Physical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B4D8"/>
                </a:solidFill>
                <a:latin typeface="Inter"/>
              </a:rPr>
              <a:t>Continuous cyber-physical feedback from machine sensors through S/4HANA intelligence.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263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94A3B8"/>
                </a:solidFill>
                <a:latin typeface="Inter"/>
              </a:rPr>
              <a:t>Global Aerospace &amp; Defense • Closed-Loop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B4D8"/>
                </a:solidFill>
                <a:latin typeface="Inter"/>
              </a:rPr>
              <a:t>07 / 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481328"/>
            <a:ext cx="10728655" cy="4782312"/>
          </a:xfrm>
          <a:prstGeom prst="round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481328"/>
            <a:ext cx="10728655" cy="384048"/>
          </a:xfrm>
          <a:prstGeom prst="rect">
            <a:avLst/>
          </a:prstGeom>
          <a:solidFill>
            <a:srgbClr val="1C31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54864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B4D8"/>
                </a:solidFill>
                <a:latin typeface="Inter"/>
              </a:rPr>
              <a:t>CLOSED-LOOP CYBER-PHYSICAL ARCHITECTURE: AUTONOMOUS CYBER-PHYSICAL PRODUCTION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2029968"/>
            <a:ext cx="3149498" cy="1234440"/>
          </a:xfrm>
          <a:prstGeom prst="round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51560" y="2029968"/>
            <a:ext cx="3149498" cy="256032"/>
          </a:xfrm>
          <a:prstGeom prst="rect">
            <a:avLst/>
          </a:prstGeom>
          <a:solidFill>
            <a:srgbClr val="162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B4D8"/>
                </a:solidFill>
                <a:latin typeface="Inter"/>
              </a:rPr>
              <a:t>STAGE 1: PHYSICAL WORLD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" y="2322576"/>
            <a:ext cx="3003194" cy="905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1" i="0">
                <a:solidFill>
                  <a:srgbClr val="F8FAFC"/>
                </a:solidFill>
                <a:latin typeface="Inter"/>
              </a:rPr>
              <a:t>CNC Machine • Operator Tooling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Data: Vibration &amp; Current, Spindle Speed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246778" y="2537460"/>
            <a:ext cx="228600" cy="219456"/>
          </a:xfrm>
          <a:prstGeom prst="rightArrow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21098" y="2029968"/>
            <a:ext cx="3149498" cy="1234440"/>
          </a:xfrm>
          <a:prstGeom prst="round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21098" y="2029968"/>
            <a:ext cx="3149498" cy="256032"/>
          </a:xfrm>
          <a:prstGeom prst="rect">
            <a:avLst/>
          </a:prstGeom>
          <a:solidFill>
            <a:srgbClr val="162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B4D8"/>
                </a:solidFill>
                <a:latin typeface="Inter"/>
              </a:rPr>
              <a:t>STAGE 2: DIGITAL CAPTURE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4250" y="2322576"/>
            <a:ext cx="3003194" cy="905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1" i="0">
                <a:solidFill>
                  <a:srgbClr val="F8FAFC"/>
                </a:solidFill>
                <a:latin typeface="Inter"/>
              </a:rPr>
              <a:t>Edge Industrial Gateway • OPC UA Collector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Data: Raw Telemetry Stream, Time-Series Logs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716316" y="2537460"/>
            <a:ext cx="228600" cy="219456"/>
          </a:xfrm>
          <a:prstGeom prst="rightArrow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90636" y="2029968"/>
            <a:ext cx="3149498" cy="1234440"/>
          </a:xfrm>
          <a:prstGeom prst="round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90636" y="2029968"/>
            <a:ext cx="3149498" cy="256032"/>
          </a:xfrm>
          <a:prstGeom prst="rect">
            <a:avLst/>
          </a:prstGeom>
          <a:solidFill>
            <a:srgbClr val="162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B4D8"/>
                </a:solidFill>
                <a:latin typeface="Inter"/>
              </a:rPr>
              <a:t>STAGE 3: CONTEXTUALIZATION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63788" y="2322576"/>
            <a:ext cx="3003194" cy="905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1" i="0">
                <a:solidFill>
                  <a:srgbClr val="F8FAFC"/>
                </a:solidFill>
                <a:latin typeface="Inter"/>
              </a:rPr>
              <a:t>MES MOM Engine • Unit Genealogy Traveler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Data: Order #100482 Context, Lot &amp; Serial Binding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9455658" y="3310128"/>
            <a:ext cx="219456" cy="1170431"/>
          </a:xfrm>
          <a:prstGeom prst="downArrow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90636" y="4617720"/>
            <a:ext cx="3149498" cy="1234440"/>
          </a:xfrm>
          <a:prstGeom prst="round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90636" y="4617720"/>
            <a:ext cx="3149498" cy="256032"/>
          </a:xfrm>
          <a:prstGeom prst="rect">
            <a:avLst/>
          </a:prstGeom>
          <a:solidFill>
            <a:srgbClr val="162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B4D8"/>
                </a:solidFill>
                <a:latin typeface="Inter"/>
              </a:rPr>
              <a:t>STAGE 4: ENTERPRISE INTELLIGENCE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63788" y="4910328"/>
            <a:ext cx="3003194" cy="905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1" i="0">
                <a:solidFill>
                  <a:srgbClr val="F8FAFC"/>
                </a:solidFill>
                <a:latin typeface="Inter"/>
              </a:rPr>
              <a:t>SAP S/4HANA • Predictive AI / SPC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Data: ACDOCA Ledger Postings, Deviation Anomaly</a:t>
            </a:r>
          </a:p>
        </p:txBody>
      </p:sp>
      <p:sp>
        <p:nvSpPr>
          <p:cNvPr id="26" name="Left Arrow 25"/>
          <p:cNvSpPr/>
          <p:nvPr/>
        </p:nvSpPr>
        <p:spPr>
          <a:xfrm>
            <a:off x="7716316" y="5125212"/>
            <a:ext cx="228600" cy="219456"/>
          </a:xfrm>
          <a:prstGeom prst="leftArrow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521098" y="4617720"/>
            <a:ext cx="3149498" cy="1234440"/>
          </a:xfrm>
          <a:prstGeom prst="roundRect">
            <a:avLst/>
          </a:prstGeom>
          <a:solidFill>
            <a:srgbClr val="132240"/>
          </a:solidFill>
          <a:ln w="12700">
            <a:solidFill>
              <a:srgbClr val="263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21098" y="4617720"/>
            <a:ext cx="3149498" cy="256032"/>
          </a:xfrm>
          <a:prstGeom prst="rect">
            <a:avLst/>
          </a:prstGeom>
          <a:solidFill>
            <a:srgbClr val="162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B4D8"/>
                </a:solidFill>
                <a:latin typeface="Inter"/>
              </a:rPr>
              <a:t>STAGE 5: DECISION ENGINE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4250" y="4910328"/>
            <a:ext cx="3003194" cy="905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1" i="0">
                <a:solidFill>
                  <a:srgbClr val="F8FAFC"/>
                </a:solidFill>
                <a:latin typeface="Inter"/>
              </a:rPr>
              <a:t>Autonomous Control Logic • Supervisor Approval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Data: Tool Offset Adjustment, Hold/Release Clearance</a:t>
            </a:r>
          </a:p>
        </p:txBody>
      </p:sp>
      <p:sp>
        <p:nvSpPr>
          <p:cNvPr id="30" name="Left Arrow 29"/>
          <p:cNvSpPr/>
          <p:nvPr/>
        </p:nvSpPr>
        <p:spPr>
          <a:xfrm>
            <a:off x="4246778" y="5125212"/>
            <a:ext cx="228600" cy="219456"/>
          </a:xfrm>
          <a:prstGeom prst="leftArrow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51560" y="4617720"/>
            <a:ext cx="3149498" cy="1234440"/>
          </a:xfrm>
          <a:prstGeom prst="roundRect">
            <a:avLst/>
          </a:prstGeom>
          <a:solidFill>
            <a:srgbClr val="1C3159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51560" y="4617720"/>
            <a:ext cx="3149498" cy="256032"/>
          </a:xfrm>
          <a:prstGeom prst="rect">
            <a:avLst/>
          </a:prstGeom>
          <a:solidFill>
            <a:srgbClr val="1628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B4D8"/>
                </a:solidFill>
                <a:latin typeface="Inter"/>
              </a:rPr>
              <a:t>STAGE 6: DIRECTED ACTION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4712" y="4910328"/>
            <a:ext cx="3003194" cy="905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50" b="1" i="0">
                <a:solidFill>
                  <a:srgbClr val="F8FAFC"/>
                </a:solidFill>
                <a:latin typeface="Inter"/>
              </a:rPr>
              <a:t>PLC Actuator • Operator Terminal</a:t>
            </a:r>
          </a:p>
          <a:p>
            <a:r>
              <a:rPr sz="750" b="0" i="1">
                <a:solidFill>
                  <a:srgbClr val="94A3B8"/>
                </a:solidFill>
                <a:latin typeface="Inter"/>
              </a:rPr>
              <a:t>Data: Automated Parameter Update, Closed-Loop Physical Execution</a:t>
            </a:r>
          </a:p>
        </p:txBody>
      </p:sp>
      <p:sp>
        <p:nvSpPr>
          <p:cNvPr id="34" name="Up Arrow 33"/>
          <p:cNvSpPr/>
          <p:nvPr/>
        </p:nvSpPr>
        <p:spPr>
          <a:xfrm>
            <a:off x="2516581" y="3310128"/>
            <a:ext cx="219456" cy="1170431"/>
          </a:xfrm>
          <a:prstGeom prst="upArrow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291839" y="3355848"/>
            <a:ext cx="5608015" cy="1078991"/>
          </a:xfrm>
          <a:prstGeom prst="roundRect">
            <a:avLst/>
          </a:prstGeom>
          <a:solidFill>
            <a:srgbClr val="1C3159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00B4D8"/>
                </a:solidFill>
                <a:latin typeface="Inter"/>
              </a:rPr>
              <a:t>AUTONOMOUS FEEDBACK CONTROL LOOP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F8FAFC"/>
                </a:solidFill>
                <a:latin typeface="Inter"/>
              </a:rPr>
              <a:t>Sub-second closed-loop telemetry updates machine tool offsets directly before tolerance drift causes non-conformance.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347472"/>
            <a:ext cx="5029200" cy="237744"/>
          </a:xfrm>
          <a:prstGeom prst="rect">
            <a:avLst/>
          </a:prstGeom>
          <a:solidFill>
            <a:srgbClr val="EEF2FF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" bIns="18288"/>
          <a:lstStyle/>
          <a:p>
            <a:pPr algn="ctr">
              <a:spcAft>
                <a:spcPts val="200"/>
              </a:spcAft>
              <a:defRPr/>
            </a:pPr>
            <a:r>
              <a:rPr sz="850" b="1" i="0">
                <a:solidFill>
                  <a:srgbClr val="0066CC"/>
                </a:solidFill>
                <a:latin typeface="Inter"/>
              </a:rPr>
              <a:t>8. VALUE REALIZATION • AUDITED ROI • GLOBAL AEROSPACE &amp;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03504"/>
            <a:ext cx="10728655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900" b="1" i="0">
                <a:solidFill>
                  <a:srgbClr val="0F172A"/>
                </a:solidFill>
                <a:latin typeface="Inter"/>
              </a:rPr>
              <a:t>Quantified Business Benefits &amp; Financial Payback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0" i="1">
                <a:solidFill>
                  <a:srgbClr val="0066CC"/>
                </a:solidFill>
                <a:latin typeface="Inter"/>
              </a:rPr>
              <a:t>Audited financial impact mapping operational efficiency levers directly to EBITDA returns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6355080"/>
            <a:ext cx="1072865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19088"/>
            <a:ext cx="77724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00" b="0" i="0">
                <a:solidFill>
                  <a:srgbClr val="64748B"/>
                </a:solidFill>
                <a:latin typeface="Inter"/>
              </a:rPr>
              <a:t>Global Aerospace &amp; Defense • Structured Architecture Specification • Strict Governance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62895" y="6419088"/>
            <a:ext cx="1097280" cy="274320"/>
          </a:xfrm>
          <a:prstGeom prst="rect">
            <a:avLst/>
          </a:prstGeom>
          <a:noFill/>
        </p:spPr>
        <p:txBody>
          <a:bodyPr wrap="none" rIns="0" tIns="0">
            <a:spAutoFit/>
          </a:bodyPr>
          <a:lstStyle/>
          <a:p>
            <a:pPr algn="r"/>
            <a:r>
              <a:rPr sz="800" b="1" i="0">
                <a:solidFill>
                  <a:srgbClr val="0066CC"/>
                </a:solidFill>
                <a:latin typeface="Inter"/>
              </a:rPr>
              <a:t>01 / 01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188720"/>
          <a:ext cx="10728652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0664"/>
                <a:gridCol w="3065330"/>
                <a:gridCol w="1253998"/>
                <a:gridCol w="1253998"/>
                <a:gridCol w="1950664"/>
                <a:gridCol w="1253998"/>
              </a:tblGrid>
              <a:tr h="853440">
                <a:tc>
                  <a:txBody>
                    <a:bodyPr wrap="square" lIns="73152" rIns="73152" tIns="36576" bIns="36576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66CC"/>
                          </a:solidFill>
                          <a:latin typeface="Inter"/>
                        </a:rPr>
                        <a:t>VALUE AREA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66CC"/>
                          </a:solidFill>
                          <a:latin typeface="Inter"/>
                        </a:rPr>
                        <a:t>OPERATIONAL EFFICIENCY LEVER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66CC"/>
                          </a:solidFill>
                          <a:latin typeface="Inter"/>
                        </a:rPr>
                        <a:t>BASELINE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66CC"/>
                          </a:solidFill>
                          <a:latin typeface="Inter"/>
                        </a:rPr>
                        <a:t>TARGET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66CC"/>
                          </a:solidFill>
                          <a:latin typeface="Inter"/>
                        </a:rPr>
                        <a:t>ANNUAL EBITDA IMPACT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0066CC"/>
                          </a:solidFill>
                          <a:latin typeface="Inter"/>
                        </a:rPr>
                        <a:t>PAYBACK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853440">
                <a:tc>
                  <a:txBody>
                    <a:bodyPr wrap="square" lIns="73152" rIns="73152" tIns="36576" bIns="36576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0F172A"/>
                          </a:solidFill>
                          <a:latin typeface="Inter"/>
                        </a:rPr>
                        <a:t>Scrap Reduction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Automated vision inspection stops defective runs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2.84% Scrap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1.10% Scrap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$1,240,000 / Yr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4.2 Mos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 lIns="73152" rIns="73152" tIns="36576" bIns="36576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0F172A"/>
                          </a:solidFill>
                          <a:latin typeface="Inter"/>
                        </a:rPr>
                        <a:t>OEE Throughput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Eliminates paper work orders &amp; setup wait time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71.4% OEE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84.5% OEE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$920,000 / Yr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5.8 Mos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53440">
                <a:tc>
                  <a:txBody>
                    <a:bodyPr wrap="square" lIns="73152" rIns="73152" tIns="36576" bIns="36576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0F172A"/>
                          </a:solidFill>
                          <a:latin typeface="Inter"/>
                        </a:rPr>
                        <a:t>WIP Inventory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Real-time dispatch eliminates bottleneck queues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42 Days DSI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28 Days DSI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$640,000 / Yr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6.5 Mos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 wrap="square" lIns="73152" rIns="73152" tIns="36576" bIns="36576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0F172A"/>
                          </a:solidFill>
                          <a:latin typeface="Inter"/>
                        </a:rPr>
                        <a:t>Quality Labor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Automated digital genealogy replaces manual audits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4,200 Hrs/Yr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650 Hrs/Yr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$310,000 / Yr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8.0 Mos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53440">
                <a:tc>
                  <a:txBody>
                    <a:bodyPr wrap="square" lIns="73152" rIns="73152" tIns="36576" bIns="36576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1" i="0">
                          <a:solidFill>
                            <a:srgbClr val="0F172A"/>
                          </a:solidFill>
                          <a:latin typeface="Inter"/>
                        </a:rPr>
                        <a:t>TOTAL BENEFIT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Composite Financial Value Acceleration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$3,110,000 / Yr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800" b="0" i="0">
                          <a:solidFill>
                            <a:srgbClr val="0F172A"/>
                          </a:solidFill>
                          <a:latin typeface="Inter"/>
                        </a:rPr>
                        <a:t>3.3 Months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