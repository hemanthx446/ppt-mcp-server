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Current Operating Reality vs. Target State: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OPERATING REALITY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5227167" cy="4782312"/>
          </a:xfrm>
          <a:prstGeom prst="rect">
            <a:avLst/>
          </a:prstGeom>
          <a:solidFill>
            <a:srgbClr val="16284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4861407" cy="4416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850" b="1" i="0">
                <a:solidFill>
                  <a:srgbClr val="F59E0B"/>
                </a:solidFill>
                <a:latin typeface="Inter"/>
              </a:rPr>
              <a:t>CURRENT STATE: FRAGMENTED LEGACY ISLANDS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Paper Travelers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Physical paper sheets create 4-hour batch release latency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Siloed PLC Controllers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Isolated machine data with no automated ERP tie-out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Batch Scrap Discovery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Quality defects discovered only at end-of-line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481328"/>
            <a:ext cx="5227167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664208"/>
            <a:ext cx="4861407" cy="4416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TARGET STATE: CONNECTED DIGITAL MANUFACTURING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Digital Work Instructions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100% paperless e-traveler with biometric operator sign-off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Sub-Second Telemetry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OPC-UA edge brokers stream telemetry straight into BTP</a:t>
            </a:r>
          </a:p>
          <a:p>
            <a:pPr>
              <a:spcAft>
                <a:spcPts val="8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•  Closed-Loop Poka-Yoke </a:t>
            </a:r>
            <a:r>
              <a:rPr sz="1050" b="0" i="0">
                <a:solidFill>
                  <a:srgbClr val="94A3B8"/>
                </a:solidFill>
                <a:latin typeface="Inter"/>
              </a:rPr>
              <a:t>Automated machine interlock halts defective assemblies instantly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2. PROBLEM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Structural Constraints &amp; Insight Evidence: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PROBLEM MECHANICS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02 /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10728655" cy="4782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i="0">
                <a:solidFill>
                  <a:srgbClr val="EF4444"/>
                </a:solidFill>
                <a:latin typeface="Inter"/>
              </a:rPr>
              <a:t>Primitive Dispatch: InsightAndEvidencePrimitive.render() missing 2 required positional arguments: 'insight_tag' and 'insight_narrative'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295144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3. ENTERPRISE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Enterprise Architecture Diagram: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ENTERPRISE ARCHITECTURE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03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1: ENTERPRISE ERP CORE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S/4HANA Cloud (Clean Core Architecture)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Production Orders (PP)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Material Master (MM)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Inventory Management (IM)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Ledger (ACDOCA)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63898" y="3735323"/>
            <a:ext cx="320040" cy="256032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3898" y="3534155"/>
            <a:ext cx="68580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OData APIs / Business Event Mesh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5378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75378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1682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2: INTEGRATION &amp; ORCHESTRATION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BTP &amp; Hybrid Middleware Fabric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Event Mesh Broker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Integration Suite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API Management Gateway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Dead-Letter Queue Buffer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07756" y="3735323"/>
            <a:ext cx="320040" cy="256032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07756" y="3534155"/>
            <a:ext cx="68580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TLS 1.3 / OPC-UA / MQTT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19236" y="1481328"/>
            <a:ext cx="324093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9236" y="1481328"/>
            <a:ext cx="3240938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5540" y="1627632"/>
            <a:ext cx="2948330" cy="44897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TIER 3: MANUFACTURING EXECUTION &amp; EDGE</a:t>
            </a:r>
          </a:p>
          <a:p>
            <a:pPr>
              <a:spcAft>
                <a:spcPts val="10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Digital Manufacturing (MES/MOM) &amp; OT Edge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Shopfloor Dispatcher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Unit Genealogy Engine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Line SCADA Collector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PLC Machine Sensors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4. INTEGRATION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Integration &amp; Data Flow Architecture: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INTEGRATION FABRIC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04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21045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EVENT PRODUCERS (SHOPFLOOR &amp; ERP)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SAP S/4HANA Order Events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Barcode Scanners (HHT)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Inline Vision Cameras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OPC-UA Edge Daemons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3418" y="3735323"/>
            <a:ext cx="365760" cy="274320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33418" y="3534155"/>
            <a:ext cx="73152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EVENT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0618" y="1481328"/>
            <a:ext cx="321045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922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SAP BTP EVENT MESH &amp; BROKER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Kafka Message Fabric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API Management Gateway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•  Dead-Letter Buffer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PATTERN: Pub/Sub Event Streaming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92516" y="3735323"/>
            <a:ext cx="365760" cy="274320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2516" y="3534155"/>
            <a:ext cx="731520" cy="20116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FILTERED SUB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9716" y="1481328"/>
            <a:ext cx="3210458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6020" y="1627632"/>
            <a:ext cx="2917850" cy="448970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SUBSCRIBERS &amp; CONSUMERS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Digital Manufacturing MES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Quality Historian DB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SAP S/4HANA (101 Postings)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•  CXO Control Tower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5. OPERATOR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Shop-Floor Operator Workflow: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DECISION INTENT: OPERATOR EXECUTION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05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STATION 10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Inbound Kit Verification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Operator scans component traveler barcode against ERP BOM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POKA-YOKE: Barcode mismatch interlock halts carrier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53663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2263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STATION 20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Robotic Cell Assembly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Automated cell executes precision torque sequence with telemetry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POKA-YOKE: Temperature parameter drift triggers alert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04407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STATION 30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Laser Direct Part Marking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Permanent 2D DataMatrix serial UID etched onto titanium chassis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POKA-YOKE: High-res optical camera verifies scan contrast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55151" y="3762755"/>
            <a:ext cx="18288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83751" y="1481328"/>
            <a:ext cx="2476423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1767" y="1609344"/>
            <a:ext cx="2220391" cy="45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STATION 40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End-of-Line Quality Gate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Automated electrical resistance and pneumatic leak testing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POKA-YOKE: Defect failure locks output nest and posts NCR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139696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6. AS-BUILT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Unit &amp; Lot Genealogy Tree: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AS-BUILT TRACEABILITY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06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58083"/>
            <a:ext cx="3627013" cy="1828800"/>
          </a:xfrm>
          <a:prstGeom prst="rect">
            <a:avLst/>
          </a:prstGeom>
          <a:solidFill>
            <a:srgbClr val="13224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5243"/>
            <a:ext cx="3334405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FINISHED GOOD SERIAL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SN-994820-A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94A3B8"/>
                </a:solidFill>
                <a:latin typeface="Inter"/>
              </a:rPr>
              <a:t>Part: Titanium Actuator Module 24V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Customer Delivery PO-88319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04253" y="3735323"/>
            <a:ext cx="274320" cy="256032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24293" y="1481328"/>
            <a:ext cx="6735881" cy="1502664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2309" y="1572768"/>
            <a:ext cx="6479849" cy="1319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SUB-ASSEMBLY: VALVE BODY SUB-ASSY</a:t>
            </a:r>
          </a:p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Lot: LOT-VB-4401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Components: Casting Lot #8821 | O-Ring Seal #1094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4293" y="3121152"/>
            <a:ext cx="6735881" cy="1502664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2309" y="3212592"/>
            <a:ext cx="6479849" cy="1319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SUB-ASSEMBLY: STATOR COIL MODULE</a:t>
            </a:r>
          </a:p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Lot: LOT-SC-2041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Components: Copper Wire #5502 | Epoxy Core #9914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24293" y="4760976"/>
            <a:ext cx="6735881" cy="1502664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2309" y="4852416"/>
            <a:ext cx="6479849" cy="1319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SUB-ASSEMBLY: DIGITAL CONTROLLER PCB</a:t>
            </a:r>
          </a:p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Lot: LOT-PCB-7712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Components: Microcontroller #441 | Firmware Rev 4.2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7. EXECUTIVE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Executive KPI Metric Strip: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EXECUTIVE SCORECARD mapped for Global Aerospace &amp; Defense Conglomerate operational architecture.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91.4%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Overall Equipment Effectiveness (OEE)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+4.8% vs Target | Plant Benchmark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9403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7419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99.4%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On-Time In-Full Delivery (OTIF)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+1.2% Improvement | Customer 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5303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1.4%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Scrap &amp; Non-Conformance Rate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-42% Reduction | Quality Gate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171" y="1481328"/>
            <a:ext cx="2545003" cy="4782312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3187" y="1591056"/>
            <a:ext cx="2288971" cy="456285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2400" b="1" i="0">
                <a:solidFill>
                  <a:srgbClr val="10B981"/>
                </a:solidFill>
                <a:latin typeface="Inter"/>
              </a:rPr>
              <a:t>240ms</a:t>
            </a:r>
          </a:p>
          <a:p>
            <a:pPr>
              <a:spcAft>
                <a:spcPts val="400"/>
              </a:spcAft>
            </a:pPr>
            <a:r>
              <a:rPr sz="900" b="1" i="0">
                <a:solidFill>
                  <a:srgbClr val="F8FAFC"/>
                </a:solidFill>
                <a:latin typeface="Inter"/>
              </a:rPr>
              <a:t>Shop-Floor to ERP Sync Latency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Sub-Second Verified | BTP SLA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" y="2194560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8686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Architecture Dimension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Current State (Legacy)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Target State (Clean Core)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60A5FA"/>
                          </a:solidFill>
                          <a:latin typeface="Inter"/>
                        </a:defRPr>
                      </a:pPr>
                      <a:r>
                        <a:t>Operational Impact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Integration Coupling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Point-to-point RFC / batch files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Event-driven REST/OData APIs via BTP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90% latency reduction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Execution Traceability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Manual paper travel sheets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Automated unit &amp; serial genealogy in MES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100% compliance auditability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ERP Core Cleanliness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Heavy custom ABAP modifications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Standard extension tier / side-by-side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DCE6F5"/>
                          </a:solidFill>
                          <a:latin typeface="Inter"/>
                        </a:defRPr>
                      </a:pPr>
                      <a:r>
                        <a:t>Zero-friction cloud upgrades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8. DELIVERY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Phased Transformation Delivery Roadmap: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DECISION INTENT: DELIVERY ROADMAP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08 / 09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1 • 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Blueprint &amp; Edge Setup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OPC-UA Edge Config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SAP BTP Subaccount Setup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Pilot Line Connect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1: Latency &lt;250ms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3938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3938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2 • WEEKS 5-10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0242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Core MES Integration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Production Order Dispatch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Electronic Traveler UI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QA Inspection Gates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2: Zero RFC Buffer Leaks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6356" y="1481328"/>
            <a:ext cx="3423818" cy="47823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6356" y="1481328"/>
            <a:ext cx="3423818" cy="365760"/>
          </a:xfrm>
          <a:prstGeom prst="rect">
            <a:avLst/>
          </a:prstGeom>
          <a:solidFill>
            <a:srgbClr val="EEF2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PHASE 3 • WEEKS 11-16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1920240"/>
            <a:ext cx="313121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Enterprise Rollout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Lines 2-6 Cutover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Operator Enablement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64748B"/>
                </a:solidFill>
                <a:latin typeface="Inter"/>
              </a:rPr>
              <a:t>•  Hypercare Support</a:t>
            </a:r>
          </a:p>
          <a:p>
            <a:pPr>
              <a:spcAft>
                <a:spcPts val="400"/>
              </a:spcAft>
            </a:pPr>
            <a:r>
              <a:rPr sz="819" b="1" i="0">
                <a:solidFill>
                  <a:srgbClr val="10B981"/>
                </a:solidFill>
                <a:latin typeface="Inter"/>
              </a:rPr>
              <a:t>GATE: GATE 3: Final Acceptance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9. 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Commercial Model &amp; Milestone Payment Gates: Enterprise Digital Transformation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DECISION INTENT: COMMERCIAL TERMS mapped for Global Aerospace &amp; Defense Conglomerate operational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Conglomerate • Autonomous Manufacturing Execution &amp; Clean-Core ERP Architecture • Enterprise Architecture Advisory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09 / 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481328"/>
          <a:ext cx="10728652" cy="4782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13"/>
                <a:gridCol w="4153027"/>
                <a:gridCol w="1557385"/>
                <a:gridCol w="1211299"/>
                <a:gridCol w="1730428"/>
              </a:tblGrid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PHASE / MILESTONE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KEY DELIVERABLE &amp; ACCEPTANCE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TIMELINE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BILLING %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B4D8"/>
                          </a:solidFill>
                          <a:latin typeface="Inter"/>
                        </a:rPr>
                        <a:t>INVESTMENT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1: Architecture Blueprint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Architecture blueprint &amp; security sign-off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1-3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25%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$85,000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2: Pilot Implementation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Pilot line integration &amp; telemetry validation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4-8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35%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$119,000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3: Plant Rollout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Full plant cutover &amp; operator enablement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9-14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30%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$102,000</a:t>
                      </a:r>
                    </a:p>
                  </a:txBody>
                  <a:tcPr>
                    <a:solidFill>
                      <a:srgbClr val="16284B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Phase 4: Final Acceptance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30-day hypercare completion &amp; ledger audit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Weeks 15-16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10%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F8FAFC"/>
                          </a:solidFill>
                          <a:latin typeface="Inter"/>
                        </a:rPr>
                        <a:t>$34,000</a:t>
                      </a:r>
                    </a:p>
                  </a:txBody>
                  <a:tcPr>
                    <a:solidFill>
                      <a:srgbClr val="132240"/>
                    </a:solidFill>
                  </a:tcPr>
                </a:tc>
              </a:tr>
              <a:tr h="797052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TOTAL ENGAGEMENT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00B4D8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0B981"/>
                          </a:solidFill>
                          <a:latin typeface="Inter"/>
                        </a:rPr>
                        <a:t>$340,000 Turnkey Fixed Investment</a:t>
                      </a:r>
                    </a:p>
                  </a:txBody>
                  <a:tcPr>
                    <a:solidFill>
                      <a:srgbClr val="1C315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