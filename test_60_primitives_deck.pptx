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Cell Alpha</c:v>
                </c:pt>
                <c:pt idx="1">
                  <c:v>Cell Beta</c:v>
                </c:pt>
                <c:pt idx="2">
                  <c:v>Cell Gamma</c:v>
                </c:pt>
                <c:pt idx="3">
                  <c:v>Cell Delta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84.2</c:v>
                </c:pt>
                <c:pt idx="1">
                  <c:v>79.1</c:v>
                </c:pt>
                <c:pt idx="2">
                  <c:v>91.5</c:v>
                </c:pt>
                <c:pt idx="3">
                  <c:v>88.0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Cell Alpha</c:v>
                </c:pt>
                <c:pt idx="1">
                  <c:v>Cell Beta</c:v>
                </c:pt>
                <c:pt idx="2">
                  <c:v>Cell Gamma</c:v>
                </c:pt>
                <c:pt idx="3">
                  <c:v>Cell Delta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90.0</c:v>
                </c:pt>
                <c:pt idx="1">
                  <c:v>90.0</c:v>
                </c:pt>
                <c:pt idx="2">
                  <c:v>95.0</c:v>
                </c:pt>
                <c:pt idx="3">
                  <c:v>92.0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3240938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243584"/>
            <a:ext cx="2948330" cy="4736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1: ERP CORE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S/4HANA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ECC FI/CO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MM/PP Orders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Master Data BAPI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63898" y="3474720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3898" y="3273552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RFC / IDOC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5378" y="1097280"/>
            <a:ext cx="3240938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75378" y="1097280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1682" y="1243584"/>
            <a:ext cx="2948330" cy="4736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2: EVENT MESH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Lumbini BTP Integration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Kafka Broker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RFC Connector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State Ring-Fence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07756" y="3474720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7756" y="3273552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HTTPS / mTLS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9236" y="1097280"/>
            <a:ext cx="3240938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19236" y="1097280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5540" y="1243584"/>
            <a:ext cx="2948330" cy="4736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3: PLANT EDGE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Manufacturing Cell OT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OPC-UA Collector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SCADA Line 1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Operator Terminal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3423818" cy="5029200"/>
          </a:xfrm>
          <a:prstGeom prst="rect">
            <a:avLst/>
          </a:prstGeom>
          <a:solidFill>
            <a:srgbClr val="13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39"/>
            <a:ext cx="3149498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L4: CORPORATE ENTERPRISE</a:t>
            </a:r>
          </a:p>
          <a:p>
            <a:pPr>
              <a:spcAft>
                <a:spcPts val="10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TRUST: Enterprise Level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S/4HANA Core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BW/4HANA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3938" y="1097280"/>
            <a:ext cx="3423818" cy="5029200"/>
          </a:xfrm>
          <a:prstGeom prst="rect">
            <a:avLst/>
          </a:prstGeom>
          <a:solidFill>
            <a:srgbClr val="1322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21098" y="1234439"/>
            <a:ext cx="3149498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Inter"/>
              </a:rPr>
              <a:t>L3.5: PLANT DMZ</a:t>
            </a:r>
          </a:p>
          <a:p>
            <a:pPr>
              <a:spcAft>
                <a:spcPts val="10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TRUST: Demilitarized Zone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Reverse Proxy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Data Diode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Patch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6356" y="1097280"/>
            <a:ext cx="3423818" cy="5029200"/>
          </a:xfrm>
          <a:prstGeom prst="rect">
            <a:avLst/>
          </a:prstGeom>
          <a:solidFill>
            <a:srgbClr val="13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3516" y="1234439"/>
            <a:ext cx="3149498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L3: MANUFACTURING OPERATIONS</a:t>
            </a:r>
          </a:p>
          <a:p>
            <a:pPr>
              <a:spcAft>
                <a:spcPts val="10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TRUST: Air-Gapped OT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MES Core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Historian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Batch Manager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889699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89699" cy="329184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99616"/>
            <a:ext cx="1633667" cy="45537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Order Release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Production order dispatched from SAP PP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Dispatched to shopfloor queue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66939" y="3502152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1259" y="1097280"/>
            <a:ext cx="1889699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41259" y="1097280"/>
            <a:ext cx="1889699" cy="329184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9275" y="1499616"/>
            <a:ext cx="1633667" cy="45537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Batch Scan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Barcode scan verifies lot genealogy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Validates against material master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76678" y="3502152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50998" y="1097280"/>
            <a:ext cx="1889699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50998" y="1097280"/>
            <a:ext cx="1889699" cy="329184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9014" y="1499616"/>
            <a:ext cx="1633667" cy="45537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Cycle Run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PLC telemetry streams torque data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Real-time cycle time monitoring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86417" y="3502152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737" y="1097280"/>
            <a:ext cx="1889699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737" y="1097280"/>
            <a:ext cx="1889699" cy="329184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753" y="1499616"/>
            <a:ext cx="1633667" cy="45537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QA Gate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Computer vision camera checks tolerance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Automated pass/fail classification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96156" y="3502152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70476" y="1097280"/>
            <a:ext cx="1889699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70476" y="1097280"/>
            <a:ext cx="1889699" cy="329184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STEP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8492" y="1499616"/>
            <a:ext cx="1633667" cy="45537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Post Goods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Automatic 101 movement posted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Real-time SAP inventory tie-out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63240"/>
            <a:ext cx="3271418" cy="109728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308853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TRIGGER STEP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Lot Sample Tested on Shop Floor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048658" y="3502152"/>
            <a:ext cx="36576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60138" y="2971800"/>
            <a:ext cx="3271418" cy="1280160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1578" y="3063240"/>
            <a:ext cx="3088538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DECISION GATE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Dimension within +/- 0.05mm tolerance?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8756" y="1280160"/>
            <a:ext cx="3271418" cy="914400"/>
          </a:xfrm>
          <a:prstGeom prst="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0196" y="1353312"/>
            <a:ext cx="3088538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PASS: AUTO-APPROVE</a:t>
            </a:r>
          </a:p>
          <a:p>
            <a:r>
              <a:rPr sz="750" b="0" i="1">
                <a:solidFill>
                  <a:srgbClr val="F8FAFC"/>
                </a:solidFill>
                <a:latin typeface="Inter"/>
              </a:rPr>
              <a:t>Direct posting to Finished Goods stock (Movement 101) with e-Certificate.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8756" y="5029200"/>
            <a:ext cx="3271418" cy="914400"/>
          </a:xfrm>
          <a:prstGeom prst="rect">
            <a:avLst/>
          </a:prstGeom>
          <a:solidFill>
            <a:srgbClr val="1322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0196" y="5102352"/>
            <a:ext cx="3088538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EF4444"/>
                </a:solidFill>
                <a:latin typeface="Inter"/>
              </a:rPr>
              <a:t>REJECT: QUARANTINE</a:t>
            </a:r>
          </a:p>
          <a:p>
            <a:r>
              <a:rPr sz="750" b="0" i="1">
                <a:solidFill>
                  <a:srgbClr val="F8FAFC"/>
                </a:solidFill>
                <a:latin typeface="Inter"/>
              </a:rPr>
              <a:t>Auto-quarantine lot, lock material master, trigger QA MRB ticket.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2442133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1225295"/>
            <a:ext cx="2186101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L0/L1 EDGE TELEMETRY</a:t>
            </a:r>
          </a:p>
          <a:p>
            <a:pPr>
              <a:spcAft>
                <a:spcPts val="800"/>
              </a:spcAft>
            </a:pPr>
            <a:r>
              <a:rPr sz="819" b="1" i="0">
                <a:solidFill>
                  <a:srgbClr val="F8FAFC"/>
                </a:solidFill>
                <a:latin typeface="Inter"/>
              </a:rPr>
              <a:t>Ingestion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OPC-UA Tag Stream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MQTT Vibrations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10ms Samples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19373" y="3502152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93693" y="1097280"/>
            <a:ext cx="2442133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21709" y="1225295"/>
            <a:ext cx="2186101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BRONZE LAKEHOUSE</a:t>
            </a:r>
          </a:p>
          <a:p>
            <a:pPr>
              <a:spcAft>
                <a:spcPts val="800"/>
              </a:spcAft>
            </a:pPr>
            <a:r>
              <a:rPr sz="819" b="1" i="0">
                <a:solidFill>
                  <a:srgbClr val="F8FAFC"/>
                </a:solidFill>
                <a:latin typeface="Inter"/>
              </a:rPr>
              <a:t>Raw Storage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Append-only Parquet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Schema on Read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Audit Payload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81547" y="3502152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55867" y="1097280"/>
            <a:ext cx="2442133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3883" y="1225295"/>
            <a:ext cx="2186101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SILVER CONFORMED</a:t>
            </a:r>
          </a:p>
          <a:p>
            <a:pPr>
              <a:spcAft>
                <a:spcPts val="800"/>
              </a:spcAft>
            </a:pPr>
            <a:r>
              <a:rPr sz="819" b="1" i="0">
                <a:solidFill>
                  <a:srgbClr val="F8FAFC"/>
                </a:solidFill>
                <a:latin typeface="Inter"/>
              </a:rPr>
              <a:t>ISA-95 Model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Standard Units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Equipment Hierarchy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Shift Tie-Out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43721" y="3502152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18041" y="1097280"/>
            <a:ext cx="2442133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6057" y="1225295"/>
            <a:ext cx="2186101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GOLD ANALYTICS</a:t>
            </a:r>
          </a:p>
          <a:p>
            <a:pPr>
              <a:spcAft>
                <a:spcPts val="800"/>
              </a:spcAft>
            </a:pPr>
            <a:r>
              <a:rPr sz="819" b="1" i="0">
                <a:solidFill>
                  <a:srgbClr val="F8FAFC"/>
                </a:solidFill>
                <a:latin typeface="Inter"/>
              </a:rPr>
              <a:t>Executive Views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OEE Fact Table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First Pass Yield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Cost Variance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728655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INDENTED BILL OF MATERIALS (BOM) LINEAGE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36192"/>
            <a:ext cx="10362895" cy="420624"/>
          </a:xfrm>
          <a:prstGeom prst="rect">
            <a:avLst/>
          </a:prstGeom>
          <a:solidFill>
            <a:srgbClr val="13224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L0 • [MAT-9000] Top Assy: Actuator Module 24V | Qty: 1 EA | Rev: Rev C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011680"/>
            <a:ext cx="10042855" cy="420624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L1 • [SUB-1010] Solenoid Valve Sub-Assembly | Qty: 1 EA | Rev: Rev B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2487168"/>
            <a:ext cx="9722815" cy="420624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L2 • [PRT-4401] Titanium Coil Core M4 | Qty: 4 EA | Rev: Rev A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2962656"/>
            <a:ext cx="10042855" cy="420624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L1 • [SUB-1020] Optical Sensor Array | Qty: 1 EA | Rev: Rev 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2545003" cy="146304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1207007"/>
            <a:ext cx="2288971" cy="12435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89.4%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Overall Equipment Effectiveness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+4.2% vs Baseline | Cell Alpha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9403" y="1097280"/>
            <a:ext cx="2545003" cy="146304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87419" y="1207007"/>
            <a:ext cx="2288971" cy="12435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1.8%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Unplanned Machine Downtime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-58% reduction | Monthly Rolling Avg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7287" y="1097280"/>
            <a:ext cx="2545003" cy="146304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5303" y="1207007"/>
            <a:ext cx="2288971" cy="12435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99.1%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First Pass Quality Yield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+2.3% improvement | Inline Optical Inspection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915171" y="1097280"/>
            <a:ext cx="2545003" cy="146304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3187" y="1207007"/>
            <a:ext cx="2288971" cy="12435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180ms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ERP Sync Latency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Sub-second SLA met | BTP Event Hub SLA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20" y="1097280"/>
          <a:ext cx="512064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Rectangle 2"/>
          <p:cNvSpPr/>
          <p:nvPr/>
        </p:nvSpPr>
        <p:spPr>
          <a:xfrm>
            <a:off x="6217920" y="1097280"/>
            <a:ext cx="5120640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0" y="1188720"/>
            <a:ext cx="6949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08:00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58784" y="1188720"/>
            <a:ext cx="6949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12:00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53728" y="1188720"/>
            <a:ext cx="6949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16:00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1188720"/>
            <a:ext cx="6949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20:00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43616" y="1188720"/>
            <a:ext cx="6949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00:00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1554480"/>
            <a:ext cx="1463040" cy="149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SHIFT A (MORNING)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415" y="1591056"/>
            <a:ext cx="621792" cy="1420368"/>
          </a:xfrm>
          <a:prstGeom prst="rect">
            <a:avLst/>
          </a:prstGeom>
          <a:solidFill>
            <a:srgbClr val="10B981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24%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59" y="1591056"/>
            <a:ext cx="621792" cy="1420368"/>
          </a:xfrm>
          <a:prstGeom prst="rect">
            <a:avLst/>
          </a:prstGeom>
          <a:solidFill>
            <a:srgbClr val="10B981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36%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90303" y="1591056"/>
            <a:ext cx="621792" cy="1420368"/>
          </a:xfrm>
          <a:prstGeom prst="rect">
            <a:avLst/>
          </a:prstGeom>
          <a:solidFill>
            <a:srgbClr val="F59E0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48%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85247" y="1591056"/>
            <a:ext cx="621792" cy="1420368"/>
          </a:xfrm>
          <a:prstGeom prst="rect">
            <a:avLst/>
          </a:prstGeom>
          <a:solidFill>
            <a:srgbClr val="10B981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35%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80192" y="1591056"/>
            <a:ext cx="621792" cy="1420368"/>
          </a:xfrm>
          <a:prstGeom prst="rect">
            <a:avLst/>
          </a:prstGeom>
          <a:solidFill>
            <a:srgbClr val="10B981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23%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048000"/>
            <a:ext cx="1463040" cy="149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SHIFT B (EVENING)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0415" y="3084576"/>
            <a:ext cx="621792" cy="1420368"/>
          </a:xfrm>
          <a:prstGeom prst="rect">
            <a:avLst/>
          </a:prstGeom>
          <a:solidFill>
            <a:srgbClr val="F59E0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47%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59" y="3084576"/>
            <a:ext cx="621792" cy="1420368"/>
          </a:xfrm>
          <a:prstGeom prst="rect">
            <a:avLst/>
          </a:prstGeom>
          <a:solidFill>
            <a:srgbClr val="F59E0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62%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0303" y="3084576"/>
            <a:ext cx="621792" cy="1420368"/>
          </a:xfrm>
          <a:prstGeom prst="rect">
            <a:avLst/>
          </a:prstGeom>
          <a:solidFill>
            <a:srgbClr val="EF4444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78%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85247" y="3084576"/>
            <a:ext cx="621792" cy="1420368"/>
          </a:xfrm>
          <a:prstGeom prst="rect">
            <a:avLst/>
          </a:prstGeom>
          <a:solidFill>
            <a:srgbClr val="F59E0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61%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80192" y="3084576"/>
            <a:ext cx="621792" cy="1420368"/>
          </a:xfrm>
          <a:prstGeom prst="rect">
            <a:avLst/>
          </a:prstGeom>
          <a:solidFill>
            <a:srgbClr val="F59E0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46%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4541520"/>
            <a:ext cx="1463040" cy="149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SHIFT C (NIGHT)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0415" y="4578096"/>
            <a:ext cx="621792" cy="1420368"/>
          </a:xfrm>
          <a:prstGeom prst="rect">
            <a:avLst/>
          </a:prstGeom>
          <a:solidFill>
            <a:srgbClr val="F59E0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65%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59" y="4578096"/>
            <a:ext cx="621792" cy="1420368"/>
          </a:xfrm>
          <a:prstGeom prst="rect">
            <a:avLst/>
          </a:prstGeom>
          <a:solidFill>
            <a:srgbClr val="EF4444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81%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0303" y="4578096"/>
            <a:ext cx="621792" cy="1420368"/>
          </a:xfrm>
          <a:prstGeom prst="rect">
            <a:avLst/>
          </a:prstGeom>
          <a:solidFill>
            <a:srgbClr val="EF4444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94%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85247" y="4578096"/>
            <a:ext cx="621792" cy="1420368"/>
          </a:xfrm>
          <a:prstGeom prst="rect">
            <a:avLst/>
          </a:prstGeom>
          <a:solidFill>
            <a:srgbClr val="EF4444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88%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80192" y="4578096"/>
            <a:ext cx="621792" cy="1420368"/>
          </a:xfrm>
          <a:prstGeom prst="rect">
            <a:avLst/>
          </a:prstGeom>
          <a:solidFill>
            <a:srgbClr val="EF4444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i="0">
                <a:solidFill>
                  <a:srgbClr val="F8FAFC"/>
                </a:solidFill>
                <a:latin typeface="Inter"/>
              </a:rPr>
              <a:t>79%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3442106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442106" cy="402336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SHOP FLOOR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91056"/>
            <a:ext cx="3259226" cy="1389887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Digital Work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54096"/>
            <a:ext cx="3259226" cy="1389887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Operator Barcode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17136"/>
            <a:ext cx="3259226" cy="1389887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Electronic Batch 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4794" y="1097280"/>
            <a:ext cx="3442106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74794" y="1097280"/>
            <a:ext cx="3442106" cy="402336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QUALITY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6234" y="1591056"/>
            <a:ext cx="3259226" cy="1389887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In-Line Vision Inspection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6234" y="3054096"/>
            <a:ext cx="3259226" cy="1389887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Non-Conformance Quarantine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66234" y="4517136"/>
            <a:ext cx="3259226" cy="1389887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SPC Telemetry Alerting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8068" y="1097280"/>
            <a:ext cx="3442106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8068" y="1097280"/>
            <a:ext cx="3442106" cy="402336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ENTERPRISE 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9508" y="1591056"/>
            <a:ext cx="3259226" cy="1389887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SAP PP Order Sync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9508" y="3054096"/>
            <a:ext cx="3259226" cy="1389887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Sub-second BOM Explosion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9508" y="4517136"/>
            <a:ext cx="3259226" cy="1389887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Goods Receipt BAPI Trigger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5227167" cy="5029200"/>
          </a:xfrm>
          <a:prstGeom prst="rect">
            <a:avLst/>
          </a:prstGeom>
          <a:solidFill>
            <a:srgbClr val="16284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4861407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850" b="1" i="0">
                <a:solidFill>
                  <a:srgbClr val="F59E0B"/>
                </a:solidFill>
                <a:latin typeface="Inter"/>
              </a:rPr>
              <a:t>CURRENT STATE: FRAGMENTED LEGACY SILOS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Manual Paper Logs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Paper traveler sheets cause 4-hour batch release delays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Isolated PLC Islands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Disjointed vendor PLC data locked on plant floor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Delayed Posting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SAP orders keypunched at end of shift with high error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33007" y="1097280"/>
            <a:ext cx="5227167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15887" y="1280160"/>
            <a:ext cx="4861407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TARGET STATE: REAL-TIME EVENT-DRIVEN ARCHITECTURE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Electronic Batch Record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100% paperless digital traveler with biometric sign-off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Universal Edge Telemetry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OPC-UA edge brokers stream telemetry directly to BTP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Real-Time ERP Tie-Out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Immediate 101 Goods Receipt posting with zero delay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3423818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423818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PHASE 1 • WEEKS 1-4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536192"/>
            <a:ext cx="3131210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Architecture &amp; Edge Pilot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OPC-UA Edge Config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SAP BTP Subaccount Setup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Line 1 Pilot Connect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1: Latency &lt;250ms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3938" y="1097280"/>
            <a:ext cx="3423818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3938" y="1097280"/>
            <a:ext cx="3423818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PHASE 2 • WEEKS 5-10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0242" y="1536192"/>
            <a:ext cx="3131210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Core MES Integration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Production Order Dispatch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Electronic Traveler UI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QA Inspection Gates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2: Zero RFC Buffer Leaks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36356" y="1097280"/>
            <a:ext cx="3423818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36356" y="1097280"/>
            <a:ext cx="3423818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PHASE 3 • WEEKS 11-16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2660" y="1536192"/>
            <a:ext cx="3131210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Enterprise Rollout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Lines 2-6 Cutover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Operator Enablement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Hypercare Support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3: Final Acceptance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2476423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1: TECH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517904"/>
            <a:ext cx="2220391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Chief Architect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Pre-Sprint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RFC ring-fencing verified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BTP bandwidth benchmarked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OT firewall rules approved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Signed Architecture Charter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53663" y="3502152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82263" y="1097280"/>
            <a:ext cx="2476423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82263" y="1097280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2: PLANT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0279" y="1517904"/>
            <a:ext cx="2220391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Plant Operations Director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Sprint 6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Line 1 cycle time neutral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Zero dropped telemetry events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Operator ergonomics passed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Plant Acceptance Slip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04407" y="3502152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097280"/>
            <a:ext cx="2476423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097280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3: QUALITY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1023" y="1517904"/>
            <a:ext cx="2220391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VP Global Quality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Sprint 10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21 CFR Part 11 audit trails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Electronic signatures validated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Lot genealogy tied to ERP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Validation Master Report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55151" y="3502152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83751" y="1097280"/>
            <a:ext cx="2476423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83751" y="1097280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4: PRODUCTION CUTOVER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1767" y="1517904"/>
            <a:ext cx="2220391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Executive Steering Comm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Week 16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Disaster recovery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Go-Live checklist 100% green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Support runbook staffed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Go-Live Authorization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097280"/>
          <a:ext cx="107286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888"/>
                <a:gridCol w="1662941"/>
                <a:gridCol w="1662941"/>
                <a:gridCol w="1662941"/>
                <a:gridCol w="1662941"/>
              </a:tblGrid>
              <a:tr h="10058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F172A"/>
                          </a:solidFill>
                          <a:latin typeface="Inter"/>
                        </a:rPr>
                        <a:t>ACTIVITY / DELIVERABLE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Enterprise Architect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MES Tech Lead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Plant QA Manager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Steering Committee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System Architecture &amp; BTP Sizing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66CC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050" b="0" i="0">
                          <a:solidFill>
                            <a:srgbClr val="64748B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PLC Edge Collector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050" b="0" i="0">
                          <a:solidFill>
                            <a:srgbClr val="64748B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050" b="0" i="0">
                          <a:solidFill>
                            <a:srgbClr val="64748B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21 CFR Part 11 Compliance Sign-off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050" b="0" i="0">
                          <a:solidFill>
                            <a:srgbClr val="64748B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Go-Live Cutover Authorization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097280"/>
          <a:ext cx="107286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513"/>
                <a:gridCol w="4153027"/>
                <a:gridCol w="1557385"/>
                <a:gridCol w="1211299"/>
                <a:gridCol w="1730428"/>
              </a:tblGrid>
              <a:tr h="838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PHASE / MILESTONE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KEY DELIVERABLE &amp; ACCEPTANCE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TIMELINE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BILLING %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INVESTMENT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M1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Architecture Blueprint &amp; Lab Integration Proof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Month 1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25%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$125,000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M2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Line 1 Pilot Deployment &amp; S/4HANA BAPI Validation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Month 2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35%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$175,000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M3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Plant-Wide Rollout across Lines 2-6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Month 4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30%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$150,000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M4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Acceptance Sign-Off &amp; 90-Day Hypercare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Month 5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10%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$50,000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TOTAL ENGAGEMENT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$500,000 USD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097280"/>
          <a:ext cx="10728653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2384145"/>
                <a:gridCol w="2384145"/>
                <a:gridCol w="2384145"/>
              </a:tblGrid>
              <a:tr h="10058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EVALUATION CRITERIA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F8FAFC"/>
                          </a:solidFill>
                          <a:latin typeface="Inter"/>
                        </a:rPr>
                        <a:t>Lumbini Hybrid BTP Edge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F8FAFC"/>
                          </a:solidFill>
                          <a:latin typeface="Inter"/>
                        </a:rPr>
                        <a:t>Monolithic COTS MES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F8FAFC"/>
                          </a:solidFill>
                          <a:latin typeface="Inter"/>
                        </a:rPr>
                        <a:t>Point-to-Point Custom Code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Sub-second ERP Event Sync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Full [✓]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Partial [~]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None [✗]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Memory Ring-Fencing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Full [✓]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Partial [~]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None [✗]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Zero ERP Core Modification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Full [✓]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None [✗]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None [✗]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TCO over 5 Years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High ROI [✓]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Moderate [~]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Poor [✗]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728655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" y="1417319"/>
            <a:ext cx="54864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17319"/>
            <a:ext cx="98142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8FAFC"/>
                </a:solidFill>
                <a:latin typeface="Inter"/>
              </a:rPr>
              <a:t>"Manufacturing digital transformation succeeds only when edge operational telemetry is decoupled from the ERP core—protecting transactional stability while delivering sub-second plant visibility."</a:t>
            </a:r>
          </a:p>
          <a:p>
            <a:r>
              <a:rPr sz="1050" b="1" i="0">
                <a:solidFill>
                  <a:srgbClr val="00B4D8"/>
                </a:solidFill>
                <a:latin typeface="Inter"/>
              </a:rPr>
              <a:t>— Managing Director, Lumbini Elite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291839"/>
            <a:ext cx="3210458" cy="2651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Ring-Fenced Core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No direct transactional lock contention or memory bloat in SAP S/4HANA.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0618" y="3291839"/>
            <a:ext cx="3210458" cy="2651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Deterministic Edge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Local edge brokers maintain 100% plant uptime during network isolation.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9676" y="3291839"/>
            <a:ext cx="3210458" cy="2651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Audit-Proof Genealogy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Complete ISA-95 lot traceability linking raw material lots to finished goods.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728655" cy="5029200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554480"/>
            <a:ext cx="1097280" cy="640080"/>
          </a:xfrm>
          <a:prstGeom prst="rect">
            <a:avLst/>
          </a:prstGeom>
          <a:solidFill>
            <a:srgbClr val="1C3159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00B4D8"/>
                </a:solidFill>
                <a:latin typeface="Inter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463040"/>
            <a:ext cx="87169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SECTION AGENDA</a:t>
            </a:r>
          </a:p>
          <a:p>
            <a:pPr>
              <a:spcAft>
                <a:spcPts val="800"/>
              </a:spcAft>
            </a:pPr>
            <a:r>
              <a:rPr sz="3200" b="1" i="0">
                <a:solidFill>
                  <a:srgbClr val="F8FAFC"/>
                </a:solidFill>
                <a:latin typeface="Inter"/>
              </a:rPr>
              <a:t>Integration Architecture &amp; Shop Floor Telemetry</a:t>
            </a:r>
          </a:p>
          <a:p>
            <a:pPr>
              <a:spcAft>
                <a:spcPts val="600"/>
              </a:spcAft>
            </a:pPr>
            <a:r>
              <a:rPr sz="1100" b="0" i="1">
                <a:solidFill>
                  <a:srgbClr val="94A3B8"/>
                </a:solidFill>
                <a:latin typeface="Inter"/>
              </a:rPr>
              <a:t>Sub-second event streaming, SAP RFC ring-fencing, and edge resilience across manufacturing cells.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3179978" cy="2651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/>
          <a:lstStyle/>
          <a:p>
            <a:pPr algn="ctr">
              <a:spcAft>
                <a:spcPts val="6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MODULE 01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Event-Driven vs Polling Mechanics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5858" y="3108960"/>
            <a:ext cx="3179978" cy="2651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/>
          <a:lstStyle/>
          <a:p>
            <a:pPr algn="ctr">
              <a:spcAft>
                <a:spcPts val="6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MODULE 02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ISA-95 Boundary Defense &amp; DMZ</a:t>
            </a:r>
          </a:p>
        </p:txBody>
      </p:sp>
      <p:sp>
        <p:nvSpPr>
          <p:cNvPr id="7" name="Rectangle 6"/>
          <p:cNvSpPr/>
          <p:nvPr/>
        </p:nvSpPr>
        <p:spPr>
          <a:xfrm>
            <a:off x="7914436" y="3108960"/>
            <a:ext cx="3179978" cy="2651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/>
          <a:lstStyle/>
          <a:p>
            <a:pPr algn="ctr">
              <a:spcAft>
                <a:spcPts val="6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MODULE 03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Sub-Second Failover &amp; Edge Caching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