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1. MATURITY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Digital Transformation Maturity Staircase &amp; Gap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5-Level capability staircase and prioritized dimension gap scorecard.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Caterpillar Manufacturing • Digital Maturity Audit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01 / 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47548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DIGITAL TRANSFORMATION MATURITY ASSESSMENT: MANUFACTURING DIGITAL TRANSFORMATION MATURITY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31375" y="1554480"/>
            <a:ext cx="1645920" cy="32918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TARGET: 4.2 / 5.0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11335" y="1627632"/>
            <a:ext cx="228600" cy="182880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28255" y="1554480"/>
            <a:ext cx="1691640" cy="329184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CURRENT: 2.4 / 5.0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" y="2066544"/>
            <a:ext cx="4720608" cy="412394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2139696"/>
            <a:ext cx="4501152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5-LEVEL DIGITAL MATURITY STAIRCASE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" y="5347411"/>
            <a:ext cx="892915" cy="6693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0F172A"/>
                </a:solidFill>
                <a:latin typeface="Inter"/>
              </a:rPr>
              <a:t>1. Fragmented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" y="4641494"/>
            <a:ext cx="1785830" cy="6693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D97706"/>
                </a:solidFill>
                <a:latin typeface="Inter"/>
              </a:rPr>
              <a:t>2. Standardized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 [CURRENT POSITION]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7552" y="3935577"/>
            <a:ext cx="2678745" cy="6693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0F172A"/>
                </a:solidFill>
                <a:latin typeface="Inter"/>
              </a:rPr>
              <a:t>3. Integrated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2" y="3229660"/>
            <a:ext cx="3571661" cy="6693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10B981"/>
                </a:solidFill>
                <a:latin typeface="Inter"/>
              </a:rPr>
              <a:t>4. Intelligent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 [TARGET HORIZON]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" y="2523744"/>
            <a:ext cx="4464576" cy="6693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0F172A"/>
                </a:solidFill>
                <a:latin typeface="Inter"/>
              </a:rPr>
              <a:t>5. Autonomous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16720" y="2066544"/>
            <a:ext cx="5686187" cy="41239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16720" y="2066544"/>
            <a:ext cx="5686187" cy="329184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GAP AUDIT &amp; PRIORITY INTERVENTIONS (SCORE -&gt; GAP -&gt; ACTION)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08160" y="2505456"/>
            <a:ext cx="5503307" cy="6565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3024" y="2523744"/>
            <a:ext cx="5393579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Process &amp; Execution  [P1]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2.1 / 5.0  ➔  Target: 4.3 / 5.0 (Gap: +2.2)</a:t>
            </a:r>
          </a:p>
          <a:p>
            <a:r>
              <a:rPr sz="819" b="1" i="0">
                <a:solidFill>
                  <a:srgbClr val="DC2626"/>
                </a:solidFill>
                <a:latin typeface="Inter"/>
              </a:rPr>
              <a:t>Gap: Paper travel cards &amp; manual dispatch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Intervention: Deploy MES automated dispatch &amp; digital traveler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08160" y="3235147"/>
            <a:ext cx="5503307" cy="65653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3024" y="3253435"/>
            <a:ext cx="5393579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Data &amp; Genealogy  [P1]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2.3 / 5.0  ➔  Target: 4.5 / 5.0 (Gap: +2.2)</a:t>
            </a:r>
          </a:p>
          <a:p>
            <a:r>
              <a:rPr sz="819" b="1" i="0">
                <a:solidFill>
                  <a:srgbClr val="DC2626"/>
                </a:solidFill>
                <a:latin typeface="Inter"/>
              </a:rPr>
              <a:t>Gap: Missing component-to-serial batch linkage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Intervention: Automated barcode &amp; OPC-UA genealogy binding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08160" y="3964838"/>
            <a:ext cx="5503307" cy="656539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3024" y="3983126"/>
            <a:ext cx="5393579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SAP Clean Core  [P2]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2.6 / 5.0  ➔  Target: 4.2 / 5.0 (Gap: +1.6)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Gap: Excess custom Z-tables blocking cloud upgrade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Intervention: Migrate custom code to BTP event mesh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08160" y="4694529"/>
            <a:ext cx="5503307" cy="65653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3024" y="4712817"/>
            <a:ext cx="5393579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Quality &amp; Rework  [P1]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2.2 / 5.0  ➔  Target: 4.0 / 5.0 (Gap: +1.8)</a:t>
            </a:r>
          </a:p>
          <a:p>
            <a:r>
              <a:rPr sz="819" b="1" i="0">
                <a:solidFill>
                  <a:srgbClr val="DC2626"/>
                </a:solidFill>
                <a:latin typeface="Inter"/>
              </a:rPr>
              <a:t>Gap: Delayed defect logging &amp; missing CAPA loops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Intervention: Closed-loop digital inspection interlocks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08160" y="5424220"/>
            <a:ext cx="5503307" cy="656539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3024" y="5442508"/>
            <a:ext cx="5393579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Governance &amp; RACI  [P2]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2.8 / 5.0  ➔  Target: 4.0 / 5.0 (Gap: +1.2)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Gap: Ambiguous IT/OT boundary ownership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Intervention: Formalize unified IT/OT operating charter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