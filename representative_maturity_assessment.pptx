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MATURITY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Digital Transformation Maturity Staircase &amp; Gap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5-Level capability staircase and prioritized dimension gap scorecard.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Caterpillar Manufacturing • Digital Maturity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554480"/>
            <a:ext cx="67052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DIGITAL TRANSFORMATION MATURITY ASSESSMENT: MANUFACTURING DIGITAL TRANSFORMATION MATURITY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31375" y="1554480"/>
            <a:ext cx="16459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TARGET: 4.2 / 5.0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11335" y="1627632"/>
            <a:ext cx="22860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8255" y="1554480"/>
            <a:ext cx="169164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CURRENT: 2.4 / 5.0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066544"/>
            <a:ext cx="4720608" cy="412394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139696"/>
            <a:ext cx="4501152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5-LEVEL DIGITAL MATURITY STAIRCASE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5347411"/>
            <a:ext cx="1964413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1. Fragmented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641494"/>
            <a:ext cx="2589454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D97706"/>
                </a:solidFill>
                <a:latin typeface="Inter"/>
              </a:rPr>
              <a:t>2. Standardized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 [CURRENT POSITION]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935577"/>
            <a:ext cx="3214494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3. Integrated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29660"/>
            <a:ext cx="3839535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10B981"/>
                </a:solidFill>
                <a:latin typeface="Inter"/>
              </a:rPr>
              <a:t>4. Intelligent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 [TARGET HORIZON]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2523744"/>
            <a:ext cx="4464576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5. Autonomous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16720" y="2066544"/>
            <a:ext cx="5686187" cy="41239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16720" y="2066544"/>
            <a:ext cx="5686187" cy="32918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GAP AUDIT &amp; PRIORITY INTERVENTIONS (SCORE -&gt; GAP -&gt; ACTION)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08160" y="2505456"/>
            <a:ext cx="5503307" cy="6565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6448" y="2523744"/>
            <a:ext cx="73152" cy="619963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4464" y="2523744"/>
            <a:ext cx="5283851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Process &amp; Execution 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2.1 / 5.0   ➔   Target: 4.3 / 5.0 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▸ Gap: Paper travel cards &amp; manual dispatch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✓ Action: Deploy MES automated dispatch &amp; digital traveler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8160" y="3235147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26448" y="3253435"/>
            <a:ext cx="73152" cy="619963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4464" y="3253435"/>
            <a:ext cx="5283851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Data &amp; Genealogy 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2.3 / 5.0   ➔   Target: 4.5 / 5.0 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▸ Gap: Missing component-to-serial batch linkage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✓ Action: Automated barcode &amp; OPC-UA genealogy binding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8160" y="3964838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26448" y="3983126"/>
            <a:ext cx="73152" cy="619963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4464" y="3983126"/>
            <a:ext cx="5283851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SAP Clean Core 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2.6 / 5.0   ➔   Target: 4.2 / 5.0  (Gap: +1.6)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▸ Gap: Excess custom Z-tables blocking cloud upgrade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✓ Action: Migrate custom code to BTP event mesh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08160" y="4694529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26448" y="4712817"/>
            <a:ext cx="73152" cy="619963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4464" y="4712817"/>
            <a:ext cx="5283851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Quality &amp; Rework 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2.2 / 5.0   ➔   Target: 4.0 / 5.0  (Gap: +1.8)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▸ Gap: Delayed defect logging &amp; missing CAPA loops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✓ Action: Closed-loop digital inspection interlocks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08160" y="5424220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26448" y="5442508"/>
            <a:ext cx="73152" cy="619963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4464" y="5442508"/>
            <a:ext cx="5283851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Governance &amp; RACI 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2.8 / 5.0   ➔   Target: 4.0 / 5.0  (Gap: +1.2)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▸ Gap: Ambiguous IT/OT boundary ownership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✓ Action: Formalize unified IT/OT operating charter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