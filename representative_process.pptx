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66CC"/>
                </a:solidFill>
                <a:latin typeface="Inter"/>
              </a:rPr>
              <a:t>1. VALUE 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Closed-Loop Production Execution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Eliminating paper traveler latency from production release to goods receipt.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Boeing Commercial Airplanes • Manufacturing Process Architecture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01 / 03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1889699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81328"/>
            <a:ext cx="1889699" cy="329184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883664"/>
            <a:ext cx="1633667" cy="430682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Order Release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Production order released in S/4HANA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Dispatched to plant queue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66939" y="3762755"/>
            <a:ext cx="228600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41259" y="1481328"/>
            <a:ext cx="1889699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41259" y="1481328"/>
            <a:ext cx="1889699" cy="329184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9275" y="1883664"/>
            <a:ext cx="1633667" cy="430682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Component Kitting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Barcode verified against BOM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Serialized lot confirmation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76678" y="3762755"/>
            <a:ext cx="228600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50998" y="1481328"/>
            <a:ext cx="1889699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50998" y="1481328"/>
            <a:ext cx="1889699" cy="329184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9014" y="1883664"/>
            <a:ext cx="1633667" cy="430682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Assembly Run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Torque telemetry tracked live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Cycle time logged at edge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086417" y="3762755"/>
            <a:ext cx="228600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737" y="1481328"/>
            <a:ext cx="1889699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60737" y="1481328"/>
            <a:ext cx="1889699" cy="329184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STEP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88753" y="1883664"/>
            <a:ext cx="1633667" cy="430682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Automated QA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Inline vision camera inspection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Dimensional tolerance verified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296156" y="3762755"/>
            <a:ext cx="228600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70476" y="1481328"/>
            <a:ext cx="1889699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70476" y="1481328"/>
            <a:ext cx="1889699" cy="329184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STEP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8492" y="1883664"/>
            <a:ext cx="1633667" cy="430682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Goods Receipt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Auto 101 posting in S/4HANA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Finished goods inventory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1C3159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B4D8"/>
                </a:solidFill>
                <a:latin typeface="Inter"/>
              </a:rPr>
              <a:t>2. SHOP-FLOOR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Inter"/>
              </a:rPr>
              <a:t>Frontline Operator Journey with Poka-Yoke Interlocks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B4D8"/>
                </a:solidFill>
                <a:latin typeface="Inter"/>
              </a:rPr>
              <a:t>Deterministic digital work instructions eliminate human assembly errors.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26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Inter"/>
              </a:rPr>
              <a:t>Boeing Commercial Airplanes • Manufacturing Process Architecture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B4D8"/>
                </a:solidFill>
                <a:latin typeface="Inter"/>
              </a:rPr>
              <a:t>02 / 03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2476423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609344"/>
            <a:ext cx="2220391" cy="4526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STATION 10</a:t>
            </a:r>
          </a:p>
          <a:p>
            <a:pPr>
              <a:spcAft>
                <a:spcPts val="6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Inbound Kit Verification</a:t>
            </a:r>
          </a:p>
          <a:p>
            <a:pPr>
              <a:spcAft>
                <a:spcPts val="10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Operator scans component traveler barcode against ERP BOM</a:t>
            </a:r>
          </a:p>
          <a:p>
            <a:r>
              <a:rPr sz="819" b="1" i="0">
                <a:solidFill>
                  <a:srgbClr val="F59E0B"/>
                </a:solidFill>
                <a:latin typeface="Inter"/>
              </a:rPr>
              <a:t>POKA-YOKE: Barcode mismatch interlock halts carrier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53663" y="3762755"/>
            <a:ext cx="182880" cy="219456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82263" y="1481328"/>
            <a:ext cx="2476423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0279" y="1609344"/>
            <a:ext cx="2220391" cy="4526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STATION 20</a:t>
            </a:r>
          </a:p>
          <a:p>
            <a:pPr>
              <a:spcAft>
                <a:spcPts val="6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Robotic Cell Assembly</a:t>
            </a:r>
          </a:p>
          <a:p>
            <a:pPr>
              <a:spcAft>
                <a:spcPts val="10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Automated cell executes precision torque sequence with telemetry</a:t>
            </a:r>
          </a:p>
          <a:p>
            <a:r>
              <a:rPr sz="819" b="1" i="0">
                <a:solidFill>
                  <a:srgbClr val="F59E0B"/>
                </a:solidFill>
                <a:latin typeface="Inter"/>
              </a:rPr>
              <a:t>POKA-YOKE: Temperature parameter drift triggers alert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04407" y="3762755"/>
            <a:ext cx="182880" cy="219456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7" y="1481328"/>
            <a:ext cx="2476423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1023" y="1609344"/>
            <a:ext cx="2220391" cy="4526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STATION 30</a:t>
            </a:r>
          </a:p>
          <a:p>
            <a:pPr>
              <a:spcAft>
                <a:spcPts val="6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Laser Direct Part Marking</a:t>
            </a:r>
          </a:p>
          <a:p>
            <a:pPr>
              <a:spcAft>
                <a:spcPts val="10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Permanent 2D DataMatrix serial UID etched onto titanium chassis</a:t>
            </a:r>
          </a:p>
          <a:p>
            <a:r>
              <a:rPr sz="819" b="1" i="0">
                <a:solidFill>
                  <a:srgbClr val="F59E0B"/>
                </a:solidFill>
                <a:latin typeface="Inter"/>
              </a:rPr>
              <a:t>POKA-YOKE: High-res optical camera verifies scan contrast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755151" y="3762755"/>
            <a:ext cx="182880" cy="219456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83751" y="1481328"/>
            <a:ext cx="2476423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11767" y="1609344"/>
            <a:ext cx="2220391" cy="4526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STATION 40</a:t>
            </a:r>
          </a:p>
          <a:p>
            <a:pPr>
              <a:spcAft>
                <a:spcPts val="6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End-of-Line Quality Gate</a:t>
            </a:r>
          </a:p>
          <a:p>
            <a:pPr>
              <a:spcAft>
                <a:spcPts val="10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Automated electrical resistance and pneumatic leak testing</a:t>
            </a:r>
          </a:p>
          <a:p>
            <a:r>
              <a:rPr sz="819" b="1" i="0">
                <a:solidFill>
                  <a:srgbClr val="F59E0B"/>
                </a:solidFill>
                <a:latin typeface="Inter"/>
              </a:rPr>
              <a:t>POKA-YOKE: Defect failure locks output nest and posts NCR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66CC"/>
                </a:solidFill>
                <a:latin typeface="Inter"/>
              </a:rPr>
              <a:t>3. EXCEPTION &amp; REWORK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Automated NCR Logging &amp; Non-Conformance Quarantine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Defective components are automatically locked and rerouted to authorized rework bays.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Boeing Commercial Airplanes • Manufacturing Process Architecture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03 / 03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2442133" cy="248680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81328"/>
            <a:ext cx="2442133" cy="329184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883664"/>
            <a:ext cx="2186101" cy="201131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Component Kitting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Standard production routing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219373" y="2615001"/>
            <a:ext cx="228600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93693" y="1481328"/>
            <a:ext cx="2442133" cy="248680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93693" y="1481328"/>
            <a:ext cx="2442133" cy="329184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709" y="1883664"/>
            <a:ext cx="2186101" cy="201131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Torque Assembly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Standard production routing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81547" y="2615001"/>
            <a:ext cx="228600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5867" y="1481328"/>
            <a:ext cx="2442133" cy="248680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55867" y="1481328"/>
            <a:ext cx="2442133" cy="329184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3883" y="1883664"/>
            <a:ext cx="2186101" cy="201131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Automated QC Test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Standard production routing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43721" y="2615001"/>
            <a:ext cx="228600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8041" y="1481328"/>
            <a:ext cx="2442133" cy="248680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18041" y="1481328"/>
            <a:ext cx="2442133" cy="329184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STEP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6057" y="1883664"/>
            <a:ext cx="2186101" cy="201131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Packaging &amp; Dispatch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Standard production routing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196730"/>
            <a:ext cx="10728655" cy="2066909"/>
          </a:xfrm>
          <a:prstGeom prst="rect">
            <a:avLst/>
          </a:prstGeom>
          <a:solidFill>
            <a:srgbClr val="F1F5F9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06458"/>
            <a:ext cx="10362895" cy="1847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D97706"/>
                </a:solidFill>
                <a:latin typeface="Inter"/>
              </a:rPr>
              <a:t>EXCEPTION LOOP: TORQUE ANGLE OUT OF SPECIFICATION (+/- 3.5 DEG TOLERANCE BREACH)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0F172A"/>
                </a:solidFill>
                <a:latin typeface="Inter"/>
              </a:rPr>
              <a:t>Quarantine Unit to MRB Nest  -&gt;  Scan Technician Badge  -&gt;  Disassemble Fasteners  -&gt;  Re-Torque &amp; Re-Test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