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95144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Enterprise Architecture Diagram: SAP S/4HANA + MES + shop-floor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ENTERPRISE ARCHITECTURE mapped for Lockheed Martin Aerospace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Lockheed Martin Aerospace • SAP S4HANA + MES + Shop-Floor Integration Architecture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1: ENTERPRISE ERP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S/4HANA Cloud (Clean Core Architecture)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Production Orders (PP)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Material Master (MM)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Inventory Management (IM)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Ledger (ACDOCA)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3898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3898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OData APIs / Business Event Mesh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5378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5378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1682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2: INTEGRATION &amp; ORCHESTRATION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BTP &amp; Hybrid Middleware Fabric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Event Mesh Broker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Integration Suite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API Management Gateway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Dead-Letter Queue Buffer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7756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7756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TLS 1.3 / OPC-UA / MQTT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9236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9236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5540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3: MANUFACTURING EXECUTION &amp; EDGE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Digital Manufacturing (MES/MOM) &amp; OT 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Shopfloor Dispatcher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Unit Genealogy Engine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Line SCADA Collector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PLC Machine Sensors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INTEGRATION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Integration &amp; Data Flow Architecture: SAP S/4HANA + MES + shop-floor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INTEGRATION FABRIC mapped for Lockheed Martin Aerospace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Lockheed Martin Aerospace • SAP S4HANA + MES + Shop-Floor Integration Architecture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Inter"/>
              </a:rPr>
              <a:t>Primitive Dispatch: IntegrationArchitecturePrimitive.render() missing 3 required positional arguments: 'producer_info', 'broker_info', and 'consumer_info'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OPERATIONAL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ISA-95 Manufacturing Hierarchy: SAP S/4HANA + MES + shop-floor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OPERATIONAL TOPOLOGY mapped for Lockheed Martin Aerospace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SAP S4HANA + MES + Shop-Floor Integration Architecture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572768"/>
            <a:ext cx="1828800" cy="9029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LEVEL 4: BUSINESS LOGISTICS</a:t>
            </a:r>
          </a:p>
          <a:p>
            <a:r>
              <a:rPr sz="750" b="0" i="1">
                <a:solidFill>
                  <a:srgbClr val="0F172A"/>
                </a:solidFill>
                <a:latin typeface="Inter"/>
              </a:rPr>
              <a:t>Enterprise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72768"/>
            <a:ext cx="6613855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34155"/>
                </a:solidFill>
                <a:latin typeface="Inter"/>
              </a:rPr>
              <a:t>ERP Financials • Master Planning (PP) • Material Master (MM)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72768"/>
            <a:ext cx="1737360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D97706"/>
                </a:solidFill>
                <a:latin typeface="Inter"/>
              </a:rPr>
              <a:t>INTERLOCK: OData / BAPI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13482"/>
            <a:ext cx="10728655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804922"/>
            <a:ext cx="1828800" cy="9029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LEVEL 3: OPERATIONS (MOM/MES)</a:t>
            </a:r>
          </a:p>
          <a:p>
            <a:r>
              <a:rPr sz="750" b="0" i="1">
                <a:solidFill>
                  <a:srgbClr val="0F172A"/>
                </a:solidFill>
                <a:latin typeface="Inter"/>
              </a:rPr>
              <a:t>Plant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804922"/>
            <a:ext cx="6613855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34155"/>
                </a:solidFill>
                <a:latin typeface="Inter"/>
              </a:rPr>
              <a:t>Work Order Dispatch • Real-Time Genealogy • Non-Conformance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804922"/>
            <a:ext cx="1737360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D97706"/>
                </a:solidFill>
                <a:latin typeface="Inter"/>
              </a:rPr>
              <a:t>INTERLOCK: REST / WebSockets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45635"/>
            <a:ext cx="10728655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4037075"/>
            <a:ext cx="1828800" cy="9029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LEVEL 2: SUPERVISORY CONTROL</a:t>
            </a:r>
          </a:p>
          <a:p>
            <a:r>
              <a:rPr sz="750" b="0" i="1">
                <a:solidFill>
                  <a:srgbClr val="0F172A"/>
                </a:solidFill>
                <a:latin typeface="Inter"/>
              </a:rPr>
              <a:t>Line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037075"/>
            <a:ext cx="6613855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34155"/>
                </a:solidFill>
                <a:latin typeface="Inter"/>
              </a:rPr>
              <a:t>SCADA Systems • Cell Controllers • Batch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4037075"/>
            <a:ext cx="1737360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D97706"/>
                </a:solidFill>
                <a:latin typeface="Inter"/>
              </a:rPr>
              <a:t>INTERLOCK: OPC-UA / Modbus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77790"/>
            <a:ext cx="10728655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269229"/>
            <a:ext cx="1828800" cy="9029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LEVEL 1: SENSING &amp; MANIPULATION</a:t>
            </a:r>
          </a:p>
          <a:p>
            <a:r>
              <a:rPr sz="750" b="0" i="1">
                <a:solidFill>
                  <a:srgbClr val="0F172A"/>
                </a:solidFill>
                <a:latin typeface="Inter"/>
              </a:rPr>
              <a:t>Machine 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269229"/>
            <a:ext cx="6613855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34155"/>
                </a:solidFill>
                <a:latin typeface="Inter"/>
              </a:rPr>
              <a:t>PLC Controllers • Robotics Actuators • Torque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5269229"/>
            <a:ext cx="1737360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D97706"/>
                </a:solidFill>
                <a:latin typeface="Inter"/>
              </a:rPr>
              <a:t>INTERLOCK: Fieldbus / I/O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End-to-End Process Flow: SAP S/4HANA + MES + shop-floor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PROCESS ARCHITECTURE mapped for Lockheed Martin Aerospace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SAP S4HANA + MES + Shop-Floor Integration Architecture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Order Release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Confirmed in SAP S/4HANA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Dispatched to plant queue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66939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1259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1259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9275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Kitting &amp; Scan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Serial barcode verified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Validated against BOM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76678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0998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0998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9014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Assembly Run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Torque telemetry tracked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Real-time cycle time log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737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737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753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Quality Gate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Vision system inspection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Automated tolerance check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6156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70476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0476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8492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Goods Receipt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Auto 101 movement posted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Ledger tie-out in ERP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139696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5. GOVERNANCE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Multi-Tier Governance &amp; Control Gates: SAP S/4HANA + MES + shop-floor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GOVERNANCE &amp; CONTROLS mapped for Lockheed Martin Aerospace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Lockheed Martin Aerospace • SAP S4HANA + MES + Shop-Floor Integration Architecture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05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1: ARCHITECTURE SIGN-OFF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Chief Enterprise Architect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0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Clean-core rules validated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OT firewall verified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Data models approved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Signed Architecture Charter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53663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2263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2263" y="1481328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2: PILOT PLANT 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279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Plant Operations Director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4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Pilot line latency &lt;200ms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Zero dropped telemetry events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Operator ergonomics passed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Pilot Sign-Off Slip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4407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481328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3: QUALITY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Global VP of Quality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8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21 CFR Part 11 audit trails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Electronic signatures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Lot genealogy tied to ERP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Validation Master Report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55151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3751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3751" y="1481328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4: PRODUCTION CUTOVER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Executive Steering Comm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12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Go-live checklist 100% green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Disaster recovery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24/7 hypercare staffed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Production Go-Live Permit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