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45059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1. CROSS-FUNCTIONAL SWIMLANE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End-to-End Enterprise Order-to-Confirmation Swimlane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Multi-tier transactional handoffs and Poka-Yoke interlocks across 5 enterprise lanes.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Siemens Industrial • Cross-Functional Swimlane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474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CROSS-FUNCTIONAL OPERATIONAL SWIMLANE: ORDER-TO-CONFIRMATION OPERATIONAL SWIMLANE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874519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874519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CUSTOMER DEMAND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External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2757830"/>
            <a:ext cx="8588959" cy="81015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2757830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SAP S/4HANA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System of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3641140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3641140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MES MOM CORE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4524451"/>
            <a:ext cx="8588959" cy="81015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524451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SHOP FLOOR / OT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Edge Physical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5407761"/>
            <a:ext cx="8588959" cy="8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5407761"/>
            <a:ext cx="1920240" cy="81015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73152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QUALITY ASSURANCE</a:t>
            </a:r>
          </a:p>
          <a:p>
            <a:r>
              <a:rPr sz="750" b="0" i="1">
                <a:solidFill>
                  <a:srgbClr val="64748B"/>
                </a:solidFill>
                <a:latin typeface="Inter"/>
              </a:rPr>
              <a:t>Compliance Interlock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2023567"/>
            <a:ext cx="1004925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0066CC"/>
                </a:solidFill>
                <a:latin typeface="Inter"/>
              </a:defRPr>
            </a:pPr>
            <a:r>
              <a:rPr/>
              <a:t>[1] EDI 850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Demand Forecast / EDI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Sales Demand 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6453" y="2906877"/>
            <a:ext cx="1004925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0066CC"/>
                </a:solidFill>
                <a:latin typeface="Inter"/>
              </a:defRPr>
            </a:pPr>
            <a:r>
              <a:rPr/>
              <a:t>[2] S/4HANA PP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Sales &amp; Production Order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MRP Planning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4259" y="3790187"/>
            <a:ext cx="1004925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0066CC"/>
                </a:solidFill>
                <a:latin typeface="Inter"/>
              </a:defRPr>
            </a:pPr>
            <a:r>
              <a:rPr/>
              <a:t>[3] MES MOM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Dispatch &amp; Work Queue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Operation Scheduling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2064" y="4673498"/>
            <a:ext cx="1004925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0066CC"/>
                </a:solidFill>
                <a:latin typeface="Inter"/>
              </a:defRPr>
            </a:pPr>
            <a:r>
              <a:rPr/>
              <a:t>[4] PLC / OPC UA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CNC Machining &amp; Setup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Physical Execution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49870" y="4673498"/>
            <a:ext cx="1004925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0066CC"/>
                </a:solidFill>
                <a:latin typeface="Inter"/>
              </a:defRPr>
            </a:pPr>
            <a:r>
              <a:rPr/>
              <a:t>[5] 261 Movement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Material Consumption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Batch Component Binding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7676" y="5556808"/>
            <a:ext cx="1004925" cy="512064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D97706"/>
                </a:solidFill>
                <a:latin typeface="Inter"/>
              </a:defRPr>
            </a:pPr>
            <a:r>
              <a:rPr/>
              <a:t>◆ GATE [6]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Optical Inspection Gate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SPC Tolerance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5481" y="2906877"/>
            <a:ext cx="1004925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0066CC"/>
                </a:solidFill>
                <a:latin typeface="Inter"/>
              </a:defRPr>
            </a:pPr>
            <a:r>
              <a:rPr/>
              <a:t>[7] ACDOCA Post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F172A"/>
                </a:solidFill>
                <a:latin typeface="Inter"/>
              </a:defRPr>
            </a:pPr>
            <a:r>
              <a:rPr/>
              <a:t>Confirmation &amp; Ledger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Inter"/>
              </a:defRPr>
            </a:pPr>
            <a:r>
              <a:rPr/>
              <a:t>CO11N &amp; 101 Goods Receipt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337102" y="2553919"/>
            <a:ext cx="128016" cy="334670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83406" y="2620670"/>
            <a:ext cx="1005840" cy="164592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00" b="1">
                <a:solidFill>
                  <a:srgbClr val="0066CC"/>
                </a:solidFill>
                <a:latin typeface="Inter"/>
              </a:defRPr>
            </a:pPr>
            <a:r>
              <a:rPr/>
              <a:t>Sales Order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524908" y="3437229"/>
            <a:ext cx="128016" cy="334670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71212" y="3503980"/>
            <a:ext cx="1005840" cy="164592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00" b="1">
                <a:solidFill>
                  <a:srgbClr val="0066CC"/>
                </a:solidFill>
                <a:latin typeface="Inter"/>
              </a:defRPr>
            </a:pPr>
            <a:r>
              <a:rPr/>
              <a:t>Production Order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712714" y="4320540"/>
            <a:ext cx="128016" cy="334670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59018" y="4387291"/>
            <a:ext cx="1005840" cy="164592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00" b="1">
                <a:solidFill>
                  <a:srgbClr val="0066CC"/>
                </a:solidFill>
                <a:latin typeface="Inter"/>
              </a:defRPr>
            </a:pPr>
            <a:r>
              <a:rPr/>
              <a:t>Dispatch Job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485278" y="4865522"/>
            <a:ext cx="146303" cy="128016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088325" y="5203850"/>
            <a:ext cx="128016" cy="334670"/>
          </a:xfrm>
          <a:prstGeom prst="down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34629" y="5270601"/>
            <a:ext cx="1005840" cy="164592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00" b="1">
                <a:solidFill>
                  <a:srgbClr val="0066CC"/>
                </a:solidFill>
                <a:latin typeface="Inter"/>
              </a:defRPr>
            </a:pPr>
            <a:r>
              <a:rPr/>
              <a:t>Inspection Trigger</a:t>
            </a:r>
          </a:p>
        </p:txBody>
      </p:sp>
      <p:sp>
        <p:nvSpPr>
          <p:cNvPr id="36" name="Up Arrow 35"/>
          <p:cNvSpPr/>
          <p:nvPr/>
        </p:nvSpPr>
        <p:spPr>
          <a:xfrm>
            <a:off x="9276130" y="3437229"/>
            <a:ext cx="128016" cy="2101291"/>
          </a:xfrm>
          <a:prstGeom prst="up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40722" y="4405579"/>
            <a:ext cx="1005840" cy="164592"/>
          </a:xfrm>
          <a:prstGeom prst="roundRect">
            <a:avLst/>
          </a:prstGeom>
          <a:solidFill>
            <a:srgbClr val="EEF2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00" b="1">
                <a:solidFill>
                  <a:srgbClr val="0066CC"/>
                </a:solidFill>
                <a:latin typeface="Inter"/>
              </a:defRPr>
            </a:pPr>
            <a:r>
              <a:rPr/>
              <a:t>Clearance 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