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139696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1. APPLICATION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Application Scope Landscape: MES implementation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APPLICATION PORTFOLIO mapped for Schneider Electric Plant Network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Schneider Electric Plant Network • MES Implementation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442106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3442106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ENTERPRISE ERP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EF4444"/>
                </a:solidFill>
                <a:latin typeface="Inter"/>
              </a:rPr>
              <a:t>Primitive Dispatch: too many values to unpack (expected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295144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2. CAPABILITY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Modular Functional Capability Map: MES implementation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CAPABILITY ARCHITECTURE mapped for Schneider Electric Plant Network operational architecture.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442106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3442106" cy="402336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PRODUCTION EXECUTION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4794" y="1481328"/>
            <a:ext cx="3442106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4794" y="1481328"/>
            <a:ext cx="3442106" cy="402336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QUALITY &amp; GENEALOGY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8068" y="1481328"/>
            <a:ext cx="3442106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8068" y="1481328"/>
            <a:ext cx="3442106" cy="402336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ENTERPRISE INTEGRATION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1828800"/>
            <a:ext cx="10728655" cy="1051560"/>
          </a:xfrm>
          <a:prstGeom prst="rect">
            <a:avLst/>
          </a:prstGeom>
          <a:solidFill>
            <a:srgbClr val="1B2A4A"/>
          </a:solidFill>
          <a:ln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0A5FA"/>
                </a:solidFill>
                <a:latin typeface="Inter"/>
              </a:defRPr>
            </a:pPr>
            <a:r>
              <a:t>ENTERPRISE CORE</a:t>
            </a:r>
          </a:p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SAP S/4HANA Cloud (Clean Core ERP)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52160" y="2971800"/>
            <a:ext cx="365760" cy="320040"/>
          </a:xfrm>
          <a:prstGeom prst="down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383280"/>
            <a:ext cx="10728655" cy="1051560"/>
          </a:xfrm>
          <a:prstGeom prst="rect">
            <a:avLst/>
          </a:prstGeom>
          <a:solidFill>
            <a:srgbClr val="0F1E36"/>
          </a:solidFill>
          <a:ln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0A5FA"/>
                </a:solidFill>
                <a:latin typeface="Inter"/>
              </a:defRPr>
            </a:pPr>
            <a:r>
              <a:t>INTEGRATION FABRIC</a:t>
            </a:r>
          </a:p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SAP BTP / Event Mesh &amp; OData APIs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852160" y="4526279"/>
            <a:ext cx="365760" cy="320040"/>
          </a:xfrm>
          <a:prstGeom prst="down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937760"/>
            <a:ext cx="10728655" cy="1051560"/>
          </a:xfrm>
          <a:prstGeom prst="rect">
            <a:avLst/>
          </a:prstGeom>
          <a:solidFill>
            <a:srgbClr val="0A1628"/>
          </a:solidFill>
          <a:ln>
            <a:solidFill>
              <a:srgbClr val="3C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0A5FA"/>
                </a:solidFill>
                <a:latin typeface="Inter"/>
              </a:defRPr>
            </a:pPr>
            <a:r>
              <a:t>MANUFACTURING EXECUTION</a:t>
            </a:r>
          </a:p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SAP Digital Manufacturing (MES/MOM &amp; Edge)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3. OPERATOR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Shop-Floor Operator Workflow: MES implementation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DECISION INTENT: OPERATOR EXECUTION mapped for Schneider Electric Plant Network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Schneider Electric Plant Network • MES Implementation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03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DC2626"/>
                </a:solidFill>
                <a:latin typeface="Inter"/>
              </a:rPr>
              <a:t>Primitive Dispatch: not enough values to unpack (expected 4, got 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4. INTEGRATION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Integration &amp; Data Flow Architecture: MES implementation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INTEGRATION FABRIC mapped for Schneider Electric Plant Network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Schneider Electric Plant Network • MES Implementation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04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10728655" cy="4782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EF4444"/>
                </a:solidFill>
                <a:latin typeface="Inter"/>
              </a:rPr>
              <a:t>Primitive Dispatch: IntegrationArchitecturePrimitive.render() missing 3 required positional arguments: 'producer_info', 'broker_info', and 'consumer_info'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139696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5. GOVERNANCE &amp;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Multi-Tier Governance &amp; Control Gates: MES implementation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DECISION INTENT: GOVERNANCE &amp; CONTROLS mapped for Schneider Electric Plant Network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Schneider Electric Plant Network • MES Implementation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05 / 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247642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2476423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GATE 1: ARCHITECTURE SIGN-OFF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Chief Enterprise Architect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64748B"/>
                </a:solidFill>
                <a:latin typeface="Inter"/>
              </a:rPr>
              <a:t>Timing: Sprint 0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Clean-core rules validated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OT firewall verified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Data models approved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Signed Architecture Charter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53663" y="3762755"/>
            <a:ext cx="18288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82263" y="1481328"/>
            <a:ext cx="247642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2263" y="1481328"/>
            <a:ext cx="2476423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GATE 2: PILOT PLANT 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0279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Plant Operations Director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64748B"/>
                </a:solidFill>
                <a:latin typeface="Inter"/>
              </a:rPr>
              <a:t>Timing: Sprint 4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Pilot line latency &lt;200ms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Zero dropped telemetry events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Operator ergonomics passed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Pilot Sign-Off Slip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04407" y="3762755"/>
            <a:ext cx="18288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1481328"/>
            <a:ext cx="247642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1481328"/>
            <a:ext cx="2476423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GATE 3: QUALITY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023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Global VP of Quality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64748B"/>
                </a:solidFill>
                <a:latin typeface="Inter"/>
              </a:rPr>
              <a:t>Timing: Sprint 8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21 CFR Part 11 audit trails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Electronic signatures tested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Lot genealogy tied to ERP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Validation Master Report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55151" y="3762755"/>
            <a:ext cx="18288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83751" y="1481328"/>
            <a:ext cx="2476423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83751" y="1481328"/>
            <a:ext cx="2476423" cy="36576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GATE 4: PRODUCTION CUTOVER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1767" y="1901952"/>
            <a:ext cx="2220391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F172A"/>
                </a:solidFill>
                <a:latin typeface="Inter"/>
              </a:rPr>
              <a:t>Executive Steering Comm</a:t>
            </a:r>
          </a:p>
          <a:p>
            <a:pPr>
              <a:spcAft>
                <a:spcPts val="800"/>
              </a:spcAft>
            </a:pPr>
            <a:r>
              <a:rPr sz="750" b="0" i="1">
                <a:solidFill>
                  <a:srgbClr val="64748B"/>
                </a:solidFill>
                <a:latin typeface="Inter"/>
              </a:rPr>
              <a:t>Timing: Sprint 12</a:t>
            </a:r>
          </a:p>
          <a:p>
            <a:pPr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Inter"/>
              </a:rPr>
              <a:t>VERIFICATION CRITERIA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Go-live checklist 100% green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Disaster recovery tested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24/7 hypercare staffed</a:t>
            </a:r>
          </a:p>
          <a:p>
            <a:pPr>
              <a:spcBef>
                <a:spcPts val="800"/>
              </a:spcBef>
            </a:pPr>
            <a:r>
              <a:rPr sz="819" b="1" i="0">
                <a:solidFill>
                  <a:srgbClr val="10B981"/>
                </a:solidFill>
                <a:latin typeface="Inter"/>
              </a:rPr>
              <a:t>ARTIFACT: Production Go-Live Permit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6. DELIVERY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Phased Transformation Delivery Roadmap: MES implementation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DECISION INTENT: DELIVERY ROADMAP mapped for Schneider Electric Plant Network operational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Schneider Electric Plant Network • MES Implementation Proposal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06 / 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42381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3423818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PHASE 1 • WEEKS 1-4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920240"/>
            <a:ext cx="313121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Blueprint &amp; Edge Setup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OPC-UA Edge Config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SAP BTP Subaccount Setup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Pilot Line Connect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GATE: GATE 1: Latency &lt;250ms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3938" y="1481328"/>
            <a:ext cx="342381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3938" y="1481328"/>
            <a:ext cx="3423818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PHASE 2 • WEEKS 5-10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242" y="1920240"/>
            <a:ext cx="313121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Core MES Integration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Production Order Dispatch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Electronic Traveler UI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QA Inspection Gates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GATE: GATE 2: Zero RFC Buffer Leaks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6356" y="1481328"/>
            <a:ext cx="342381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6356" y="1481328"/>
            <a:ext cx="3423818" cy="365760"/>
          </a:xfrm>
          <a:prstGeom prst="rect">
            <a:avLst/>
          </a:prstGeom>
          <a:solidFill>
            <a:srgbClr val="1C3159"/>
          </a:solidFill>
          <a:ln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PHASE 3 • WEEKS 11-16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2660" y="1920240"/>
            <a:ext cx="313121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Enterprise Rollout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Lines 2-6 Cutover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Operator Enablement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Hypercare Support</a:t>
            </a:r>
          </a:p>
          <a:p>
            <a:pPr>
              <a:spcAft>
                <a:spcPts val="400"/>
              </a:spcAft>
            </a:pPr>
            <a:r>
              <a:rPr sz="819" b="1" i="0">
                <a:solidFill>
                  <a:srgbClr val="10B981"/>
                </a:solidFill>
                <a:latin typeface="Inter"/>
              </a:rPr>
              <a:t>GATE: GATE 3: Final Acceptance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