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Multi-Tier Decoupled Clean-Core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Preserving S/4HANA financial core integrity via event-driven edge decoupling.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Lockheed Martin • Enterprise Architecture Specification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1: ENTERPRISE ERP CORE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S/4HANA Cloud (Clean Core)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PP Production Orders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MM Material Master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ACDOCA Financial Ledger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3898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3898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Business Event Mesh / OData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5378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5378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1682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2: EVENT MESH &amp; INTEGRATION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BTP Middleware Fabric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Kafka Message Broker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API Gateway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Dead-Letter Buffer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07756" y="3735323"/>
            <a:ext cx="320040" cy="256032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7756" y="3534155"/>
            <a:ext cx="68580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B4D8"/>
                </a:solidFill>
                <a:latin typeface="Inter"/>
              </a:rPr>
              <a:t>mTLS / OPC-UA / 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9236" y="1481328"/>
            <a:ext cx="3240938" cy="4782312"/>
          </a:xfrm>
          <a:prstGeom prst="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9236" y="1481328"/>
            <a:ext cx="324093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5540" y="1627632"/>
            <a:ext cx="2948330" cy="4489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TIER 3: MANUFACTURING OPERATIONS</a:t>
            </a:r>
          </a:p>
          <a:p>
            <a:pPr>
              <a:spcAft>
                <a:spcPts val="10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Digital Manufacturing (MES) &amp; Edge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Shopfloor Dispatcher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Unit Genealogy Engine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 Line SCADA Collector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61972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2. INTEGRATION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Event-Driven Telemetry 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Sub-second event dispatch from machine sensors to ERP with zero ledger polling.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Lockheed Martin • Enterprise Architecture Specification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02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21045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27632"/>
            <a:ext cx="2917850" cy="44897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EVENT PRODUCERS (SHOPFLOOR &amp; ERP)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CNC Machine PLCs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Inline Vision Cameras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Operator Barcode Scanners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Automated Guided Vehicles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33418" y="3735323"/>
            <a:ext cx="36576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33418" y="3534155"/>
            <a:ext cx="73152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66CC"/>
                </a:solidFill>
                <a:latin typeface="Inter"/>
              </a:rPr>
              <a:t>EVENT PUSH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0618" y="1481328"/>
            <a:ext cx="321045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922" y="1627632"/>
            <a:ext cx="2917850" cy="44897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SAP BTP EVENT MESH &amp; KAFKA FABRIC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 Kafka Message Fabric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 API Management Gateway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0F172A"/>
                </a:solidFill>
                <a:latin typeface="Inter"/>
              </a:rPr>
              <a:t>•  Dead-Letter Buffer</a:t>
            </a:r>
          </a:p>
          <a:p>
            <a:r>
              <a:rPr sz="819" b="1" i="0">
                <a:solidFill>
                  <a:srgbClr val="10B981"/>
                </a:solidFill>
                <a:latin typeface="Inter"/>
              </a:rPr>
              <a:t>PATTERN: Pub/Sub Event Streaming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92516" y="3735323"/>
            <a:ext cx="36576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2516" y="3534155"/>
            <a:ext cx="731520" cy="20116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19" b="1" i="0">
                <a:solidFill>
                  <a:srgbClr val="0066CC"/>
                </a:solidFill>
                <a:latin typeface="Inter"/>
              </a:rPr>
              <a:t>FILTERED SUB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9716" y="1481328"/>
            <a:ext cx="3210458" cy="478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6020" y="1627632"/>
            <a:ext cx="2917850" cy="44897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0066CC"/>
                </a:solidFill>
                <a:latin typeface="Inter"/>
              </a:rPr>
              <a:t>SUBSCRIBERS &amp; CONSUMERS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Digital Manufacturing MES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Quality Historian DB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SAP S/4HANA (101 Postings)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64748B"/>
                </a:solidFill>
                <a:latin typeface="Inter"/>
              </a:rPr>
              <a:t>•  CXO Control Tower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3. SECURITY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Zoned Defense-in-Depth &amp; Air-Gapped OT Perimeters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Strict network segmentation isolates plant floor execution from public cyber perimeters.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Lockheed Martin • Enterprise Architecture Specification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03 /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3423818" cy="4782312"/>
          </a:xfrm>
          <a:prstGeom prst="rect">
            <a:avLst/>
          </a:prstGeom>
          <a:solidFill>
            <a:srgbClr val="13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18488"/>
            <a:ext cx="3149498" cy="45079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ZONE 1: CORPORATE ENTERPRISE</a:t>
            </a:r>
          </a:p>
          <a:p>
            <a:pPr>
              <a:spcAft>
                <a:spcPts val="10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TRUST: Corporate WAN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S/4HANA ERP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Azure AD Identity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Corporate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3938" y="1481328"/>
            <a:ext cx="3423818" cy="4782312"/>
          </a:xfrm>
          <a:prstGeom prst="rect">
            <a:avLst/>
          </a:prstGeom>
          <a:solidFill>
            <a:srgbClr val="13224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1098" y="1618488"/>
            <a:ext cx="3149498" cy="45079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Inter"/>
              </a:rPr>
              <a:t>ZONE 2: INDUSTRIAL DMZ</a:t>
            </a:r>
          </a:p>
          <a:p>
            <a:pPr>
              <a:spcAft>
                <a:spcPts val="10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TRUST: Perimeter Defense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Reverse Proxy Gateway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Patch Staging Server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Data Diode Collector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6356" y="1481328"/>
            <a:ext cx="3423818" cy="4782312"/>
          </a:xfrm>
          <a:prstGeom prst="rect">
            <a:avLst/>
          </a:prstGeom>
          <a:solidFill>
            <a:srgbClr val="13224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3516" y="1618488"/>
            <a:ext cx="3149498" cy="45079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 i="0">
                <a:solidFill>
                  <a:srgbClr val="10B981"/>
                </a:solidFill>
                <a:latin typeface="Inter"/>
              </a:rPr>
              <a:t>ZONE 3: MANUFACTURING OPERATIONS</a:t>
            </a:r>
          </a:p>
          <a:p>
            <a:pPr>
              <a:spcAft>
                <a:spcPts val="1000"/>
              </a:spcAft>
            </a:pPr>
            <a:r>
              <a:rPr sz="750" b="0" i="1">
                <a:solidFill>
                  <a:srgbClr val="94A3B8"/>
                </a:solidFill>
                <a:latin typeface="Inter"/>
              </a:rPr>
              <a:t>TRUST: Air-Gapped OT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MES Execution Node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SCADA Historian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•  Batch 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