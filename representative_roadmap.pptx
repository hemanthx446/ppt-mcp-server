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21742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TRANSFORMATION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Phased Agile Rollout &amp; Milestone Gate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De-risking enterprise cutover through incremental multi-plant waves.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Schneider Electric • Enterprise Delivery Roadmap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1 • 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Blueprint &amp; Edge Setup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OPC-UA Edge Config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SAP BTP Subaccount Setup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Pilot Line Connect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1: Latency &lt;250ms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3938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3938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2 • WEEKS 5-10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0242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Core MES Integration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Production Order Dispatch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Electronic Traveler UI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QA Inspection Gates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2: Zero RFC Buffer Leaks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6356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6356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3 • WEEKS 11-16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Enterprise Rollout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Lines 2-6 Cutover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Operator Enablement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Hypercare Support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3: Final Acceptance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2. CONTROL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Milestone Quality &amp; Acceptance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Formal criteria required before transitioning between project phases.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Schneider Electric • Enterprise Delivery Roadmap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02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44213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27632"/>
            <a:ext cx="2149525" cy="4489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GATE 01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Architecture Blueprint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BTP event mesh sized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Clean-core APIs catalogued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Security boundaries approved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00B4D8"/>
                </a:solidFill>
                <a:latin typeface="Inter"/>
              </a:rPr>
              <a:t>OWNER: Chief Architect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19373" y="3762755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693" y="1481328"/>
            <a:ext cx="244213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997" y="1627632"/>
            <a:ext cx="2149525" cy="4489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GATE 02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Pilot Line Deployment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Work-center dispatch live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Inline vision cameras tested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Zero dropped telemetry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00B4D8"/>
                </a:solidFill>
                <a:latin typeface="Inter"/>
              </a:rPr>
              <a:t>OWNER: Plant Director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1547" y="3762755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1481328"/>
            <a:ext cx="244213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2171" y="1627632"/>
            <a:ext cx="2149525" cy="4489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GATE 03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Quality Certification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21 CFR Part 11 signed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Genealogy tree validated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Audit trail verified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00B4D8"/>
                </a:solidFill>
                <a:latin typeface="Inter"/>
              </a:rPr>
              <a:t>OWNER: VP Quality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3721" y="3762755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041" y="1481328"/>
            <a:ext cx="244213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4345" y="1627632"/>
            <a:ext cx="2149525" cy="4489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GATE 04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Enterprise Go-Live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Multi-plant cutover completed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Real-time 101 posting live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[✓] Hypercare SLA active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00B4D8"/>
                </a:solidFill>
                <a:latin typeface="Inter"/>
              </a:rPr>
              <a:t>OWNER: Steering Committee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3. TIMELINE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Program Delivery Schedule &amp; Major 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Chronological milestone progression across four delivery months.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Schneider Electric • Enterprise Delivery Roadmap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03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3854196"/>
            <a:ext cx="9997135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8613" y="3762755"/>
            <a:ext cx="219456" cy="219456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755648"/>
            <a:ext cx="2362123" cy="19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MONTH 1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Sprint 0: Architecture Blueprint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BTP subaccounts &amp; OT edge configuration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4713617" y="3762755"/>
            <a:ext cx="219456" cy="219456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4101083"/>
            <a:ext cx="2362123" cy="19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MONTH 2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Sprint 1-2: Pilot Line Deployment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CNC machining cell connected &amp; telemetry live</a:t>
            </a:r>
          </a:p>
        </p:txBody>
      </p:sp>
      <p:sp>
        <p:nvSpPr>
          <p:cNvPr id="15" name="Oval 14"/>
          <p:cNvSpPr/>
          <p:nvPr/>
        </p:nvSpPr>
        <p:spPr>
          <a:xfrm>
            <a:off x="7258621" y="3762755"/>
            <a:ext cx="219456" cy="219456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1755648"/>
            <a:ext cx="2362123" cy="19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MONTH 3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Sprint 3-4: Quality &amp; Genealogy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Electronic batch record &amp; camera inspection live</a:t>
            </a:r>
          </a:p>
        </p:txBody>
      </p:sp>
      <p:sp>
        <p:nvSpPr>
          <p:cNvPr id="17" name="Oval 16"/>
          <p:cNvSpPr/>
          <p:nvPr/>
        </p:nvSpPr>
        <p:spPr>
          <a:xfrm>
            <a:off x="9803625" y="3762755"/>
            <a:ext cx="219456" cy="219456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291" y="4101083"/>
            <a:ext cx="2362123" cy="1933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MONTH 4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Sprint 5-6: Enterprise Cutover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Full plant rollout &amp; 24/7 hypercare transition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