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EXECUTIVE MANDATE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THE STRATEGIC THESIS: Sub-Second Plant Telemetry with Zero ERP Core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HOW IT WORKS: High-velocity manufacturing telemetry ring-fenced at the plant 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Lumbini Elite Solutions • Sub-Second Shop Floor Telemetry &amp; Edge Resilience • Principal Enterprise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1801368"/>
            <a:ext cx="54864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801368"/>
            <a:ext cx="98142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F8FAFC"/>
                </a:solidFill>
                <a:latin typeface="Inter"/>
              </a:rPr>
              <a:t>"Manufacturing digital transformation succeeds only when high-velocity shop-floor telemetry is decoupled from the ERP core—protecting transactional stability while delivering sub-second plant visibility."</a:t>
            </a:r>
          </a:p>
          <a:p>
            <a:r>
              <a:rPr sz="1050" b="1" i="0">
                <a:solidFill>
                  <a:srgbClr val="00B4D8"/>
                </a:solidFill>
                <a:latin typeface="Inter"/>
              </a:rPr>
              <a:t>— Executive Advisory Practice, Lumbini Elite Solutions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675887"/>
            <a:ext cx="3210458" cy="2404871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Ring-Fenced Core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No direct lock contention, memory bloat, or synchronous wait states in SAP S/4HANA.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0618" y="3675887"/>
            <a:ext cx="3210458" cy="2404871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Autonomous Edge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Plant cells operate continuously even during WAN fiber outages or ERP maintenance windows.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9676" y="3675887"/>
            <a:ext cx="3210458" cy="2404871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Universal Ledger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Clean-core 101 Goods Movements post asynchronously with complete ISA-95 lot genealogy.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OPERATING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OPERATING REALITY: Legacy Batch Keypunching Destroys Production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HOW IT WORKS: As-is manual traveler latency vs target automated event-driven throughput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Lumbini Elite Solutions • Sub-Second Shop Floor Telemetry &amp; Edge Resilience • Principal Enterprise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02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5227167" cy="4782312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4861407" cy="4416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850" b="1" i="0">
                <a:solidFill>
                  <a:srgbClr val="D97706"/>
                </a:solidFill>
                <a:latin typeface="Inter"/>
              </a:rPr>
              <a:t>CURRENT STATE: FRAGMENTED PAPER SILOS &amp; END-OF-SHIFT KEYPUNCHING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•  Paper Travelers </a:t>
            </a:r>
            <a:r>
              <a:rPr sz="1050" b="0" i="0">
                <a:solidFill>
                  <a:srgbClr val="64748B"/>
                </a:solidFill>
                <a:latin typeface="Inter"/>
              </a:rPr>
              <a:t>4-hour batch release delays while physical travelers are signed and couriered.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•  Isolated PLC Islands </a:t>
            </a:r>
            <a:r>
              <a:rPr sz="1050" b="0" i="0">
                <a:solidFill>
                  <a:srgbClr val="64748B"/>
                </a:solidFill>
                <a:latin typeface="Inter"/>
              </a:rPr>
              <a:t>Critical cycle times and torque telemetry trapped in proprietary machine vendor siloes.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•  Manual Keypunching </a:t>
            </a:r>
            <a:r>
              <a:rPr sz="1050" b="0" i="0">
                <a:solidFill>
                  <a:srgbClr val="64748B"/>
                </a:solidFill>
                <a:latin typeface="Inter"/>
              </a:rPr>
              <a:t>End-of-shift SAP batch entry causes frequent inventory mismatches and stockout panics.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481328"/>
            <a:ext cx="5227167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1664208"/>
            <a:ext cx="4861407" cy="4416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TARGET STATE: EVENT-DRIVEN CLEAN-CORE EDGE ARCHITECTURE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•  Electronic Traveler </a:t>
            </a:r>
            <a:r>
              <a:rPr sz="1050" b="0" i="0">
                <a:solidFill>
                  <a:srgbClr val="64748B"/>
                </a:solidFill>
                <a:latin typeface="Inter"/>
              </a:rPr>
              <a:t>100% paperless e-traveler with biometric badge sign-off and instant genealogy.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•  OPC-UA Edge Broker </a:t>
            </a:r>
            <a:r>
              <a:rPr sz="1050" b="0" i="0">
                <a:solidFill>
                  <a:srgbClr val="64748B"/>
                </a:solidFill>
                <a:latin typeface="Inter"/>
              </a:rPr>
              <a:t>Universal edge collectors stream telemetry to Kafka message queue at 10ms intervals.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•  Real-Time Posting </a:t>
            </a:r>
            <a:r>
              <a:rPr sz="1050" b="0" i="0">
                <a:solidFill>
                  <a:srgbClr val="64748B"/>
                </a:solidFill>
                <a:latin typeface="Inter"/>
              </a:rPr>
              <a:t>Automated Movement 101 postings update SAP MM/PP within 180ms of machine cycle completion.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TARGET ARCHITECTURE: The 3-Tier Clean-Core Operational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HOW IT WORKS: SAP RFC calls isolated behind Lumbini BTP Event Mesh and plant edge collectors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Lumbini Elite Solutions • Sub-Second Shop Floor Telemetry &amp; Edge Resilience • Principal Enterprise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03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240938" cy="3547871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627632"/>
            <a:ext cx="2948330" cy="3255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1: ENTERPRISE ERP CORE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SAP S/4HANA 2023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ACDOCA Universal Ledger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BAPI_PRODORD_CONFIRM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Master Data Governance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3898" y="311810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3898" y="291693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OData / TLS 1.3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5378" y="1481328"/>
            <a:ext cx="3240938" cy="3547871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75378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1682" y="1627632"/>
            <a:ext cx="2948330" cy="3255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2: EVENT INTEGRATION MESH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Lumbini BTP Broker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Kafka Message Fabric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State Ring-Fencing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Asynchronous RFC Queue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07756" y="311810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7756" y="291693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MQTT / OPC-UA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9236" y="1481328"/>
            <a:ext cx="3240938" cy="3547871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19236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5540" y="1627632"/>
            <a:ext cx="2948330" cy="3255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3: SHOP FLOOR EDGE RUNTIME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Plant Edge Clusters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Local SQLite Cache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Barcode Poka-Yoke Terminal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Cognex Vision Interlock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120640"/>
            <a:ext cx="10728655" cy="1078992"/>
          </a:xfrm>
          <a:prstGeom prst="rect">
            <a:avLst/>
          </a:prstGeom>
          <a:solidFill>
            <a:srgbClr val="1322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212079"/>
            <a:ext cx="10399471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ARCHITECTURAL GUARANTEE &amp; GOVERNANCE COMMITMENT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CBD5E1"/>
                </a:solidFill>
                <a:latin typeface="Inter"/>
              </a:rPr>
              <a:t>•  ARCHITECTURAL GUARANTEE: Zero custom Z-tables or direct write RFCs into the SAP S/4HANA transactional memory space.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PROCESS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PROCESS FLOW: Closed-Loop Production Order Execution &amp; Auto-Posting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HOW IT WORKS: Five continuous automated stages from ERP release to finished goods 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Lumbini Elite Solutions • Sub-Second Shop Floor Telemetry &amp; Edge Resilience • Principal Enterprise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04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Order Release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Production order dispatched from SAP PP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Queue synced to local workstation edge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66939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1259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1259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9275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Lot Verification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Operator scans raw material QR code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BOM genealogy validated against batch master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76678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50998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0998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9014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Machine Cycle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PLC executes automated assembly cycle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Torque and cycle telemetry captured at 10ms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86417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737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737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753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Vision Inspection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Cognex optical camera verifies +/-0.02mm tolerance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Instant pass/fail interlock trigger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96156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70476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70476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8492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Auto Goods Receipt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Automatic 101 movement posted to SAP MM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Digital certificate issued to warehouse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INTEGRATION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SECURITY BOUNDARY: Multi-Tier DMZ Perimeter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HOW IT WORKS: Stateful packet firewalls and isolated VLANs protect air-gapped machine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Lumbini Elite Solutions • Sub-Second Shop Floor Telemetry &amp; Edge Resilience • Principal Enterprise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05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423818" cy="4782312"/>
          </a:xfrm>
          <a:prstGeom prst="rect">
            <a:avLst/>
          </a:prstGeom>
          <a:solidFill>
            <a:srgbClr val="13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18488"/>
            <a:ext cx="3149498" cy="45079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L4: CORPORATE ENTERPRISE</a:t>
            </a:r>
          </a:p>
          <a:p>
            <a:pPr>
              <a:spcAft>
                <a:spcPts val="10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TRUST: Corporate WAN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S/4HANA ERP Core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SAP Analytics Cloud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Active Directory SSO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3938" y="1481328"/>
            <a:ext cx="3423818" cy="4782312"/>
          </a:xfrm>
          <a:prstGeom prst="rect">
            <a:avLst/>
          </a:prstGeom>
          <a:solidFill>
            <a:srgbClr val="13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1098" y="1618488"/>
            <a:ext cx="3149498" cy="45079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L3.5: PLANT DEMILITARIZED ZONE</a:t>
            </a:r>
          </a:p>
          <a:p>
            <a:pPr>
              <a:spcAft>
                <a:spcPts val="10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TRUST: Plant DMZ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Reverse Proxy Appliance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Data Diode Telemetry Bridge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WSUS Patch 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6356" y="1481328"/>
            <a:ext cx="3423818" cy="4782312"/>
          </a:xfrm>
          <a:prstGeom prst="rect">
            <a:avLst/>
          </a:prstGeom>
          <a:solidFill>
            <a:srgbClr val="13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3516" y="1618488"/>
            <a:ext cx="3149498" cy="45079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L3/L2: MANUFACTURING CELL OT</a:t>
            </a:r>
          </a:p>
          <a:p>
            <a:pPr>
              <a:spcAft>
                <a:spcPts val="10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TRUST: Air-Gapped OT Network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Edge Broker Runtime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Operator HMI Terminals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Machine PLCs &amp; Scanners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SHOP FLOOR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SHOP FLOOR GENEALOGY: 360° As-Built Multi-Tier BOM Lineage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HOW IT WORKS: Indented component serialization tying every sub-assembly directly to the SAP 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Lumbini Elite Solutions • Sub-Second Shop Floor Telemetry &amp; Edge Resilience • Principal Enterprise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06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10728655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INDENTED BILL OF MATERIALS (BOM) LINEAGE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920240"/>
            <a:ext cx="10362895" cy="42062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L0 • [MAT-9000] Top Assy: Turbine Actuator Module 24V | Qty: 1 EA | Rev: Rev 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2395728"/>
            <a:ext cx="10042855" cy="42062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L1 • [SUB-1010] Solenoid Valve High-Pressure Sub-Assy | Qty: 1 EA | Rev: Rev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871216"/>
            <a:ext cx="9722815" cy="42062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L2 • [PRT-4401] Titanium Coil Core M4 (Lot: 2026-X) | Qty: 4 EA | Rev: Rev 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346704"/>
            <a:ext cx="9722815" cy="42062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L2 • [PRT-4402] Viton O-Ring High-Temp Seal 12mm | Qty: 2 EA | Rev: Rev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3822191"/>
            <a:ext cx="10042855" cy="42062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L1 • [SUB-1020] Optical Angle Sensor Circuit Array | Qty: 1 EA | Rev: Rev 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4297679"/>
            <a:ext cx="9722815" cy="42062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L2 • [PRT-8810] Precision Photodiode Chip (Batch: A9) | Qty: 1 EA | Rev: Rev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DECISION COCKPIT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DECISION COCKPIT: Real-Time Plant OEE &amp; Fulfillment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HOW IT WORKS: Closed-loop operational intelligence streamed directly to CXO dashboards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Lumbini Elite Solutions • Sub-Second Shop Floor Telemetry &amp; Edge Resilience • Principal Enterprise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07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EF4444"/>
                </a:solidFill>
                <a:latin typeface="Inter"/>
              </a:rPr>
              <a:t>Visual Primitive Render Error: ExecutiveDashboardPrimitive.render() missing 1 required positional argument: 'cockpits'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GOVERNANCE &amp;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GOVERNANCE FRAMEWORK: Two-Tier Operational &amp; Financial Verification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HOW IT WORKS: Multi-tier approval desk prevents unverified data from corrupting the financial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Lumbini Elite Solutions • Sub-Second Shop Floor Telemetry &amp; Edge Resilience • Principal Enterprise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08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247642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2476423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GATE 1: TECH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Chief Solution Architect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64748B"/>
                </a:solidFill>
                <a:latin typeface="Inter"/>
              </a:rPr>
              <a:t>Timing: Sprint 0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Zero direct RFC writes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BTP bandwidth benchmarked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OT DMZ approved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Architecture Charter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53663" y="3762755"/>
            <a:ext cx="18288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82263" y="1481328"/>
            <a:ext cx="247642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2263" y="1481328"/>
            <a:ext cx="2476423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GATE 2: LINE 1 PILOT 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0279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Plant Operations Director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64748B"/>
                </a:solidFill>
                <a:latin typeface="Inter"/>
              </a:rPr>
              <a:t>Timing: Week 6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Cycle time neutral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Zero dropped telemetry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Operator UX passed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Plant Sign-Off Slip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04407" y="3762755"/>
            <a:ext cx="18288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1481328"/>
            <a:ext cx="247642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1481328"/>
            <a:ext cx="2476423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GATE 3: QUALITY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VP Global Quality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64748B"/>
                </a:solidFill>
                <a:latin typeface="Inter"/>
              </a:rPr>
              <a:t>Timing: Week 10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21 CFR Part 11 audit trails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Electronic signatures tested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Genealogy tied to ERP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Validation Master Report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55151" y="3762755"/>
            <a:ext cx="18288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83751" y="1481328"/>
            <a:ext cx="247642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83751" y="1481328"/>
            <a:ext cx="2476423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GATE 4: PRODUCTION CUTOVER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1767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Joint Steering Committee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64748B"/>
                </a:solidFill>
                <a:latin typeface="Inter"/>
              </a:rPr>
              <a:t>Timing: Week 14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Disaster recovery tested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Go-Live checklist 100% green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Runbook staffed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Go-Live Authorization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DELIVERY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DELIVERY ROADMAP: 90-Day Agile Cutover &amp; Hypercare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HOW IT WORKS: Structured 3-phase program linking deliverables directly to milestone pass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Lumbini Elite Solutions • Sub-Second Shop Floor Telemetry &amp; Edge Resilience • Principal Enterprise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09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423818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3423818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PHASE 1 • WEEKS 1-4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920240"/>
            <a:ext cx="313121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Edge Pilot &amp; Architecture Foundation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BTP Subaccount Setup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OPC-UA Edge Configuration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Line 1 Pilot Connect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GATE: GATE 1: Sub-250ms 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3938" y="1481328"/>
            <a:ext cx="3423818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3938" y="1481328"/>
            <a:ext cx="3423818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PHASE 2 • WEEKS 5-10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242" y="1920240"/>
            <a:ext cx="313121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Core MES Integration &amp; Digital Traveler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Production Order Dispatch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Operator UI Rollout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QA Automated Gates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GATE: GATE 2: Zero RFC Buffer Leaks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6356" y="1481328"/>
            <a:ext cx="3423818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6356" y="1481328"/>
            <a:ext cx="3423818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PHASE 3 • WEEKS 11-14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2660" y="1920240"/>
            <a:ext cx="313121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Enterprise Rollout &amp; 90-Day Hypercare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Plant Lines 2-6 Cutover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Operator Enablement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Executive Cockpits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GATE: GATE 3: Final Acceptance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COMMERCIAL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COMMERCIAL MODEL: Milestone-Linked Fixed Investment &amp; 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HOW IT WORKS: Deliverable-backed billing milestones with 90-day comprehensive hypercare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Lumbini Elite Solutions • Sub-Second Shop Floor Telemetry &amp; Edge Resilience • Principal Enterprise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10 / 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81328"/>
          <a:ext cx="10728652" cy="478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6513"/>
                <a:gridCol w="4153027"/>
                <a:gridCol w="1557385"/>
                <a:gridCol w="1211299"/>
                <a:gridCol w="1730428"/>
              </a:tblGrid>
              <a:tr h="79705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PHASE / MILESTONE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KEY DELIVERABLE &amp; ACCEPTANCE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TIMELINE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BILLING %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INVESTMENT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</a:tr>
              <a:tr h="79705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M1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Architecture Blueprint &amp; Edge Lab Proof-of-Concept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Month 1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25%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$125,000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79705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M2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Line 1 Pilot Go-Live &amp; S/4HANA BAPI Validation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Month 2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35%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$175,000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  <a:tr h="79705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M3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Plant-Wide Cutover across Lines 2 through 6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Month 3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30%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$150,000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79705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M4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Final Operational Acceptance &amp; 90-Day Hypercare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Month 4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10%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$50,000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  <a:tr h="7970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B4D8"/>
                          </a:solidFill>
                          <a:latin typeface="Inter"/>
                        </a:rPr>
                        <a:t>TOTAL ENGAGEMENT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00B4D8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$500,000 USD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