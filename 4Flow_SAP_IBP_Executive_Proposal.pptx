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389120" cy="292608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27432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4FLOW STRATEGIC ADVISORY • ENTERPRISE SUPPLY CHAIN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0515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SAP IBP Next-Generation</a:t>
            </a:r>
            <a:br/>
            <a:r>
              <a:t>Supply Chain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6984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0B4D8"/>
                </a:solidFill>
                <a:latin typeface="Arial"/>
              </a:defRPr>
            </a:pPr>
            <a:r>
              <a:t>SYNCHRONIZING ENTERPRISE PLANNING WITH SHOP-FLOOR REALITY: Closed-loop demand sensing, bottleneck-aware supply optimization, and automated financial tie-outs.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54680"/>
            <a:ext cx="3429000" cy="2606040"/>
          </a:xfrm>
          <a:prstGeom prst="rect">
            <a:avLst/>
          </a:prstGeom>
          <a:solidFill>
            <a:srgbClr val="132240"/>
          </a:solidFill>
          <a:ln w="1524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310128"/>
            <a:ext cx="2926080" cy="201168"/>
          </a:xfrm>
          <a:prstGeom prst="round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9144"/>
          <a:lstStyle/>
          <a:p>
            <a:pPr algn="ctr">
              <a:defRPr sz="750" b="1">
                <a:solidFill>
                  <a:srgbClr val="00B4D8"/>
                </a:solidFill>
                <a:latin typeface="Arial"/>
              </a:defRPr>
            </a:pPr>
            <a:r>
              <a:t>FOUNDATION &amp; FEDERATION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84448"/>
            <a:ext cx="306324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Zero-Replication Core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306324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Bypasses fragile CIF batches via real-time HANA direct federation.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Zero redundant data lakes or uncoordinated planning silos.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Ring-fenced memory partitions shield transactional S/4HANA core.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9976" y="3154680"/>
            <a:ext cx="3429000" cy="2606040"/>
          </a:xfrm>
          <a:prstGeom prst="rect">
            <a:avLst/>
          </a:prstGeom>
          <a:solidFill>
            <a:srgbClr val="132240"/>
          </a:solidFill>
          <a:ln w="1524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62856" y="3310128"/>
            <a:ext cx="2926080" cy="201168"/>
          </a:xfrm>
          <a:prstGeom prst="round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9144"/>
          <a:lstStyle/>
          <a:p>
            <a:pPr algn="ctr">
              <a:defRPr sz="750" b="1">
                <a:solidFill>
                  <a:srgbClr val="0066CC"/>
                </a:solidFill>
                <a:latin typeface="Arial"/>
              </a:defRPr>
            </a:pPr>
            <a:r>
              <a:t>SYSTEMS THINKING (GOLDRATT)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3584448"/>
            <a:ext cx="306324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Constraint-Synchronized Supply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3977639"/>
            <a:ext cx="306324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Translates Theory of Constraints into dynamic drum-buffer-rope heuristics.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Mathematically protects physical bottleneck work centers from starving.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Eliminates phantom capacity schedules across plant networks.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3154680"/>
            <a:ext cx="3429000" cy="2606040"/>
          </a:xfrm>
          <a:prstGeom prst="rect">
            <a:avLst/>
          </a:prstGeom>
          <a:solidFill>
            <a:srgbClr val="132240"/>
          </a:solidFill>
          <a:ln w="1524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11312" y="3310128"/>
            <a:ext cx="2926080" cy="201168"/>
          </a:xfrm>
          <a:prstGeom prst="round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9144"/>
          <a:lstStyle/>
          <a:p>
            <a:pPr algn="ctr">
              <a:defRPr sz="750" b="1">
                <a:solidFill>
                  <a:srgbClr val="10B981"/>
                </a:solidFill>
                <a:latin typeface="Arial"/>
              </a:defRPr>
            </a:pPr>
            <a:r>
              <a:t>ENTERPRISE ONTOLOGY (ROSS/ZACHMAN)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3584448"/>
            <a:ext cx="306324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Universal Financial Tie-Out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977639"/>
            <a:ext cx="306324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Every operational planning scenario reconciles to SAP Universal Journal.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Working capital decisions dynamically linked to corporate cash covenants.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Deming closed-loop variance feedback continuously tunes forecast safety stocks.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Prepared by 4Flow Supply Chain Architects for Executive Committee • Systems Thinking &amp; Clean Core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SYSTEM DYNAMICS &amp; CONSTRAINT REALITY (SENGE / GOLDRATT)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The Supply Chain Disconnect &amp; Constraint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066CC"/>
                </a:solidFill>
                <a:latin typeface="Arial"/>
              </a:defRPr>
            </a:pPr>
            <a:r>
              <a:t>WHERE CONVENTIONAL PLANNING FAILS: Periodic batch ETL decouples S&amp;OP from physical shop-floor bottlenecks, inflating working capital by 24%.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4Flow Strategic Advisory • Enterprise Supply Chain &amp; SAP IBP Practice •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212080" cy="4389120"/>
          </a:xfrm>
          <a:prstGeom prst="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56232"/>
            <a:ext cx="4663440" cy="4114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350" b="1">
                <a:solidFill>
                  <a:srgbClr val="B91C1C"/>
                </a:solidFill>
                <a:latin typeface="Arial"/>
              </a:defRPr>
            </a:pPr>
            <a:r>
              <a:t>LEGACY STATE: BATCH SILOS &amp; CONSTRAINT VIOLATIONS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663440" cy="3383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Stale 48-Hour Batch CIF Interfaces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Uncoordinated ETL pipelines create blind spots where sudden demand spikes or supplier stockouts are discovered days after occurrence.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Unconstrained S&amp;OP Schedules (Phantom Capacity)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Master schedules assume infinite plant capacity, overloading physical bottleneck machines and creating massive shop-floor WIP queues.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Decoupled P&amp;L &amp; Balance Sheet Drift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Supply planners optimize unit costs in isolation, inadvertently ballooning raw material inventory while missing corporate cash targets.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212080" cy="4389120"/>
          </a:xfrm>
          <a:prstGeom prst="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56232"/>
            <a:ext cx="4663440" cy="4114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350" b="1">
                <a:solidFill>
                  <a:srgbClr val="15803D"/>
                </a:solidFill>
                <a:latin typeface="Arial"/>
              </a:defRPr>
            </a:pPr>
            <a:r>
              <a:t>TARGET ARCHITECTURE: 4FLOW CLOSED-LOOP IBP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663440" cy="3383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Sub-Second Demand Sensing &amp; Channel Ingestion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Pattern recognition algorithms dynamically capture point-of-sale telemetry, smoothing bullwhip ripples before they amplify upstream.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Bottleneck-Governed Supply (Theory of Constraints)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Heuristic solvers anchor entire plant throughput around physical constraint work centers, preventing WIP accumulation.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Real-Time ACDOCA Working Capital Feedback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Every S&amp;OP scenario dynamically quantifies inventory carry costs and gross margin impact against SAP Universal Journal ledgers.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FOUNDATION &amp; INTEGRATION MECHANICS (CLEAN CORE)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Zero-Replication Core-to-Cloud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066CC"/>
                </a:solidFill>
                <a:latin typeface="Arial"/>
              </a:defRPr>
            </a:pPr>
            <a:r>
              <a:t>HOW IT WORKS: The calculation happens in memory on SAP HANA Cloud, bypassing traditional batch ETL and fragile staging data lakes.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4Flow Strategic Advisory • Enterprise Supply Chain &amp; SAP IBP Practice •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154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1546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737360"/>
            <a:ext cx="21945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800" b="1">
                <a:solidFill>
                  <a:srgbClr val="0066CC"/>
                </a:solidFill>
                <a:latin typeface="Arial"/>
              </a:defRPr>
            </a:pPr>
            <a:r>
              <a:t>TRANSACTIONAL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278892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SAP S/4HANA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278892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Universal Journal (ACDOCA) single source of financial truth.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Master data governance: BOMs, routings &amp; factory calendars.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Clean-core standard OData CDS views with zero custom Z-tables.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95928" y="2926080"/>
            <a:ext cx="411480" cy="27432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7135" y="1554480"/>
            <a:ext cx="3154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7135" y="1554480"/>
            <a:ext cx="31546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0015" y="1737360"/>
            <a:ext cx="21945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800" b="1">
                <a:solidFill>
                  <a:srgbClr val="00B4D8"/>
                </a:solidFill>
                <a:latin typeface="Arial"/>
              </a:defRPr>
            </a:pPr>
            <a:r>
              <a:t>CALCULATION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5" y="2057400"/>
            <a:ext cx="278892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SAP IBP (HANA Cloud)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5" y="2514600"/>
            <a:ext cx="278892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In-memory columnar computation without data duplication.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Ring-fenced memory partitions prevent noisy-neighbor contention.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Zero-CIF real-time Smart Data Integration (SDI) pipelines.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81543" y="2926080"/>
            <a:ext cx="411480" cy="27432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0" y="1554480"/>
            <a:ext cx="3154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02750" y="1554480"/>
            <a:ext cx="3154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85630" y="1737360"/>
            <a:ext cx="21945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PHYSICAL 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0" y="2057400"/>
            <a:ext cx="278892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Shop Floor &amp; MES (ISA-95 L3)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0" y="2514600"/>
            <a:ext cx="278892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Synchronized dispatch lists direct to work center terminals.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Live scrap and actual yield feedback auto-adjust safety stocks.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Sub-second constraint validation prevents unverified job releases.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92040"/>
            <a:ext cx="10728655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029200"/>
            <a:ext cx="1014984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SYSTEM PERFORMANCE LIMITS &amp; MEMORY RING-FENCING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30952"/>
            <a:ext cx="1014984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 Memory Ring-Fencing: Computationally heavy Monte Carlo simulations execute in dedicated cloud memory containers, guaranteeing zero slowdown on S/4HANA transaction processing.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 Delta-Only Change Data Capture: Real-time event triggers stream strictly changed records, cutting network overhead by 88% and eliminating batch database lock contention.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 Zero-Data-Duplication Principle: Calculation models reference S/4HANA virtual data tables in-place without generating shadow operational copies.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DECISION ARCHITECTURE &amp; OPERATIONAL COCKPITS (BRANDL / ISA-95)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Operational Cockpits Across ISA-95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066CC"/>
                </a:solidFill>
                <a:latin typeface="Arial"/>
              </a:defRPr>
            </a:pPr>
            <a:r>
              <a:t>DECISION ARCHITECTURE: Translating executive S&amp;OP strategy into automated dispatch decisions across ISA-95 enterprise tiers.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4Flow Strategic Advisory • Enterprise Supply Chain &amp; SAP IBP Practice •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342900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92608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750" b="1">
                <a:solidFill>
                  <a:srgbClr val="0066CC"/>
                </a:solidFill>
                <a:latin typeface="Arial"/>
              </a:defRPr>
            </a:pPr>
            <a:r>
              <a:t>ISA-95 LEVEL 4 • EXECUTIVE S&amp;OP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6324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Margin &amp; Revenue at Risk Cockpit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306324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Live P&amp;L simulations projecting gross margin impact across constrained demand scenarios.</a:t>
            </a:r>
          </a:p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Automated working capital exposure monitors tied directly to treasury debt covenants.</a:t>
            </a:r>
          </a:p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Unconstrained vs. constrained demand gap visibility with dynamic price elasticity modeling.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1600200"/>
            <a:ext cx="342900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828800"/>
            <a:ext cx="292608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750" b="1">
                <a:solidFill>
                  <a:srgbClr val="D97706"/>
                </a:solidFill>
                <a:latin typeface="Arial"/>
              </a:defRPr>
            </a:pPr>
            <a:r>
              <a:t>ISA-95 LEVEL 3 • PLANT 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194560"/>
            <a:ext cx="306324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Constraint &amp; Drum-Buffer Tower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788920"/>
            <a:ext cx="306324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Real-time buffer saturation tracking preventing starvation at critical bottleneck cells.</a:t>
            </a:r>
          </a:p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Automated multi-plant load balancing dynamically re-routing over-capacity production orders.</a:t>
            </a:r>
          </a:p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Predictive On-Time In-Full (OTIF) radar identifying at-risk sales orders 14 days in advance.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2" y="1600200"/>
            <a:ext cx="342900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1828800"/>
            <a:ext cx="292608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750" b="1">
                <a:solidFill>
                  <a:srgbClr val="10B981"/>
                </a:solidFill>
                <a:latin typeface="Arial"/>
              </a:defRPr>
            </a:pPr>
            <a:r>
              <a:t>ENTERPRISE FINANCE • LEDGER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194560"/>
            <a:ext cx="306324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ACDOCA Financial Tie-Out Cockpit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788920"/>
            <a:ext cx="306324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Sub-second variance reconciliation comparing IBP planned cost absorption with live S/4HANA actuals.</a:t>
            </a:r>
          </a:p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Automated cross-border transfer pricing compliance adhering to OECD and corporate tax rules.</a:t>
            </a:r>
          </a:p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Immutable scenario version lineage providing complete audit trails for internal &amp; external auditors.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VALUE REALIZATION &amp; MEASURABLE IMPACT (4FLOW BENCHMARK)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Quantified Working Capital &amp; Operational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066CC"/>
                </a:solidFill>
                <a:latin typeface="Arial"/>
              </a:defRPr>
            </a:pPr>
            <a:r>
              <a:t>MEASURABLE IMPACT: 4Flow's blueprint delivers 28% working capital reduction and an 11-month capital payback.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4Flow Strategic Advisory • Enterprise Supply Chain &amp; SAP IBP Practice •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21208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52120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4663440" cy="7772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Arial"/>
              </a:defRPr>
            </a:pPr>
            <a:r>
              <a:t>+14 PTS ON-TIME IN-FULL (OTIF)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Operational Responsiveness &amp; Customer Service Excellence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466344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98.5% Sustained Order Fulfillment</a:t>
            </a:r>
          </a:p>
          <a:p>
            <a:pPr>
              <a:spcAft>
                <a:spcPts val="12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Algorithmic safety stock sizing absorbs supply volatility without requiring excess buffer stock.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35% Reduction in Factory Stockouts</a:t>
            </a:r>
          </a:p>
          <a:p>
            <a:pPr>
              <a:spcAft>
                <a:spcPts val="12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Multi-echelon inventory optimization (MEIO) synchronizes raw material intake with finished goods demand.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45% Faster S&amp;OP Planning Iteration Cycles</a:t>
            </a:r>
          </a:p>
          <a:p>
            <a:pPr>
              <a:spcAft>
                <a:spcPts val="12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Replaces multi-day spreadsheet assembly with continuous real-time scenario modeling.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521208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212080" cy="1005840"/>
          </a:xfrm>
          <a:prstGeom prst="rect">
            <a:avLst/>
          </a:prstGeom>
          <a:solidFill>
            <a:srgbClr val="EC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09928"/>
            <a:ext cx="4663440" cy="7772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$14.2M WORKING CAPITAL RELEASE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11-Month Capital Payback &amp; Direct P&amp;L Free Cash Flow Acceleration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466344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28% Reduction in Holding Inventory Costs</a:t>
            </a:r>
          </a:p>
          <a:p>
            <a:pPr>
              <a:spcAft>
                <a:spcPts val="12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Eliminates dead stock and optimizes WIP buffers across warehouse distribution networks.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$3.6M Annual Freight Surcharge Avoidance</a:t>
            </a:r>
          </a:p>
          <a:p>
            <a:pPr>
              <a:spcAft>
                <a:spcPts val="12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Predictive load-building prevents emergency expedited air shipping and premium expediting.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4.8x Program ROI Across 3 Years</a:t>
            </a:r>
          </a:p>
          <a:p>
            <a:pPr>
              <a:spcAft>
                <a:spcPts val="12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    De-risked architecture provides self-funding cash flow starting in Month 6 of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DELIVERY BLUEPRINT &amp; GOVERNANCE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Phased Delivery Blueprint &amp; Milestone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066CC"/>
                </a:solidFill>
                <a:latin typeface="Arial"/>
              </a:defRPr>
            </a:pPr>
            <a:r>
              <a:t>PHASED GOVERNANCE: De-risked milestone gates ensuring architectural integrity and early business value realization.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4Flow Strategic Advisory • Enterprise Supply Chain &amp; SAP IBP Practice •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342900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783080"/>
            <a:ext cx="201168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800" b="1">
                <a:solidFill>
                  <a:srgbClr val="0066CC"/>
                </a:solidFill>
                <a:latin typeface="Arial"/>
              </a:defRPr>
            </a:pPr>
            <a:r>
              <a:t>GATE 1 • WEEKS 1-6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063240" cy="4114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Clean-Core Data &amp; Demand Sensing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06324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Establish zero-duplication S/4HANA CDS views &amp; real-time SDI integration pipelines.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Deploy statistical forecasting algorithms and demand sensing pattern models.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Gate Criteria: Baseline forecast error reduced by at least 12% across pilot product families.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1600200"/>
            <a:ext cx="342900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201168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800" b="1">
                <a:solidFill>
                  <a:srgbClr val="00B4D8"/>
                </a:solidFill>
                <a:latin typeface="Arial"/>
              </a:defRPr>
            </a:pPr>
            <a:r>
              <a:t>GATE 2 • WEEKS 7-14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103120"/>
            <a:ext cx="3063240" cy="4114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Constrained Supply &amp; S&amp;OP Cockpits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606040"/>
            <a:ext cx="306324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Configure Goldratt bottleneck constraint optimizer and drum-buffer-rope heuristics.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Deploy Executive S&amp;OP and Plant Bottleneck real-time decision cockpits.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Gate Criteria: Multi-site capacity simulations reconcile with physical shop-floor production limits.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2" y="1600200"/>
            <a:ext cx="342900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1783080"/>
            <a:ext cx="201168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GATE 3 • WEEKS 15-20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103120"/>
            <a:ext cx="3063240" cy="4114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MEIO Scaling &amp; ACDOCA Tie-Out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606040"/>
            <a:ext cx="306324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Activate multi-echelon inventory optimization across finished goods and supplier tiers.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Automate live financial variance tie-outs against SAP Universal Journal ledgers.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Gate Criteria: Production go-live with 4Flow hypercare and formal executive value audit sign-off.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92040"/>
            <a:ext cx="10728655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1014984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4FLOW GOVERNANCE &amp; DEMING CLOSED-LOOP QUALITY ASSURANCE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30952"/>
            <a:ext cx="1014984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 Deming Plan-Do-Check-Act (PDCA) Assurance: Weekly tuning cycles continuously adjust algorithmic safety stocks based on live plant variance data.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 Joint Architecture Review Board (ARB): Strict clean-core gating ensures zero custom code touches the SAP S/4HANA transactional ledger.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 4Flow Supply Chain Co-Piloting: Dedicated senior supply chain architects guarantee knowledge transfer and change enablement across plant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