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OPERATING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Current Operating Reality vs. Target State: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OPERATING REALITY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227167" cy="4782312"/>
          </a:xfrm>
          <a:prstGeom prst="rect">
            <a:avLst/>
          </a:prstGeom>
          <a:solidFill>
            <a:srgbClr val="1628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4861407" cy="4416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F59E0B"/>
                </a:solidFill>
                <a:latin typeface="Inter"/>
              </a:rPr>
              <a:t>CURRENT STATE: FRAGMENTED LEGACY ISLANDS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Paper Travelers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Physical paper sheets create 4-hour batch release latency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Siloed PLC Controllers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Isolated machine data with no automated ERP tie-out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Batch Scrap Discovery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Quality defects discovered only at end-of-line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27167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664208"/>
            <a:ext cx="4861407" cy="4416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TARGET STATE: CONNECTED DIGITAL MANUFACTURING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Digital Work Instructions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100% paperless e-traveler with biometric operator sign-off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Sub-Second Telemetry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OPC-UA edge brokers stream telemetry straight into BTP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•  Closed-Loop Poka-Yoke </a:t>
            </a:r>
            <a:r>
              <a:rPr sz="1050" b="0" i="0">
                <a:solidFill>
                  <a:srgbClr val="94A3B8"/>
                </a:solidFill>
                <a:latin typeface="Inter"/>
              </a:rPr>
              <a:t>Automated machine interlock halts defective assemblies instantly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PROBLEM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Structural Constraints &amp; Insight Evidence: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PROBLEM MECHANICS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Inter"/>
              </a:rPr>
              <a:t>Primitive Dispatch: InsightAndEvidencePrimitive.render() missing 2 required positional arguments: 'insight_tag' and 'insight_narrative'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3. 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Enterprise Architecture Diagram: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ENTERPRISE ARCHITECTURE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03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ENTERPRISE ERP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Cloud (Clean Core Architecture)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Production Orders (PP)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Material Master (MM)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Inventory Management (IM)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Ledger (ACDOCA)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OData APIs / Business Event Mesh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INTEGRATION &amp; ORCHESTRATION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BTP &amp; Hybrid Middleware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Event Mesh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Integration Suite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API Management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Dead-Letter Queue Buffer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TLS 1.3 / OPC-UA / MQTT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MANUFACTURING EXECUTION &amp;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Digital Manufacturing (MES/MOM) &amp; OT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Shopfloor Dispatcher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Unit Genealogy Engine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 SCADA Collector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PLC Machine Sensors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STRATEGIC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Strategic Transformation Outcome Chain: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STRATEGIC JOURNEY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DC2626"/>
                </a:solidFill>
                <a:latin typeface="Inter"/>
              </a:rPr>
              <a:t>Primitive Dispatch: OutcomeChainPrimitive.render() missing 1 required positional argument: 'chain_steps'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5.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Target Operating Model &amp; Governance Tiers: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OPERATING MODEL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05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DC2626"/>
                </a:solidFill>
                <a:latin typeface="Inter"/>
              </a:rPr>
              <a:t>Primitive Dispatch: OperatingModelPrimitive.render() missing 1 required positional argument: 'quadrants'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6. 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Phased Transformation Delivery Roadmap: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DELIVERY ROADMAP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06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1 • 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Blueprint &amp; Edge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OPC-UA Edge Config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SAP BTP Subaccount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Pilot Line Connect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1: Latency &lt;250ms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2 • WEEKS 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Core MES Integration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Production Order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Electronic Traveler UI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QA Inspection Gates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2: Zero RFC Buffer Leaks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3 • WEEKS 11-16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Enterprise Rollout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Lines 2-6 Cutover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Enablement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Hypercare Support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3: Final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7. VALUE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Business Outcomes &amp; Value Realization: SAP-to-MES digital transformation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VALUE REALIZATION mapped for Siemens Energy Turbo Systems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Siemens Energy Turbo Systems • SAP-to-MES Digital Transformation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